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9" r:id="rId1"/>
  </p:sldMasterIdLst>
  <p:notesMasterIdLst>
    <p:notesMasterId r:id="rId30"/>
  </p:notesMasterIdLst>
  <p:sldIdLst>
    <p:sldId id="600" r:id="rId2"/>
    <p:sldId id="601" r:id="rId3"/>
    <p:sldId id="556" r:id="rId4"/>
    <p:sldId id="557" r:id="rId5"/>
    <p:sldId id="602" r:id="rId6"/>
    <p:sldId id="603" r:id="rId7"/>
    <p:sldId id="558" r:id="rId8"/>
    <p:sldId id="559" r:id="rId9"/>
    <p:sldId id="596" r:id="rId10"/>
    <p:sldId id="560" r:id="rId11"/>
    <p:sldId id="561" r:id="rId12"/>
    <p:sldId id="579" r:id="rId13"/>
    <p:sldId id="582" r:id="rId14"/>
    <p:sldId id="597" r:id="rId15"/>
    <p:sldId id="589" r:id="rId16"/>
    <p:sldId id="565" r:id="rId17"/>
    <p:sldId id="593" r:id="rId18"/>
    <p:sldId id="592" r:id="rId19"/>
    <p:sldId id="598" r:id="rId20"/>
    <p:sldId id="567" r:id="rId21"/>
    <p:sldId id="595" r:id="rId22"/>
    <p:sldId id="568" r:id="rId23"/>
    <p:sldId id="594" r:id="rId24"/>
    <p:sldId id="575" r:id="rId25"/>
    <p:sldId id="573" r:id="rId26"/>
    <p:sldId id="599" r:id="rId27"/>
    <p:sldId id="577" r:id="rId28"/>
    <p:sldId id="578" r:id="rId29"/>
  </p:sldIdLst>
  <p:sldSz cx="12192000" cy="6858000"/>
  <p:notesSz cx="6858000" cy="9144000"/>
  <p:custDataLst>
    <p:tags r:id="rId3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modifyVerifier cryptProviderType="rsaFull" cryptAlgorithmClass="hash" cryptAlgorithmType="typeAny" cryptAlgorithmSid="4" spinCount="50000" saltData="mO70nCLIcukbO/AWMqOVBA==" hashData="3UCDgBbuXkPhh88f0aBJLmsLrss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8" autoAdjust="0"/>
    <p:restoredTop sz="94660"/>
  </p:normalViewPr>
  <p:slideViewPr>
    <p:cSldViewPr>
      <p:cViewPr varScale="1">
        <p:scale>
          <a:sx n="108" d="100"/>
          <a:sy n="108" d="100"/>
        </p:scale>
        <p:origin x="732" y="108"/>
      </p:cViewPr>
      <p:guideLst>
        <p:guide orient="horz" pos="2160"/>
        <p:guide pos="3840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66" d="100"/>
        <a:sy n="66" d="100"/>
      </p:scale>
      <p:origin x="0" y="870"/>
    </p:cViewPr>
  </p:sorterViewPr>
  <p:notesViewPr>
    <p:cSldViewPr>
      <p:cViewPr varScale="1">
        <p:scale>
          <a:sx n="68" d="100"/>
          <a:sy n="68" d="100"/>
        </p:scale>
        <p:origin x="-2808" y="-96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994F821-7148-4155-8A4B-3568DDD25123}" type="datetimeFigureOut">
              <a:rPr lang="zh-CN" altLang="en-US"/>
              <a:pPr>
                <a:defRPr/>
              </a:pPr>
              <a:t>2021/3/9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350BB752-86F0-4A2B-B1F4-3D725A534A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5777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05882894-31D0-4353-8FC4-53FD4467D4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51325CCF-3893-4AF4-9378-6503525C1C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1528D238-9626-4573-9B0E-3A01311DAB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7BC39A87-C04B-44B8-8492-59308235E3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91C292D2-F234-45FE-9C8F-D7CD6A71BC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EB59C782-E5B5-4D1E-84E8-00EB87A66F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23F1626B-87FC-4106-99C3-08CD08C6CE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3D8AFA40-474E-4131-9465-1772CE74A1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44624BEE-B42A-4D24-A6A0-A13054AF2E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ED04EAC3-810B-4186-9CDC-14BAD13725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83A06682-6D3C-44FE-A8FD-CF179FE872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B73827A9-F015-4526-A947-A7D0641A67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7730E9EB-F9AD-4188-B464-117A56F21E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37FC85D4-21D3-4B1F-9919-8F298A4744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B4B1C4B7-372D-48C2-8DDA-B810BF3CD4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44E84D88-8CA2-4D77-8F92-4C576078AA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AE7EA432-7B9C-4122-898F-523AEF872E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0623D218-3769-4A9E-A4E2-A5A466000D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47700" y="14287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97485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2" name="Rectangle 2"/>
          <p:cNvSpPr>
            <a:spLocks noChangeArrowheads="1"/>
          </p:cNvSpPr>
          <p:nvPr userDrawn="1"/>
        </p:nvSpPr>
        <p:spPr bwMode="ltGray">
          <a:xfrm>
            <a:off x="556684" y="679451"/>
            <a:ext cx="584200" cy="4730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3" name="Rectangle 3"/>
          <p:cNvSpPr>
            <a:spLocks noChangeArrowheads="1"/>
          </p:cNvSpPr>
          <p:nvPr userDrawn="1"/>
        </p:nvSpPr>
        <p:spPr bwMode="ltGray">
          <a:xfrm>
            <a:off x="1066801" y="679450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4" name="Rectangle 4"/>
          <p:cNvSpPr>
            <a:spLocks noChangeArrowheads="1"/>
          </p:cNvSpPr>
          <p:nvPr userDrawn="1"/>
        </p:nvSpPr>
        <p:spPr bwMode="ltGray">
          <a:xfrm>
            <a:off x="721785" y="11017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5" name="Rectangle 5"/>
          <p:cNvSpPr>
            <a:spLocks noChangeArrowheads="1"/>
          </p:cNvSpPr>
          <p:nvPr userDrawn="1"/>
        </p:nvSpPr>
        <p:spPr bwMode="ltGray">
          <a:xfrm>
            <a:off x="1214967" y="1101726"/>
            <a:ext cx="491067" cy="47307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6" name="Rectangle 6"/>
          <p:cNvSpPr>
            <a:spLocks noChangeArrowheads="1"/>
          </p:cNvSpPr>
          <p:nvPr userDrawn="1"/>
        </p:nvSpPr>
        <p:spPr bwMode="ltGray">
          <a:xfrm>
            <a:off x="169333" y="1028700"/>
            <a:ext cx="747184" cy="4206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7" name="Rectangle 7"/>
          <p:cNvSpPr>
            <a:spLocks noChangeArrowheads="1"/>
          </p:cNvSpPr>
          <p:nvPr userDrawn="1"/>
        </p:nvSpPr>
        <p:spPr bwMode="gray">
          <a:xfrm>
            <a:off x="1016000" y="571500"/>
            <a:ext cx="42333" cy="1049338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8" name="Rectangle 8"/>
          <p:cNvSpPr>
            <a:spLocks noChangeArrowheads="1"/>
          </p:cNvSpPr>
          <p:nvPr userDrawn="1"/>
        </p:nvSpPr>
        <p:spPr bwMode="gray">
          <a:xfrm>
            <a:off x="590551" y="1362075"/>
            <a:ext cx="10968567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0136772" y="1128681"/>
            <a:ext cx="1849992" cy="292104"/>
          </a:xfrm>
          <a:prstGeom prst="rect">
            <a:avLst/>
          </a:prstGeom>
          <a:noFill/>
        </p:spPr>
        <p:txBody>
          <a:bodyPr wrap="none">
            <a:prstTxWarp prst="textPlain">
              <a:avLst/>
            </a:prstTxWarp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>
              <a:defRPr/>
            </a:pPr>
            <a:r>
              <a:rPr lang="zh-CN" altLang="en-US" sz="5400" dirty="0">
                <a:ln w="11430"/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主讲：穆浩志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91E3332-520E-45A4-9BE9-9206B000C6B2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375" y="80931"/>
            <a:ext cx="1085850" cy="1047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28" r:id="rId1"/>
    <p:sldLayoutId id="2147484729" r:id="rId2"/>
    <p:sldLayoutId id="2147484730" r:id="rId3"/>
    <p:sldLayoutId id="2147484731" r:id="rId4"/>
    <p:sldLayoutId id="2147484732" r:id="rId5"/>
    <p:sldLayoutId id="2147484733" r:id="rId6"/>
    <p:sldLayoutId id="2147484734" r:id="rId7"/>
    <p:sldLayoutId id="2147484735" r:id="rId8"/>
    <p:sldLayoutId id="2147484736" r:id="rId9"/>
    <p:sldLayoutId id="2147484737" r:id="rId10"/>
    <p:sldLayoutId id="2147484738" r:id="rId11"/>
    <p:sldLayoutId id="2147484739" r:id="rId12"/>
    <p:sldLayoutId id="2147484740" r:id="rId13"/>
    <p:sldLayoutId id="2147484741" r:id="rId14"/>
    <p:sldLayoutId id="2147484742" r:id="rId15"/>
    <p:sldLayoutId id="2147484743" r:id="rId16"/>
    <p:sldLayoutId id="2147484744" r:id="rId17"/>
    <p:sldLayoutId id="2147484745" r:id="rId1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gif"/><Relationship Id="rId3" Type="http://schemas.openxmlformats.org/officeDocument/2006/relationships/image" Target="../media/image13.gif"/><Relationship Id="rId7" Type="http://schemas.openxmlformats.org/officeDocument/2006/relationships/image" Target="../media/image17.gi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gif"/><Relationship Id="rId5" Type="http://schemas.openxmlformats.org/officeDocument/2006/relationships/image" Target="../media/image15.gif"/><Relationship Id="rId4" Type="http://schemas.openxmlformats.org/officeDocument/2006/relationships/image" Target="../media/image14.g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image" Target="../media/image21.tmp"/><Relationship Id="rId2" Type="http://schemas.openxmlformats.org/officeDocument/2006/relationships/tags" Target="../tags/tag3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tags" Target="../tags/tag33.xml"/><Relationship Id="rId2" Type="http://schemas.openxmlformats.org/officeDocument/2006/relationships/tags" Target="../tags/tag18.xml"/><Relationship Id="rId16" Type="http://schemas.openxmlformats.org/officeDocument/2006/relationships/tags" Target="../tags/tag32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10" Type="http://schemas.openxmlformats.org/officeDocument/2006/relationships/tags" Target="../tags/tag26.xml"/><Relationship Id="rId19" Type="http://schemas.openxmlformats.org/officeDocument/2006/relationships/image" Target="../media/image21.tmp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5.png"/><Relationship Id="rId4" Type="http://schemas.openxmlformats.org/officeDocument/2006/relationships/image" Target="../media/image44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image" Target="../media/image21.tmp"/><Relationship Id="rId2" Type="http://schemas.openxmlformats.org/officeDocument/2006/relationships/tags" Target="../tags/tag35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10" Type="http://schemas.openxmlformats.org/officeDocument/2006/relationships/tags" Target="../tags/tag43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jpe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2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e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5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13" Type="http://schemas.openxmlformats.org/officeDocument/2006/relationships/tags" Target="../tags/tag61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12" Type="http://schemas.openxmlformats.org/officeDocument/2006/relationships/tags" Target="../tags/tag60.xml"/><Relationship Id="rId17" Type="http://schemas.openxmlformats.org/officeDocument/2006/relationships/tags" Target="../tags/tag65.xml"/><Relationship Id="rId2" Type="http://schemas.openxmlformats.org/officeDocument/2006/relationships/tags" Target="../tags/tag50.xml"/><Relationship Id="rId16" Type="http://schemas.openxmlformats.org/officeDocument/2006/relationships/tags" Target="../tags/tag64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tags" Target="../tags/tag59.xml"/><Relationship Id="rId5" Type="http://schemas.openxmlformats.org/officeDocument/2006/relationships/tags" Target="../tags/tag53.xml"/><Relationship Id="rId15" Type="http://schemas.openxmlformats.org/officeDocument/2006/relationships/tags" Target="../tags/tag63.xml"/><Relationship Id="rId10" Type="http://schemas.openxmlformats.org/officeDocument/2006/relationships/tags" Target="../tags/tag58.xml"/><Relationship Id="rId19" Type="http://schemas.openxmlformats.org/officeDocument/2006/relationships/image" Target="../media/image21.tmp"/><Relationship Id="rId4" Type="http://schemas.openxmlformats.org/officeDocument/2006/relationships/tags" Target="../tags/tag52.xml"/><Relationship Id="rId9" Type="http://schemas.openxmlformats.org/officeDocument/2006/relationships/tags" Target="../tags/tag57.xml"/><Relationship Id="rId14" Type="http://schemas.openxmlformats.org/officeDocument/2006/relationships/tags" Target="../tags/tag6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96404" y="2053434"/>
            <a:ext cx="2928958" cy="2541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2309786" y="2197756"/>
            <a:ext cx="42862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三面投影之间的度量对应关系</a:t>
            </a:r>
            <a:endParaRPr lang="zh-CN" altLang="en-US" sz="2400" dirty="0"/>
          </a:p>
        </p:txBody>
      </p:sp>
      <p:sp>
        <p:nvSpPr>
          <p:cNvPr id="5" name="AutoShape 9"/>
          <p:cNvSpPr>
            <a:spLocks noChangeArrowheads="1"/>
          </p:cNvSpPr>
          <p:nvPr/>
        </p:nvSpPr>
        <p:spPr bwMode="auto">
          <a:xfrm>
            <a:off x="4650296" y="3552576"/>
            <a:ext cx="1981200" cy="674687"/>
          </a:xfrm>
          <a:prstGeom prst="wedgeEllipseCallout">
            <a:avLst>
              <a:gd name="adj1" fmla="val -56463"/>
              <a:gd name="adj2" fmla="val -109875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三等关系</a:t>
            </a:r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2388798" y="2770448"/>
            <a:ext cx="12048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</a:rPr>
              <a:t>长对正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3441765" y="2780838"/>
            <a:ext cx="12048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</a:rPr>
              <a:t>高平齐</a:t>
            </a:r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4556146" y="2777610"/>
            <a:ext cx="12048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</a:rPr>
              <a:t>宽相等</a:t>
            </a:r>
          </a:p>
        </p:txBody>
      </p:sp>
      <p:grpSp>
        <p:nvGrpSpPr>
          <p:cNvPr id="9" name="Group 15"/>
          <p:cNvGrpSpPr>
            <a:grpSpLocks/>
          </p:cNvGrpSpPr>
          <p:nvPr/>
        </p:nvGrpSpPr>
        <p:grpSpPr bwMode="auto">
          <a:xfrm>
            <a:off x="7186666" y="2839251"/>
            <a:ext cx="1188000" cy="1080000"/>
            <a:chOff x="3191" y="922"/>
            <a:chExt cx="1082" cy="579"/>
          </a:xfrm>
        </p:grpSpPr>
        <p:sp>
          <p:nvSpPr>
            <p:cNvPr id="10" name="Freeform 16"/>
            <p:cNvSpPr>
              <a:spLocks/>
            </p:cNvSpPr>
            <p:nvPr/>
          </p:nvSpPr>
          <p:spPr bwMode="auto">
            <a:xfrm>
              <a:off x="3191" y="946"/>
              <a:ext cx="1" cy="555"/>
            </a:xfrm>
            <a:custGeom>
              <a:avLst/>
              <a:gdLst>
                <a:gd name="T0" fmla="*/ 0 w 1"/>
                <a:gd name="T1" fmla="*/ 0 h 371"/>
                <a:gd name="T2" fmla="*/ 0 w 1"/>
                <a:gd name="T3" fmla="*/ 1099688498 h 371"/>
                <a:gd name="T4" fmla="*/ 0 60000 65536"/>
                <a:gd name="T5" fmla="*/ 0 60000 65536"/>
                <a:gd name="T6" fmla="*/ 0 w 1"/>
                <a:gd name="T7" fmla="*/ 0 h 371"/>
                <a:gd name="T8" fmla="*/ 1 w 1"/>
                <a:gd name="T9" fmla="*/ 371 h 37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71">
                  <a:moveTo>
                    <a:pt x="0" y="0"/>
                  </a:moveTo>
                  <a:lnTo>
                    <a:pt x="0" y="371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Freeform 17"/>
            <p:cNvSpPr>
              <a:spLocks/>
            </p:cNvSpPr>
            <p:nvPr/>
          </p:nvSpPr>
          <p:spPr bwMode="auto">
            <a:xfrm>
              <a:off x="4267" y="922"/>
              <a:ext cx="1" cy="556"/>
            </a:xfrm>
            <a:custGeom>
              <a:avLst/>
              <a:gdLst>
                <a:gd name="T0" fmla="*/ 0 w 1"/>
                <a:gd name="T1" fmla="*/ 0 h 556"/>
                <a:gd name="T2" fmla="*/ 0 w 1"/>
                <a:gd name="T3" fmla="*/ 556 h 556"/>
                <a:gd name="T4" fmla="*/ 0 60000 65536"/>
                <a:gd name="T5" fmla="*/ 0 60000 65536"/>
                <a:gd name="T6" fmla="*/ 0 w 1"/>
                <a:gd name="T7" fmla="*/ 0 h 556"/>
                <a:gd name="T8" fmla="*/ 1 w 1"/>
                <a:gd name="T9" fmla="*/ 556 h 55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56">
                  <a:moveTo>
                    <a:pt x="0" y="0"/>
                  </a:moveTo>
                  <a:lnTo>
                    <a:pt x="0" y="55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auto">
            <a:xfrm>
              <a:off x="3191" y="1197"/>
              <a:ext cx="1082" cy="1"/>
            </a:xfrm>
            <a:custGeom>
              <a:avLst/>
              <a:gdLst>
                <a:gd name="T0" fmla="*/ 0 w 1082"/>
                <a:gd name="T1" fmla="*/ 1 h 1"/>
                <a:gd name="T2" fmla="*/ 1082 w 1082"/>
                <a:gd name="T3" fmla="*/ 0 h 1"/>
                <a:gd name="T4" fmla="*/ 0 60000 65536"/>
                <a:gd name="T5" fmla="*/ 0 60000 65536"/>
                <a:gd name="T6" fmla="*/ 0 w 1082"/>
                <a:gd name="T7" fmla="*/ 0 h 1"/>
                <a:gd name="T8" fmla="*/ 1082 w 108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82" h="1">
                  <a:moveTo>
                    <a:pt x="0" y="1"/>
                  </a:moveTo>
                  <a:lnTo>
                    <a:pt x="1082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Text Box 19"/>
            <p:cNvSpPr txBox="1">
              <a:spLocks noChangeArrowheads="1"/>
            </p:cNvSpPr>
            <p:nvPr/>
          </p:nvSpPr>
          <p:spPr bwMode="auto">
            <a:xfrm>
              <a:off x="3621" y="1024"/>
              <a:ext cx="35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600"/>
                <a:t>长</a:t>
              </a:r>
              <a:endParaRPr lang="zh-CN" altLang="en-US"/>
            </a:p>
          </p:txBody>
        </p:sp>
      </p:grpSp>
      <p:grpSp>
        <p:nvGrpSpPr>
          <p:cNvPr id="14" name="Group 20"/>
          <p:cNvGrpSpPr>
            <a:grpSpLocks/>
          </p:cNvGrpSpPr>
          <p:nvPr/>
        </p:nvGrpSpPr>
        <p:grpSpPr bwMode="auto">
          <a:xfrm>
            <a:off x="7769314" y="2134400"/>
            <a:ext cx="1627193" cy="755650"/>
            <a:chOff x="3888" y="484"/>
            <a:chExt cx="1025" cy="476"/>
          </a:xfrm>
        </p:grpSpPr>
        <p:sp>
          <p:nvSpPr>
            <p:cNvPr id="15" name="Line 21"/>
            <p:cNvSpPr>
              <a:spLocks noChangeShapeType="1"/>
            </p:cNvSpPr>
            <p:nvPr/>
          </p:nvSpPr>
          <p:spPr bwMode="auto">
            <a:xfrm>
              <a:off x="4278" y="949"/>
              <a:ext cx="6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22"/>
            <p:cNvSpPr>
              <a:spLocks noChangeShapeType="1"/>
            </p:cNvSpPr>
            <p:nvPr/>
          </p:nvSpPr>
          <p:spPr bwMode="auto">
            <a:xfrm>
              <a:off x="3888" y="494"/>
              <a:ext cx="10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Text Box 23"/>
            <p:cNvSpPr txBox="1">
              <a:spLocks noChangeArrowheads="1"/>
            </p:cNvSpPr>
            <p:nvPr/>
          </p:nvSpPr>
          <p:spPr bwMode="auto">
            <a:xfrm rot="-5400000">
              <a:off x="4431" y="633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600"/>
                <a:t>高</a:t>
              </a:r>
              <a:endParaRPr lang="zh-CN" altLang="en-US"/>
            </a:p>
          </p:txBody>
        </p:sp>
        <p:sp>
          <p:nvSpPr>
            <p:cNvPr id="18" name="Freeform 24"/>
            <p:cNvSpPr>
              <a:spLocks/>
            </p:cNvSpPr>
            <p:nvPr/>
          </p:nvSpPr>
          <p:spPr bwMode="auto">
            <a:xfrm>
              <a:off x="4641" y="484"/>
              <a:ext cx="1" cy="476"/>
            </a:xfrm>
            <a:custGeom>
              <a:avLst/>
              <a:gdLst>
                <a:gd name="T0" fmla="*/ 0 w 1"/>
                <a:gd name="T1" fmla="*/ 0 h 328"/>
                <a:gd name="T2" fmla="*/ 0 w 1"/>
                <a:gd name="T3" fmla="*/ 996456585 h 328"/>
                <a:gd name="T4" fmla="*/ 0 60000 65536"/>
                <a:gd name="T5" fmla="*/ 0 60000 65536"/>
                <a:gd name="T6" fmla="*/ 0 w 1"/>
                <a:gd name="T7" fmla="*/ 0 h 328"/>
                <a:gd name="T8" fmla="*/ 1 w 1"/>
                <a:gd name="T9" fmla="*/ 328 h 32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28">
                  <a:moveTo>
                    <a:pt x="0" y="0"/>
                  </a:moveTo>
                  <a:lnTo>
                    <a:pt x="0" y="32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9" name="Group 25"/>
          <p:cNvGrpSpPr>
            <a:grpSpLocks/>
          </p:cNvGrpSpPr>
          <p:nvPr/>
        </p:nvGrpSpPr>
        <p:grpSpPr bwMode="auto">
          <a:xfrm>
            <a:off x="8367777" y="2859890"/>
            <a:ext cx="1622425" cy="1617663"/>
            <a:chOff x="4265" y="941"/>
            <a:chExt cx="1022" cy="1019"/>
          </a:xfrm>
        </p:grpSpPr>
        <p:sp>
          <p:nvSpPr>
            <p:cNvPr id="20" name="Line 26"/>
            <p:cNvSpPr>
              <a:spLocks noChangeShapeType="1"/>
            </p:cNvSpPr>
            <p:nvPr/>
          </p:nvSpPr>
          <p:spPr bwMode="auto">
            <a:xfrm>
              <a:off x="4275" y="1584"/>
              <a:ext cx="38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27"/>
            <p:cNvSpPr>
              <a:spLocks noChangeShapeType="1"/>
            </p:cNvSpPr>
            <p:nvPr/>
          </p:nvSpPr>
          <p:spPr bwMode="auto">
            <a:xfrm>
              <a:off x="4265" y="1956"/>
              <a:ext cx="4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8"/>
            <p:cNvSpPr>
              <a:spLocks/>
            </p:cNvSpPr>
            <p:nvPr/>
          </p:nvSpPr>
          <p:spPr bwMode="auto">
            <a:xfrm>
              <a:off x="4903" y="941"/>
              <a:ext cx="1" cy="408"/>
            </a:xfrm>
            <a:custGeom>
              <a:avLst/>
              <a:gdLst>
                <a:gd name="T0" fmla="*/ 0 w 1"/>
                <a:gd name="T1" fmla="*/ 311 h 311"/>
                <a:gd name="T2" fmla="*/ 0 w 1"/>
                <a:gd name="T3" fmla="*/ 0 h 311"/>
                <a:gd name="T4" fmla="*/ 0 60000 65536"/>
                <a:gd name="T5" fmla="*/ 0 60000 65536"/>
                <a:gd name="T6" fmla="*/ 0 w 1"/>
                <a:gd name="T7" fmla="*/ 0 h 311"/>
                <a:gd name="T8" fmla="*/ 1 w 1"/>
                <a:gd name="T9" fmla="*/ 311 h 31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11">
                  <a:moveTo>
                    <a:pt x="0" y="311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" name="Freeform 29"/>
            <p:cNvSpPr>
              <a:spLocks/>
            </p:cNvSpPr>
            <p:nvPr/>
          </p:nvSpPr>
          <p:spPr bwMode="auto">
            <a:xfrm>
              <a:off x="5275" y="944"/>
              <a:ext cx="1" cy="408"/>
            </a:xfrm>
            <a:custGeom>
              <a:avLst/>
              <a:gdLst>
                <a:gd name="T0" fmla="*/ 0 w 1"/>
                <a:gd name="T1" fmla="*/ 290 h 290"/>
                <a:gd name="T2" fmla="*/ 0 w 1"/>
                <a:gd name="T3" fmla="*/ 0 h 290"/>
                <a:gd name="T4" fmla="*/ 0 60000 65536"/>
                <a:gd name="T5" fmla="*/ 0 60000 65536"/>
                <a:gd name="T6" fmla="*/ 0 w 1"/>
                <a:gd name="T7" fmla="*/ 0 h 290"/>
                <a:gd name="T8" fmla="*/ 1 w 1"/>
                <a:gd name="T9" fmla="*/ 290 h 29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90">
                  <a:moveTo>
                    <a:pt x="0" y="29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" name="Freeform 30"/>
            <p:cNvSpPr>
              <a:spLocks/>
            </p:cNvSpPr>
            <p:nvPr/>
          </p:nvSpPr>
          <p:spPr bwMode="auto">
            <a:xfrm>
              <a:off x="4615" y="1574"/>
              <a:ext cx="1" cy="386"/>
            </a:xfrm>
            <a:custGeom>
              <a:avLst/>
              <a:gdLst>
                <a:gd name="T0" fmla="*/ 0 w 1"/>
                <a:gd name="T1" fmla="*/ 0 h 600"/>
                <a:gd name="T2" fmla="*/ 0 w 1"/>
                <a:gd name="T3" fmla="*/ 600 h 600"/>
                <a:gd name="T4" fmla="*/ 0 60000 65536"/>
                <a:gd name="T5" fmla="*/ 0 60000 65536"/>
                <a:gd name="T6" fmla="*/ 0 w 1"/>
                <a:gd name="T7" fmla="*/ 0 h 600"/>
                <a:gd name="T8" fmla="*/ 1 w 1"/>
                <a:gd name="T9" fmla="*/ 600 h 6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600">
                  <a:moveTo>
                    <a:pt x="0" y="0"/>
                  </a:moveTo>
                  <a:lnTo>
                    <a:pt x="0" y="60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" name="Text Box 31"/>
            <p:cNvSpPr txBox="1">
              <a:spLocks noChangeArrowheads="1"/>
            </p:cNvSpPr>
            <p:nvPr/>
          </p:nvSpPr>
          <p:spPr bwMode="auto">
            <a:xfrm rot="16200000">
              <a:off x="4392" y="1628"/>
              <a:ext cx="30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600" dirty="0"/>
                <a:t>宽</a:t>
              </a:r>
            </a:p>
          </p:txBody>
        </p:sp>
        <p:sp>
          <p:nvSpPr>
            <p:cNvPr id="26" name="Line 32"/>
            <p:cNvSpPr>
              <a:spLocks noChangeShapeType="1"/>
            </p:cNvSpPr>
            <p:nvPr/>
          </p:nvSpPr>
          <p:spPr bwMode="auto">
            <a:xfrm>
              <a:off x="4901" y="1300"/>
              <a:ext cx="38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Text Box 33"/>
            <p:cNvSpPr txBox="1">
              <a:spLocks noChangeArrowheads="1"/>
            </p:cNvSpPr>
            <p:nvPr/>
          </p:nvSpPr>
          <p:spPr bwMode="auto">
            <a:xfrm>
              <a:off x="4970" y="1102"/>
              <a:ext cx="2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600" dirty="0"/>
                <a:t>宽</a:t>
              </a:r>
              <a:endParaRPr lang="zh-CN" altLang="en-US" dirty="0"/>
            </a:p>
          </p:txBody>
        </p:sp>
      </p:grpSp>
      <p:pic>
        <p:nvPicPr>
          <p:cNvPr id="28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922" t="54799" r="45098"/>
          <a:stretch>
            <a:fillRect/>
          </a:stretch>
        </p:blipFill>
        <p:spPr bwMode="auto">
          <a:xfrm>
            <a:off x="6819938" y="3518570"/>
            <a:ext cx="1857388" cy="1355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2484" b="55049"/>
          <a:stretch>
            <a:fillRect/>
          </a:stretch>
        </p:blipFill>
        <p:spPr bwMode="auto">
          <a:xfrm>
            <a:off x="8944028" y="1808820"/>
            <a:ext cx="1366814" cy="134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5620" b="55367"/>
          <a:stretch>
            <a:fillRect/>
          </a:stretch>
        </p:blipFill>
        <p:spPr bwMode="auto">
          <a:xfrm>
            <a:off x="6634200" y="1823108"/>
            <a:ext cx="1981216" cy="1338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1837611" y="509739"/>
            <a:ext cx="2206598" cy="588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知识回顾：</a:t>
            </a:r>
          </a:p>
        </p:txBody>
      </p:sp>
      <p:sp>
        <p:nvSpPr>
          <p:cNvPr id="32" name="矩形 31"/>
          <p:cNvSpPr/>
          <p:nvPr/>
        </p:nvSpPr>
        <p:spPr>
          <a:xfrm>
            <a:off x="1881158" y="1449827"/>
            <a:ext cx="4998108" cy="382063"/>
          </a:xfrm>
          <a:prstGeom prst="rect">
            <a:avLst/>
          </a:prstGeom>
          <a:noFill/>
        </p:spPr>
        <p:txBody>
          <a:bodyPr wrap="none" lIns="91440" tIns="45720" rIns="91440" bIns="45720" numCol="1">
            <a:prstTxWarp prst="textWave4">
              <a:avLst/>
            </a:prstTxWarp>
            <a:spAutoFit/>
          </a:bodyPr>
          <a:lstStyle/>
          <a:p>
            <a:pPr algn="ctr" eaLnBrk="1" hangingPunct="1"/>
            <a:r>
              <a:rPr lang="zh-CN" alt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三面投影</a:t>
            </a:r>
            <a:r>
              <a:rPr lang="zh-CN" alt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度量</a:t>
            </a:r>
            <a:r>
              <a:rPr lang="zh-CN" alt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方位</a:t>
            </a:r>
            <a:r>
              <a:rPr lang="zh-CN" alt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关系</a:t>
            </a:r>
            <a:endParaRPr lang="zh-CN" altLang="en-US" sz="2800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4" name="Text Box 8"/>
          <p:cNvSpPr txBox="1">
            <a:spLocks noChangeArrowheads="1"/>
          </p:cNvSpPr>
          <p:nvPr/>
        </p:nvSpPr>
        <p:spPr bwMode="auto">
          <a:xfrm>
            <a:off x="2430998" y="4491982"/>
            <a:ext cx="42999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三面投影之间的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方位</a:t>
            </a: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对应关系</a:t>
            </a:r>
            <a:endParaRPr lang="zh-CN" altLang="en-US" sz="2400" dirty="0"/>
          </a:p>
        </p:txBody>
      </p:sp>
      <p:sp>
        <p:nvSpPr>
          <p:cNvPr id="35" name="Text Box 4"/>
          <p:cNvSpPr txBox="1">
            <a:spLocks noChangeArrowheads="1"/>
          </p:cNvSpPr>
          <p:nvPr/>
        </p:nvSpPr>
        <p:spPr bwMode="auto">
          <a:xfrm>
            <a:off x="2388798" y="5038369"/>
            <a:ext cx="4892686" cy="120032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正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面</a:t>
            </a:r>
            <a:r>
              <a:rPr lang="zh-CN" altLang="en-US" sz="2400" b="1" dirty="0">
                <a:latin typeface="宋体" panose="02010600030101010101" pitchFamily="2" charset="-122"/>
              </a:rPr>
              <a:t>投影反映：上、下 、左、右</a:t>
            </a:r>
          </a:p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水平</a:t>
            </a:r>
            <a:r>
              <a:rPr lang="zh-CN" altLang="en-US" sz="2400" b="1" dirty="0">
                <a:latin typeface="宋体" panose="02010600030101010101" pitchFamily="2" charset="-122"/>
              </a:rPr>
              <a:t>投影反映：前、后 、左、右</a:t>
            </a:r>
          </a:p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侧面</a:t>
            </a:r>
            <a:r>
              <a:rPr lang="zh-CN" altLang="en-US" sz="2400" b="1" dirty="0">
                <a:latin typeface="宋体" panose="02010600030101010101" pitchFamily="2" charset="-122"/>
              </a:rPr>
              <a:t>投影反映：上、下 、前、后</a:t>
            </a:r>
          </a:p>
        </p:txBody>
      </p:sp>
      <p:sp>
        <p:nvSpPr>
          <p:cNvPr id="36" name="Text Box 8">
            <a:extLst>
              <a:ext uri="{FF2B5EF4-FFF2-40B4-BE49-F238E27FC236}">
                <a16:creationId xmlns:a16="http://schemas.microsoft.com/office/drawing/2014/main" id="{F9127DAD-BEB9-4C45-8607-3BA1F1314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038" y="4967487"/>
            <a:ext cx="2872002" cy="1569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利用三面投影对应关系实现了空间物体（立体、组合体）平面化处理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068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75"/>
                            </p:stCondLst>
                            <p:childTnLst>
                              <p:par>
                                <p:cTn id="1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"/>
                            </p:stCondLst>
                            <p:childTnLst>
                              <p:par>
                                <p:cTn id="23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00"/>
                            </p:stCondLst>
                            <p:childTnLst>
                              <p:par>
                                <p:cTn id="3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"/>
                            </p:stCondLst>
                            <p:childTnLst>
                              <p:par>
                                <p:cTn id="4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75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975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475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975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5" grpId="0" animBg="1" autoUpdateAnimBg="0"/>
      <p:bldP spid="6" grpId="0"/>
      <p:bldP spid="7" grpId="0"/>
      <p:bldP spid="8" grpId="0"/>
      <p:bldP spid="32" grpId="0"/>
      <p:bldP spid="34" grpId="0" build="p" autoUpdateAnimBg="0"/>
      <p:bldP spid="3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729162" y="619906"/>
            <a:ext cx="2206598" cy="588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46965" y="1279584"/>
            <a:ext cx="1934310" cy="1980950"/>
          </a:xfrm>
          <a:prstGeom prst="rect">
            <a:avLst/>
          </a:prstGeom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114729" y="5178361"/>
            <a:ext cx="2206598" cy="588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怎么解决？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523492" y="1396335"/>
            <a:ext cx="4824536" cy="1495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rgbClr val="FF0000"/>
                </a:solidFill>
              </a:rPr>
              <a:t>☆</a:t>
            </a:r>
            <a:r>
              <a:rPr lang="zh-CN" altLang="zh-CN" sz="2800" dirty="0"/>
              <a:t>机件的形状结构复杂，</a:t>
            </a:r>
            <a:r>
              <a:rPr lang="zh-CN" altLang="en-US" sz="2800" dirty="0"/>
              <a:t>外部结构形状在各方向都需要表达；</a:t>
            </a:r>
            <a:endParaRPr lang="en-US" altLang="zh-CN" sz="2800" dirty="0"/>
          </a:p>
          <a:p>
            <a:pPr eaLnBrk="1" hangingPunct="1"/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内部结构需要表达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CBF193A-91C6-4922-B358-D9C5964A6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0304" y="3200718"/>
            <a:ext cx="5618518" cy="1262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rgbClr val="FF0000"/>
                </a:solidFill>
              </a:rPr>
              <a:t>☆</a:t>
            </a:r>
            <a:r>
              <a:rPr lang="zh-CN" altLang="zh-CN" sz="2800" dirty="0">
                <a:solidFill>
                  <a:srgbClr val="0070C0"/>
                </a:solidFill>
              </a:rPr>
              <a:t>机件的形状结构</a:t>
            </a:r>
            <a:r>
              <a:rPr lang="zh-CN" altLang="en-US" sz="2800" dirty="0">
                <a:solidFill>
                  <a:srgbClr val="0070C0"/>
                </a:solidFill>
              </a:rPr>
              <a:t>相对位置关系需要表达。</a:t>
            </a:r>
            <a:endParaRPr lang="zh-CN" altLang="en-US" sz="28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E09A57C-E479-4C92-82E8-CF2B141E7E6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870" y="3134793"/>
            <a:ext cx="2098012" cy="1754701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177B3C91-B9B6-4832-A456-0832F9B0D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492" y="4975141"/>
            <a:ext cx="3456384" cy="1262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rgbClr val="FF0000"/>
                </a:solidFill>
              </a:rPr>
              <a:t>☆</a:t>
            </a:r>
            <a:r>
              <a:rPr lang="zh-CN" altLang="zh-CN" sz="2800" dirty="0">
                <a:solidFill>
                  <a:srgbClr val="0070C0"/>
                </a:solidFill>
              </a:rPr>
              <a:t>机件的形状结构</a:t>
            </a:r>
            <a:r>
              <a:rPr lang="zh-CN" altLang="en-US" sz="2800" dirty="0">
                <a:solidFill>
                  <a:srgbClr val="0070C0"/>
                </a:solidFill>
              </a:rPr>
              <a:t>与投影面不平行时</a:t>
            </a:r>
            <a:endParaRPr lang="zh-CN" altLang="en-US" sz="28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DB9E052-2EE2-4D3D-8C9D-06C94E0352A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88034" y="4200975"/>
            <a:ext cx="2421529" cy="208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62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0"/>
          <p:cNvSpPr>
            <a:spLocks/>
          </p:cNvSpPr>
          <p:nvPr/>
        </p:nvSpPr>
        <p:spPr bwMode="auto">
          <a:xfrm>
            <a:off x="3546128" y="1727209"/>
            <a:ext cx="255588" cy="1014147"/>
          </a:xfrm>
          <a:prstGeom prst="leftBrace">
            <a:avLst>
              <a:gd name="adj1" fmla="val 108400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3673922" y="1588453"/>
            <a:ext cx="630272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  <a:cs typeface="Arial" charset="0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</a:rPr>
              <a:t>1.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</a:rPr>
              <a:t>视图</a:t>
            </a:r>
            <a:r>
              <a:rPr lang="zh-CN" altLang="en-US" sz="2400" b="1" dirty="0">
                <a:latin typeface="+mn-ea"/>
                <a:ea typeface="+mn-ea"/>
              </a:rPr>
              <a:t>：各种视图的画法、名称配置及标注</a:t>
            </a:r>
          </a:p>
        </p:txBody>
      </p:sp>
      <p:sp>
        <p:nvSpPr>
          <p:cNvPr id="7" name="AutoShape 20"/>
          <p:cNvSpPr>
            <a:spLocks/>
          </p:cNvSpPr>
          <p:nvPr/>
        </p:nvSpPr>
        <p:spPr bwMode="auto">
          <a:xfrm>
            <a:off x="3673922" y="3332063"/>
            <a:ext cx="255588" cy="943624"/>
          </a:xfrm>
          <a:prstGeom prst="leftBrace">
            <a:avLst>
              <a:gd name="adj1" fmla="val 108343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3988008" y="3936091"/>
            <a:ext cx="62180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</a:rPr>
              <a:t>2.</a:t>
            </a:r>
            <a:r>
              <a:rPr lang="zh-CN" altLang="en-US" sz="2400" b="1" dirty="0">
                <a:latin typeface="+mn-ea"/>
                <a:ea typeface="+mn-ea"/>
              </a:rPr>
              <a:t>掌握剖视的概念、剖视的画法及标注</a:t>
            </a: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3988009" y="3173784"/>
            <a:ext cx="632045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 dirty="0">
                <a:latin typeface="+mn-ea"/>
                <a:ea typeface="+mn-ea"/>
                <a:cs typeface="Arial" charset="0"/>
              </a:rPr>
              <a:t>1.</a:t>
            </a:r>
            <a:r>
              <a:rPr lang="zh-CN" altLang="en-US" sz="2400" b="1" dirty="0">
                <a:latin typeface="+mn-ea"/>
                <a:ea typeface="+mn-ea"/>
              </a:rPr>
              <a:t>掌握基本视图、向视图、局部视图和斜视图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2400" b="1" dirty="0">
                <a:latin typeface="+mn-ea"/>
                <a:ea typeface="+mn-ea"/>
              </a:rPr>
              <a:t>  </a:t>
            </a:r>
            <a:r>
              <a:rPr lang="zh-CN" altLang="en-US" sz="2400" b="1" dirty="0">
                <a:latin typeface="+mn-ea"/>
                <a:ea typeface="+mn-ea"/>
              </a:rPr>
              <a:t>的画法及标注</a:t>
            </a:r>
            <a:endParaRPr lang="en-US" altLang="zh-CN" sz="2400" b="1" dirty="0">
              <a:latin typeface="+mn-ea"/>
              <a:ea typeface="+mn-ea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4079776" y="4846530"/>
            <a:ext cx="525658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</a:rPr>
              <a:t>视图的画法及标注 </a:t>
            </a:r>
            <a:endParaRPr lang="en-US" altLang="zh-CN" sz="24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</a:rPr>
              <a:t>剖视图的形成</a:t>
            </a:r>
            <a:r>
              <a:rPr lang="zh-CN" altLang="en-US" sz="2400" b="1" dirty="0">
                <a:latin typeface="+mn-ea"/>
                <a:ea typeface="+mn-ea"/>
              </a:rPr>
              <a:t>、剖视的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</a:rPr>
              <a:t>画法及标注</a:t>
            </a: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3848548" y="2290764"/>
            <a:ext cx="61542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tabLst>
                <a:tab pos="2636838" algn="ctr"/>
                <a:tab pos="5273675" algn="r"/>
              </a:tabLst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  <a:cs typeface="Arial" charset="0"/>
              </a:rPr>
              <a:t>2.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剖视图</a:t>
            </a:r>
            <a:r>
              <a:rPr lang="zh-CN" altLang="en-US" sz="2400" b="1" dirty="0">
                <a:latin typeface="+mj-ea"/>
                <a:ea typeface="+mj-ea"/>
              </a:rPr>
              <a:t>：剖视的概念、剖视的画法及标注</a:t>
            </a:r>
          </a:p>
        </p:txBody>
      </p:sp>
      <p:sp>
        <p:nvSpPr>
          <p:cNvPr id="20489" name="Text Box 31"/>
          <p:cNvSpPr txBox="1">
            <a:spLocks noChangeArrowheads="1"/>
          </p:cNvSpPr>
          <p:nvPr/>
        </p:nvSpPr>
        <p:spPr bwMode="auto">
          <a:xfrm>
            <a:off x="3202137" y="425806"/>
            <a:ext cx="5729064" cy="646331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黑体" pitchFamily="49" charset="-122"/>
                <a:ea typeface="黑体" pitchFamily="49" charset="-122"/>
              </a:rPr>
              <a:t>机件的常用表达方法（一）</a:t>
            </a:r>
            <a:endParaRPr lang="zh-CN" altLang="en-US" sz="36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2051994" y="1750842"/>
            <a:ext cx="1422053" cy="100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本讲重点内容</a:t>
            </a:r>
          </a:p>
          <a:p>
            <a:pPr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		</a:t>
            </a:r>
          </a:p>
          <a:p>
            <a:pPr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rPr>
              <a:t>		</a:t>
            </a:r>
            <a:endParaRPr kumimoji="1" lang="zh-CN" altLang="en-US" sz="28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15" name="Rectangle 52"/>
          <p:cNvSpPr>
            <a:spLocks noChangeArrowheads="1"/>
          </p:cNvSpPr>
          <p:nvPr/>
        </p:nvSpPr>
        <p:spPr bwMode="auto">
          <a:xfrm>
            <a:off x="2051994" y="3456155"/>
            <a:ext cx="1624119" cy="583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目标要求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宋体" pitchFamily="2" charset="-122"/>
                <a:ea typeface="宋体" pitchFamily="2" charset="-122"/>
              </a:rPr>
              <a:t>		</a:t>
            </a: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宋体" pitchFamily="2" charset="-122"/>
                <a:ea typeface="宋体" pitchFamily="2" charset="-122"/>
              </a:rPr>
              <a:t>		</a:t>
            </a:r>
            <a:endParaRPr kumimoji="1" lang="zh-CN" altLang="en-US" sz="2800" dirty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16" name="Rectangle 52"/>
          <p:cNvSpPr>
            <a:spLocks noChangeArrowheads="1"/>
          </p:cNvSpPr>
          <p:nvPr/>
        </p:nvSpPr>
        <p:spPr bwMode="auto">
          <a:xfrm>
            <a:off x="2051993" y="4959253"/>
            <a:ext cx="2300288" cy="728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重点、难点</a:t>
            </a:r>
            <a:r>
              <a:rPr kumimoji="1"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:</a:t>
            </a:r>
            <a:endParaRPr kumimoji="1" lang="zh-CN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宋体" pitchFamily="2" charset="-122"/>
                <a:ea typeface="宋体" pitchFamily="2" charset="-122"/>
              </a:rPr>
              <a:t>		</a:t>
            </a: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宋体" pitchFamily="2" charset="-122"/>
                <a:ea typeface="宋体" pitchFamily="2" charset="-122"/>
              </a:rPr>
              <a:t>		</a:t>
            </a:r>
            <a:endParaRPr kumimoji="1" lang="zh-CN" altLang="en-US" sz="2800" dirty="0">
              <a:solidFill>
                <a:srgbClr val="FF0000"/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 animBg="1"/>
      <p:bldP spid="8" grpId="0"/>
      <p:bldP spid="9" grpId="0"/>
      <p:bldP spid="11" grpId="0"/>
      <p:bldP spid="12" grpId="0"/>
      <p:bldP spid="14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4875213" y="205255"/>
            <a:ext cx="2012877" cy="708026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 anchor="ctr"/>
          <a:lstStyle/>
          <a:p>
            <a:endParaRPr lang="zh-CN" altLang="zh-CN">
              <a:solidFill>
                <a:srgbClr val="FF3300"/>
              </a:solidFill>
              <a:latin typeface="宋体" charset="-122"/>
            </a:endParaRPr>
          </a:p>
        </p:txBody>
      </p:sp>
      <p:sp>
        <p:nvSpPr>
          <p:cNvPr id="94212" name="Text Box 4"/>
          <p:cNvSpPr txBox="1">
            <a:spLocks noChangeArrowheads="1"/>
          </p:cNvSpPr>
          <p:nvPr/>
        </p:nvSpPr>
        <p:spPr bwMode="auto">
          <a:xfrm>
            <a:off x="1019436" y="1350417"/>
            <a:ext cx="126014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概念：</a:t>
            </a:r>
          </a:p>
        </p:txBody>
      </p:sp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4383366" y="4852898"/>
            <a:ext cx="160973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宋体" charset="-122"/>
                <a:sym typeface="Symbol" pitchFamily="18" charset="2"/>
              </a:rPr>
              <a:t> </a:t>
            </a:r>
            <a:r>
              <a:rPr lang="zh-CN" altLang="en-US" sz="2800" b="1" dirty="0">
                <a:solidFill>
                  <a:srgbClr val="0070C0"/>
                </a:solidFill>
                <a:latin typeface="宋体" charset="-122"/>
                <a:sym typeface="Symbol" pitchFamily="18" charset="2"/>
              </a:rPr>
              <a:t>向视图</a:t>
            </a:r>
          </a:p>
        </p:txBody>
      </p:sp>
      <p:sp>
        <p:nvSpPr>
          <p:cNvPr id="94215" name="Text Box 7"/>
          <p:cNvSpPr txBox="1">
            <a:spLocks noChangeArrowheads="1"/>
          </p:cNvSpPr>
          <p:nvPr/>
        </p:nvSpPr>
        <p:spPr bwMode="auto">
          <a:xfrm>
            <a:off x="4383368" y="4298901"/>
            <a:ext cx="196880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宋体" charset="-122"/>
                <a:sym typeface="Symbol" pitchFamily="18" charset="2"/>
              </a:rPr>
              <a:t> </a:t>
            </a:r>
            <a:r>
              <a:rPr lang="zh-CN" altLang="en-US" sz="2800" b="1" dirty="0">
                <a:solidFill>
                  <a:srgbClr val="0070C0"/>
                </a:solidFill>
                <a:latin typeface="宋体" charset="-122"/>
                <a:sym typeface="Symbol" pitchFamily="18" charset="2"/>
              </a:rPr>
              <a:t>基本视图</a:t>
            </a:r>
          </a:p>
        </p:txBody>
      </p:sp>
      <p:sp>
        <p:nvSpPr>
          <p:cNvPr id="94217" name="Text Box 9"/>
          <p:cNvSpPr txBox="1">
            <a:spLocks noChangeArrowheads="1"/>
          </p:cNvSpPr>
          <p:nvPr/>
        </p:nvSpPr>
        <p:spPr bwMode="auto">
          <a:xfrm>
            <a:off x="2963652" y="4822122"/>
            <a:ext cx="142058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分类：</a:t>
            </a:r>
          </a:p>
        </p:txBody>
      </p:sp>
      <p:sp>
        <p:nvSpPr>
          <p:cNvPr id="94218" name="Text Box 10"/>
          <p:cNvSpPr txBox="1">
            <a:spLocks noChangeArrowheads="1"/>
          </p:cNvSpPr>
          <p:nvPr/>
        </p:nvSpPr>
        <p:spPr bwMode="auto">
          <a:xfrm>
            <a:off x="1003343" y="3221683"/>
            <a:ext cx="991524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作用：用于表达机件的</a:t>
            </a:r>
            <a:r>
              <a:rPr lang="zh-CN" altLang="en-US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外部结构形状和相对位置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关系</a:t>
            </a:r>
          </a:p>
        </p:txBody>
      </p:sp>
      <p:sp>
        <p:nvSpPr>
          <p:cNvPr id="94220" name="Text Box 12"/>
          <p:cNvSpPr txBox="1">
            <a:spLocks noChangeArrowheads="1"/>
          </p:cNvSpPr>
          <p:nvPr/>
        </p:nvSpPr>
        <p:spPr bwMode="auto">
          <a:xfrm>
            <a:off x="5301975" y="205256"/>
            <a:ext cx="1586114" cy="708025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4000" b="1" dirty="0">
                <a:latin typeface="黑体" pitchFamily="49" charset="-122"/>
                <a:ea typeface="黑体" pitchFamily="49" charset="-122"/>
              </a:rPr>
              <a:t>视 图</a:t>
            </a:r>
          </a:p>
        </p:txBody>
      </p:sp>
      <p:sp>
        <p:nvSpPr>
          <p:cNvPr id="94221" name="Text Box 13"/>
          <p:cNvSpPr txBox="1">
            <a:spLocks noChangeArrowheads="1"/>
          </p:cNvSpPr>
          <p:nvPr/>
        </p:nvSpPr>
        <p:spPr bwMode="auto">
          <a:xfrm>
            <a:off x="1235460" y="2000795"/>
            <a:ext cx="9505056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200" dirty="0">
                <a:latin typeface="宋体" charset="-122"/>
              </a:rPr>
              <a:t>    机件向基本投影面投射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用正投影法绘制出</a:t>
            </a:r>
            <a:r>
              <a:rPr lang="zh-CN" altLang="en-US" sz="3200" dirty="0">
                <a:latin typeface="宋体" charset="-122"/>
              </a:rPr>
              <a:t>物体的图形，称为视图。</a:t>
            </a:r>
          </a:p>
        </p:txBody>
      </p:sp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4383367" y="5345341"/>
            <a:ext cx="197361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宋体" charset="-122"/>
                <a:sym typeface="Symbol" pitchFamily="18" charset="2"/>
              </a:rPr>
              <a:t> </a:t>
            </a:r>
            <a:r>
              <a:rPr lang="zh-CN" altLang="en-US" sz="2800" b="1" dirty="0">
                <a:solidFill>
                  <a:srgbClr val="0070C0"/>
                </a:solidFill>
                <a:latin typeface="宋体" charset="-122"/>
                <a:sym typeface="Symbol" pitchFamily="18" charset="2"/>
              </a:rPr>
              <a:t>局部视图</a:t>
            </a:r>
          </a:p>
        </p:txBody>
      </p:sp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4383366" y="5930116"/>
            <a:ext cx="161294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宋体" charset="-122"/>
                <a:sym typeface="Symbol" pitchFamily="18" charset="2"/>
              </a:rPr>
              <a:t> </a:t>
            </a:r>
            <a:r>
              <a:rPr lang="zh-CN" altLang="en-US" sz="2800" b="1" dirty="0">
                <a:solidFill>
                  <a:srgbClr val="0070C0"/>
                </a:solidFill>
                <a:latin typeface="宋体" charset="-122"/>
                <a:sym typeface="Symbol" pitchFamily="18" charset="2"/>
              </a:rPr>
              <a:t>斜视图</a:t>
            </a:r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4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4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2" grpId="0" build="p" autoUpdateAnimBg="0"/>
      <p:bldP spid="94214" grpId="0" autoUpdateAnimBg="0"/>
      <p:bldP spid="94215" grpId="0" autoUpdateAnimBg="0"/>
      <p:bldP spid="94217" grpId="0" autoUpdateAnimBg="0"/>
      <p:bldP spid="94218" grpId="0" autoUpdateAnimBg="0"/>
      <p:bldP spid="94220" grpId="0" animBg="1"/>
      <p:bldP spid="94221" grpId="0" autoUpdateAnimBg="0"/>
      <p:bldP spid="19" grpId="0" autoUpdateAnimBg="0"/>
      <p:bldP spid="2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10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78710" y="2877441"/>
            <a:ext cx="3800475" cy="37623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2667000" y="381001"/>
            <a:ext cx="6172200" cy="911225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 anchor="ctr"/>
          <a:lstStyle/>
          <a:p>
            <a:endParaRPr lang="zh-CN" altLang="zh-CN">
              <a:solidFill>
                <a:srgbClr val="FF3300"/>
              </a:solidFill>
              <a:latin typeface="宋体" charset="-122"/>
            </a:endParaRPr>
          </a:p>
        </p:txBody>
      </p:sp>
      <p:sp>
        <p:nvSpPr>
          <p:cNvPr id="94211" name="Text Box 3"/>
          <p:cNvSpPr txBox="1">
            <a:spLocks noChangeArrowheads="1"/>
          </p:cNvSpPr>
          <p:nvPr/>
        </p:nvSpPr>
        <p:spPr bwMode="auto">
          <a:xfrm>
            <a:off x="1603376" y="555022"/>
            <a:ext cx="2927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一、基本视图</a:t>
            </a:r>
            <a:endParaRPr lang="zh-CN" altLang="en-US" sz="3600" dirty="0">
              <a:solidFill>
                <a:srgbClr val="FF0000"/>
              </a:solidFill>
              <a:ea typeface="黑体" pitchFamily="49" charset="-122"/>
            </a:endParaRPr>
          </a:p>
        </p:txBody>
      </p:sp>
      <p:sp>
        <p:nvSpPr>
          <p:cNvPr id="94212" name="Text Box 4"/>
          <p:cNvSpPr txBox="1">
            <a:spLocks noChangeArrowheads="1"/>
          </p:cNvSpPr>
          <p:nvPr/>
        </p:nvSpPr>
        <p:spPr bwMode="auto">
          <a:xfrm>
            <a:off x="7418771" y="3708653"/>
            <a:ext cx="25733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dirty="0">
                <a:latin typeface="宋体" charset="-122"/>
                <a:sym typeface="Symbol" pitchFamily="18" charset="2"/>
              </a:rPr>
              <a:t> </a:t>
            </a:r>
            <a:r>
              <a:rPr lang="zh-CN" altLang="en-US" sz="2800" b="1" dirty="0">
                <a:solidFill>
                  <a:srgbClr val="0070C0"/>
                </a:solidFill>
                <a:latin typeface="宋体" charset="-122"/>
                <a:sym typeface="Symbol" pitchFamily="18" charset="2"/>
              </a:rPr>
              <a:t>右视图</a:t>
            </a:r>
            <a:r>
              <a:rPr lang="zh-CN" altLang="en-US" sz="2800" dirty="0">
                <a:latin typeface="宋体" charset="-122"/>
                <a:sym typeface="Symbol" pitchFamily="18" charset="2"/>
              </a:rPr>
              <a:t> </a:t>
            </a:r>
          </a:p>
        </p:txBody>
      </p:sp>
      <p:sp>
        <p:nvSpPr>
          <p:cNvPr id="94213" name="Text Box 5"/>
          <p:cNvSpPr txBox="1">
            <a:spLocks noChangeArrowheads="1"/>
          </p:cNvSpPr>
          <p:nvPr/>
        </p:nvSpPr>
        <p:spPr bwMode="auto">
          <a:xfrm>
            <a:off x="7418771" y="2361312"/>
            <a:ext cx="178606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latin typeface="宋体" charset="-122"/>
                <a:sym typeface="Symbol" pitchFamily="18" charset="2"/>
              </a:rPr>
              <a:t> </a:t>
            </a:r>
            <a:r>
              <a:rPr lang="zh-CN" altLang="en-US" sz="2800" dirty="0">
                <a:latin typeface="宋体" charset="-122"/>
                <a:sym typeface="Symbol" pitchFamily="18" charset="2"/>
              </a:rPr>
              <a:t>主视图</a:t>
            </a:r>
          </a:p>
          <a:p>
            <a:r>
              <a:rPr lang="zh-CN" altLang="en-US" sz="2800" dirty="0">
                <a:latin typeface="宋体" charset="-122"/>
                <a:sym typeface="Symbol" pitchFamily="18" charset="2"/>
              </a:rPr>
              <a:t> 俯视图 </a:t>
            </a:r>
          </a:p>
          <a:p>
            <a:r>
              <a:rPr lang="zh-CN" altLang="en-US" sz="2800" dirty="0">
                <a:latin typeface="宋体" charset="-122"/>
                <a:sym typeface="Symbol" pitchFamily="18" charset="2"/>
              </a:rPr>
              <a:t> 左视图</a:t>
            </a:r>
          </a:p>
        </p:txBody>
      </p:sp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7418772" y="5573499"/>
            <a:ext cx="161133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latin typeface="宋体" charset="-122"/>
                <a:sym typeface="Symbol" pitchFamily="18" charset="2"/>
              </a:rPr>
              <a:t> </a:t>
            </a:r>
            <a:r>
              <a:rPr lang="zh-CN" altLang="en-US" sz="2800" b="1" dirty="0">
                <a:solidFill>
                  <a:srgbClr val="0070C0"/>
                </a:solidFill>
                <a:latin typeface="宋体" charset="-122"/>
                <a:sym typeface="Symbol" pitchFamily="18" charset="2"/>
              </a:rPr>
              <a:t>后视图</a:t>
            </a:r>
          </a:p>
        </p:txBody>
      </p:sp>
      <p:sp>
        <p:nvSpPr>
          <p:cNvPr id="94215" name="Text Box 7"/>
          <p:cNvSpPr txBox="1">
            <a:spLocks noChangeArrowheads="1"/>
          </p:cNvSpPr>
          <p:nvPr/>
        </p:nvSpPr>
        <p:spPr bwMode="auto">
          <a:xfrm>
            <a:off x="7418772" y="4655924"/>
            <a:ext cx="161133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latin typeface="宋体" charset="-122"/>
                <a:sym typeface="Symbol" pitchFamily="18" charset="2"/>
              </a:rPr>
              <a:t> </a:t>
            </a:r>
            <a:r>
              <a:rPr lang="zh-CN" altLang="en-US" sz="2800" b="1" dirty="0">
                <a:solidFill>
                  <a:srgbClr val="0070C0"/>
                </a:solidFill>
                <a:latin typeface="宋体" charset="-122"/>
                <a:sym typeface="Symbol" pitchFamily="18" charset="2"/>
              </a:rPr>
              <a:t>仰视图</a:t>
            </a:r>
          </a:p>
        </p:txBody>
      </p:sp>
      <p:sp>
        <p:nvSpPr>
          <p:cNvPr id="94216" name="Text Box 8"/>
          <p:cNvSpPr txBox="1">
            <a:spLocks noChangeArrowheads="1"/>
          </p:cNvSpPr>
          <p:nvPr/>
        </p:nvSpPr>
        <p:spPr bwMode="auto">
          <a:xfrm>
            <a:off x="2031139" y="2226436"/>
            <a:ext cx="14478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latin typeface="宋体" charset="-122"/>
              </a:rPr>
              <a:t>⒈ </a:t>
            </a:r>
            <a:r>
              <a:rPr lang="zh-CN" altLang="en-US" sz="2800" b="1" dirty="0">
                <a:latin typeface="宋体" charset="-122"/>
              </a:rPr>
              <a:t>形成</a:t>
            </a:r>
          </a:p>
        </p:txBody>
      </p:sp>
      <p:sp>
        <p:nvSpPr>
          <p:cNvPr id="94217" name="Text Box 9"/>
          <p:cNvSpPr txBox="1">
            <a:spLocks noChangeArrowheads="1"/>
          </p:cNvSpPr>
          <p:nvPr/>
        </p:nvSpPr>
        <p:spPr bwMode="auto">
          <a:xfrm>
            <a:off x="7810884" y="4147924"/>
            <a:ext cx="234551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从右向左</a:t>
            </a:r>
            <a:r>
              <a:rPr lang="zh-CN" altLang="en-US" sz="2800" dirty="0">
                <a:latin typeface="宋体" charset="-122"/>
                <a:sym typeface="Symbol" pitchFamily="18" charset="2"/>
              </a:rPr>
              <a:t>投射</a:t>
            </a:r>
          </a:p>
        </p:txBody>
      </p:sp>
      <p:sp>
        <p:nvSpPr>
          <p:cNvPr id="94218" name="Text Box 10"/>
          <p:cNvSpPr txBox="1">
            <a:spLocks noChangeArrowheads="1"/>
          </p:cNvSpPr>
          <p:nvPr/>
        </p:nvSpPr>
        <p:spPr bwMode="auto">
          <a:xfrm>
            <a:off x="7810884" y="5075024"/>
            <a:ext cx="234551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从下向上</a:t>
            </a:r>
            <a:r>
              <a:rPr lang="zh-CN" altLang="en-US" sz="2800" dirty="0">
                <a:latin typeface="宋体" charset="-122"/>
                <a:sym typeface="Symbol" pitchFamily="18" charset="2"/>
              </a:rPr>
              <a:t>投射</a:t>
            </a:r>
          </a:p>
        </p:txBody>
      </p:sp>
      <p:sp>
        <p:nvSpPr>
          <p:cNvPr id="94219" name="Text Box 11"/>
          <p:cNvSpPr txBox="1">
            <a:spLocks noChangeArrowheads="1"/>
          </p:cNvSpPr>
          <p:nvPr/>
        </p:nvSpPr>
        <p:spPr bwMode="auto">
          <a:xfrm>
            <a:off x="7810884" y="6002124"/>
            <a:ext cx="234551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从后向前</a:t>
            </a:r>
            <a:r>
              <a:rPr lang="zh-CN" altLang="en-US" sz="2800" dirty="0">
                <a:latin typeface="宋体" charset="-122"/>
                <a:sym typeface="Symbol" pitchFamily="18" charset="2"/>
              </a:rPr>
              <a:t>投射</a:t>
            </a:r>
          </a:p>
        </p:txBody>
      </p:sp>
      <p:pic>
        <p:nvPicPr>
          <p:cNvPr id="24676" name="Picture 10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15222" y="2877441"/>
            <a:ext cx="3800475" cy="38576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24677" name="Picture 10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62910" y="4228404"/>
            <a:ext cx="581025" cy="9239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24678" name="Picture 10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493159" y="3680716"/>
            <a:ext cx="1371600" cy="4667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24679" name="Picture 10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23410" y="5177728"/>
            <a:ext cx="1038225" cy="5715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2" name="矩形 1"/>
          <p:cNvSpPr/>
          <p:nvPr/>
        </p:nvSpPr>
        <p:spPr>
          <a:xfrm>
            <a:off x="1715659" y="1435202"/>
            <a:ext cx="84407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sz="2400" b="1" kern="1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在原有三个投影面的基础上再增设三个投影面，组成一个正六面体</a:t>
            </a:r>
            <a:r>
              <a:rPr lang="zh-CN" altLang="en-US" sz="2400" b="1" kern="1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07097CDA-F5CC-4C7B-A3FB-B879B7C4C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859" y="1380740"/>
            <a:ext cx="9446482" cy="61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问题：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zh-CN" altLang="zh-CN" sz="2800" dirty="0"/>
              <a:t>机件的外部结构形状在各个方向都需要表达时</a:t>
            </a:r>
            <a:endParaRPr lang="zh-CN" altLang="en-US" sz="2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457114"/>
      </p:ext>
    </p:extLst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4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4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500"/>
                                        <p:tgtEl>
                                          <p:spTgt spid="9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3" dur="1000"/>
                                        <p:tgtEl>
                                          <p:spTgt spid="2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4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8" dur="500"/>
                                        <p:tgtEl>
                                          <p:spTgt spid="24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3" dur="5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9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3" dur="500"/>
                                        <p:tgtEl>
                                          <p:spTgt spid="24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8" dur="5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94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8" dur="500"/>
                                        <p:tgtEl>
                                          <p:spTgt spid="24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autoUpdateAnimBg="0"/>
      <p:bldP spid="94212" grpId="0" build="p" autoUpdateAnimBg="0"/>
      <p:bldP spid="94213" grpId="0" autoUpdateAnimBg="0"/>
      <p:bldP spid="94214" grpId="0" autoUpdateAnimBg="0"/>
      <p:bldP spid="94215" grpId="0" autoUpdateAnimBg="0"/>
      <p:bldP spid="94216" grpId="0" autoUpdateAnimBg="0"/>
      <p:bldP spid="94217" grpId="0" autoUpdateAnimBg="0"/>
      <p:bldP spid="94218" grpId="0" autoUpdateAnimBg="0"/>
      <p:bldP spid="94219" grpId="0" autoUpdateAnimBg="0"/>
      <p:bldP spid="2" grpId="0"/>
      <p:bldP spid="19" grpId="0"/>
      <p:bldP spid="1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85BFF2E-5DF7-44D4-BB77-9B788AA26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81001"/>
            <a:ext cx="6172200" cy="911225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 anchor="ctr"/>
          <a:lstStyle/>
          <a:p>
            <a:endParaRPr lang="zh-CN" altLang="zh-CN">
              <a:solidFill>
                <a:srgbClr val="FF3300"/>
              </a:solidFill>
              <a:latin typeface="宋体" charset="-122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414E60D6-49D9-49DD-822E-55C85EBA4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1142" y="555613"/>
            <a:ext cx="2927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一、基本视图</a:t>
            </a:r>
            <a:endParaRPr lang="zh-CN" altLang="en-US" sz="3600" dirty="0">
              <a:solidFill>
                <a:srgbClr val="FF0000"/>
              </a:solidFill>
              <a:ea typeface="黑体" pitchFamily="49" charset="-122"/>
            </a:endParaRP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B502C767-DA30-4208-84D6-654636333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8771" y="2361312"/>
            <a:ext cx="178606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latin typeface="宋体" charset="-122"/>
                <a:sym typeface="Symbol" pitchFamily="18" charset="2"/>
              </a:rPr>
              <a:t> </a:t>
            </a:r>
            <a:r>
              <a:rPr lang="zh-CN" altLang="en-US" sz="2800" dirty="0">
                <a:latin typeface="宋体" charset="-122"/>
                <a:sym typeface="Symbol" pitchFamily="18" charset="2"/>
              </a:rPr>
              <a:t>主视图</a:t>
            </a:r>
          </a:p>
          <a:p>
            <a:r>
              <a:rPr lang="zh-CN" altLang="en-US" sz="2800" dirty="0">
                <a:latin typeface="宋体" charset="-122"/>
                <a:sym typeface="Symbol" pitchFamily="18" charset="2"/>
              </a:rPr>
              <a:t> 俯视图 </a:t>
            </a:r>
          </a:p>
          <a:p>
            <a:r>
              <a:rPr lang="zh-CN" altLang="en-US" sz="2800" dirty="0">
                <a:latin typeface="宋体" charset="-122"/>
                <a:sym typeface="Symbol" pitchFamily="18" charset="2"/>
              </a:rPr>
              <a:t> 左视图</a:t>
            </a: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A1B9FE1B-1474-4111-9911-7EE01950C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2918" y="2053227"/>
            <a:ext cx="14478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latin typeface="宋体" charset="-122"/>
              </a:rPr>
              <a:t>⒈ </a:t>
            </a:r>
            <a:r>
              <a:rPr lang="zh-CN" altLang="en-US" sz="2800" b="1" dirty="0">
                <a:latin typeface="宋体" charset="-122"/>
              </a:rPr>
              <a:t>形成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54BA907-0B92-4BB0-865E-510299E9BB57}"/>
              </a:ext>
            </a:extLst>
          </p:cNvPr>
          <p:cNvSpPr/>
          <p:nvPr/>
        </p:nvSpPr>
        <p:spPr>
          <a:xfrm>
            <a:off x="1377475" y="1451090"/>
            <a:ext cx="98529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sz="2400" b="1" kern="1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在原有三个投影面的基础上再增设三个投影面，组成一个正六面体</a:t>
            </a:r>
            <a:r>
              <a:rPr lang="zh-CN" altLang="en-US" sz="2400" b="1" kern="1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FAA66C8-3013-48F7-9A4C-3C683DCDB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431" y="1339607"/>
            <a:ext cx="10129138" cy="61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问题：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zh-CN" altLang="zh-CN" sz="2800" dirty="0"/>
              <a:t>机件的外部结构形状在各个方向都需要表达时</a:t>
            </a:r>
            <a:endParaRPr lang="zh-CN" altLang="en-US" sz="2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6858F3D-1265-4C65-9327-22B861F225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79" b="4042"/>
          <a:stretch/>
        </p:blipFill>
        <p:spPr>
          <a:xfrm>
            <a:off x="2666458" y="2783846"/>
            <a:ext cx="3740347" cy="382968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B8BEF57-32D1-4298-8CB4-F7C00E8450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040" y="2827966"/>
            <a:ext cx="3810000" cy="390525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DF1CF93-64A3-477D-BE12-4A6977EFFA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553" y="2850751"/>
            <a:ext cx="3810000" cy="390525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35D6A89-7218-48DE-929E-717E5BACC6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390" y="2868888"/>
            <a:ext cx="3810000" cy="390525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33F1F16-755D-490D-A959-2766B47A33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102" y="2845553"/>
            <a:ext cx="3810000" cy="3905250"/>
          </a:xfrm>
          <a:prstGeom prst="rect">
            <a:avLst/>
          </a:prstGeom>
        </p:spPr>
      </p:pic>
      <p:sp>
        <p:nvSpPr>
          <p:cNvPr id="22" name="Text Box 4">
            <a:extLst>
              <a:ext uri="{FF2B5EF4-FFF2-40B4-BE49-F238E27FC236}">
                <a16:creationId xmlns:a16="http://schemas.microsoft.com/office/drawing/2014/main" id="{0CED72CB-AA48-4B09-A9C8-C8B9C7A4D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8771" y="3708653"/>
            <a:ext cx="25733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dirty="0">
                <a:latin typeface="宋体" charset="-122"/>
                <a:sym typeface="Symbol" pitchFamily="18" charset="2"/>
              </a:rPr>
              <a:t> </a:t>
            </a:r>
            <a:r>
              <a:rPr lang="zh-CN" altLang="en-US" sz="2800" b="1" dirty="0">
                <a:solidFill>
                  <a:srgbClr val="0070C0"/>
                </a:solidFill>
                <a:latin typeface="宋体" charset="-122"/>
                <a:sym typeface="Symbol" pitchFamily="18" charset="2"/>
              </a:rPr>
              <a:t>右视图</a:t>
            </a:r>
            <a:r>
              <a:rPr lang="zh-CN" altLang="en-US" sz="2800" dirty="0">
                <a:latin typeface="宋体" charset="-122"/>
                <a:sym typeface="Symbol" pitchFamily="18" charset="2"/>
              </a:rPr>
              <a:t> </a:t>
            </a:r>
          </a:p>
        </p:txBody>
      </p:sp>
      <p:sp>
        <p:nvSpPr>
          <p:cNvPr id="23" name="Text Box 9">
            <a:extLst>
              <a:ext uri="{FF2B5EF4-FFF2-40B4-BE49-F238E27FC236}">
                <a16:creationId xmlns:a16="http://schemas.microsoft.com/office/drawing/2014/main" id="{4F56C0E3-5831-4D44-B1FC-3EEFE2810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884" y="4147924"/>
            <a:ext cx="234551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从右向左</a:t>
            </a:r>
            <a:r>
              <a:rPr lang="zh-CN" altLang="en-US" sz="2800" dirty="0">
                <a:latin typeface="宋体" charset="-122"/>
                <a:sym typeface="Symbol" pitchFamily="18" charset="2"/>
              </a:rPr>
              <a:t>投射</a:t>
            </a:r>
          </a:p>
        </p:txBody>
      </p:sp>
      <p:sp>
        <p:nvSpPr>
          <p:cNvPr id="24" name="Text Box 7">
            <a:extLst>
              <a:ext uri="{FF2B5EF4-FFF2-40B4-BE49-F238E27FC236}">
                <a16:creationId xmlns:a16="http://schemas.microsoft.com/office/drawing/2014/main" id="{83B939E5-1A17-4FF5-A90A-B959DB645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8772" y="4655924"/>
            <a:ext cx="161133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latin typeface="宋体" charset="-122"/>
                <a:sym typeface="Symbol" pitchFamily="18" charset="2"/>
              </a:rPr>
              <a:t> </a:t>
            </a:r>
            <a:r>
              <a:rPr lang="zh-CN" altLang="en-US" sz="2800" b="1" dirty="0">
                <a:solidFill>
                  <a:srgbClr val="0070C0"/>
                </a:solidFill>
                <a:latin typeface="宋体" charset="-122"/>
                <a:sym typeface="Symbol" pitchFamily="18" charset="2"/>
              </a:rPr>
              <a:t>仰视图</a:t>
            </a:r>
          </a:p>
        </p:txBody>
      </p:sp>
      <p:sp>
        <p:nvSpPr>
          <p:cNvPr id="25" name="Text Box 10">
            <a:extLst>
              <a:ext uri="{FF2B5EF4-FFF2-40B4-BE49-F238E27FC236}">
                <a16:creationId xmlns:a16="http://schemas.microsoft.com/office/drawing/2014/main" id="{4B106109-659F-455E-B89D-C935EF205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884" y="5075024"/>
            <a:ext cx="234551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从下向上</a:t>
            </a:r>
            <a:r>
              <a:rPr lang="zh-CN" altLang="en-US" sz="2800" dirty="0">
                <a:latin typeface="宋体" charset="-122"/>
                <a:sym typeface="Symbol" pitchFamily="18" charset="2"/>
              </a:rPr>
              <a:t>投射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9243AFAC-BD20-411E-A74F-DB778156B7A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A0A0A0"/>
              </a:clrFrom>
              <a:clrTo>
                <a:srgbClr val="A0A0A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65" t="13152" r="5686" b="28078"/>
          <a:stretch/>
        </p:blipFill>
        <p:spPr>
          <a:xfrm>
            <a:off x="3798961" y="3335111"/>
            <a:ext cx="2504989" cy="2295138"/>
          </a:xfrm>
          <a:prstGeom prst="rect">
            <a:avLst/>
          </a:prstGeom>
        </p:spPr>
      </p:pic>
      <p:sp>
        <p:nvSpPr>
          <p:cNvPr id="26" name="Text Box 6">
            <a:extLst>
              <a:ext uri="{FF2B5EF4-FFF2-40B4-BE49-F238E27FC236}">
                <a16:creationId xmlns:a16="http://schemas.microsoft.com/office/drawing/2014/main" id="{30B0B07F-46C2-46BA-B011-A6996679B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8772" y="5573499"/>
            <a:ext cx="161133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latin typeface="宋体" charset="-122"/>
                <a:sym typeface="Symbol" pitchFamily="18" charset="2"/>
              </a:rPr>
              <a:t> </a:t>
            </a:r>
            <a:r>
              <a:rPr lang="zh-CN" altLang="en-US" sz="2800" b="1" dirty="0">
                <a:solidFill>
                  <a:srgbClr val="0070C0"/>
                </a:solidFill>
                <a:latin typeface="宋体" charset="-122"/>
                <a:sym typeface="Symbol" pitchFamily="18" charset="2"/>
              </a:rPr>
              <a:t>后视图</a:t>
            </a:r>
          </a:p>
        </p:txBody>
      </p:sp>
      <p:sp>
        <p:nvSpPr>
          <p:cNvPr id="27" name="Text Box 11">
            <a:extLst>
              <a:ext uri="{FF2B5EF4-FFF2-40B4-BE49-F238E27FC236}">
                <a16:creationId xmlns:a16="http://schemas.microsoft.com/office/drawing/2014/main" id="{38D6E6D6-A267-4F69-9DF6-C4BBCCC0D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884" y="6002124"/>
            <a:ext cx="234551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从后向前</a:t>
            </a:r>
            <a:r>
              <a:rPr lang="zh-CN" altLang="en-US" sz="2800" dirty="0">
                <a:latin typeface="宋体" charset="-122"/>
                <a:sym typeface="Symbol" pitchFamily="18" charset="2"/>
              </a:rPr>
              <a:t>投射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F27781A-11C0-41A1-86B7-53991E27F9E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15" t="40698" r="13393" b="23837"/>
          <a:stretch/>
        </p:blipFill>
        <p:spPr>
          <a:xfrm>
            <a:off x="4399273" y="4413602"/>
            <a:ext cx="1611340" cy="138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77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/>
      <p:bldP spid="7" grpId="0"/>
      <p:bldP spid="7" grpId="1"/>
      <p:bldP spid="22" grpId="0" build="p" autoUpdateAnimBg="0"/>
      <p:bldP spid="23" grpId="0" autoUpdateAnimBg="0"/>
      <p:bldP spid="24" grpId="0" autoUpdateAnimBg="0"/>
      <p:bldP spid="25" grpId="0" autoUpdateAnimBg="0"/>
      <p:bldP spid="26" grpId="0" autoUpdateAnimBg="0"/>
      <p:bldP spid="2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ext Box 1026"/>
          <p:cNvSpPr txBox="1">
            <a:spLocks noChangeArrowheads="1"/>
          </p:cNvSpPr>
          <p:nvPr/>
        </p:nvSpPr>
        <p:spPr bwMode="auto">
          <a:xfrm>
            <a:off x="1153235" y="1397182"/>
            <a:ext cx="35958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⒉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六个投影面的展开</a:t>
            </a:r>
          </a:p>
        </p:txBody>
      </p:sp>
      <p:pic>
        <p:nvPicPr>
          <p:cNvPr id="25663" name="Picture 6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51684" y="2033546"/>
            <a:ext cx="6280150" cy="475138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343472" y="642688"/>
            <a:ext cx="2927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一、基本视图</a:t>
            </a:r>
            <a:endParaRPr lang="zh-CN" altLang="en-US" sz="3600" dirty="0">
              <a:solidFill>
                <a:srgbClr val="FF0000"/>
              </a:solidFill>
              <a:ea typeface="黑体" pitchFamily="49" charset="-122"/>
            </a:endParaRPr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5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10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82901" y="1036638"/>
            <a:ext cx="6315075" cy="3257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041650" y="1146175"/>
            <a:ext cx="4076700" cy="3067050"/>
            <a:chOff x="933" y="550"/>
            <a:chExt cx="2568" cy="1932"/>
          </a:xfrm>
        </p:grpSpPr>
        <p:sp>
          <p:nvSpPr>
            <p:cNvPr id="23601" name="Arc 3"/>
            <p:cNvSpPr>
              <a:spLocks/>
            </p:cNvSpPr>
            <p:nvPr/>
          </p:nvSpPr>
          <p:spPr bwMode="auto">
            <a:xfrm flipV="1">
              <a:off x="2604" y="1700"/>
              <a:ext cx="506" cy="3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2" name="Arc 4"/>
            <p:cNvSpPr>
              <a:spLocks/>
            </p:cNvSpPr>
            <p:nvPr/>
          </p:nvSpPr>
          <p:spPr bwMode="auto">
            <a:xfrm flipV="1">
              <a:off x="2604" y="1700"/>
              <a:ext cx="897" cy="78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3" name="Arc 5"/>
            <p:cNvSpPr>
              <a:spLocks/>
            </p:cNvSpPr>
            <p:nvPr/>
          </p:nvSpPr>
          <p:spPr bwMode="auto">
            <a:xfrm flipH="1" flipV="1">
              <a:off x="1339" y="1700"/>
              <a:ext cx="414" cy="3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4" name="Arc 6"/>
            <p:cNvSpPr>
              <a:spLocks/>
            </p:cNvSpPr>
            <p:nvPr/>
          </p:nvSpPr>
          <p:spPr bwMode="auto">
            <a:xfrm flipH="1" flipV="1">
              <a:off x="948" y="1700"/>
              <a:ext cx="805" cy="78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5" name="Line 8"/>
            <p:cNvSpPr>
              <a:spLocks noChangeShapeType="1"/>
            </p:cNvSpPr>
            <p:nvPr/>
          </p:nvSpPr>
          <p:spPr bwMode="auto">
            <a:xfrm rot="240000" flipH="1" flipV="1">
              <a:off x="933" y="1316"/>
              <a:ext cx="29" cy="40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6" name="Arc 9"/>
            <p:cNvSpPr>
              <a:spLocks/>
            </p:cNvSpPr>
            <p:nvPr/>
          </p:nvSpPr>
          <p:spPr bwMode="auto">
            <a:xfrm>
              <a:off x="2604" y="941"/>
              <a:ext cx="506" cy="3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7" name="Arc 10"/>
            <p:cNvSpPr>
              <a:spLocks/>
            </p:cNvSpPr>
            <p:nvPr/>
          </p:nvSpPr>
          <p:spPr bwMode="auto">
            <a:xfrm flipH="1">
              <a:off x="1339" y="941"/>
              <a:ext cx="368" cy="36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8" name="Arc 11"/>
            <p:cNvSpPr>
              <a:spLocks/>
            </p:cNvSpPr>
            <p:nvPr/>
          </p:nvSpPr>
          <p:spPr bwMode="auto">
            <a:xfrm>
              <a:off x="2604" y="550"/>
              <a:ext cx="897" cy="10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9" name="Arc 12"/>
            <p:cNvSpPr>
              <a:spLocks/>
            </p:cNvSpPr>
            <p:nvPr/>
          </p:nvSpPr>
          <p:spPr bwMode="auto">
            <a:xfrm flipH="1">
              <a:off x="948" y="550"/>
              <a:ext cx="828" cy="78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6269" name="Text Box 13"/>
          <p:cNvSpPr txBox="1">
            <a:spLocks noChangeArrowheads="1"/>
          </p:cNvSpPr>
          <p:nvPr/>
        </p:nvSpPr>
        <p:spPr bwMode="auto">
          <a:xfrm>
            <a:off x="1127449" y="5727701"/>
            <a:ext cx="10405156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   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除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后视图外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，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靠近主视图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的一边是物体的后面，远离主视图的 一边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是物体的前面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。</a:t>
            </a:r>
          </a:p>
        </p:txBody>
      </p:sp>
      <p:sp>
        <p:nvSpPr>
          <p:cNvPr id="96270" name="Text Box 14"/>
          <p:cNvSpPr txBox="1">
            <a:spLocks noChangeArrowheads="1"/>
          </p:cNvSpPr>
          <p:nvPr/>
        </p:nvSpPr>
        <p:spPr bwMode="auto">
          <a:xfrm>
            <a:off x="1296130" y="474069"/>
            <a:ext cx="467307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⒊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六面视图的投影对应关系</a:t>
            </a:r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4279901" y="1730376"/>
            <a:ext cx="1455737" cy="3103563"/>
            <a:chOff x="1713" y="918"/>
            <a:chExt cx="917" cy="1955"/>
          </a:xfrm>
        </p:grpSpPr>
        <p:sp>
          <p:nvSpPr>
            <p:cNvPr id="23599" name="Freeform 16"/>
            <p:cNvSpPr>
              <a:spLocks/>
            </p:cNvSpPr>
            <p:nvPr/>
          </p:nvSpPr>
          <p:spPr bwMode="auto">
            <a:xfrm flipH="1">
              <a:off x="1713" y="918"/>
              <a:ext cx="49" cy="1955"/>
            </a:xfrm>
            <a:custGeom>
              <a:avLst/>
              <a:gdLst>
                <a:gd name="T0" fmla="*/ 0 w 1"/>
                <a:gd name="T1" fmla="*/ 0 h 1801"/>
                <a:gd name="T2" fmla="*/ 0 w 1"/>
                <a:gd name="T3" fmla="*/ 3471 h 1801"/>
                <a:gd name="T4" fmla="*/ 0 60000 65536"/>
                <a:gd name="T5" fmla="*/ 0 60000 65536"/>
                <a:gd name="T6" fmla="*/ 0 w 1"/>
                <a:gd name="T7" fmla="*/ 0 h 1801"/>
                <a:gd name="T8" fmla="*/ 1 w 1"/>
                <a:gd name="T9" fmla="*/ 1801 h 18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801">
                  <a:moveTo>
                    <a:pt x="0" y="0"/>
                  </a:moveTo>
                  <a:lnTo>
                    <a:pt x="0" y="1801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0" name="Freeform 17"/>
            <p:cNvSpPr>
              <a:spLocks/>
            </p:cNvSpPr>
            <p:nvPr/>
          </p:nvSpPr>
          <p:spPr bwMode="auto">
            <a:xfrm>
              <a:off x="2601" y="932"/>
              <a:ext cx="29" cy="1941"/>
            </a:xfrm>
            <a:custGeom>
              <a:avLst/>
              <a:gdLst>
                <a:gd name="T0" fmla="*/ 0 w 1"/>
                <a:gd name="T1" fmla="*/ 204 h 2041"/>
                <a:gd name="T2" fmla="*/ 0 w 1"/>
                <a:gd name="T3" fmla="*/ 0 h 2041"/>
                <a:gd name="T4" fmla="*/ 0 60000 65536"/>
                <a:gd name="T5" fmla="*/ 0 60000 65536"/>
                <a:gd name="T6" fmla="*/ 0 w 1"/>
                <a:gd name="T7" fmla="*/ 0 h 2041"/>
                <a:gd name="T8" fmla="*/ 1 w 1"/>
                <a:gd name="T9" fmla="*/ 2041 h 204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041">
                  <a:moveTo>
                    <a:pt x="0" y="2041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3028950" y="2312989"/>
            <a:ext cx="7010400" cy="663575"/>
            <a:chOff x="473" y="2222"/>
            <a:chExt cx="4807" cy="483"/>
          </a:xfrm>
        </p:grpSpPr>
        <p:sp>
          <p:nvSpPr>
            <p:cNvPr id="23597" name="Freeform 19"/>
            <p:cNvSpPr>
              <a:spLocks/>
            </p:cNvSpPr>
            <p:nvPr/>
          </p:nvSpPr>
          <p:spPr bwMode="auto">
            <a:xfrm flipV="1">
              <a:off x="473" y="2222"/>
              <a:ext cx="4793" cy="33"/>
            </a:xfrm>
            <a:custGeom>
              <a:avLst/>
              <a:gdLst>
                <a:gd name="T0" fmla="*/ 0 w 5041"/>
                <a:gd name="T1" fmla="*/ 0 h 1"/>
                <a:gd name="T2" fmla="*/ 3367 w 5041"/>
                <a:gd name="T3" fmla="*/ 0 h 1"/>
                <a:gd name="T4" fmla="*/ 0 60000 65536"/>
                <a:gd name="T5" fmla="*/ 0 60000 65536"/>
                <a:gd name="T6" fmla="*/ 0 w 5041"/>
                <a:gd name="T7" fmla="*/ 0 h 1"/>
                <a:gd name="T8" fmla="*/ 5041 w 5041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041" h="1">
                  <a:moveTo>
                    <a:pt x="0" y="0"/>
                  </a:moveTo>
                  <a:lnTo>
                    <a:pt x="5041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8" name="Freeform 20"/>
            <p:cNvSpPr>
              <a:spLocks/>
            </p:cNvSpPr>
            <p:nvPr/>
          </p:nvSpPr>
          <p:spPr bwMode="auto">
            <a:xfrm flipV="1">
              <a:off x="498" y="2672"/>
              <a:ext cx="4782" cy="33"/>
            </a:xfrm>
            <a:custGeom>
              <a:avLst/>
              <a:gdLst>
                <a:gd name="T0" fmla="*/ 0 w 5026"/>
                <a:gd name="T1" fmla="*/ 0 h 1"/>
                <a:gd name="T2" fmla="*/ 3376 w 5026"/>
                <a:gd name="T3" fmla="*/ 0 h 1"/>
                <a:gd name="T4" fmla="*/ 0 60000 65536"/>
                <a:gd name="T5" fmla="*/ 0 60000 65536"/>
                <a:gd name="T6" fmla="*/ 0 w 5026"/>
                <a:gd name="T7" fmla="*/ 0 h 1"/>
                <a:gd name="T8" fmla="*/ 5026 w 502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026" h="1">
                  <a:moveTo>
                    <a:pt x="0" y="0"/>
                  </a:moveTo>
                  <a:lnTo>
                    <a:pt x="5026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560" name="Line 21"/>
          <p:cNvSpPr>
            <a:spLocks noChangeShapeType="1"/>
          </p:cNvSpPr>
          <p:nvPr/>
        </p:nvSpPr>
        <p:spPr bwMode="auto">
          <a:xfrm>
            <a:off x="6497637" y="2362200"/>
            <a:ext cx="0" cy="723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1" name="Freeform 22"/>
          <p:cNvSpPr>
            <a:spLocks/>
          </p:cNvSpPr>
          <p:nvPr/>
        </p:nvSpPr>
        <p:spPr bwMode="auto">
          <a:xfrm>
            <a:off x="4287838" y="1766889"/>
            <a:ext cx="1406525" cy="46037"/>
          </a:xfrm>
          <a:custGeom>
            <a:avLst/>
            <a:gdLst>
              <a:gd name="T0" fmla="*/ 2147483647 w 1095"/>
              <a:gd name="T1" fmla="*/ 0 h 1"/>
              <a:gd name="T2" fmla="*/ 0 w 1095"/>
              <a:gd name="T3" fmla="*/ 0 h 1"/>
              <a:gd name="T4" fmla="*/ 0 60000 65536"/>
              <a:gd name="T5" fmla="*/ 0 60000 65536"/>
              <a:gd name="T6" fmla="*/ 0 w 1095"/>
              <a:gd name="T7" fmla="*/ 0 h 1"/>
              <a:gd name="T8" fmla="*/ 1095 w 1095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95" h="1">
                <a:moveTo>
                  <a:pt x="1095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2" name="Freeform 24"/>
          <p:cNvSpPr>
            <a:spLocks/>
          </p:cNvSpPr>
          <p:nvPr/>
        </p:nvSpPr>
        <p:spPr bwMode="auto">
          <a:xfrm>
            <a:off x="4278312" y="3481389"/>
            <a:ext cx="1606550" cy="9525"/>
          </a:xfrm>
          <a:custGeom>
            <a:avLst/>
            <a:gdLst>
              <a:gd name="T0" fmla="*/ 0 w 1101"/>
              <a:gd name="T1" fmla="*/ 0 h 7"/>
              <a:gd name="T2" fmla="*/ 2147483647 w 1101"/>
              <a:gd name="T3" fmla="*/ 2147483647 h 7"/>
              <a:gd name="T4" fmla="*/ 0 60000 65536"/>
              <a:gd name="T5" fmla="*/ 0 60000 65536"/>
              <a:gd name="T6" fmla="*/ 0 w 1101"/>
              <a:gd name="T7" fmla="*/ 0 h 7"/>
              <a:gd name="T8" fmla="*/ 1101 w 1101"/>
              <a:gd name="T9" fmla="*/ 7 h 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01" h="7">
                <a:moveTo>
                  <a:pt x="0" y="0"/>
                </a:moveTo>
                <a:lnTo>
                  <a:pt x="1101" y="7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71"/>
          <p:cNvGrpSpPr>
            <a:grpSpLocks/>
          </p:cNvGrpSpPr>
          <p:nvPr/>
        </p:nvGrpSpPr>
        <p:grpSpPr bwMode="auto">
          <a:xfrm>
            <a:off x="4367212" y="4356298"/>
            <a:ext cx="1327150" cy="369689"/>
            <a:chOff x="1722" y="2605"/>
            <a:chExt cx="1014" cy="207"/>
          </a:xfrm>
        </p:grpSpPr>
        <p:sp>
          <p:nvSpPr>
            <p:cNvPr id="23595" name="Line 72"/>
            <p:cNvSpPr>
              <a:spLocks noChangeShapeType="1"/>
            </p:cNvSpPr>
            <p:nvPr/>
          </p:nvSpPr>
          <p:spPr bwMode="auto">
            <a:xfrm>
              <a:off x="1722" y="2801"/>
              <a:ext cx="10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6" name="Text Box 73"/>
            <p:cNvSpPr txBox="1">
              <a:spLocks noChangeArrowheads="1"/>
            </p:cNvSpPr>
            <p:nvPr/>
          </p:nvSpPr>
          <p:spPr bwMode="auto">
            <a:xfrm>
              <a:off x="2088" y="2605"/>
              <a:ext cx="317" cy="20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/>
                <a:t>长</a:t>
              </a:r>
            </a:p>
          </p:txBody>
        </p:sp>
      </p:grpSp>
      <p:grpSp>
        <p:nvGrpSpPr>
          <p:cNvPr id="6" name="Group 74"/>
          <p:cNvGrpSpPr>
            <a:grpSpLocks/>
          </p:cNvGrpSpPr>
          <p:nvPr/>
        </p:nvGrpSpPr>
        <p:grpSpPr bwMode="auto">
          <a:xfrm>
            <a:off x="9604955" y="2354264"/>
            <a:ext cx="368642" cy="617537"/>
            <a:chOff x="5061" y="1311"/>
            <a:chExt cx="238" cy="456"/>
          </a:xfrm>
        </p:grpSpPr>
        <p:sp>
          <p:nvSpPr>
            <p:cNvPr id="23593" name="Text Box 75"/>
            <p:cNvSpPr txBox="1">
              <a:spLocks noChangeArrowheads="1"/>
            </p:cNvSpPr>
            <p:nvPr/>
          </p:nvSpPr>
          <p:spPr bwMode="auto">
            <a:xfrm rot="16200000">
              <a:off x="5026" y="1399"/>
              <a:ext cx="307" cy="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/>
                <a:t>高</a:t>
              </a:r>
            </a:p>
          </p:txBody>
        </p:sp>
        <p:sp>
          <p:nvSpPr>
            <p:cNvPr id="23594" name="Freeform 76"/>
            <p:cNvSpPr>
              <a:spLocks/>
            </p:cNvSpPr>
            <p:nvPr/>
          </p:nvSpPr>
          <p:spPr bwMode="auto">
            <a:xfrm>
              <a:off x="5278" y="1311"/>
              <a:ext cx="1" cy="456"/>
            </a:xfrm>
            <a:custGeom>
              <a:avLst/>
              <a:gdLst>
                <a:gd name="T0" fmla="*/ 0 w 1"/>
                <a:gd name="T1" fmla="*/ 0 h 456"/>
                <a:gd name="T2" fmla="*/ 0 w 1"/>
                <a:gd name="T3" fmla="*/ 456 h 456"/>
                <a:gd name="T4" fmla="*/ 0 60000 65536"/>
                <a:gd name="T5" fmla="*/ 0 60000 65536"/>
                <a:gd name="T6" fmla="*/ 0 w 1"/>
                <a:gd name="T7" fmla="*/ 0 h 456"/>
                <a:gd name="T8" fmla="*/ 1 w 1"/>
                <a:gd name="T9" fmla="*/ 456 h 45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56">
                  <a:moveTo>
                    <a:pt x="0" y="0"/>
                  </a:moveTo>
                  <a:lnTo>
                    <a:pt x="0" y="45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77"/>
          <p:cNvGrpSpPr>
            <a:grpSpLocks/>
          </p:cNvGrpSpPr>
          <p:nvPr/>
        </p:nvGrpSpPr>
        <p:grpSpPr bwMode="auto">
          <a:xfrm>
            <a:off x="6226933" y="1618564"/>
            <a:ext cx="562804" cy="476936"/>
            <a:chOff x="2740" y="554"/>
            <a:chExt cx="692" cy="596"/>
          </a:xfrm>
        </p:grpSpPr>
        <p:sp>
          <p:nvSpPr>
            <p:cNvPr id="23591" name="Line 78"/>
            <p:cNvSpPr>
              <a:spLocks noChangeShapeType="1"/>
            </p:cNvSpPr>
            <p:nvPr/>
          </p:nvSpPr>
          <p:spPr bwMode="auto">
            <a:xfrm flipV="1">
              <a:off x="2947" y="693"/>
              <a:ext cx="485" cy="4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2" name="Text Box 79"/>
            <p:cNvSpPr txBox="1">
              <a:spLocks noChangeArrowheads="1"/>
            </p:cNvSpPr>
            <p:nvPr/>
          </p:nvSpPr>
          <p:spPr bwMode="auto">
            <a:xfrm rot="18868773">
              <a:off x="2707" y="587"/>
              <a:ext cx="519" cy="4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/>
                <a:t>宽</a:t>
              </a:r>
            </a:p>
          </p:txBody>
        </p:sp>
      </p:grpSp>
      <p:sp>
        <p:nvSpPr>
          <p:cNvPr id="96336" name="Text Box 80"/>
          <p:cNvSpPr txBox="1">
            <a:spLocks noChangeArrowheads="1"/>
          </p:cNvSpPr>
          <p:nvPr/>
        </p:nvSpPr>
        <p:spPr bwMode="auto">
          <a:xfrm>
            <a:off x="2857501" y="1960047"/>
            <a:ext cx="41549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/>
              <a:t>上</a:t>
            </a:r>
          </a:p>
        </p:txBody>
      </p:sp>
      <p:sp>
        <p:nvSpPr>
          <p:cNvPr id="96337" name="Text Box 81"/>
          <p:cNvSpPr txBox="1">
            <a:spLocks noChangeArrowheads="1"/>
          </p:cNvSpPr>
          <p:nvPr/>
        </p:nvSpPr>
        <p:spPr bwMode="auto">
          <a:xfrm>
            <a:off x="2870201" y="3076059"/>
            <a:ext cx="41549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/>
              <a:t>下</a:t>
            </a:r>
          </a:p>
        </p:txBody>
      </p:sp>
      <p:sp>
        <p:nvSpPr>
          <p:cNvPr id="96338" name="Text Box 82"/>
          <p:cNvSpPr txBox="1">
            <a:spLocks noChangeArrowheads="1"/>
          </p:cNvSpPr>
          <p:nvPr/>
        </p:nvSpPr>
        <p:spPr bwMode="auto">
          <a:xfrm>
            <a:off x="3846513" y="4350822"/>
            <a:ext cx="41549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/>
              <a:t>左</a:t>
            </a:r>
          </a:p>
        </p:txBody>
      </p:sp>
      <p:sp>
        <p:nvSpPr>
          <p:cNvPr id="96339" name="Text Box 83"/>
          <p:cNvSpPr txBox="1">
            <a:spLocks noChangeArrowheads="1"/>
          </p:cNvSpPr>
          <p:nvPr/>
        </p:nvSpPr>
        <p:spPr bwMode="auto">
          <a:xfrm>
            <a:off x="5827713" y="4350822"/>
            <a:ext cx="41549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/>
              <a:t>右</a:t>
            </a:r>
          </a:p>
        </p:txBody>
      </p:sp>
      <p:grpSp>
        <p:nvGrpSpPr>
          <p:cNvPr id="8" name="Group 84"/>
          <p:cNvGrpSpPr>
            <a:grpSpLocks/>
          </p:cNvGrpSpPr>
          <p:nvPr/>
        </p:nvGrpSpPr>
        <p:grpSpPr bwMode="auto">
          <a:xfrm>
            <a:off x="3138487" y="1299646"/>
            <a:ext cx="547688" cy="381686"/>
            <a:chOff x="312" y="1185"/>
            <a:chExt cx="360" cy="278"/>
          </a:xfrm>
        </p:grpSpPr>
        <p:sp>
          <p:nvSpPr>
            <p:cNvPr id="23589" name="Line 85"/>
            <p:cNvSpPr>
              <a:spLocks noChangeShapeType="1"/>
            </p:cNvSpPr>
            <p:nvPr/>
          </p:nvSpPr>
          <p:spPr bwMode="auto">
            <a:xfrm flipH="1" flipV="1">
              <a:off x="528" y="1319"/>
              <a:ext cx="144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0" name="Text Box 86"/>
            <p:cNvSpPr txBox="1">
              <a:spLocks noChangeArrowheads="1"/>
            </p:cNvSpPr>
            <p:nvPr/>
          </p:nvSpPr>
          <p:spPr bwMode="auto">
            <a:xfrm>
              <a:off x="312" y="1185"/>
              <a:ext cx="273" cy="26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/>
                <a:t>前</a:t>
              </a:r>
            </a:p>
          </p:txBody>
        </p:sp>
      </p:grpSp>
      <p:grpSp>
        <p:nvGrpSpPr>
          <p:cNvPr id="9" name="Group 87"/>
          <p:cNvGrpSpPr>
            <a:grpSpLocks/>
          </p:cNvGrpSpPr>
          <p:nvPr/>
        </p:nvGrpSpPr>
        <p:grpSpPr bwMode="auto">
          <a:xfrm>
            <a:off x="3333750" y="1673031"/>
            <a:ext cx="461962" cy="369073"/>
            <a:chOff x="696" y="1742"/>
            <a:chExt cx="408" cy="306"/>
          </a:xfrm>
        </p:grpSpPr>
        <p:sp>
          <p:nvSpPr>
            <p:cNvPr id="23587" name="Line 88"/>
            <p:cNvSpPr>
              <a:spLocks noChangeShapeType="1"/>
            </p:cNvSpPr>
            <p:nvPr/>
          </p:nvSpPr>
          <p:spPr bwMode="auto">
            <a:xfrm>
              <a:off x="960" y="1895"/>
              <a:ext cx="144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8" name="Text Box 89"/>
            <p:cNvSpPr txBox="1">
              <a:spLocks noChangeArrowheads="1"/>
            </p:cNvSpPr>
            <p:nvPr/>
          </p:nvSpPr>
          <p:spPr bwMode="auto">
            <a:xfrm>
              <a:off x="696" y="1742"/>
              <a:ext cx="367" cy="3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/>
                <a:t>后</a:t>
              </a:r>
            </a:p>
          </p:txBody>
        </p:sp>
      </p:grpSp>
      <p:sp>
        <p:nvSpPr>
          <p:cNvPr id="96346" name="Text Box 90"/>
          <p:cNvSpPr txBox="1">
            <a:spLocks noChangeArrowheads="1"/>
          </p:cNvSpPr>
          <p:nvPr/>
        </p:nvSpPr>
        <p:spPr bwMode="auto">
          <a:xfrm>
            <a:off x="7410451" y="2397125"/>
            <a:ext cx="401637" cy="369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/>
              <a:t>右</a:t>
            </a:r>
          </a:p>
        </p:txBody>
      </p:sp>
      <p:sp>
        <p:nvSpPr>
          <p:cNvPr id="96347" name="Text Box 91"/>
          <p:cNvSpPr txBox="1">
            <a:spLocks noChangeArrowheads="1"/>
          </p:cNvSpPr>
          <p:nvPr/>
        </p:nvSpPr>
        <p:spPr bwMode="auto">
          <a:xfrm>
            <a:off x="9272587" y="2460625"/>
            <a:ext cx="292100" cy="369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/>
              <a:t>左</a:t>
            </a:r>
          </a:p>
        </p:txBody>
      </p:sp>
      <p:sp>
        <p:nvSpPr>
          <p:cNvPr id="96348" name="Text Box 92"/>
          <p:cNvSpPr txBox="1">
            <a:spLocks noChangeArrowheads="1"/>
          </p:cNvSpPr>
          <p:nvPr/>
        </p:nvSpPr>
        <p:spPr bwMode="auto">
          <a:xfrm>
            <a:off x="1484694" y="4842644"/>
            <a:ext cx="64540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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度量对应关系：</a:t>
            </a:r>
            <a:r>
              <a:rPr lang="zh-CN" altLang="en-US" sz="28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仍遵守“三等”规律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  <a:sym typeface="Symbol" pitchFamily="18" charset="2"/>
            </a:endParaRPr>
          </a:p>
        </p:txBody>
      </p:sp>
      <p:sp>
        <p:nvSpPr>
          <p:cNvPr id="96349" name="Text Box 93"/>
          <p:cNvSpPr txBox="1">
            <a:spLocks noChangeArrowheads="1"/>
          </p:cNvSpPr>
          <p:nvPr/>
        </p:nvSpPr>
        <p:spPr bwMode="auto">
          <a:xfrm>
            <a:off x="1479725" y="5350922"/>
            <a:ext cx="30368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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方位对应关系：</a:t>
            </a:r>
          </a:p>
        </p:txBody>
      </p:sp>
      <p:sp>
        <p:nvSpPr>
          <p:cNvPr id="23576" name="Rectangle 95"/>
          <p:cNvSpPr>
            <a:spLocks noChangeArrowheads="1"/>
          </p:cNvSpPr>
          <p:nvPr/>
        </p:nvSpPr>
        <p:spPr bwMode="auto">
          <a:xfrm>
            <a:off x="4759325" y="3874572"/>
            <a:ext cx="646331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/>
              <a:t>俯视</a:t>
            </a:r>
          </a:p>
        </p:txBody>
      </p:sp>
      <p:sp>
        <p:nvSpPr>
          <p:cNvPr id="23577" name="Text Box 96"/>
          <p:cNvSpPr txBox="1">
            <a:spLocks noChangeArrowheads="1"/>
          </p:cNvSpPr>
          <p:nvPr/>
        </p:nvSpPr>
        <p:spPr bwMode="auto">
          <a:xfrm>
            <a:off x="4711700" y="1183759"/>
            <a:ext cx="646331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/>
              <a:t>仰视</a:t>
            </a:r>
          </a:p>
        </p:txBody>
      </p:sp>
      <p:sp>
        <p:nvSpPr>
          <p:cNvPr id="23578" name="Text Box 97"/>
          <p:cNvSpPr txBox="1">
            <a:spLocks noChangeArrowheads="1"/>
          </p:cNvSpPr>
          <p:nvPr/>
        </p:nvSpPr>
        <p:spPr bwMode="auto">
          <a:xfrm>
            <a:off x="6664325" y="2387600"/>
            <a:ext cx="709612" cy="369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/>
              <a:t>左视</a:t>
            </a:r>
          </a:p>
        </p:txBody>
      </p:sp>
      <p:sp>
        <p:nvSpPr>
          <p:cNvPr id="23579" name="Text Box 98"/>
          <p:cNvSpPr txBox="1">
            <a:spLocks noChangeArrowheads="1"/>
          </p:cNvSpPr>
          <p:nvPr/>
        </p:nvSpPr>
        <p:spPr bwMode="auto">
          <a:xfrm>
            <a:off x="2846388" y="2346325"/>
            <a:ext cx="657225" cy="369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/>
              <a:t>右视</a:t>
            </a:r>
          </a:p>
        </p:txBody>
      </p:sp>
      <p:sp>
        <p:nvSpPr>
          <p:cNvPr id="23580" name="Text Box 99"/>
          <p:cNvSpPr txBox="1">
            <a:spLocks noChangeArrowheads="1"/>
          </p:cNvSpPr>
          <p:nvPr/>
        </p:nvSpPr>
        <p:spPr bwMode="auto">
          <a:xfrm>
            <a:off x="8069262" y="2445822"/>
            <a:ext cx="646331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/>
              <a:t>后视</a:t>
            </a:r>
          </a:p>
        </p:txBody>
      </p:sp>
      <p:grpSp>
        <p:nvGrpSpPr>
          <p:cNvPr id="10" name="Group 100"/>
          <p:cNvGrpSpPr>
            <a:grpSpLocks/>
          </p:cNvGrpSpPr>
          <p:nvPr/>
        </p:nvGrpSpPr>
        <p:grpSpPr bwMode="auto">
          <a:xfrm>
            <a:off x="7777163" y="3045220"/>
            <a:ext cx="1349375" cy="369093"/>
            <a:chOff x="4054" y="1784"/>
            <a:chExt cx="1014" cy="240"/>
          </a:xfrm>
        </p:grpSpPr>
        <p:sp>
          <p:nvSpPr>
            <p:cNvPr id="23585" name="Line 101"/>
            <p:cNvSpPr>
              <a:spLocks noChangeShapeType="1"/>
            </p:cNvSpPr>
            <p:nvPr/>
          </p:nvSpPr>
          <p:spPr bwMode="auto">
            <a:xfrm>
              <a:off x="4054" y="1997"/>
              <a:ext cx="10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6" name="Text Box 102"/>
            <p:cNvSpPr txBox="1">
              <a:spLocks noChangeArrowheads="1"/>
            </p:cNvSpPr>
            <p:nvPr/>
          </p:nvSpPr>
          <p:spPr bwMode="auto">
            <a:xfrm>
              <a:off x="4420" y="1784"/>
              <a:ext cx="312" cy="24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/>
                <a:t>长</a:t>
              </a:r>
            </a:p>
          </p:txBody>
        </p:sp>
      </p:grpSp>
      <p:grpSp>
        <p:nvGrpSpPr>
          <p:cNvPr id="11" name="Group 103"/>
          <p:cNvGrpSpPr>
            <a:grpSpLocks/>
          </p:cNvGrpSpPr>
          <p:nvPr/>
        </p:nvGrpSpPr>
        <p:grpSpPr bwMode="auto">
          <a:xfrm>
            <a:off x="7783513" y="2971801"/>
            <a:ext cx="1336675" cy="500063"/>
            <a:chOff x="4050" y="1756"/>
            <a:chExt cx="1013" cy="315"/>
          </a:xfrm>
        </p:grpSpPr>
        <p:sp>
          <p:nvSpPr>
            <p:cNvPr id="23583" name="Line 104"/>
            <p:cNvSpPr>
              <a:spLocks noChangeShapeType="1"/>
            </p:cNvSpPr>
            <p:nvPr/>
          </p:nvSpPr>
          <p:spPr bwMode="auto">
            <a:xfrm>
              <a:off x="4050" y="1756"/>
              <a:ext cx="0" cy="3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4" name="Line 105"/>
            <p:cNvSpPr>
              <a:spLocks noChangeShapeType="1"/>
            </p:cNvSpPr>
            <p:nvPr/>
          </p:nvSpPr>
          <p:spPr bwMode="auto">
            <a:xfrm>
              <a:off x="5063" y="1756"/>
              <a:ext cx="0" cy="3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6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6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6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6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7" dur="500"/>
                                        <p:tgtEl>
                                          <p:spTgt spid="96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9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9" grpId="0" autoUpdateAnimBg="0"/>
      <p:bldP spid="96270" grpId="0"/>
      <p:bldP spid="96336" grpId="0" autoUpdateAnimBg="0"/>
      <p:bldP spid="96337" grpId="0" autoUpdateAnimBg="0"/>
      <p:bldP spid="96338" grpId="0" autoUpdateAnimBg="0"/>
      <p:bldP spid="96339" grpId="0" autoUpdateAnimBg="0"/>
      <p:bldP spid="96346" grpId="0" autoUpdateAnimBg="0"/>
      <p:bldP spid="96347" grpId="0" autoUpdateAnimBg="0"/>
      <p:bldP spid="96348" grpId="0" autoUpdateAnimBg="0"/>
      <p:bldP spid="9634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DDD5804-0C67-4E0B-8232-CD995A4B7C5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125080" y="1333636"/>
            <a:ext cx="8098420" cy="1173820"/>
          </a:xfrm>
          <a:prstGeom prst="rect">
            <a:avLst/>
          </a:prstGeom>
        </p:spPr>
        <p:txBody>
          <a:bodyPr vert="horz" wrap="square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关于六面视图的投影，下面说法正确的是：</a:t>
            </a:r>
            <a:endParaRPr lang="zh-CN" altLang="en-US" sz="28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5C75BF-3DD5-4C0A-9CBB-4AFB5836E67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度量对应关系符合“三等”规律。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18934C-3926-4E59-9C9E-3584036E53F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除后视图外，靠近主视图的一边是物体的后面，远离主视图的一边是物体的前面。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CD6012-3174-43FA-94CD-1EA995D8982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4"/>
            <a:ext cx="6400800" cy="578643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Microsoft Yahei" panose="020B0503020204020204" pitchFamily="34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Microsoft Yahei" panose="020B0503020204020204" pitchFamily="34" charset="-122"/>
              </a:rPr>
              <a:t>选项说的是方位对应关系。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3CD1C7F-1F17-4AF7-AB93-87A0CEBD2E8C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2E2C749-B9C9-4671-8748-CBA4BE0558D0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4A4CB6-40BB-4CC7-82E7-F09C7BADDF1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786309E-4407-4C18-913E-6A6903B2A779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BA6DA7B-80E9-46AB-AA25-1B11B64BF9DF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C226A973-298F-4962-ACBE-F230018E220F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BC2F4768-6E42-4C1E-9E6D-504BA687DCE3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427614A3-4027-42EF-B3C9-AA30BDCF5EB9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lang="zh-CN" altLang="en-US" sz="2600" b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多选题</a:t>
              </a:r>
              <a:endPara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105EFA30-F341-460D-8D46-F9C6C89359EC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lang="en-US" altLang="zh-CN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2</a:t>
              </a:r>
              <a:r>
                <a:rPr lang="zh-CN" altLang="en-US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lang="zh-CN" altLang="en-US" sz="2000" b="1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89B994A-47C1-4C46-9A99-663338B43E12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28127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1379476" y="516617"/>
            <a:ext cx="2470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3600" dirty="0">
                <a:solidFill>
                  <a:srgbClr val="FF3300"/>
                </a:solidFill>
                <a:ea typeface="黑体" pitchFamily="49" charset="-122"/>
              </a:rPr>
              <a:t>二、向视图</a:t>
            </a:r>
          </a:p>
        </p:txBody>
      </p:sp>
      <p:sp>
        <p:nvSpPr>
          <p:cNvPr id="97283" name="Text Box 3"/>
          <p:cNvSpPr txBox="1">
            <a:spLocks noChangeArrowheads="1"/>
          </p:cNvSpPr>
          <p:nvPr/>
        </p:nvSpPr>
        <p:spPr bwMode="auto">
          <a:xfrm>
            <a:off x="1243784" y="1138344"/>
            <a:ext cx="52116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向视图是可以自由配置的视图。</a:t>
            </a:r>
          </a:p>
        </p:txBody>
      </p:sp>
      <p:sp>
        <p:nvSpPr>
          <p:cNvPr id="24580" name="Text Box 64"/>
          <p:cNvSpPr txBox="1">
            <a:spLocks noChangeArrowheads="1"/>
          </p:cNvSpPr>
          <p:nvPr/>
        </p:nvSpPr>
        <p:spPr bwMode="auto">
          <a:xfrm>
            <a:off x="2783633" y="4018732"/>
            <a:ext cx="2350323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b="1" dirty="0"/>
              <a:t>按基本位置配置</a:t>
            </a:r>
          </a:p>
        </p:txBody>
      </p:sp>
      <p:pic>
        <p:nvPicPr>
          <p:cNvPr id="24581" name="Picture 10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89163" y="1749425"/>
            <a:ext cx="3924300" cy="20383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2" name="组合 108"/>
          <p:cNvGrpSpPr>
            <a:grpSpLocks/>
          </p:cNvGrpSpPr>
          <p:nvPr/>
        </p:nvGrpSpPr>
        <p:grpSpPr bwMode="auto">
          <a:xfrm>
            <a:off x="6132513" y="1512490"/>
            <a:ext cx="4083050" cy="3068638"/>
            <a:chOff x="4608514" y="1257300"/>
            <a:chExt cx="4083050" cy="3068638"/>
          </a:xfrm>
        </p:grpSpPr>
        <p:sp>
          <p:nvSpPr>
            <p:cNvPr id="24589" name="Text Box 52"/>
            <p:cNvSpPr txBox="1">
              <a:spLocks noChangeArrowheads="1"/>
            </p:cNvSpPr>
            <p:nvPr/>
          </p:nvSpPr>
          <p:spPr bwMode="auto">
            <a:xfrm>
              <a:off x="5905079" y="3765699"/>
              <a:ext cx="1422184" cy="4616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400" b="1" dirty="0"/>
                <a:t>自由配置</a:t>
              </a:r>
            </a:p>
          </p:txBody>
        </p:sp>
        <p:sp>
          <p:nvSpPr>
            <p:cNvPr id="24590" name="Rectangle 53"/>
            <p:cNvSpPr>
              <a:spLocks noChangeArrowheads="1"/>
            </p:cNvSpPr>
            <p:nvPr/>
          </p:nvSpPr>
          <p:spPr bwMode="auto">
            <a:xfrm>
              <a:off x="4608514" y="1257300"/>
              <a:ext cx="4083050" cy="306863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24591" name="Picture 108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81539" y="1530324"/>
              <a:ext cx="3971925" cy="19431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</p:grpSp>
      <p:grpSp>
        <p:nvGrpSpPr>
          <p:cNvPr id="3" name="组合 110"/>
          <p:cNvGrpSpPr>
            <a:grpSpLocks/>
          </p:cNvGrpSpPr>
          <p:nvPr/>
        </p:nvGrpSpPr>
        <p:grpSpPr bwMode="auto">
          <a:xfrm>
            <a:off x="1847177" y="5004144"/>
            <a:ext cx="8520787" cy="830998"/>
            <a:chOff x="431226" y="4565286"/>
            <a:chExt cx="8765162" cy="831015"/>
          </a:xfrm>
        </p:grpSpPr>
        <p:sp>
          <p:nvSpPr>
            <p:cNvPr id="24587" name="Text Box 4"/>
            <p:cNvSpPr txBox="1">
              <a:spLocks noChangeArrowheads="1"/>
            </p:cNvSpPr>
            <p:nvPr/>
          </p:nvSpPr>
          <p:spPr bwMode="auto">
            <a:xfrm>
              <a:off x="515938" y="4565286"/>
              <a:ext cx="8680450" cy="83101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 sz="2400" b="1" dirty="0">
                  <a:latin typeface="宋体" charset="-122"/>
                </a:rPr>
                <a:t>   在相应视图附近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charset="-122"/>
                </a:rPr>
                <a:t>用箭头指明投射方向</a:t>
              </a:r>
              <a:r>
                <a:rPr lang="zh-CN" altLang="en-US" sz="2400" b="1" dirty="0">
                  <a:latin typeface="宋体" charset="-122"/>
                </a:rPr>
                <a:t>，并标注相同的字母；</a:t>
              </a:r>
              <a:endParaRPr lang="en-US" altLang="zh-CN" sz="2400" b="1" dirty="0">
                <a:latin typeface="宋体" charset="-122"/>
              </a:endParaRPr>
            </a:p>
            <a:p>
              <a:r>
                <a:rPr lang="en-US" altLang="zh-CN" sz="2400" b="1" dirty="0">
                  <a:latin typeface="宋体" charset="-122"/>
                </a:rPr>
                <a:t>   </a:t>
              </a:r>
              <a:r>
                <a:rPr lang="zh-CN" altLang="en-US" sz="2400" b="1" dirty="0">
                  <a:latin typeface="宋体" charset="-122"/>
                </a:rPr>
                <a:t>在向视图的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charset="-122"/>
                </a:rPr>
                <a:t>上方标注字母</a:t>
              </a:r>
              <a:r>
                <a:rPr lang="zh-CN" altLang="en-US" sz="2400" b="1" dirty="0">
                  <a:latin typeface="宋体" charset="-122"/>
                </a:rPr>
                <a:t>。</a:t>
              </a:r>
            </a:p>
          </p:txBody>
        </p:sp>
        <p:sp>
          <p:nvSpPr>
            <p:cNvPr id="110" name="五角星 109"/>
            <p:cNvSpPr/>
            <p:nvPr/>
          </p:nvSpPr>
          <p:spPr bwMode="auto">
            <a:xfrm>
              <a:off x="431226" y="4710915"/>
              <a:ext cx="547065" cy="547699"/>
            </a:xfrm>
            <a:prstGeom prst="star5">
              <a:avLst/>
            </a:prstGeom>
            <a:gradFill rotWithShape="0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/>
            </a:gra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sz="2000" b="1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endParaRPr>
            </a:p>
          </p:txBody>
        </p:sp>
      </p:grpSp>
      <p:grpSp>
        <p:nvGrpSpPr>
          <p:cNvPr id="4" name="组合 112"/>
          <p:cNvGrpSpPr>
            <a:grpSpLocks/>
          </p:cNvGrpSpPr>
          <p:nvPr/>
        </p:nvGrpSpPr>
        <p:grpSpPr bwMode="auto">
          <a:xfrm>
            <a:off x="1834713" y="5835963"/>
            <a:ext cx="8628062" cy="830997"/>
            <a:chOff x="515938" y="5551925"/>
            <a:chExt cx="8628062" cy="830975"/>
          </a:xfrm>
        </p:grpSpPr>
        <p:sp>
          <p:nvSpPr>
            <p:cNvPr id="24585" name="Text Box 61"/>
            <p:cNvSpPr txBox="1">
              <a:spLocks noChangeArrowheads="1"/>
            </p:cNvSpPr>
            <p:nvPr/>
          </p:nvSpPr>
          <p:spPr bwMode="auto">
            <a:xfrm>
              <a:off x="515938" y="5551925"/>
              <a:ext cx="8628062" cy="83097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lg"/>
              <a:tailEnd type="none" w="sm" len="lg"/>
            </a:ln>
          </p:spPr>
          <p:txBody>
            <a:bodyPr anchor="ctr">
              <a:spAutoFit/>
            </a:bodyPr>
            <a:lstStyle/>
            <a:p>
              <a:r>
                <a:rPr lang="en-US" altLang="zh-CN" sz="2400" b="1" dirty="0">
                  <a:latin typeface="宋体" charset="-122"/>
                </a:rPr>
                <a:t>   </a:t>
              </a:r>
              <a:r>
                <a:rPr lang="zh-CN" altLang="en-US" sz="2400" b="1" dirty="0">
                  <a:latin typeface="宋体" charset="-122"/>
                </a:rPr>
                <a:t>表示投射方向的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charset="-122"/>
                </a:rPr>
                <a:t>箭头</a:t>
              </a:r>
              <a:r>
                <a:rPr lang="zh-CN" altLang="en-US" sz="2400" b="1" dirty="0">
                  <a:latin typeface="宋体" charset="-122"/>
                </a:rPr>
                <a:t>尽可能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charset="-122"/>
                </a:rPr>
                <a:t>配置在主视图上</a:t>
              </a:r>
              <a:r>
                <a:rPr lang="zh-CN" altLang="en-US" sz="2400" b="1" dirty="0">
                  <a:latin typeface="宋体" charset="-122"/>
                </a:rPr>
                <a:t>，表示后视投射</a:t>
              </a:r>
              <a:endParaRPr lang="en-US" altLang="zh-CN" sz="2400" b="1" dirty="0">
                <a:latin typeface="宋体" charset="-122"/>
              </a:endParaRPr>
            </a:p>
            <a:p>
              <a:r>
                <a:rPr lang="en-US" altLang="zh-CN" sz="2400" b="1" dirty="0">
                  <a:latin typeface="宋体" charset="-122"/>
                </a:rPr>
                <a:t>   </a:t>
              </a:r>
              <a:r>
                <a:rPr lang="zh-CN" altLang="en-US" sz="2400" b="1" dirty="0">
                  <a:latin typeface="宋体" charset="-122"/>
                </a:rPr>
                <a:t>方向的箭头才配置在左、右视图上。</a:t>
              </a:r>
            </a:p>
          </p:txBody>
        </p:sp>
        <p:sp>
          <p:nvSpPr>
            <p:cNvPr id="112" name="五角星 111"/>
            <p:cNvSpPr/>
            <p:nvPr/>
          </p:nvSpPr>
          <p:spPr bwMode="auto">
            <a:xfrm>
              <a:off x="515938" y="5643494"/>
              <a:ext cx="531813" cy="547672"/>
            </a:xfrm>
            <a:prstGeom prst="star5">
              <a:avLst/>
            </a:prstGeom>
            <a:gradFill rotWithShape="0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/>
            </a:gradFill>
            <a:ln w="9525">
              <a:noFill/>
              <a:miter lim="800000"/>
              <a:headEnd/>
              <a:tailEnd/>
            </a:ln>
          </p:spPr>
          <p:txBody>
            <a:bodyPr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1937167" y="4474117"/>
            <a:ext cx="26981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向视图的标注：</a:t>
            </a:r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3" grpId="0" build="p" autoUpdateAnimBg="0"/>
      <p:bldP spid="16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235460" y="644694"/>
            <a:ext cx="26225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三、局部视图</a:t>
            </a:r>
            <a:endParaRPr lang="zh-CN" altLang="en-US" sz="3200" dirty="0">
              <a:solidFill>
                <a:srgbClr val="FF0000"/>
              </a:solidFill>
              <a:ea typeface="黑体" pitchFamily="49" charset="-122"/>
            </a:endParaRPr>
          </a:p>
        </p:txBody>
      </p:sp>
      <p:sp>
        <p:nvSpPr>
          <p:cNvPr id="98307" name="Text Box 3"/>
          <p:cNvSpPr txBox="1">
            <a:spLocks noChangeArrowheads="1"/>
          </p:cNvSpPr>
          <p:nvPr/>
        </p:nvSpPr>
        <p:spPr bwMode="auto">
          <a:xfrm>
            <a:off x="587388" y="1287018"/>
            <a:ext cx="63007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charset="-122"/>
              </a:rPr>
              <a:t>    局部视图是将</a:t>
            </a:r>
            <a:r>
              <a:rPr lang="zh-CN" altLang="en-US" sz="2400" b="1" dirty="0">
                <a:solidFill>
                  <a:srgbClr val="FF0000"/>
                </a:solidFill>
                <a:latin typeface="宋体" charset="-122"/>
              </a:rPr>
              <a:t>物体</a:t>
            </a:r>
            <a:r>
              <a:rPr lang="zh-CN" altLang="en-US" sz="2400" b="1" dirty="0">
                <a:latin typeface="宋体" charset="-122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宋体" charset="-122"/>
              </a:rPr>
              <a:t>某一部分</a:t>
            </a:r>
            <a:r>
              <a:rPr lang="zh-CN" altLang="en-US" sz="2400" b="1" dirty="0">
                <a:latin typeface="宋体" charset="-122"/>
              </a:rPr>
              <a:t>向基本投影面投射所得的视图。</a:t>
            </a:r>
          </a:p>
        </p:txBody>
      </p:sp>
      <p:sp>
        <p:nvSpPr>
          <p:cNvPr id="98308" name="Text Box 4"/>
          <p:cNvSpPr txBox="1">
            <a:spLocks noChangeArrowheads="1"/>
          </p:cNvSpPr>
          <p:nvPr/>
        </p:nvSpPr>
        <p:spPr bwMode="auto">
          <a:xfrm>
            <a:off x="7171577" y="1538564"/>
            <a:ext cx="270939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局部视图画法：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8309" name="Text Box 5"/>
          <p:cNvSpPr txBox="1">
            <a:spLocks noChangeArrowheads="1"/>
          </p:cNvSpPr>
          <p:nvPr/>
        </p:nvSpPr>
        <p:spPr bwMode="auto">
          <a:xfrm>
            <a:off x="6569075" y="2078971"/>
            <a:ext cx="3948112" cy="1089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0000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itchFamily="18" charset="2"/>
              </a:rPr>
              <a:t>★</a:t>
            </a:r>
            <a:r>
              <a:rPr lang="zh-CN" altLang="en-US" sz="2400" dirty="0">
                <a:solidFill>
                  <a:srgbClr val="000099"/>
                </a:solidFill>
                <a:latin typeface="宋体" charset="-122"/>
                <a:sym typeface="Symbol" pitchFamily="18" charset="2"/>
              </a:rPr>
              <a:t>用带字母的</a:t>
            </a:r>
            <a:r>
              <a:rPr lang="zh-CN" altLang="en-US" sz="2400" b="1" dirty="0">
                <a:solidFill>
                  <a:srgbClr val="FF0000"/>
                </a:solidFill>
                <a:latin typeface="宋体" charset="-122"/>
                <a:sym typeface="Symbol" pitchFamily="18" charset="2"/>
              </a:rPr>
              <a:t>箭头</a:t>
            </a:r>
            <a:r>
              <a:rPr lang="zh-CN" altLang="en-US" sz="2400" dirty="0">
                <a:solidFill>
                  <a:srgbClr val="000099"/>
                </a:solidFill>
                <a:latin typeface="宋体" charset="-122"/>
                <a:sym typeface="Symbol" pitchFamily="18" charset="2"/>
              </a:rPr>
              <a:t>指明要</a:t>
            </a:r>
            <a:endParaRPr lang="en-US" altLang="zh-CN" sz="2400" dirty="0">
              <a:solidFill>
                <a:srgbClr val="000099"/>
              </a:solidFill>
              <a:latin typeface="宋体" charset="-122"/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000099"/>
                </a:solidFill>
                <a:latin typeface="宋体" charset="-122"/>
                <a:sym typeface="Symbol" pitchFamily="18" charset="2"/>
              </a:rPr>
              <a:t>  </a:t>
            </a:r>
            <a:r>
              <a:rPr lang="zh-CN" altLang="en-US" sz="2400" dirty="0">
                <a:solidFill>
                  <a:srgbClr val="000099"/>
                </a:solidFill>
                <a:latin typeface="宋体" charset="-122"/>
                <a:sym typeface="Symbol" pitchFamily="18" charset="2"/>
              </a:rPr>
              <a:t>表达的部位和</a:t>
            </a:r>
            <a:r>
              <a:rPr lang="zh-CN" altLang="en-US" sz="2400" b="1" dirty="0">
                <a:solidFill>
                  <a:srgbClr val="FF0000"/>
                </a:solidFill>
                <a:latin typeface="宋体" charset="-122"/>
                <a:sym typeface="Symbol" pitchFamily="18" charset="2"/>
              </a:rPr>
              <a:t>投射方向</a:t>
            </a:r>
            <a:r>
              <a:rPr lang="zh-CN" altLang="en-US" sz="2400" b="1" dirty="0">
                <a:solidFill>
                  <a:srgbClr val="000099"/>
                </a:solidFill>
                <a:latin typeface="宋体" charset="-122"/>
                <a:sym typeface="Symbol" pitchFamily="18" charset="2"/>
              </a:rPr>
              <a:t>，</a:t>
            </a:r>
            <a:endParaRPr lang="en-US" altLang="zh-CN" sz="2400" b="1" dirty="0">
              <a:solidFill>
                <a:srgbClr val="000099"/>
              </a:solidFill>
              <a:latin typeface="宋体" charset="-122"/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000099"/>
                </a:solidFill>
                <a:latin typeface="宋体" charset="-122"/>
                <a:sym typeface="Symbol" pitchFamily="18" charset="2"/>
              </a:rPr>
              <a:t>  </a:t>
            </a:r>
            <a:r>
              <a:rPr lang="zh-CN" altLang="en-US" sz="2400" dirty="0">
                <a:solidFill>
                  <a:srgbClr val="000099"/>
                </a:solidFill>
                <a:latin typeface="宋体" charset="-122"/>
                <a:sym typeface="Symbol" pitchFamily="18" charset="2"/>
              </a:rPr>
              <a:t>并</a:t>
            </a:r>
            <a:r>
              <a:rPr lang="zh-CN" altLang="en-US" sz="2400" b="1" dirty="0">
                <a:solidFill>
                  <a:srgbClr val="FF0000"/>
                </a:solidFill>
                <a:latin typeface="宋体" charset="-122"/>
                <a:sym typeface="Symbol" pitchFamily="18" charset="2"/>
              </a:rPr>
              <a:t>注明视图名称</a:t>
            </a:r>
            <a:r>
              <a:rPr lang="zh-CN" altLang="en-US" sz="2400" b="1" dirty="0">
                <a:solidFill>
                  <a:srgbClr val="000099"/>
                </a:solidFill>
                <a:latin typeface="宋体" charset="-122"/>
                <a:sym typeface="CommercialPi BT" pitchFamily="18" charset="2"/>
              </a:rPr>
              <a:t>。</a:t>
            </a:r>
          </a:p>
        </p:txBody>
      </p:sp>
      <p:sp>
        <p:nvSpPr>
          <p:cNvPr id="98310" name="Text Box 6"/>
          <p:cNvSpPr txBox="1">
            <a:spLocks noChangeArrowheads="1"/>
          </p:cNvSpPr>
          <p:nvPr/>
        </p:nvSpPr>
        <p:spPr bwMode="auto">
          <a:xfrm>
            <a:off x="6569075" y="3168500"/>
            <a:ext cx="4027425" cy="1089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0000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itchFamily="18" charset="2"/>
              </a:rPr>
              <a:t>★</a:t>
            </a:r>
            <a:r>
              <a:rPr lang="zh-CN" altLang="en-US" sz="2400" b="1" dirty="0">
                <a:solidFill>
                  <a:srgbClr val="FF0000"/>
                </a:solidFill>
                <a:latin typeface="宋体" charset="-122"/>
                <a:sym typeface="Symbol" pitchFamily="18" charset="2"/>
              </a:rPr>
              <a:t>范围用波浪线</a:t>
            </a:r>
            <a:r>
              <a:rPr lang="zh-CN" altLang="en-US" sz="2400" dirty="0">
                <a:solidFill>
                  <a:srgbClr val="000099"/>
                </a:solidFill>
                <a:latin typeface="宋体" charset="-122"/>
                <a:sym typeface="Symbol" pitchFamily="18" charset="2"/>
              </a:rPr>
              <a:t>表示。结构</a:t>
            </a:r>
            <a:endParaRPr lang="en-US" altLang="zh-CN" sz="2400" dirty="0">
              <a:solidFill>
                <a:srgbClr val="000099"/>
              </a:solidFill>
              <a:latin typeface="宋体" charset="-122"/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solidFill>
                  <a:srgbClr val="000099"/>
                </a:solidFill>
                <a:latin typeface="宋体" charset="-122"/>
                <a:sym typeface="Symbol" pitchFamily="18" charset="2"/>
              </a:rPr>
              <a:t>  </a:t>
            </a:r>
            <a:r>
              <a:rPr lang="zh-CN" altLang="en-US" sz="2400" dirty="0">
                <a:solidFill>
                  <a:srgbClr val="000099"/>
                </a:solidFill>
                <a:latin typeface="宋体" charset="-122"/>
                <a:sym typeface="Symbol" pitchFamily="18" charset="2"/>
              </a:rPr>
              <a:t>完整的且外</a:t>
            </a:r>
            <a:r>
              <a:rPr lang="zh-CN" altLang="en-US" sz="2400" b="1" dirty="0">
                <a:solidFill>
                  <a:srgbClr val="FF0000"/>
                </a:solidFill>
                <a:latin typeface="宋体" charset="-122"/>
                <a:sym typeface="Symbol" pitchFamily="18" charset="2"/>
              </a:rPr>
              <a:t>轮廓封闭</a:t>
            </a:r>
            <a:r>
              <a:rPr lang="zh-CN" altLang="en-US" sz="2400" dirty="0">
                <a:solidFill>
                  <a:srgbClr val="000099"/>
                </a:solidFill>
                <a:latin typeface="宋体" charset="-122"/>
                <a:sym typeface="Symbol" pitchFamily="18" charset="2"/>
              </a:rPr>
              <a:t>时，</a:t>
            </a:r>
            <a:endParaRPr lang="en-US" altLang="zh-CN" sz="2400" dirty="0">
              <a:solidFill>
                <a:srgbClr val="000099"/>
              </a:solidFill>
              <a:latin typeface="宋体" charset="-122"/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solidFill>
                  <a:srgbClr val="000099"/>
                </a:solidFill>
                <a:latin typeface="宋体" charset="-122"/>
                <a:sym typeface="Symbol" pitchFamily="18" charset="2"/>
              </a:rPr>
              <a:t>  </a:t>
            </a:r>
            <a:r>
              <a:rPr lang="zh-CN" altLang="en-US" sz="2400" dirty="0">
                <a:solidFill>
                  <a:srgbClr val="000099"/>
                </a:solidFill>
                <a:latin typeface="宋体" charset="-122"/>
                <a:sym typeface="Symbol" pitchFamily="18" charset="2"/>
              </a:rPr>
              <a:t>波浪线</a:t>
            </a:r>
            <a:r>
              <a:rPr lang="zh-CN" altLang="en-US" sz="2400" b="1" dirty="0">
                <a:solidFill>
                  <a:srgbClr val="FF0000"/>
                </a:solidFill>
                <a:latin typeface="宋体" charset="-122"/>
                <a:sym typeface="Symbol" pitchFamily="18" charset="2"/>
              </a:rPr>
              <a:t>可省略</a:t>
            </a:r>
            <a:r>
              <a:rPr lang="zh-CN" altLang="en-US" sz="2400" b="1" dirty="0">
                <a:solidFill>
                  <a:srgbClr val="000099"/>
                </a:solidFill>
                <a:latin typeface="宋体" charset="-122"/>
                <a:sym typeface="Symbol" pitchFamily="18" charset="2"/>
              </a:rPr>
              <a:t>。</a:t>
            </a:r>
            <a:endParaRPr lang="zh-CN" altLang="en-US" sz="2400" b="1" dirty="0">
              <a:solidFill>
                <a:srgbClr val="000099"/>
              </a:solidFill>
              <a:latin typeface="宋体" charset="-122"/>
            </a:endParaRPr>
          </a:p>
        </p:txBody>
      </p:sp>
      <p:sp>
        <p:nvSpPr>
          <p:cNvPr id="98311" name="Text Box 7"/>
          <p:cNvSpPr txBox="1">
            <a:spLocks noChangeArrowheads="1"/>
          </p:cNvSpPr>
          <p:nvPr/>
        </p:nvSpPr>
        <p:spPr bwMode="auto">
          <a:xfrm>
            <a:off x="6565900" y="4275215"/>
            <a:ext cx="3948113" cy="1089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0000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itchFamily="18" charset="2"/>
              </a:rPr>
              <a:t>★</a:t>
            </a:r>
            <a:r>
              <a:rPr lang="zh-CN" altLang="en-US" sz="2400" b="1" dirty="0">
                <a:solidFill>
                  <a:srgbClr val="000099"/>
                </a:solidFill>
                <a:latin typeface="宋体" charset="-122"/>
                <a:sym typeface="Symbol" pitchFamily="18" charset="2"/>
              </a:rPr>
              <a:t>局部视图可按基本视图的</a:t>
            </a:r>
            <a:endParaRPr lang="en-US" altLang="zh-CN" sz="2400" b="1" dirty="0">
              <a:solidFill>
                <a:srgbClr val="000099"/>
              </a:solidFill>
              <a:latin typeface="宋体" charset="-122"/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000099"/>
                </a:solidFill>
                <a:latin typeface="宋体" charset="-122"/>
                <a:sym typeface="Symbol" pitchFamily="18" charset="2"/>
              </a:rPr>
              <a:t>  </a:t>
            </a:r>
            <a:r>
              <a:rPr lang="zh-CN" altLang="en-US" sz="2400" b="1" dirty="0">
                <a:solidFill>
                  <a:srgbClr val="000099"/>
                </a:solidFill>
                <a:latin typeface="宋体" charset="-122"/>
                <a:sym typeface="Symbol" pitchFamily="18" charset="2"/>
              </a:rPr>
              <a:t>配置形式配置，也可按向</a:t>
            </a:r>
            <a:endParaRPr lang="en-US" altLang="zh-CN" sz="2400" b="1" dirty="0">
              <a:solidFill>
                <a:srgbClr val="000099"/>
              </a:solidFill>
              <a:latin typeface="宋体" charset="-122"/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000099"/>
                </a:solidFill>
                <a:latin typeface="宋体" charset="-122"/>
                <a:sym typeface="Symbol" pitchFamily="18" charset="2"/>
              </a:rPr>
              <a:t>  </a:t>
            </a:r>
            <a:r>
              <a:rPr lang="zh-CN" altLang="en-US" sz="2400" b="1" dirty="0">
                <a:solidFill>
                  <a:srgbClr val="000099"/>
                </a:solidFill>
                <a:latin typeface="宋体" charset="-122"/>
                <a:sym typeface="Symbol" pitchFamily="18" charset="2"/>
              </a:rPr>
              <a:t>视图的配置形式配置。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983047" y="2887147"/>
            <a:ext cx="361950" cy="615949"/>
            <a:chOff x="219" y="1585"/>
            <a:chExt cx="228" cy="388"/>
          </a:xfrm>
        </p:grpSpPr>
        <p:sp>
          <p:nvSpPr>
            <p:cNvPr id="25615" name="Rectangle 9"/>
            <p:cNvSpPr>
              <a:spLocks noChangeArrowheads="1"/>
            </p:cNvSpPr>
            <p:nvPr/>
          </p:nvSpPr>
          <p:spPr bwMode="auto">
            <a:xfrm>
              <a:off x="257" y="1585"/>
              <a:ext cx="73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dirty="0">
                  <a:latin typeface="宋体" charset="-122"/>
                </a:rPr>
                <a:t>B</a:t>
              </a:r>
              <a:endParaRPr lang="en-US" altLang="zh-CN" sz="4000" dirty="0"/>
            </a:p>
          </p:txBody>
        </p:sp>
        <p:sp>
          <p:nvSpPr>
            <p:cNvPr id="25616" name="Freeform 10"/>
            <p:cNvSpPr>
              <a:spLocks/>
            </p:cNvSpPr>
            <p:nvPr/>
          </p:nvSpPr>
          <p:spPr bwMode="auto">
            <a:xfrm>
              <a:off x="219" y="1953"/>
              <a:ext cx="228" cy="1"/>
            </a:xfrm>
            <a:custGeom>
              <a:avLst/>
              <a:gdLst>
                <a:gd name="T0" fmla="*/ 0 w 910"/>
                <a:gd name="T1" fmla="*/ 0 h 1"/>
                <a:gd name="T2" fmla="*/ 0 w 910"/>
                <a:gd name="T3" fmla="*/ 0 h 1"/>
                <a:gd name="T4" fmla="*/ 0 w 910"/>
                <a:gd name="T5" fmla="*/ 0 h 1"/>
                <a:gd name="T6" fmla="*/ 0 60000 65536"/>
                <a:gd name="T7" fmla="*/ 0 60000 65536"/>
                <a:gd name="T8" fmla="*/ 0 60000 65536"/>
                <a:gd name="T9" fmla="*/ 0 w 910"/>
                <a:gd name="T10" fmla="*/ 0 h 1"/>
                <a:gd name="T11" fmla="*/ 910 w 91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0" h="1">
                  <a:moveTo>
                    <a:pt x="0" y="0"/>
                  </a:moveTo>
                  <a:lnTo>
                    <a:pt x="909" y="0"/>
                  </a:lnTo>
                  <a:lnTo>
                    <a:pt x="910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3813565" y="2395023"/>
            <a:ext cx="379413" cy="615949"/>
            <a:chOff x="1853" y="1125"/>
            <a:chExt cx="239" cy="388"/>
          </a:xfrm>
        </p:grpSpPr>
        <p:sp>
          <p:nvSpPr>
            <p:cNvPr id="25613" name="Rectangle 12"/>
            <p:cNvSpPr>
              <a:spLocks noChangeArrowheads="1"/>
            </p:cNvSpPr>
            <p:nvPr/>
          </p:nvSpPr>
          <p:spPr bwMode="auto">
            <a:xfrm>
              <a:off x="2019" y="1125"/>
              <a:ext cx="73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dirty="0">
                  <a:latin typeface="宋体" charset="-122"/>
                </a:rPr>
                <a:t>A</a:t>
              </a:r>
              <a:endParaRPr lang="en-US" altLang="zh-CN" sz="4000" dirty="0"/>
            </a:p>
          </p:txBody>
        </p:sp>
        <p:sp>
          <p:nvSpPr>
            <p:cNvPr id="25614" name="Freeform 13"/>
            <p:cNvSpPr>
              <a:spLocks/>
            </p:cNvSpPr>
            <p:nvPr/>
          </p:nvSpPr>
          <p:spPr bwMode="auto">
            <a:xfrm>
              <a:off x="1853" y="1503"/>
              <a:ext cx="227" cy="1"/>
            </a:xfrm>
            <a:custGeom>
              <a:avLst/>
              <a:gdLst>
                <a:gd name="T0" fmla="*/ 0 w 908"/>
                <a:gd name="T1" fmla="*/ 0 h 1"/>
                <a:gd name="T2" fmla="*/ 0 w 908"/>
                <a:gd name="T3" fmla="*/ 0 h 1"/>
                <a:gd name="T4" fmla="*/ 0 w 908"/>
                <a:gd name="T5" fmla="*/ 0 h 1"/>
                <a:gd name="T6" fmla="*/ 0 60000 65536"/>
                <a:gd name="T7" fmla="*/ 0 60000 65536"/>
                <a:gd name="T8" fmla="*/ 0 60000 65536"/>
                <a:gd name="T9" fmla="*/ 0 w 908"/>
                <a:gd name="T10" fmla="*/ 0 h 1"/>
                <a:gd name="T11" fmla="*/ 908 w 90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8" h="1">
                  <a:moveTo>
                    <a:pt x="908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25610" name="Picture 230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457710" y="2156898"/>
            <a:ext cx="2400300" cy="43815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28903" name="Picture 231"/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269172" y="2083873"/>
            <a:ext cx="1238250" cy="16764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28904" name="Picture 232"/>
          <p:cNvPicPr>
            <a:picLocks noChangeAspect="1" noChangeArrowheads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123123" y="4931849"/>
            <a:ext cx="1381125" cy="12287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20" name="Freeform 13"/>
          <p:cNvSpPr>
            <a:spLocks/>
          </p:cNvSpPr>
          <p:nvPr/>
        </p:nvSpPr>
        <p:spPr bwMode="auto">
          <a:xfrm>
            <a:off x="3811974" y="2995099"/>
            <a:ext cx="360363" cy="1587"/>
          </a:xfrm>
          <a:custGeom>
            <a:avLst/>
            <a:gdLst>
              <a:gd name="T0" fmla="*/ 0 w 908"/>
              <a:gd name="T1" fmla="*/ 0 h 1"/>
              <a:gd name="T2" fmla="*/ 0 w 908"/>
              <a:gd name="T3" fmla="*/ 0 h 1"/>
              <a:gd name="T4" fmla="*/ 0 w 908"/>
              <a:gd name="T5" fmla="*/ 0 h 1"/>
              <a:gd name="T6" fmla="*/ 0 60000 65536"/>
              <a:gd name="T7" fmla="*/ 0 60000 65536"/>
              <a:gd name="T8" fmla="*/ 0 60000 65536"/>
              <a:gd name="T9" fmla="*/ 0 w 908"/>
              <a:gd name="T10" fmla="*/ 0 h 1"/>
              <a:gd name="T11" fmla="*/ 908 w 908"/>
              <a:gd name="T12" fmla="*/ 1 h 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08" h="1">
                <a:moveTo>
                  <a:pt x="908" y="0"/>
                </a:moveTo>
                <a:lnTo>
                  <a:pt x="0" y="0"/>
                </a:lnTo>
                <a:lnTo>
                  <a:pt x="2" y="0"/>
                </a:lnTo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13"/>
          <p:cNvSpPr>
            <a:spLocks/>
          </p:cNvSpPr>
          <p:nvPr/>
        </p:nvSpPr>
        <p:spPr bwMode="auto">
          <a:xfrm rot="10800000">
            <a:off x="986223" y="3471349"/>
            <a:ext cx="360363" cy="1587"/>
          </a:xfrm>
          <a:custGeom>
            <a:avLst/>
            <a:gdLst>
              <a:gd name="T0" fmla="*/ 0 w 908"/>
              <a:gd name="T1" fmla="*/ 0 h 1"/>
              <a:gd name="T2" fmla="*/ 0 w 908"/>
              <a:gd name="T3" fmla="*/ 0 h 1"/>
              <a:gd name="T4" fmla="*/ 0 w 908"/>
              <a:gd name="T5" fmla="*/ 0 h 1"/>
              <a:gd name="T6" fmla="*/ 0 60000 65536"/>
              <a:gd name="T7" fmla="*/ 0 60000 65536"/>
              <a:gd name="T8" fmla="*/ 0 60000 65536"/>
              <a:gd name="T9" fmla="*/ 0 w 908"/>
              <a:gd name="T10" fmla="*/ 0 h 1"/>
              <a:gd name="T11" fmla="*/ 908 w 908"/>
              <a:gd name="T12" fmla="*/ 1 h 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08" h="1">
                <a:moveTo>
                  <a:pt x="908" y="0"/>
                </a:moveTo>
                <a:lnTo>
                  <a:pt x="0" y="0"/>
                </a:lnTo>
                <a:lnTo>
                  <a:pt x="2" y="0"/>
                </a:lnTo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988142" y="2344960"/>
            <a:ext cx="300082" cy="707886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  <a:latin typeface="宋体" charset="-122"/>
              </a:rPr>
              <a:t>A</a:t>
            </a:r>
            <a:endParaRPr lang="en-US" altLang="zh-CN" sz="4000" dirty="0">
              <a:solidFill>
                <a:srgbClr val="FF0000"/>
              </a:solidFill>
            </a:endParaRPr>
          </a:p>
        </p:txBody>
      </p:sp>
      <p:sp>
        <p:nvSpPr>
          <p:cNvPr id="23" name="Rectangle 9"/>
          <p:cNvSpPr>
            <a:spLocks noChangeArrowheads="1"/>
          </p:cNvSpPr>
          <p:nvPr/>
        </p:nvSpPr>
        <p:spPr bwMode="auto">
          <a:xfrm>
            <a:off x="1045223" y="2894506"/>
            <a:ext cx="115416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  <a:latin typeface="宋体" charset="-122"/>
              </a:rPr>
              <a:t>B</a:t>
            </a:r>
            <a:endParaRPr lang="en-US" altLang="zh-CN" sz="4000" dirty="0">
              <a:solidFill>
                <a:srgbClr val="FF0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00936" y="2423699"/>
            <a:ext cx="1047749" cy="1294581"/>
          </a:xfrm>
          <a:prstGeom prst="rect">
            <a:avLst/>
          </a:prstGeom>
        </p:spPr>
      </p:pic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6565899" y="5408856"/>
            <a:ext cx="3948113" cy="1144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宋体" charset="-122"/>
                <a:sym typeface="Symbol" pitchFamily="18" charset="2"/>
              </a:rPr>
              <a:t>标注</a:t>
            </a:r>
            <a:r>
              <a:rPr lang="zh-CN" altLang="en-US" sz="2400" b="1" dirty="0">
                <a:solidFill>
                  <a:srgbClr val="FF0000"/>
                </a:solidFill>
                <a:latin typeface="宋体" charset="-122"/>
                <a:sym typeface="Symbol" pitchFamily="18" charset="2"/>
              </a:rPr>
              <a:t>：</a:t>
            </a:r>
            <a:r>
              <a:rPr lang="zh-CN" altLang="en-US" sz="2400" b="1" dirty="0">
                <a:solidFill>
                  <a:srgbClr val="000099"/>
                </a:solidFill>
                <a:latin typeface="宋体" charset="-122"/>
                <a:sym typeface="Symbol" pitchFamily="18" charset="2"/>
              </a:rPr>
              <a:t>按基本视图位置配置，中间没有视图隔开可不标注。否则，必须标注。</a:t>
            </a:r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8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28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9" dur="500"/>
                                        <p:tgtEl>
                                          <p:spTgt spid="9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98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autoUpdateAnimBg="0"/>
      <p:bldP spid="98308" grpId="0" autoUpdateAnimBg="0"/>
      <p:bldP spid="98309" grpId="0" autoUpdateAnimBg="0"/>
      <p:bldP spid="98310" grpId="0" autoUpdateAnimBg="0"/>
      <p:bldP spid="98311" grpId="0" autoUpdateAnimBg="0"/>
      <p:bldP spid="20" grpId="0" animBg="1"/>
      <p:bldP spid="21" grpId="0" animBg="1"/>
      <p:bldP spid="7" grpId="0"/>
      <p:bldP spid="23" grpId="0"/>
      <p:bldP spid="2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 t="2292" r="37596" b="55859"/>
          <a:stretch>
            <a:fillRect/>
          </a:stretch>
        </p:blipFill>
        <p:spPr bwMode="auto">
          <a:xfrm>
            <a:off x="2335214" y="1999333"/>
            <a:ext cx="2446337" cy="11572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26627" name="Text Box 2"/>
          <p:cNvSpPr txBox="1">
            <a:spLocks noChangeArrowheads="1"/>
          </p:cNvSpPr>
          <p:nvPr/>
        </p:nvSpPr>
        <p:spPr bwMode="auto">
          <a:xfrm>
            <a:off x="1522860" y="433154"/>
            <a:ext cx="250100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四、斜视图</a:t>
            </a:r>
            <a:endParaRPr lang="zh-CN" altLang="en-US" sz="3600" b="1" dirty="0">
              <a:solidFill>
                <a:srgbClr val="FF0000"/>
              </a:solidFill>
              <a:ea typeface="黑体" pitchFamily="49" charset="-122"/>
            </a:endParaRPr>
          </a:p>
        </p:txBody>
      </p:sp>
      <p:sp>
        <p:nvSpPr>
          <p:cNvPr id="99331" name="Text Box 3"/>
          <p:cNvSpPr txBox="1">
            <a:spLocks noChangeArrowheads="1"/>
          </p:cNvSpPr>
          <p:nvPr/>
        </p:nvSpPr>
        <p:spPr bwMode="auto">
          <a:xfrm>
            <a:off x="672301" y="1327456"/>
            <a:ext cx="1044258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宋体" charset="-122"/>
              </a:rPr>
              <a:t>问题：</a:t>
            </a:r>
            <a:r>
              <a:rPr lang="zh-CN" altLang="en-US" sz="2800" dirty="0">
                <a:latin typeface="宋体" charset="-122"/>
              </a:rPr>
              <a:t>当物体的表面与投影面成倾斜位置时，其投影不反映实形。</a:t>
            </a:r>
          </a:p>
        </p:txBody>
      </p:sp>
      <p:sp>
        <p:nvSpPr>
          <p:cNvPr id="99332" name="Text Box 4"/>
          <p:cNvSpPr txBox="1">
            <a:spLocks noChangeArrowheads="1"/>
          </p:cNvSpPr>
          <p:nvPr/>
        </p:nvSpPr>
        <p:spPr bwMode="auto">
          <a:xfrm>
            <a:off x="7355370" y="2324830"/>
            <a:ext cx="322547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★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增设一个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与倾斜表</a:t>
            </a:r>
            <a:endParaRPr lang="en-US" altLang="zh-CN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面平行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的辅助投影面。</a:t>
            </a:r>
          </a:p>
        </p:txBody>
      </p:sp>
      <p:sp>
        <p:nvSpPr>
          <p:cNvPr id="99333" name="Text Box 5"/>
          <p:cNvSpPr txBox="1">
            <a:spLocks noChangeArrowheads="1"/>
          </p:cNvSpPr>
          <p:nvPr/>
        </p:nvSpPr>
        <p:spPr bwMode="auto">
          <a:xfrm>
            <a:off x="7852005" y="1739178"/>
            <a:ext cx="19800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solidFill>
                  <a:srgbClr val="FF3300"/>
                </a:solidFill>
                <a:latin typeface="宋体" charset="-122"/>
              </a:rPr>
              <a:t>解决方法：</a:t>
            </a:r>
          </a:p>
        </p:txBody>
      </p:sp>
      <p:sp>
        <p:nvSpPr>
          <p:cNvPr id="99334" name="Text Box 6"/>
          <p:cNvSpPr txBox="1">
            <a:spLocks noChangeArrowheads="1"/>
          </p:cNvSpPr>
          <p:nvPr/>
        </p:nvSpPr>
        <p:spPr bwMode="auto">
          <a:xfrm>
            <a:off x="7355371" y="3113303"/>
            <a:ext cx="326490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★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将倾斜部分向辅助投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影面投射。</a:t>
            </a:r>
          </a:p>
        </p:txBody>
      </p:sp>
      <p:sp>
        <p:nvSpPr>
          <p:cNvPr id="99335" name="Text Box 7"/>
          <p:cNvSpPr txBox="1">
            <a:spLocks noChangeArrowheads="1"/>
          </p:cNvSpPr>
          <p:nvPr/>
        </p:nvSpPr>
        <p:spPr bwMode="auto">
          <a:xfrm>
            <a:off x="1703513" y="5752632"/>
            <a:ext cx="5476751" cy="954107"/>
          </a:xfrm>
          <a:prstGeom prst="rect">
            <a:avLst/>
          </a:prstGeom>
          <a:solidFill>
            <a:srgbClr val="FFFF66"/>
          </a:solidFill>
          <a:ln w="28575">
            <a:pattFill prst="trellis">
              <a:fgClr>
                <a:srgbClr val="FF3300"/>
              </a:fgClr>
              <a:bgClr>
                <a:srgbClr val="FFFF66"/>
              </a:bgClr>
            </a:patt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斜视图是物体</a:t>
            </a:r>
            <a:r>
              <a:rPr lang="zh-CN" altLang="en-US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向不平行于基本投影面的平面投射所得的视图。</a:t>
            </a:r>
          </a:p>
        </p:txBody>
      </p:sp>
      <p:sp>
        <p:nvSpPr>
          <p:cNvPr id="26633" name="Rectangle 10"/>
          <p:cNvSpPr>
            <a:spLocks noChangeArrowheads="1"/>
          </p:cNvSpPr>
          <p:nvPr/>
        </p:nvSpPr>
        <p:spPr bwMode="auto">
          <a:xfrm>
            <a:off x="1827213" y="1926307"/>
            <a:ext cx="3389312" cy="23479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663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00338" y="2985169"/>
            <a:ext cx="2640012" cy="12509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26635" name="Freeform 9"/>
          <p:cNvSpPr>
            <a:spLocks/>
          </p:cNvSpPr>
          <p:nvPr/>
        </p:nvSpPr>
        <p:spPr bwMode="auto">
          <a:xfrm>
            <a:off x="1824039" y="4266282"/>
            <a:ext cx="4638675" cy="1250950"/>
          </a:xfrm>
          <a:custGeom>
            <a:avLst/>
            <a:gdLst>
              <a:gd name="T0" fmla="*/ 0 w 2922"/>
              <a:gd name="T1" fmla="*/ 0 h 788"/>
              <a:gd name="T2" fmla="*/ 2147483647 w 2922"/>
              <a:gd name="T3" fmla="*/ 2147483647 h 788"/>
              <a:gd name="T4" fmla="*/ 2147483647 w 2922"/>
              <a:gd name="T5" fmla="*/ 2147483647 h 788"/>
              <a:gd name="T6" fmla="*/ 2147483647 w 2922"/>
              <a:gd name="T7" fmla="*/ 0 h 788"/>
              <a:gd name="T8" fmla="*/ 0 w 2922"/>
              <a:gd name="T9" fmla="*/ 0 h 7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22"/>
              <a:gd name="T16" fmla="*/ 0 h 788"/>
              <a:gd name="T17" fmla="*/ 2922 w 2922"/>
              <a:gd name="T18" fmla="*/ 788 h 7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22" h="788">
                <a:moveTo>
                  <a:pt x="0" y="0"/>
                </a:moveTo>
                <a:lnTo>
                  <a:pt x="788" y="788"/>
                </a:lnTo>
                <a:lnTo>
                  <a:pt x="2922" y="788"/>
                </a:lnTo>
                <a:lnTo>
                  <a:pt x="2134" y="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Freeform 38"/>
          <p:cNvSpPr>
            <a:spLocks/>
          </p:cNvSpPr>
          <p:nvPr/>
        </p:nvSpPr>
        <p:spPr bwMode="auto">
          <a:xfrm>
            <a:off x="4606925" y="2923257"/>
            <a:ext cx="2573338" cy="2571750"/>
          </a:xfrm>
          <a:custGeom>
            <a:avLst/>
            <a:gdLst>
              <a:gd name="T0" fmla="*/ 0 w 1621"/>
              <a:gd name="T1" fmla="*/ 2147483647 h 1620"/>
              <a:gd name="T2" fmla="*/ 2147483647 w 1621"/>
              <a:gd name="T3" fmla="*/ 0 h 1620"/>
              <a:gd name="T4" fmla="*/ 2147483647 w 1621"/>
              <a:gd name="T5" fmla="*/ 2147483647 h 1620"/>
              <a:gd name="T6" fmla="*/ 2147483647 w 1621"/>
              <a:gd name="T7" fmla="*/ 2147483647 h 1620"/>
              <a:gd name="T8" fmla="*/ 0 w 1621"/>
              <a:gd name="T9" fmla="*/ 2147483647 h 16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21"/>
              <a:gd name="T16" fmla="*/ 0 h 1620"/>
              <a:gd name="T17" fmla="*/ 1621 w 1621"/>
              <a:gd name="T18" fmla="*/ 1620 h 16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21" h="1620">
                <a:moveTo>
                  <a:pt x="0" y="844"/>
                </a:moveTo>
                <a:lnTo>
                  <a:pt x="844" y="0"/>
                </a:lnTo>
                <a:lnTo>
                  <a:pt x="1621" y="777"/>
                </a:lnTo>
                <a:lnTo>
                  <a:pt x="778" y="1620"/>
                </a:lnTo>
                <a:lnTo>
                  <a:pt x="0" y="844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>
            <a:solidFill>
              <a:schemeClr val="accent5">
                <a:lumMod val="60000"/>
                <a:lumOff val="40000"/>
              </a:schemeClr>
            </a:solidFill>
            <a:round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30733" name="Picture 1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5245101" y="3839245"/>
            <a:ext cx="1031875" cy="10588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26638" name="Picture 1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773363" y="4555207"/>
            <a:ext cx="2044700" cy="6397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5146675" y="3167732"/>
            <a:ext cx="730250" cy="766762"/>
            <a:chOff x="2982" y="1453"/>
            <a:chExt cx="532" cy="532"/>
          </a:xfrm>
        </p:grpSpPr>
        <p:sp>
          <p:nvSpPr>
            <p:cNvPr id="26640" name="Freeform 41"/>
            <p:cNvSpPr>
              <a:spLocks/>
            </p:cNvSpPr>
            <p:nvPr/>
          </p:nvSpPr>
          <p:spPr bwMode="auto">
            <a:xfrm>
              <a:off x="2982" y="1453"/>
              <a:ext cx="532" cy="532"/>
            </a:xfrm>
            <a:custGeom>
              <a:avLst/>
              <a:gdLst>
                <a:gd name="T0" fmla="*/ 0 w 1596"/>
                <a:gd name="T1" fmla="*/ 0 h 1598"/>
                <a:gd name="T2" fmla="*/ 0 w 1596"/>
                <a:gd name="T3" fmla="*/ 0 h 1598"/>
                <a:gd name="T4" fmla="*/ 0 w 1596"/>
                <a:gd name="T5" fmla="*/ 0 h 1598"/>
                <a:gd name="T6" fmla="*/ 0 60000 65536"/>
                <a:gd name="T7" fmla="*/ 0 60000 65536"/>
                <a:gd name="T8" fmla="*/ 0 60000 65536"/>
                <a:gd name="T9" fmla="*/ 0 w 1596"/>
                <a:gd name="T10" fmla="*/ 0 h 1598"/>
                <a:gd name="T11" fmla="*/ 1596 w 1596"/>
                <a:gd name="T12" fmla="*/ 1598 h 15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96" h="1598">
                  <a:moveTo>
                    <a:pt x="0" y="0"/>
                  </a:moveTo>
                  <a:lnTo>
                    <a:pt x="1595" y="1598"/>
                  </a:lnTo>
                  <a:lnTo>
                    <a:pt x="1596" y="1598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1" name="Freeform 42"/>
            <p:cNvSpPr>
              <a:spLocks/>
            </p:cNvSpPr>
            <p:nvPr/>
          </p:nvSpPr>
          <p:spPr bwMode="auto">
            <a:xfrm>
              <a:off x="3209" y="1659"/>
              <a:ext cx="144" cy="166"/>
            </a:xfrm>
            <a:custGeom>
              <a:avLst/>
              <a:gdLst>
                <a:gd name="T0" fmla="*/ 0 w 432"/>
                <a:gd name="T1" fmla="*/ 0 h 496"/>
                <a:gd name="T2" fmla="*/ 0 w 432"/>
                <a:gd name="T3" fmla="*/ 0 h 496"/>
                <a:gd name="T4" fmla="*/ 0 w 432"/>
                <a:gd name="T5" fmla="*/ 0 h 496"/>
                <a:gd name="T6" fmla="*/ 0 60000 65536"/>
                <a:gd name="T7" fmla="*/ 0 60000 65536"/>
                <a:gd name="T8" fmla="*/ 0 60000 65536"/>
                <a:gd name="T9" fmla="*/ 0 w 432"/>
                <a:gd name="T10" fmla="*/ 0 h 496"/>
                <a:gd name="T11" fmla="*/ 432 w 432"/>
                <a:gd name="T12" fmla="*/ 496 h 4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" h="496">
                  <a:moveTo>
                    <a:pt x="432" y="49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2" name="Freeform 43"/>
            <p:cNvSpPr>
              <a:spLocks/>
            </p:cNvSpPr>
            <p:nvPr/>
          </p:nvSpPr>
          <p:spPr bwMode="auto">
            <a:xfrm>
              <a:off x="3188" y="1659"/>
              <a:ext cx="21" cy="22"/>
            </a:xfrm>
            <a:custGeom>
              <a:avLst/>
              <a:gdLst>
                <a:gd name="T0" fmla="*/ 0 w 64"/>
                <a:gd name="T1" fmla="*/ 0 h 64"/>
                <a:gd name="T2" fmla="*/ 0 w 64"/>
                <a:gd name="T3" fmla="*/ 0 h 64"/>
                <a:gd name="T4" fmla="*/ 0 w 64"/>
                <a:gd name="T5" fmla="*/ 0 h 64"/>
                <a:gd name="T6" fmla="*/ 0 60000 65536"/>
                <a:gd name="T7" fmla="*/ 0 60000 65536"/>
                <a:gd name="T8" fmla="*/ 0 60000 65536"/>
                <a:gd name="T9" fmla="*/ 0 w 64"/>
                <a:gd name="T10" fmla="*/ 0 h 64"/>
                <a:gd name="T11" fmla="*/ 64 w 64"/>
                <a:gd name="T12" fmla="*/ 64 h 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4" h="64">
                  <a:moveTo>
                    <a:pt x="64" y="0"/>
                  </a:moveTo>
                  <a:lnTo>
                    <a:pt x="0" y="64"/>
                  </a:lnTo>
                  <a:lnTo>
                    <a:pt x="1" y="64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3" name="Freeform 44"/>
            <p:cNvSpPr>
              <a:spLocks/>
            </p:cNvSpPr>
            <p:nvPr/>
          </p:nvSpPr>
          <p:spPr bwMode="auto">
            <a:xfrm>
              <a:off x="3188" y="1681"/>
              <a:ext cx="166" cy="144"/>
            </a:xfrm>
            <a:custGeom>
              <a:avLst/>
              <a:gdLst>
                <a:gd name="T0" fmla="*/ 0 w 497"/>
                <a:gd name="T1" fmla="*/ 0 h 432"/>
                <a:gd name="T2" fmla="*/ 0 w 497"/>
                <a:gd name="T3" fmla="*/ 0 h 432"/>
                <a:gd name="T4" fmla="*/ 0 w 497"/>
                <a:gd name="T5" fmla="*/ 0 h 432"/>
                <a:gd name="T6" fmla="*/ 0 60000 65536"/>
                <a:gd name="T7" fmla="*/ 0 60000 65536"/>
                <a:gd name="T8" fmla="*/ 0 60000 65536"/>
                <a:gd name="T9" fmla="*/ 0 w 497"/>
                <a:gd name="T10" fmla="*/ 0 h 432"/>
                <a:gd name="T11" fmla="*/ 497 w 497"/>
                <a:gd name="T12" fmla="*/ 432 h 4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7" h="432">
                  <a:moveTo>
                    <a:pt x="0" y="0"/>
                  </a:moveTo>
                  <a:lnTo>
                    <a:pt x="496" y="432"/>
                  </a:lnTo>
                  <a:lnTo>
                    <a:pt x="497" y="432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830" y="1852365"/>
            <a:ext cx="640399" cy="608930"/>
          </a:xfrm>
          <a:prstGeom prst="rect">
            <a:avLst/>
          </a:prstGeom>
        </p:spPr>
      </p:pic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7702303" y="4157893"/>
            <a:ext cx="23487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solidFill>
                  <a:srgbClr val="FF3300"/>
                </a:solidFill>
                <a:latin typeface="宋体" charset="-122"/>
              </a:rPr>
              <a:t>斜视图画法：</a:t>
            </a:r>
          </a:p>
        </p:txBody>
      </p:sp>
      <p:sp>
        <p:nvSpPr>
          <p:cNvPr id="23" name="Text Box 4"/>
          <p:cNvSpPr txBox="1">
            <a:spLocks noChangeArrowheads="1"/>
          </p:cNvSpPr>
          <p:nvPr/>
        </p:nvSpPr>
        <p:spPr bwMode="auto">
          <a:xfrm>
            <a:off x="7643972" y="4797153"/>
            <a:ext cx="292603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★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只画机件倾斜结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构真实大小。</a:t>
            </a:r>
          </a:p>
        </p:txBody>
      </p: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7643972" y="5646815"/>
            <a:ext cx="293687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★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按投射方向配置，保持投影关系。</a:t>
            </a:r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9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9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9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99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autoUpdateAnimBg="0"/>
      <p:bldP spid="99332" grpId="0" autoUpdateAnimBg="0"/>
      <p:bldP spid="99333" grpId="0" autoUpdateAnimBg="0"/>
      <p:bldP spid="99334" grpId="0" autoUpdateAnimBg="0"/>
      <p:bldP spid="99335" grpId="0" animBg="1" autoUpdateAnimBg="0"/>
      <p:bldP spid="12" grpId="0" animBg="1"/>
      <p:bldP spid="21" grpId="0" autoUpdateAnimBg="0"/>
      <p:bldP spid="23" grpId="0" autoUpdateAnimBg="0"/>
      <p:bldP spid="2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23" name="Text Box 71"/>
          <p:cNvSpPr txBox="1">
            <a:spLocks noChangeArrowheads="1"/>
          </p:cNvSpPr>
          <p:nvPr/>
        </p:nvSpPr>
        <p:spPr bwMode="auto">
          <a:xfrm>
            <a:off x="2325689" y="4368800"/>
            <a:ext cx="52116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画斜视图的注意事项（标注）：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0424" name="Text Box 72"/>
          <p:cNvSpPr txBox="1">
            <a:spLocks noChangeArrowheads="1"/>
          </p:cNvSpPr>
          <p:nvPr/>
        </p:nvSpPr>
        <p:spPr bwMode="auto">
          <a:xfrm>
            <a:off x="2133601" y="5394326"/>
            <a:ext cx="67992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宋体" charset="-122"/>
                <a:sym typeface="Symbol" pitchFamily="18" charset="2"/>
              </a:rPr>
              <a:t> </a:t>
            </a:r>
            <a:r>
              <a:rPr lang="zh-CN" altLang="en-US" sz="2800" dirty="0">
                <a:latin typeface="宋体" charset="-122"/>
                <a:sym typeface="Symbol" pitchFamily="18" charset="2"/>
              </a:rPr>
              <a:t>斜视图通常按投射方向配置和标注。   </a:t>
            </a:r>
          </a:p>
        </p:txBody>
      </p:sp>
      <p:sp>
        <p:nvSpPr>
          <p:cNvPr id="100425" name="Text Box 73"/>
          <p:cNvSpPr txBox="1">
            <a:spLocks noChangeArrowheads="1"/>
          </p:cNvSpPr>
          <p:nvPr/>
        </p:nvSpPr>
        <p:spPr bwMode="auto">
          <a:xfrm>
            <a:off x="2133600" y="5827713"/>
            <a:ext cx="8534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>
                <a:latin typeface="宋体" charset="-122"/>
                <a:sym typeface="Symbol" pitchFamily="18" charset="2"/>
              </a:rPr>
              <a:t> </a:t>
            </a:r>
            <a:r>
              <a:rPr lang="zh-CN" altLang="en-US" sz="2800">
                <a:latin typeface="宋体" charset="-122"/>
                <a:sym typeface="Symbol" pitchFamily="18" charset="2"/>
              </a:rPr>
              <a:t>允许将斜视图旋转配置，但需在斜视图上方注明</a:t>
            </a:r>
            <a:r>
              <a:rPr lang="zh-CN" altLang="en-US" sz="2800">
                <a:latin typeface="宋体" charset="-122"/>
                <a:sym typeface="CommercialPi BT" pitchFamily="18" charset="2"/>
              </a:rPr>
              <a:t>。</a:t>
            </a:r>
          </a:p>
        </p:txBody>
      </p:sp>
      <p:sp>
        <p:nvSpPr>
          <p:cNvPr id="100426" name="Text Box 74"/>
          <p:cNvSpPr txBox="1">
            <a:spLocks noChangeArrowheads="1"/>
          </p:cNvSpPr>
          <p:nvPr/>
        </p:nvSpPr>
        <p:spPr bwMode="auto">
          <a:xfrm>
            <a:off x="2133600" y="4922838"/>
            <a:ext cx="7342188" cy="519112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latin typeface="宋体" charset="-122"/>
                <a:sym typeface="Symbol" pitchFamily="18" charset="2"/>
              </a:rPr>
              <a:t> </a:t>
            </a:r>
            <a:r>
              <a:rPr lang="zh-CN" altLang="en-US" sz="2800" dirty="0">
                <a:latin typeface="宋体" charset="-122"/>
                <a:sym typeface="Symbol" pitchFamily="18" charset="2"/>
              </a:rPr>
              <a:t>斜视图的断裂边界用波浪线或双折线表示。</a:t>
            </a:r>
          </a:p>
        </p:txBody>
      </p:sp>
      <p:sp>
        <p:nvSpPr>
          <p:cNvPr id="100427" name="AutoShape 75"/>
          <p:cNvSpPr>
            <a:spLocks noChangeArrowheads="1"/>
          </p:cNvSpPr>
          <p:nvPr/>
        </p:nvSpPr>
        <p:spPr bwMode="auto">
          <a:xfrm>
            <a:off x="6312024" y="896926"/>
            <a:ext cx="3065462" cy="1522413"/>
          </a:xfrm>
          <a:prstGeom prst="cloudCallout">
            <a:avLst>
              <a:gd name="adj1" fmla="val -24569"/>
              <a:gd name="adj2" fmla="val 72005"/>
            </a:avLst>
          </a:prstGeom>
          <a:gradFill rotWithShape="0">
            <a:gsLst>
              <a:gs pos="0">
                <a:srgbClr val="FF99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b="1" dirty="0">
                <a:solidFill>
                  <a:srgbClr val="0070C0"/>
                </a:solidFill>
              </a:rPr>
              <a:t>字母靠近箭头端，</a:t>
            </a:r>
          </a:p>
          <a:p>
            <a:r>
              <a:rPr lang="zh-CN" altLang="en-US" b="1" dirty="0">
                <a:solidFill>
                  <a:srgbClr val="0070C0"/>
                </a:solidFill>
              </a:rPr>
              <a:t>符号方向与旋转</a:t>
            </a:r>
          </a:p>
          <a:p>
            <a:r>
              <a:rPr lang="zh-CN" altLang="en-US" b="1" dirty="0">
                <a:solidFill>
                  <a:srgbClr val="0070C0"/>
                </a:solidFill>
              </a:rPr>
              <a:t>方向一致</a:t>
            </a:r>
            <a:r>
              <a:rPr lang="zh-CN" altLang="en-US" dirty="0"/>
              <a:t>。</a:t>
            </a:r>
          </a:p>
        </p:txBody>
      </p:sp>
      <p:pic>
        <p:nvPicPr>
          <p:cNvPr id="27656" name="Picture 76"/>
          <p:cNvPicPr>
            <a:picLocks noChangeAspect="1" noChangeArrowheads="1"/>
          </p:cNvPicPr>
          <p:nvPr/>
        </p:nvPicPr>
        <p:blipFill>
          <a:blip r:embed="rId2"/>
          <a:srcRect r="34792"/>
          <a:stretch>
            <a:fillRect/>
          </a:stretch>
        </p:blipFill>
        <p:spPr bwMode="auto">
          <a:xfrm>
            <a:off x="2212976" y="1274763"/>
            <a:ext cx="2532063" cy="29210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0" name="Picture 76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64268" t="25005" b="32487"/>
          <a:stretch>
            <a:fillRect/>
          </a:stretch>
        </p:blipFill>
        <p:spPr bwMode="auto">
          <a:xfrm>
            <a:off x="4708526" y="2005014"/>
            <a:ext cx="1387475" cy="12414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1" name="任意多边形 10"/>
          <p:cNvSpPr/>
          <p:nvPr/>
        </p:nvSpPr>
        <p:spPr>
          <a:xfrm>
            <a:off x="3671889" y="3262313"/>
            <a:ext cx="130175" cy="868362"/>
          </a:xfrm>
          <a:custGeom>
            <a:avLst/>
            <a:gdLst>
              <a:gd name="connsiteX0" fmla="*/ 95250 w 130175"/>
              <a:gd name="connsiteY0" fmla="*/ 0 h 867569"/>
              <a:gd name="connsiteX1" fmla="*/ 61912 w 130175"/>
              <a:gd name="connsiteY1" fmla="*/ 52387 h 867569"/>
              <a:gd name="connsiteX2" fmla="*/ 42862 w 130175"/>
              <a:gd name="connsiteY2" fmla="*/ 80962 h 867569"/>
              <a:gd name="connsiteX3" fmla="*/ 42862 w 130175"/>
              <a:gd name="connsiteY3" fmla="*/ 109537 h 867569"/>
              <a:gd name="connsiteX4" fmla="*/ 42862 w 130175"/>
              <a:gd name="connsiteY4" fmla="*/ 133350 h 867569"/>
              <a:gd name="connsiteX5" fmla="*/ 66675 w 130175"/>
              <a:gd name="connsiteY5" fmla="*/ 171450 h 867569"/>
              <a:gd name="connsiteX6" fmla="*/ 90487 w 130175"/>
              <a:gd name="connsiteY6" fmla="*/ 214312 h 867569"/>
              <a:gd name="connsiteX7" fmla="*/ 104775 w 130175"/>
              <a:gd name="connsiteY7" fmla="*/ 247650 h 867569"/>
              <a:gd name="connsiteX8" fmla="*/ 95250 w 130175"/>
              <a:gd name="connsiteY8" fmla="*/ 319087 h 867569"/>
              <a:gd name="connsiteX9" fmla="*/ 80962 w 130175"/>
              <a:gd name="connsiteY9" fmla="*/ 376237 h 867569"/>
              <a:gd name="connsiteX10" fmla="*/ 61912 w 130175"/>
              <a:gd name="connsiteY10" fmla="*/ 400050 h 867569"/>
              <a:gd name="connsiteX11" fmla="*/ 61912 w 130175"/>
              <a:gd name="connsiteY11" fmla="*/ 423862 h 867569"/>
              <a:gd name="connsiteX12" fmla="*/ 61912 w 130175"/>
              <a:gd name="connsiteY12" fmla="*/ 457200 h 867569"/>
              <a:gd name="connsiteX13" fmla="*/ 71437 w 130175"/>
              <a:gd name="connsiteY13" fmla="*/ 495300 h 867569"/>
              <a:gd name="connsiteX14" fmla="*/ 80962 w 130175"/>
              <a:gd name="connsiteY14" fmla="*/ 519112 h 867569"/>
              <a:gd name="connsiteX15" fmla="*/ 100012 w 130175"/>
              <a:gd name="connsiteY15" fmla="*/ 542925 h 867569"/>
              <a:gd name="connsiteX16" fmla="*/ 109537 w 130175"/>
              <a:gd name="connsiteY16" fmla="*/ 590550 h 867569"/>
              <a:gd name="connsiteX17" fmla="*/ 119062 w 130175"/>
              <a:gd name="connsiteY17" fmla="*/ 619125 h 867569"/>
              <a:gd name="connsiteX18" fmla="*/ 128587 w 130175"/>
              <a:gd name="connsiteY18" fmla="*/ 661987 h 867569"/>
              <a:gd name="connsiteX19" fmla="*/ 128587 w 130175"/>
              <a:gd name="connsiteY19" fmla="*/ 690562 h 867569"/>
              <a:gd name="connsiteX20" fmla="*/ 119062 w 130175"/>
              <a:gd name="connsiteY20" fmla="*/ 714375 h 867569"/>
              <a:gd name="connsiteX21" fmla="*/ 104775 w 130175"/>
              <a:gd name="connsiteY21" fmla="*/ 742950 h 867569"/>
              <a:gd name="connsiteX22" fmla="*/ 61912 w 130175"/>
              <a:gd name="connsiteY22" fmla="*/ 776287 h 867569"/>
              <a:gd name="connsiteX23" fmla="*/ 38100 w 130175"/>
              <a:gd name="connsiteY23" fmla="*/ 814387 h 867569"/>
              <a:gd name="connsiteX24" fmla="*/ 14287 w 130175"/>
              <a:gd name="connsiteY24" fmla="*/ 866775 h 867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30175" h="867569">
                <a:moveTo>
                  <a:pt x="95250" y="0"/>
                </a:moveTo>
                <a:lnTo>
                  <a:pt x="61912" y="52387"/>
                </a:lnTo>
                <a:cubicBezTo>
                  <a:pt x="53181" y="65881"/>
                  <a:pt x="46037" y="71437"/>
                  <a:pt x="42862" y="80962"/>
                </a:cubicBezTo>
                <a:cubicBezTo>
                  <a:pt x="39687" y="90487"/>
                  <a:pt x="42862" y="109537"/>
                  <a:pt x="42862" y="109537"/>
                </a:cubicBezTo>
                <a:cubicBezTo>
                  <a:pt x="42862" y="118268"/>
                  <a:pt x="38893" y="123031"/>
                  <a:pt x="42862" y="133350"/>
                </a:cubicBezTo>
                <a:cubicBezTo>
                  <a:pt x="46831" y="143669"/>
                  <a:pt x="58738" y="157956"/>
                  <a:pt x="66675" y="171450"/>
                </a:cubicBezTo>
                <a:cubicBezTo>
                  <a:pt x="74612" y="184944"/>
                  <a:pt x="84137" y="201612"/>
                  <a:pt x="90487" y="214312"/>
                </a:cubicBezTo>
                <a:cubicBezTo>
                  <a:pt x="96837" y="227012"/>
                  <a:pt x="103981" y="230188"/>
                  <a:pt x="104775" y="247650"/>
                </a:cubicBezTo>
                <a:cubicBezTo>
                  <a:pt x="105569" y="265112"/>
                  <a:pt x="99219" y="297656"/>
                  <a:pt x="95250" y="319087"/>
                </a:cubicBezTo>
                <a:cubicBezTo>
                  <a:pt x="91281" y="340518"/>
                  <a:pt x="86518" y="362743"/>
                  <a:pt x="80962" y="376237"/>
                </a:cubicBezTo>
                <a:cubicBezTo>
                  <a:pt x="75406" y="389731"/>
                  <a:pt x="65087" y="392112"/>
                  <a:pt x="61912" y="400050"/>
                </a:cubicBezTo>
                <a:cubicBezTo>
                  <a:pt x="58737" y="407988"/>
                  <a:pt x="61912" y="423862"/>
                  <a:pt x="61912" y="423862"/>
                </a:cubicBezTo>
                <a:cubicBezTo>
                  <a:pt x="61912" y="433387"/>
                  <a:pt x="60325" y="445294"/>
                  <a:pt x="61912" y="457200"/>
                </a:cubicBezTo>
                <a:cubicBezTo>
                  <a:pt x="63499" y="469106"/>
                  <a:pt x="68262" y="484981"/>
                  <a:pt x="71437" y="495300"/>
                </a:cubicBezTo>
                <a:cubicBezTo>
                  <a:pt x="74612" y="505619"/>
                  <a:pt x="76200" y="511175"/>
                  <a:pt x="80962" y="519112"/>
                </a:cubicBezTo>
                <a:cubicBezTo>
                  <a:pt x="85725" y="527050"/>
                  <a:pt x="95250" y="531019"/>
                  <a:pt x="100012" y="542925"/>
                </a:cubicBezTo>
                <a:cubicBezTo>
                  <a:pt x="104774" y="554831"/>
                  <a:pt x="106362" y="577850"/>
                  <a:pt x="109537" y="590550"/>
                </a:cubicBezTo>
                <a:cubicBezTo>
                  <a:pt x="112712" y="603250"/>
                  <a:pt x="115887" y="607219"/>
                  <a:pt x="119062" y="619125"/>
                </a:cubicBezTo>
                <a:cubicBezTo>
                  <a:pt x="122237" y="631031"/>
                  <a:pt x="127000" y="650081"/>
                  <a:pt x="128587" y="661987"/>
                </a:cubicBezTo>
                <a:cubicBezTo>
                  <a:pt x="130174" y="673893"/>
                  <a:pt x="130175" y="681831"/>
                  <a:pt x="128587" y="690562"/>
                </a:cubicBezTo>
                <a:cubicBezTo>
                  <a:pt x="126999" y="699293"/>
                  <a:pt x="123031" y="705644"/>
                  <a:pt x="119062" y="714375"/>
                </a:cubicBezTo>
                <a:cubicBezTo>
                  <a:pt x="115093" y="723106"/>
                  <a:pt x="114300" y="732631"/>
                  <a:pt x="104775" y="742950"/>
                </a:cubicBezTo>
                <a:cubicBezTo>
                  <a:pt x="95250" y="753269"/>
                  <a:pt x="73024" y="764381"/>
                  <a:pt x="61912" y="776287"/>
                </a:cubicBezTo>
                <a:cubicBezTo>
                  <a:pt x="50800" y="788193"/>
                  <a:pt x="46038" y="799306"/>
                  <a:pt x="38100" y="814387"/>
                </a:cubicBezTo>
                <a:cubicBezTo>
                  <a:pt x="30163" y="829468"/>
                  <a:pt x="0" y="867569"/>
                  <a:pt x="14287" y="866775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t="55258" r="25613"/>
          <a:stretch>
            <a:fillRect/>
          </a:stretch>
        </p:blipFill>
        <p:spPr bwMode="auto">
          <a:xfrm>
            <a:off x="8137649" y="2759064"/>
            <a:ext cx="1350962" cy="15525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24823" b="55360"/>
          <a:stretch>
            <a:fillRect/>
          </a:stretch>
        </p:blipFill>
        <p:spPr bwMode="auto">
          <a:xfrm>
            <a:off x="6385049" y="2795576"/>
            <a:ext cx="1350962" cy="15335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2" name="椭圆 1"/>
          <p:cNvSpPr/>
          <p:nvPr/>
        </p:nvSpPr>
        <p:spPr bwMode="auto">
          <a:xfrm>
            <a:off x="3598119" y="3614739"/>
            <a:ext cx="407888" cy="519113"/>
          </a:xfrm>
          <a:prstGeom prst="ellipse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501586" y="518211"/>
            <a:ext cx="250100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四、斜视图</a:t>
            </a:r>
            <a:endParaRPr lang="zh-CN" altLang="en-US" sz="3600" b="1" dirty="0">
              <a:solidFill>
                <a:srgbClr val="FF0000"/>
              </a:solidFill>
              <a:ea typeface="黑体" pitchFamily="49" charset="-122"/>
            </a:endParaRPr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0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10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10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6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0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0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423" grpId="0" autoUpdateAnimBg="0"/>
      <p:bldP spid="100424" grpId="0" autoUpdateAnimBg="0"/>
      <p:bldP spid="100425" grpId="0" autoUpdateAnimBg="0"/>
      <p:bldP spid="100426" grpId="0" autoUpdateAnimBg="0"/>
      <p:bldP spid="100427" grpId="0" animBg="1" autoUpdateAnimBg="0"/>
      <p:bldP spid="11" grpId="0" animBg="1"/>
      <p:bldP spid="2" grpId="0" animBg="1"/>
      <p:bldP spid="2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4D09B30-4DD5-4EB6-93AD-128F9A308DE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</p:spPr>
        <p:txBody>
          <a:bodyPr vert="horz" wrap="square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选择正确说法：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5A97950-C222-4658-A8A0-3AB68D253E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456892"/>
            <a:ext cx="6400800" cy="650876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视图主要用来表达机件的外部结构形状和位置关系。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C50D0D-F8C1-4C2B-A605-558C616D947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322080"/>
            <a:ext cx="706368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视图分基本视图、向视图、局部视图和斜视图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119A69-42CB-48E4-AB2A-4BCE878A406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179330"/>
            <a:ext cx="688366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局部视图的断裂边界应以波浪线或双折线表示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26AC30-C3A3-475D-AE97-33AEC9E8B2D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036580"/>
            <a:ext cx="64008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局部视图必须进行标注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E78CD3-2F1E-40C7-9DD2-2F7CEEFD3DC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2529123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50AE57-73FA-4832-9A7A-567AB0F2DF5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3386373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101D6A-6199-4B52-83BF-C37D88B31995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38425" y="4243623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4F1B88-1283-47C6-83EF-20A253EA525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638425" y="5100873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724D8D2-4EE7-49E4-AFD8-040D61489024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D988B9F-44E7-49F4-B5A3-00695DDC04E5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9C04878E-04E0-4119-9B31-099BC5566E9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A0FA14A1-726A-403B-885F-9BD1FA711C9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5EAA77D9-2539-4CCD-AA57-60526EC9F36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lang="zh-CN" altLang="en-US" sz="2600" b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多选题</a:t>
              </a:r>
              <a:endPara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DD91A3E4-1C6E-4296-87A4-A93B27AACA44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lang="en-US" altLang="zh-CN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3</a:t>
              </a:r>
              <a:r>
                <a:rPr lang="zh-CN" altLang="en-US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lang="zh-CN" altLang="en-US" sz="2000" b="1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284EFAE-8DBF-4E21-821E-F581959D3EF3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87948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9"/>
          <p:cNvSpPr txBox="1">
            <a:spLocks noChangeArrowheads="1"/>
          </p:cNvSpPr>
          <p:nvPr/>
        </p:nvSpPr>
        <p:spPr bwMode="auto">
          <a:xfrm>
            <a:off x="3430873" y="488649"/>
            <a:ext cx="4572508" cy="584775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视图部分知识结构导图 </a:t>
            </a:r>
          </a:p>
        </p:txBody>
      </p:sp>
      <p:grpSp>
        <p:nvGrpSpPr>
          <p:cNvPr id="2" name="组合 7"/>
          <p:cNvGrpSpPr>
            <a:grpSpLocks/>
          </p:cNvGrpSpPr>
          <p:nvPr/>
        </p:nvGrpSpPr>
        <p:grpSpPr bwMode="auto">
          <a:xfrm>
            <a:off x="1568450" y="1803401"/>
            <a:ext cx="3906838" cy="4181475"/>
            <a:chOff x="44388" y="1803435"/>
            <a:chExt cx="3906891" cy="4181475"/>
          </a:xfrm>
        </p:grpSpPr>
        <p:pic>
          <p:nvPicPr>
            <p:cNvPr id="28680" name="Picture 3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rcRect r="73222"/>
            <a:stretch>
              <a:fillRect/>
            </a:stretch>
          </p:blipFill>
          <p:spPr bwMode="auto">
            <a:xfrm>
              <a:off x="44388" y="1803435"/>
              <a:ext cx="2409858" cy="418147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  <p:pic>
          <p:nvPicPr>
            <p:cNvPr id="28681" name="Picture 3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rcRect l="26372" r="56589" b="75969"/>
            <a:stretch>
              <a:fillRect/>
            </a:stretch>
          </p:blipFill>
          <p:spPr bwMode="auto">
            <a:xfrm>
              <a:off x="2417733" y="1803435"/>
              <a:ext cx="1533546" cy="100484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  <p:pic>
          <p:nvPicPr>
            <p:cNvPr id="28682" name="Picture 3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rcRect l="26372" t="25777" r="59834" b="51518"/>
            <a:stretch>
              <a:fillRect/>
            </a:stretch>
          </p:blipFill>
          <p:spPr bwMode="auto">
            <a:xfrm>
              <a:off x="2417733" y="2881305"/>
              <a:ext cx="1241442" cy="94933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  <p:pic>
          <p:nvPicPr>
            <p:cNvPr id="28683" name="Picture 3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rcRect l="26372" t="48482" r="56589" b="27069"/>
            <a:stretch>
              <a:fillRect/>
            </a:stretch>
          </p:blipFill>
          <p:spPr bwMode="auto">
            <a:xfrm>
              <a:off x="2417733" y="3830643"/>
              <a:ext cx="1533546" cy="102236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  <p:pic>
          <p:nvPicPr>
            <p:cNvPr id="28684" name="Picture 3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rcRect l="26372" t="76424" r="59834"/>
            <a:stretch>
              <a:fillRect/>
            </a:stretch>
          </p:blipFill>
          <p:spPr bwMode="auto">
            <a:xfrm>
              <a:off x="2417733" y="4999059"/>
              <a:ext cx="1241442" cy="98585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</p:grp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43007" r="31433" b="75969"/>
          <a:stretch>
            <a:fillRect/>
          </a:stretch>
        </p:blipFill>
        <p:spPr bwMode="auto">
          <a:xfrm>
            <a:off x="5456535" y="1629796"/>
            <a:ext cx="2864798" cy="1251496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40166" t="25777" r="36302" b="51518"/>
          <a:stretch>
            <a:fillRect/>
          </a:stretch>
        </p:blipFill>
        <p:spPr bwMode="auto">
          <a:xfrm>
            <a:off x="5183189" y="2672917"/>
            <a:ext cx="2582611" cy="115772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43007" t="48482" b="27069"/>
          <a:stretch>
            <a:fillRect/>
          </a:stretch>
        </p:blipFill>
        <p:spPr bwMode="auto">
          <a:xfrm>
            <a:off x="5438776" y="3663446"/>
            <a:ext cx="5129213" cy="1241719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40166" t="76424" r="5467"/>
          <a:stretch>
            <a:fillRect/>
          </a:stretch>
        </p:blipFill>
        <p:spPr bwMode="auto">
          <a:xfrm>
            <a:off x="5183188" y="4999039"/>
            <a:ext cx="5305300" cy="1131889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ext Box 2"/>
          <p:cNvSpPr txBox="1">
            <a:spLocks noChangeArrowheads="1"/>
          </p:cNvSpPr>
          <p:nvPr/>
        </p:nvSpPr>
        <p:spPr bwMode="auto">
          <a:xfrm>
            <a:off x="5014914" y="409576"/>
            <a:ext cx="2359025" cy="646113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6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剖 视 图</a:t>
            </a:r>
          </a:p>
        </p:txBody>
      </p:sp>
      <p:sp>
        <p:nvSpPr>
          <p:cNvPr id="103427" name="Text Box 3"/>
          <p:cNvSpPr txBox="1">
            <a:spLocks noChangeArrowheads="1"/>
          </p:cNvSpPr>
          <p:nvPr/>
        </p:nvSpPr>
        <p:spPr bwMode="auto">
          <a:xfrm>
            <a:off x="1256706" y="1413087"/>
            <a:ext cx="10369152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5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问题：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当机件的内部形状较复杂时，视图上将出现许多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虚线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，既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影响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视图的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清晰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不便于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看图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标注尺寸</a:t>
            </a:r>
            <a:endParaRPr lang="zh-CN" altLang="en-US" sz="280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3428" name="Text Box 4"/>
          <p:cNvSpPr txBox="1">
            <a:spLocks noChangeArrowheads="1"/>
          </p:cNvSpPr>
          <p:nvPr/>
        </p:nvSpPr>
        <p:spPr bwMode="auto">
          <a:xfrm>
            <a:off x="2962694" y="5848509"/>
            <a:ext cx="173300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800" dirty="0"/>
              <a:t>如何解决</a:t>
            </a:r>
          </a:p>
        </p:txBody>
      </p:sp>
      <p:sp>
        <p:nvSpPr>
          <p:cNvPr id="103429" name="Text Box 5"/>
          <p:cNvSpPr txBox="1">
            <a:spLocks noChangeArrowheads="1"/>
          </p:cNvSpPr>
          <p:nvPr/>
        </p:nvSpPr>
        <p:spPr bwMode="auto">
          <a:xfrm>
            <a:off x="7270751" y="5743109"/>
            <a:ext cx="1988045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采用剖视图</a:t>
            </a:r>
          </a:p>
        </p:txBody>
      </p:sp>
      <p:pic>
        <p:nvPicPr>
          <p:cNvPr id="101" name="图片 100" descr="9-9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88139" y="2808288"/>
            <a:ext cx="2511425" cy="249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组合 103"/>
          <p:cNvGrpSpPr>
            <a:grpSpLocks/>
          </p:cNvGrpSpPr>
          <p:nvPr/>
        </p:nvGrpSpPr>
        <p:grpSpPr bwMode="auto">
          <a:xfrm>
            <a:off x="2551114" y="2384425"/>
            <a:ext cx="4384675" cy="3271838"/>
            <a:chOff x="592083" y="2406636"/>
            <a:chExt cx="4384235" cy="3271848"/>
          </a:xfrm>
        </p:grpSpPr>
        <p:pic>
          <p:nvPicPr>
            <p:cNvPr id="29704" name="Picture 101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41702"/>
            <a:stretch>
              <a:fillRect/>
            </a:stretch>
          </p:blipFill>
          <p:spPr bwMode="auto">
            <a:xfrm>
              <a:off x="592083" y="2406636"/>
              <a:ext cx="2555910" cy="327184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  <p:pic>
          <p:nvPicPr>
            <p:cNvPr id="29705" name="Picture 101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60796" b="56477"/>
            <a:stretch>
              <a:fillRect/>
            </a:stretch>
          </p:blipFill>
          <p:spPr bwMode="auto">
            <a:xfrm>
              <a:off x="3257532" y="2406636"/>
              <a:ext cx="1718786" cy="142400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070" y="5762799"/>
            <a:ext cx="640399" cy="6089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78113" y="2511582"/>
            <a:ext cx="2200275" cy="106143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12619" y="2534042"/>
            <a:ext cx="728663" cy="10287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76203" y="4407458"/>
            <a:ext cx="2194247" cy="1072304"/>
          </a:xfrm>
          <a:prstGeom prst="rect">
            <a:avLst/>
          </a:prstGeom>
        </p:spPr>
      </p:pic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2000"/>
                                        <p:tgtEl>
                                          <p:spTgt spid="10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5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6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8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0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2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6" grpId="0" animBg="1"/>
      <p:bldP spid="103427" grpId="0" autoUpdateAnimBg="0"/>
      <p:bldP spid="103428" grpId="0" autoUpdateAnimBg="0"/>
      <p:bldP spid="103429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6"/>
          <p:cNvSpPr txBox="1">
            <a:spLocks noChangeArrowheads="1"/>
          </p:cNvSpPr>
          <p:nvPr/>
        </p:nvSpPr>
        <p:spPr bwMode="auto">
          <a:xfrm>
            <a:off x="3774188" y="308957"/>
            <a:ext cx="4956175" cy="64135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一、剖视图的概念</a:t>
            </a:r>
          </a:p>
        </p:txBody>
      </p:sp>
      <p:sp>
        <p:nvSpPr>
          <p:cNvPr id="30723" name="Text Box 47"/>
          <p:cNvSpPr txBox="1">
            <a:spLocks noChangeArrowheads="1"/>
          </p:cNvSpPr>
          <p:nvPr/>
        </p:nvSpPr>
        <p:spPr bwMode="auto">
          <a:xfrm>
            <a:off x="1008063" y="816491"/>
            <a:ext cx="3846513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⒈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剖视图的形成</a:t>
            </a:r>
          </a:p>
        </p:txBody>
      </p:sp>
      <p:sp>
        <p:nvSpPr>
          <p:cNvPr id="104496" name="Text Box 48"/>
          <p:cNvSpPr txBox="1">
            <a:spLocks noChangeArrowheads="1"/>
          </p:cNvSpPr>
          <p:nvPr/>
        </p:nvSpPr>
        <p:spPr bwMode="auto">
          <a:xfrm>
            <a:off x="7464152" y="1335300"/>
            <a:ext cx="2817812" cy="107791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3200" dirty="0">
                <a:solidFill>
                  <a:schemeClr val="accent2"/>
                </a:solidFill>
                <a:latin typeface="+mn-ea"/>
                <a:ea typeface="+mn-ea"/>
              </a:rPr>
              <a:t>假想用剖切面剖开机件</a:t>
            </a:r>
          </a:p>
        </p:txBody>
      </p:sp>
      <p:sp>
        <p:nvSpPr>
          <p:cNvPr id="30725" name="Freeform 137"/>
          <p:cNvSpPr>
            <a:spLocks/>
          </p:cNvSpPr>
          <p:nvPr/>
        </p:nvSpPr>
        <p:spPr bwMode="auto">
          <a:xfrm>
            <a:off x="2208213" y="3584575"/>
            <a:ext cx="5403850" cy="2755900"/>
          </a:xfrm>
          <a:custGeom>
            <a:avLst/>
            <a:gdLst>
              <a:gd name="T0" fmla="*/ 0 w 2790"/>
              <a:gd name="T1" fmla="*/ 2147483647 h 1620"/>
              <a:gd name="T2" fmla="*/ 2147483647 w 2790"/>
              <a:gd name="T3" fmla="*/ 2147483647 h 1620"/>
              <a:gd name="T4" fmla="*/ 2147483647 w 2790"/>
              <a:gd name="T5" fmla="*/ 2147483647 h 1620"/>
              <a:gd name="T6" fmla="*/ 2147483647 w 2790"/>
              <a:gd name="T7" fmla="*/ 0 h 1620"/>
              <a:gd name="T8" fmla="*/ 0 w 2790"/>
              <a:gd name="T9" fmla="*/ 2147483647 h 16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90"/>
              <a:gd name="T16" fmla="*/ 0 h 1620"/>
              <a:gd name="T17" fmla="*/ 2790 w 2790"/>
              <a:gd name="T18" fmla="*/ 1620 h 16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90" h="1620">
                <a:moveTo>
                  <a:pt x="0" y="978"/>
                </a:moveTo>
                <a:lnTo>
                  <a:pt x="1096" y="1620"/>
                </a:lnTo>
                <a:lnTo>
                  <a:pt x="2790" y="642"/>
                </a:lnTo>
                <a:lnTo>
                  <a:pt x="1686" y="0"/>
                </a:lnTo>
                <a:lnTo>
                  <a:pt x="0" y="978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6" name="Freeform 138"/>
          <p:cNvSpPr>
            <a:spLocks/>
          </p:cNvSpPr>
          <p:nvPr/>
        </p:nvSpPr>
        <p:spPr bwMode="auto">
          <a:xfrm>
            <a:off x="2189164" y="1676401"/>
            <a:ext cx="3286125" cy="3578225"/>
          </a:xfrm>
          <a:custGeom>
            <a:avLst/>
            <a:gdLst>
              <a:gd name="T0" fmla="*/ 0 w 1692"/>
              <a:gd name="T1" fmla="*/ 2147483647 h 2094"/>
              <a:gd name="T2" fmla="*/ 0 w 1692"/>
              <a:gd name="T3" fmla="*/ 2147483647 h 2094"/>
              <a:gd name="T4" fmla="*/ 2147483647 w 1692"/>
              <a:gd name="T5" fmla="*/ 2147483647 h 2094"/>
              <a:gd name="T6" fmla="*/ 2147483647 w 1692"/>
              <a:gd name="T7" fmla="*/ 0 h 2094"/>
              <a:gd name="T8" fmla="*/ 0 w 1692"/>
              <a:gd name="T9" fmla="*/ 2147483647 h 20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92"/>
              <a:gd name="T16" fmla="*/ 0 h 2094"/>
              <a:gd name="T17" fmla="*/ 1692 w 1692"/>
              <a:gd name="T18" fmla="*/ 2094 h 20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92" h="2094">
                <a:moveTo>
                  <a:pt x="0" y="972"/>
                </a:moveTo>
                <a:lnTo>
                  <a:pt x="0" y="2094"/>
                </a:lnTo>
                <a:lnTo>
                  <a:pt x="1692" y="1116"/>
                </a:lnTo>
                <a:lnTo>
                  <a:pt x="1692" y="0"/>
                </a:lnTo>
                <a:lnTo>
                  <a:pt x="0" y="972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3072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95714" y="3208338"/>
            <a:ext cx="2117725" cy="1535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2" name="组合 31"/>
          <p:cNvGrpSpPr>
            <a:grpSpLocks/>
          </p:cNvGrpSpPr>
          <p:nvPr/>
        </p:nvGrpSpPr>
        <p:grpSpPr bwMode="auto">
          <a:xfrm>
            <a:off x="4233864" y="2624138"/>
            <a:ext cx="1716087" cy="2374900"/>
            <a:chOff x="4972851" y="2224071"/>
            <a:chExt cx="1863750" cy="2775783"/>
          </a:xfrm>
        </p:grpSpPr>
        <p:cxnSp>
          <p:nvCxnSpPr>
            <p:cNvPr id="18" name="直接连接符 17"/>
            <p:cNvCxnSpPr/>
            <p:nvPr/>
          </p:nvCxnSpPr>
          <p:spPr>
            <a:xfrm flipV="1">
              <a:off x="4972851" y="2224071"/>
              <a:ext cx="1863750" cy="10594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730" name="组合 30"/>
            <p:cNvGrpSpPr>
              <a:grpSpLocks/>
            </p:cNvGrpSpPr>
            <p:nvPr/>
          </p:nvGrpSpPr>
          <p:grpSpPr bwMode="auto">
            <a:xfrm>
              <a:off x="4972851" y="2224864"/>
              <a:ext cx="1863750" cy="2774990"/>
              <a:chOff x="4972851" y="2224864"/>
              <a:chExt cx="1863750" cy="2774990"/>
            </a:xfrm>
          </p:grpSpPr>
          <p:cxnSp>
            <p:nvCxnSpPr>
              <p:cNvPr id="20" name="直接连接符 19"/>
              <p:cNvCxnSpPr/>
              <p:nvPr/>
            </p:nvCxnSpPr>
            <p:spPr>
              <a:xfrm rot="5400000">
                <a:off x="5940475" y="3118474"/>
                <a:ext cx="1790528" cy="172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rot="10800000" flipV="1">
                <a:off x="4972851" y="4012744"/>
                <a:ext cx="1863750" cy="98711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 rot="5400000" flipH="1" flipV="1">
                <a:off x="4115558" y="4140837"/>
                <a:ext cx="1716310" cy="172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reeform 138"/>
          <p:cNvSpPr>
            <a:spLocks/>
          </p:cNvSpPr>
          <p:nvPr/>
        </p:nvSpPr>
        <p:spPr bwMode="auto">
          <a:xfrm>
            <a:off x="2189164" y="1676401"/>
            <a:ext cx="3286125" cy="3578225"/>
          </a:xfrm>
          <a:custGeom>
            <a:avLst/>
            <a:gdLst>
              <a:gd name="T0" fmla="*/ 0 w 1692"/>
              <a:gd name="T1" fmla="*/ 2147483647 h 2094"/>
              <a:gd name="T2" fmla="*/ 0 w 1692"/>
              <a:gd name="T3" fmla="*/ 2147483647 h 2094"/>
              <a:gd name="T4" fmla="*/ 2147483647 w 1692"/>
              <a:gd name="T5" fmla="*/ 2147483647 h 2094"/>
              <a:gd name="T6" fmla="*/ 2147483647 w 1692"/>
              <a:gd name="T7" fmla="*/ 0 h 2094"/>
              <a:gd name="T8" fmla="*/ 0 w 1692"/>
              <a:gd name="T9" fmla="*/ 2147483647 h 20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92"/>
              <a:gd name="T16" fmla="*/ 0 h 2094"/>
              <a:gd name="T17" fmla="*/ 1692 w 1692"/>
              <a:gd name="T18" fmla="*/ 2094 h 20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92" h="2094">
                <a:moveTo>
                  <a:pt x="0" y="972"/>
                </a:moveTo>
                <a:lnTo>
                  <a:pt x="0" y="2094"/>
                </a:lnTo>
                <a:lnTo>
                  <a:pt x="1692" y="1116"/>
                </a:lnTo>
                <a:lnTo>
                  <a:pt x="1692" y="0"/>
                </a:lnTo>
                <a:lnTo>
                  <a:pt x="0" y="972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47" name="Text Box 46"/>
          <p:cNvSpPr txBox="1">
            <a:spLocks noChangeArrowheads="1"/>
          </p:cNvSpPr>
          <p:nvPr/>
        </p:nvSpPr>
        <p:spPr bwMode="auto">
          <a:xfrm>
            <a:off x="3704432" y="249505"/>
            <a:ext cx="3591334" cy="5847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一、剖视图的概念</a:t>
            </a:r>
          </a:p>
        </p:txBody>
      </p:sp>
      <p:sp>
        <p:nvSpPr>
          <p:cNvPr id="31748" name="Text Box 47"/>
          <p:cNvSpPr txBox="1">
            <a:spLocks noChangeArrowheads="1"/>
          </p:cNvSpPr>
          <p:nvPr/>
        </p:nvSpPr>
        <p:spPr bwMode="auto">
          <a:xfrm>
            <a:off x="1077900" y="870793"/>
            <a:ext cx="2973399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⒈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剖视图的形成</a:t>
            </a:r>
          </a:p>
        </p:txBody>
      </p:sp>
      <p:sp>
        <p:nvSpPr>
          <p:cNvPr id="104496" name="Text Box 48"/>
          <p:cNvSpPr txBox="1">
            <a:spLocks noChangeArrowheads="1"/>
          </p:cNvSpPr>
          <p:nvPr/>
        </p:nvSpPr>
        <p:spPr bwMode="auto">
          <a:xfrm>
            <a:off x="7648576" y="1260477"/>
            <a:ext cx="2817812" cy="95408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假想用剖切面剖开机件</a:t>
            </a:r>
          </a:p>
        </p:txBody>
      </p:sp>
      <p:sp>
        <p:nvSpPr>
          <p:cNvPr id="244" name="矩形 243"/>
          <p:cNvSpPr/>
          <p:nvPr/>
        </p:nvSpPr>
        <p:spPr>
          <a:xfrm>
            <a:off x="7658895" y="2290763"/>
            <a:ext cx="2797175" cy="13843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+mn-ea"/>
                <a:ea typeface="宋体" pitchFamily="2" charset="-122"/>
              </a:rPr>
              <a:t>将处在观察者和剖切面之间的部分移去</a:t>
            </a:r>
            <a:endParaRPr lang="zh-CN" altLang="en-US" sz="2800" b="1" dirty="0">
              <a:solidFill>
                <a:srgbClr val="C00000"/>
              </a:solidFill>
              <a:ea typeface="宋体" pitchFamily="2" charset="-122"/>
            </a:endParaRPr>
          </a:p>
        </p:txBody>
      </p:sp>
      <p:sp>
        <p:nvSpPr>
          <p:cNvPr id="245" name="矩形 244"/>
          <p:cNvSpPr/>
          <p:nvPr/>
        </p:nvSpPr>
        <p:spPr>
          <a:xfrm>
            <a:off x="7629526" y="3611563"/>
            <a:ext cx="2728913" cy="13843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宋体" pitchFamily="2" charset="-122"/>
              </a:rPr>
              <a:t>其余部分向投影面投射所得的图形称为剖视图。</a:t>
            </a:r>
            <a:endParaRPr lang="zh-CN" altLang="en-US" sz="2800" b="1" dirty="0">
              <a:solidFill>
                <a:srgbClr val="FF0000"/>
              </a:solidFill>
              <a:ea typeface="宋体" pitchFamily="2" charset="-122"/>
            </a:endParaRPr>
          </a:p>
        </p:txBody>
      </p:sp>
      <p:pic>
        <p:nvPicPr>
          <p:cNvPr id="31752" name="Picture 250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686175" y="4716464"/>
            <a:ext cx="2044700" cy="10493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31753" name="Freeform 137"/>
          <p:cNvSpPr>
            <a:spLocks/>
          </p:cNvSpPr>
          <p:nvPr/>
        </p:nvSpPr>
        <p:spPr bwMode="auto">
          <a:xfrm>
            <a:off x="2208213" y="3584575"/>
            <a:ext cx="5403850" cy="2755900"/>
          </a:xfrm>
          <a:custGeom>
            <a:avLst/>
            <a:gdLst>
              <a:gd name="T0" fmla="*/ 0 w 2790"/>
              <a:gd name="T1" fmla="*/ 2147483647 h 1620"/>
              <a:gd name="T2" fmla="*/ 2147483647 w 2790"/>
              <a:gd name="T3" fmla="*/ 2147483647 h 1620"/>
              <a:gd name="T4" fmla="*/ 2147483647 w 2790"/>
              <a:gd name="T5" fmla="*/ 2147483647 h 1620"/>
              <a:gd name="T6" fmla="*/ 2147483647 w 2790"/>
              <a:gd name="T7" fmla="*/ 0 h 1620"/>
              <a:gd name="T8" fmla="*/ 0 w 2790"/>
              <a:gd name="T9" fmla="*/ 2147483647 h 16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90"/>
              <a:gd name="T16" fmla="*/ 0 h 1620"/>
              <a:gd name="T17" fmla="*/ 2790 w 2790"/>
              <a:gd name="T18" fmla="*/ 1620 h 16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90" h="1620">
                <a:moveTo>
                  <a:pt x="0" y="978"/>
                </a:moveTo>
                <a:lnTo>
                  <a:pt x="1096" y="1620"/>
                </a:lnTo>
                <a:lnTo>
                  <a:pt x="2790" y="642"/>
                </a:lnTo>
                <a:lnTo>
                  <a:pt x="1686" y="0"/>
                </a:lnTo>
                <a:lnTo>
                  <a:pt x="0" y="978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60" name="图片 259" descr="9-9p-y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60839" y="3233738"/>
            <a:ext cx="1716087" cy="147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55" name="图片 247" descr="9-9p.jpg"/>
          <p:cNvPicPr>
            <a:picLocks noChangeAspect="1"/>
          </p:cNvPicPr>
          <p:nvPr/>
        </p:nvPicPr>
        <p:blipFill>
          <a:blip r:embed="rId4">
            <a:lum bright="16000"/>
          </a:blip>
          <a:srcRect l="1785" t="4552" r="3571" b="11234"/>
          <a:stretch>
            <a:fillRect/>
          </a:stretch>
        </p:blipFill>
        <p:spPr bwMode="auto">
          <a:xfrm>
            <a:off x="3868739" y="3209925"/>
            <a:ext cx="1825625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045" name="Picture 253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2000"/>
          </a:blip>
          <a:srcRect l="61365" t="17180" r="4546"/>
          <a:stretch>
            <a:fillRect/>
          </a:stretch>
        </p:blipFill>
        <p:spPr bwMode="auto">
          <a:xfrm>
            <a:off x="2882901" y="2370139"/>
            <a:ext cx="1643063" cy="14239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4" name="矩形 13"/>
          <p:cNvSpPr/>
          <p:nvPr/>
        </p:nvSpPr>
        <p:spPr>
          <a:xfrm>
            <a:off x="7675563" y="5072064"/>
            <a:ext cx="2728912" cy="9540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宋体" pitchFamily="2" charset="-122"/>
              </a:rPr>
              <a:t>剖切区域打剖面符号</a:t>
            </a:r>
            <a:endParaRPr lang="zh-CN" altLang="en-US" sz="2800" dirty="0">
              <a:solidFill>
                <a:srgbClr val="FF0000"/>
              </a:solidFill>
              <a:ea typeface="宋体" pitchFamily="2" charset="-122"/>
            </a:endParaRPr>
          </a:p>
        </p:txBody>
      </p:sp>
      <p:pic>
        <p:nvPicPr>
          <p:cNvPr id="15" name="Picture 253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15463" r="66667"/>
          <a:stretch>
            <a:fillRect/>
          </a:stretch>
        </p:blipFill>
        <p:spPr bwMode="auto">
          <a:xfrm>
            <a:off x="2955925" y="2333625"/>
            <a:ext cx="1570038" cy="14684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2" name="组合 16"/>
          <p:cNvGrpSpPr>
            <a:grpSpLocks/>
          </p:cNvGrpSpPr>
          <p:nvPr/>
        </p:nvGrpSpPr>
        <p:grpSpPr bwMode="auto">
          <a:xfrm>
            <a:off x="4051300" y="2735263"/>
            <a:ext cx="1716088" cy="2374900"/>
            <a:chOff x="4972851" y="2224071"/>
            <a:chExt cx="1863750" cy="2775783"/>
          </a:xfrm>
        </p:grpSpPr>
        <p:cxnSp>
          <p:nvCxnSpPr>
            <p:cNvPr id="18" name="直接连接符 17"/>
            <p:cNvCxnSpPr/>
            <p:nvPr/>
          </p:nvCxnSpPr>
          <p:spPr>
            <a:xfrm flipV="1">
              <a:off x="4972851" y="2224071"/>
              <a:ext cx="1863750" cy="10594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62" name="组合 30"/>
            <p:cNvGrpSpPr>
              <a:grpSpLocks/>
            </p:cNvGrpSpPr>
            <p:nvPr/>
          </p:nvGrpSpPr>
          <p:grpSpPr bwMode="auto">
            <a:xfrm>
              <a:off x="4972851" y="2224864"/>
              <a:ext cx="1863750" cy="2774990"/>
              <a:chOff x="4972851" y="2224864"/>
              <a:chExt cx="1863750" cy="2774990"/>
            </a:xfrm>
          </p:grpSpPr>
          <p:cxnSp>
            <p:nvCxnSpPr>
              <p:cNvPr id="20" name="直接连接符 19"/>
              <p:cNvCxnSpPr/>
              <p:nvPr/>
            </p:nvCxnSpPr>
            <p:spPr>
              <a:xfrm rot="5400000">
                <a:off x="5940474" y="3118474"/>
                <a:ext cx="1790528" cy="172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rot="10800000" flipV="1">
                <a:off x="4972851" y="4012744"/>
                <a:ext cx="1863750" cy="98711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rot="5400000" flipH="1" flipV="1">
                <a:off x="4115558" y="4140837"/>
                <a:ext cx="1716310" cy="172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795714" y="3209926"/>
            <a:ext cx="2117725" cy="15335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021 0.01041 L 0.1493 0.1416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00" y="6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500"/>
                                        <p:tgtEl>
                                          <p:spTgt spid="3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" grpId="0"/>
      <p:bldP spid="245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6F6463A-5B8C-4109-B767-7348CD7DDBC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964407"/>
            <a:ext cx="7315200" cy="1204454"/>
          </a:xfrm>
          <a:prstGeom prst="rect">
            <a:avLst/>
          </a:prstGeom>
        </p:spPr>
        <p:txBody>
          <a:bodyPr vert="horz" wrap="square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绘制剖视图的目的是：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D66CB8-31ED-4D31-B4F3-EF5ADAE7983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为了清晰表达机件的内部结构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A20D6A7-C9F9-47D0-917B-A8FA48B5D84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5551512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因为视图中出现了虚线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293B5F-DBB6-41F6-A426-F07C18C2B3F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为了标注尺寸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4BD1A23-9ABD-47A8-8777-4C3FF6E7CED9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2638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529D713-D7ED-4375-BAE0-D8717E59879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5B8DF95-6864-49EA-98D2-E78AF100CD80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DF68C8A-B2AE-4F04-9CD3-CB20B41786F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B20B4D6-B376-4F34-A300-C69A46FA5602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F154E4DA-5D34-4F6E-94C1-A58763D03C6E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1A242DAD-4360-4586-A660-AAC000A7D081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5D642973-2B1F-4262-A4CD-6D25A6B7310E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lang="zh-CN" altLang="en-US" sz="2600" b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单选题</a:t>
              </a:r>
              <a:endPara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1AEE2E23-418F-480D-869F-A6FBAA8C405F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lang="en-US" altLang="zh-CN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1</a:t>
              </a:r>
              <a:r>
                <a:rPr lang="zh-CN" altLang="en-US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lang="zh-CN" altLang="en-US" sz="2000" b="1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DAB116D-4403-4D09-9AC2-2F25930D0727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5173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55"/>
          <p:cNvSpPr>
            <a:spLocks noChangeArrowheads="1"/>
          </p:cNvSpPr>
          <p:nvPr/>
        </p:nvSpPr>
        <p:spPr bwMode="auto">
          <a:xfrm>
            <a:off x="1062533" y="744854"/>
            <a:ext cx="2698175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剖视图的画法</a:t>
            </a:r>
          </a:p>
        </p:txBody>
      </p:sp>
      <p:sp>
        <p:nvSpPr>
          <p:cNvPr id="105561" name="Text Box 89"/>
          <p:cNvSpPr txBox="1">
            <a:spLocks noChangeArrowheads="1"/>
          </p:cNvSpPr>
          <p:nvPr/>
        </p:nvSpPr>
        <p:spPr bwMode="auto">
          <a:xfrm>
            <a:off x="2057401" y="4667251"/>
            <a:ext cx="33956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chemeClr val="accent2"/>
                </a:solidFill>
                <a:latin typeface="宋体" charset="-122"/>
                <a:sym typeface="Symbol" pitchFamily="18" charset="2"/>
              </a:rPr>
              <a:t></a:t>
            </a:r>
            <a:r>
              <a:rPr lang="en-US" altLang="zh-CN" sz="2800">
                <a:solidFill>
                  <a:schemeClr val="accent2"/>
                </a:solidFill>
                <a:latin typeface="宋体" charset="-122"/>
              </a:rPr>
              <a:t> </a:t>
            </a:r>
            <a:r>
              <a:rPr lang="zh-CN" altLang="en-US" sz="2800">
                <a:solidFill>
                  <a:schemeClr val="accent2"/>
                </a:solidFill>
                <a:latin typeface="宋体" charset="-122"/>
                <a:sym typeface="Symbol" pitchFamily="18" charset="2"/>
              </a:rPr>
              <a:t>确定剖切面的位置</a:t>
            </a:r>
          </a:p>
        </p:txBody>
      </p:sp>
      <p:sp>
        <p:nvSpPr>
          <p:cNvPr id="105562" name="Text Box 90"/>
          <p:cNvSpPr txBox="1">
            <a:spLocks noChangeArrowheads="1"/>
          </p:cNvSpPr>
          <p:nvPr/>
        </p:nvSpPr>
        <p:spPr bwMode="auto">
          <a:xfrm>
            <a:off x="2057400" y="5073651"/>
            <a:ext cx="3760788" cy="523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>
                <a:solidFill>
                  <a:schemeClr val="accent2"/>
                </a:solidFill>
                <a:latin typeface="宋体" charset="-122"/>
                <a:sym typeface="Symbol" pitchFamily="18" charset="2"/>
              </a:rPr>
              <a:t></a:t>
            </a:r>
            <a:r>
              <a:rPr lang="en-US" altLang="zh-CN" sz="2800">
                <a:solidFill>
                  <a:schemeClr val="accent2"/>
                </a:solidFill>
                <a:latin typeface="宋体" charset="-122"/>
              </a:rPr>
              <a:t> </a:t>
            </a:r>
            <a:r>
              <a:rPr lang="zh-CN" altLang="en-US" sz="2800">
                <a:solidFill>
                  <a:schemeClr val="accent2"/>
                </a:solidFill>
                <a:latin typeface="宋体" charset="-122"/>
              </a:rPr>
              <a:t>想象哪部分移走了？</a:t>
            </a:r>
          </a:p>
        </p:txBody>
      </p:sp>
      <p:sp>
        <p:nvSpPr>
          <p:cNvPr id="105563" name="Text Box 91"/>
          <p:cNvSpPr txBox="1">
            <a:spLocks noChangeArrowheads="1"/>
          </p:cNvSpPr>
          <p:nvPr/>
        </p:nvSpPr>
        <p:spPr bwMode="auto">
          <a:xfrm>
            <a:off x="2054605" y="6162354"/>
            <a:ext cx="51895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accent2"/>
                </a:solidFill>
                <a:latin typeface="宋体" charset="-122"/>
                <a:sym typeface="Symbol" pitchFamily="18" charset="2"/>
              </a:rPr>
              <a:t> </a:t>
            </a:r>
            <a:r>
              <a:rPr lang="zh-CN" altLang="en-US" sz="2800" dirty="0">
                <a:solidFill>
                  <a:schemeClr val="accent2"/>
                </a:solidFill>
                <a:latin typeface="宋体" charset="-122"/>
                <a:sym typeface="Symbol" pitchFamily="18" charset="2"/>
              </a:rPr>
              <a:t>在剖面区域内画上剖面符号。</a:t>
            </a:r>
            <a:endParaRPr lang="zh-CN" altLang="en-US" sz="2800" dirty="0">
              <a:solidFill>
                <a:schemeClr val="accent2"/>
              </a:solidFill>
              <a:latin typeface="宋体" charset="-122"/>
            </a:endParaRPr>
          </a:p>
        </p:txBody>
      </p:sp>
      <p:pic>
        <p:nvPicPr>
          <p:cNvPr id="32774" name="Picture 138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482183" y="1352550"/>
            <a:ext cx="4124325" cy="31623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2" name="组合 141"/>
          <p:cNvGrpSpPr>
            <a:grpSpLocks/>
          </p:cNvGrpSpPr>
          <p:nvPr/>
        </p:nvGrpSpPr>
        <p:grpSpPr bwMode="auto">
          <a:xfrm>
            <a:off x="3009107" y="3241675"/>
            <a:ext cx="3471862" cy="685800"/>
            <a:chOff x="484131" y="3105150"/>
            <a:chExt cx="3471903" cy="685800"/>
          </a:xfrm>
        </p:grpSpPr>
        <p:pic>
          <p:nvPicPr>
            <p:cNvPr id="32835" name="Picture 139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84131" y="3143250"/>
              <a:ext cx="542925" cy="6477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  <p:pic>
          <p:nvPicPr>
            <p:cNvPr id="32836" name="Picture 14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394059" y="3105150"/>
              <a:ext cx="561975" cy="685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</p:grpSp>
      <p:pic>
        <p:nvPicPr>
          <p:cNvPr id="34957" name="Picture 14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942683" y="1155700"/>
            <a:ext cx="466725" cy="2667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44" name="矩形 143"/>
          <p:cNvSpPr>
            <a:spLocks noChangeArrowheads="1"/>
          </p:cNvSpPr>
          <p:nvPr/>
        </p:nvSpPr>
        <p:spPr bwMode="auto">
          <a:xfrm>
            <a:off x="3518694" y="3821113"/>
            <a:ext cx="2446338" cy="766762"/>
          </a:xfrm>
          <a:prstGeom prst="rect">
            <a:avLst/>
          </a:prstGeom>
          <a:solidFill>
            <a:srgbClr val="FF0000">
              <a:alpha val="27000"/>
            </a:srgbClr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zh-CN" altLang="en-US" sz="3600">
              <a:solidFill>
                <a:schemeClr val="tx2"/>
              </a:solidFill>
              <a:latin typeface="宋体" charset="-122"/>
            </a:endParaRPr>
          </a:p>
        </p:txBody>
      </p:sp>
      <p:sp>
        <p:nvSpPr>
          <p:cNvPr id="145" name="Text Box 90"/>
          <p:cNvSpPr txBox="1">
            <a:spLocks noChangeArrowheads="1"/>
          </p:cNvSpPr>
          <p:nvPr/>
        </p:nvSpPr>
        <p:spPr bwMode="auto">
          <a:xfrm>
            <a:off x="2057400" y="5597168"/>
            <a:ext cx="7351712" cy="523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solidFill>
                  <a:schemeClr val="accent2"/>
                </a:solidFill>
                <a:latin typeface="宋体" charset="-122"/>
                <a:sym typeface="Symbol" pitchFamily="18" charset="2"/>
              </a:rPr>
              <a:t></a:t>
            </a:r>
            <a:r>
              <a:rPr lang="en-US" altLang="zh-CN" sz="2800" dirty="0">
                <a:solidFill>
                  <a:schemeClr val="accent2"/>
                </a:solidFill>
                <a:latin typeface="宋体" charset="-122"/>
              </a:rPr>
              <a:t> </a:t>
            </a:r>
            <a:r>
              <a:rPr lang="zh-CN" altLang="en-US" sz="2800" dirty="0">
                <a:solidFill>
                  <a:schemeClr val="accent2"/>
                </a:solidFill>
                <a:latin typeface="宋体" charset="-122"/>
              </a:rPr>
              <a:t>剖面区域的形状？哪些部分投射时可看到？</a:t>
            </a:r>
          </a:p>
        </p:txBody>
      </p:sp>
      <p:grpSp>
        <p:nvGrpSpPr>
          <p:cNvPr id="3" name="组合 168"/>
          <p:cNvGrpSpPr>
            <a:grpSpLocks/>
          </p:cNvGrpSpPr>
          <p:nvPr/>
        </p:nvGrpSpPr>
        <p:grpSpPr bwMode="auto">
          <a:xfrm>
            <a:off x="4568033" y="1544639"/>
            <a:ext cx="427037" cy="941387"/>
            <a:chOff x="2043079" y="1408083"/>
            <a:chExt cx="427526" cy="941080"/>
          </a:xfrm>
        </p:grpSpPr>
        <p:cxnSp>
          <p:nvCxnSpPr>
            <p:cNvPr id="147" name="直接连接符 146"/>
            <p:cNvCxnSpPr/>
            <p:nvPr/>
          </p:nvCxnSpPr>
          <p:spPr>
            <a:xfrm rot="5340000" flipH="1" flipV="1">
              <a:off x="1983587" y="2261085"/>
              <a:ext cx="146002" cy="158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2043079" y="2199987"/>
              <a:ext cx="109662" cy="158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 rot="16680000" flipV="1">
              <a:off x="2082901" y="2152365"/>
              <a:ext cx="122197" cy="1748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/>
            <p:cNvCxnSpPr/>
            <p:nvPr/>
          </p:nvCxnSpPr>
          <p:spPr>
            <a:xfrm rot="10860000" flipV="1">
              <a:off x="2043079" y="2333293"/>
              <a:ext cx="427526" cy="793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 rot="16200000" flipV="1">
              <a:off x="1915669" y="1777051"/>
              <a:ext cx="720490" cy="794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 rot="16200000" flipV="1">
              <a:off x="2088128" y="1976223"/>
              <a:ext cx="745882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2125724" y="2120638"/>
              <a:ext cx="146217" cy="158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>
              <a:off x="2257636" y="1427127"/>
              <a:ext cx="109663" cy="158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 rot="-300000">
              <a:off x="2349817" y="1584238"/>
              <a:ext cx="116021" cy="1269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/>
          </p:nvCxnSpPr>
          <p:spPr>
            <a:xfrm rot="5100000" flipH="1" flipV="1">
              <a:off x="2255397" y="1497735"/>
              <a:ext cx="195198" cy="1589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169"/>
          <p:cNvGrpSpPr>
            <a:grpSpLocks/>
          </p:cNvGrpSpPr>
          <p:nvPr/>
        </p:nvGrpSpPr>
        <p:grpSpPr bwMode="auto">
          <a:xfrm>
            <a:off x="5395120" y="1546226"/>
            <a:ext cx="365125" cy="925513"/>
            <a:chOff x="1692235" y="1871644"/>
            <a:chExt cx="365130" cy="926309"/>
          </a:xfrm>
        </p:grpSpPr>
        <p:cxnSp>
          <p:nvCxnSpPr>
            <p:cNvPr id="171" name="直接连接符 170"/>
            <p:cNvCxnSpPr/>
            <p:nvPr/>
          </p:nvCxnSpPr>
          <p:spPr>
            <a:xfrm rot="16380000" flipV="1">
              <a:off x="1715172" y="1963008"/>
              <a:ext cx="193842" cy="1111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/>
          </p:nvCxnSpPr>
          <p:spPr>
            <a:xfrm rot="10860000" flipV="1">
              <a:off x="1692235" y="2791598"/>
              <a:ext cx="365130" cy="635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/>
          </p:nvCxnSpPr>
          <p:spPr>
            <a:xfrm rot="16200000" flipV="1">
              <a:off x="1540322" y="2236293"/>
              <a:ext cx="721345" cy="793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/>
            <p:cNvCxnSpPr/>
            <p:nvPr/>
          </p:nvCxnSpPr>
          <p:spPr>
            <a:xfrm rot="16200000" flipV="1">
              <a:off x="1335521" y="2401531"/>
              <a:ext cx="745177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/>
          </p:nvCxnSpPr>
          <p:spPr>
            <a:xfrm>
              <a:off x="1897026" y="2577100"/>
              <a:ext cx="146052" cy="158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/>
            <p:cNvCxnSpPr/>
            <p:nvPr/>
          </p:nvCxnSpPr>
          <p:spPr>
            <a:xfrm>
              <a:off x="1806537" y="1887533"/>
              <a:ext cx="109540" cy="158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/>
          </p:nvCxnSpPr>
          <p:spPr>
            <a:xfrm rot="480000" flipV="1">
              <a:off x="1704935" y="2043241"/>
              <a:ext cx="119065" cy="1747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/>
            <p:cNvCxnSpPr/>
            <p:nvPr/>
          </p:nvCxnSpPr>
          <p:spPr>
            <a:xfrm rot="16320000" flipV="1">
              <a:off x="1915976" y="2674025"/>
              <a:ext cx="236740" cy="793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198"/>
          <p:cNvGrpSpPr>
            <a:grpSpLocks/>
          </p:cNvGrpSpPr>
          <p:nvPr/>
        </p:nvGrpSpPr>
        <p:grpSpPr bwMode="auto">
          <a:xfrm>
            <a:off x="4039394" y="2243139"/>
            <a:ext cx="292100" cy="231775"/>
            <a:chOff x="1514432" y="2107187"/>
            <a:chExt cx="292104" cy="231188"/>
          </a:xfrm>
        </p:grpSpPr>
        <p:cxnSp>
          <p:nvCxnSpPr>
            <p:cNvPr id="187" name="直接连接符 186"/>
            <p:cNvCxnSpPr/>
            <p:nvPr/>
          </p:nvCxnSpPr>
          <p:spPr>
            <a:xfrm rot="5340000" flipH="1" flipV="1">
              <a:off x="1461436" y="2264741"/>
              <a:ext cx="145680" cy="158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/>
            <p:nvPr/>
          </p:nvCxnSpPr>
          <p:spPr>
            <a:xfrm rot="5340000" flipH="1" flipV="1">
              <a:off x="1717028" y="2264741"/>
              <a:ext cx="145680" cy="158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/>
            <p:cNvCxnSpPr/>
            <p:nvPr/>
          </p:nvCxnSpPr>
          <p:spPr>
            <a:xfrm>
              <a:off x="1587458" y="2119855"/>
              <a:ext cx="146052" cy="158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/>
            <p:cNvCxnSpPr/>
            <p:nvPr/>
          </p:nvCxnSpPr>
          <p:spPr>
            <a:xfrm>
              <a:off x="1514432" y="2333624"/>
              <a:ext cx="292104" cy="158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/>
            <p:cNvCxnSpPr/>
            <p:nvPr/>
          </p:nvCxnSpPr>
          <p:spPr>
            <a:xfrm rot="-600000">
              <a:off x="1695409" y="2191111"/>
              <a:ext cx="109540" cy="2058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/>
          </p:nvCxnSpPr>
          <p:spPr>
            <a:xfrm rot="4860000" flipH="1" flipV="1">
              <a:off x="1669329" y="2152297"/>
              <a:ext cx="88675" cy="1428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/>
            <p:cNvCxnSpPr/>
            <p:nvPr/>
          </p:nvCxnSpPr>
          <p:spPr>
            <a:xfrm rot="-600000">
              <a:off x="1516020" y="2189528"/>
              <a:ext cx="109538" cy="2216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/>
            <p:cNvCxnSpPr/>
            <p:nvPr/>
          </p:nvCxnSpPr>
          <p:spPr>
            <a:xfrm rot="4860000" flipH="1" flipV="1">
              <a:off x="1559790" y="2144380"/>
              <a:ext cx="88675" cy="1428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0" name="直接连接符 199"/>
          <p:cNvCxnSpPr/>
          <p:nvPr/>
        </p:nvCxnSpPr>
        <p:spPr>
          <a:xfrm rot="10860000" flipV="1">
            <a:off x="4898233" y="1562100"/>
            <a:ext cx="593725" cy="6350"/>
          </a:xfrm>
          <a:prstGeom prst="line">
            <a:avLst/>
          </a:prstGeom>
          <a:ln w="381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/>
          <p:cNvCxnSpPr/>
          <p:nvPr/>
        </p:nvCxnSpPr>
        <p:spPr>
          <a:xfrm rot="10800000">
            <a:off x="4993483" y="1724025"/>
            <a:ext cx="401637" cy="1588"/>
          </a:xfrm>
          <a:prstGeom prst="line">
            <a:avLst/>
          </a:prstGeom>
          <a:ln w="381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连接符 203"/>
          <p:cNvCxnSpPr/>
          <p:nvPr/>
        </p:nvCxnSpPr>
        <p:spPr>
          <a:xfrm rot="10860000" flipV="1">
            <a:off x="4248944" y="2255838"/>
            <a:ext cx="401638" cy="6350"/>
          </a:xfrm>
          <a:prstGeom prst="line">
            <a:avLst/>
          </a:prstGeom>
          <a:ln w="381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连接符 204"/>
          <p:cNvCxnSpPr/>
          <p:nvPr/>
        </p:nvCxnSpPr>
        <p:spPr>
          <a:xfrm rot="10800000" flipV="1">
            <a:off x="4326733" y="2335214"/>
            <a:ext cx="244475" cy="1587"/>
          </a:xfrm>
          <a:prstGeom prst="line">
            <a:avLst/>
          </a:prstGeom>
          <a:ln w="381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连接符 205"/>
          <p:cNvCxnSpPr/>
          <p:nvPr/>
        </p:nvCxnSpPr>
        <p:spPr>
          <a:xfrm rot="10980000" flipV="1">
            <a:off x="4321970" y="2463800"/>
            <a:ext cx="246063" cy="14288"/>
          </a:xfrm>
          <a:prstGeom prst="line">
            <a:avLst/>
          </a:prstGeom>
          <a:ln w="381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/>
          <p:cNvCxnSpPr/>
          <p:nvPr/>
        </p:nvCxnSpPr>
        <p:spPr>
          <a:xfrm rot="10860000" flipV="1">
            <a:off x="3686970" y="2255839"/>
            <a:ext cx="415925" cy="7937"/>
          </a:xfrm>
          <a:prstGeom prst="line">
            <a:avLst/>
          </a:prstGeom>
          <a:ln w="381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连接符 222"/>
          <p:cNvCxnSpPr/>
          <p:nvPr/>
        </p:nvCxnSpPr>
        <p:spPr>
          <a:xfrm rot="10920000" flipV="1">
            <a:off x="3683794" y="2330450"/>
            <a:ext cx="382588" cy="12700"/>
          </a:xfrm>
          <a:prstGeom prst="line">
            <a:avLst/>
          </a:prstGeom>
          <a:ln w="381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/>
          <p:cNvCxnSpPr/>
          <p:nvPr/>
        </p:nvCxnSpPr>
        <p:spPr>
          <a:xfrm rot="10860000" flipV="1">
            <a:off x="3683795" y="2466975"/>
            <a:ext cx="365125" cy="6350"/>
          </a:xfrm>
          <a:prstGeom prst="line">
            <a:avLst/>
          </a:prstGeom>
          <a:ln w="381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接连接符 242"/>
          <p:cNvCxnSpPr/>
          <p:nvPr/>
        </p:nvCxnSpPr>
        <p:spPr>
          <a:xfrm rot="10800000" flipV="1">
            <a:off x="4998244" y="2470150"/>
            <a:ext cx="419100" cy="1588"/>
          </a:xfrm>
          <a:prstGeom prst="line">
            <a:avLst/>
          </a:prstGeom>
          <a:ln w="381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284"/>
          <p:cNvGrpSpPr>
            <a:grpSpLocks/>
          </p:cNvGrpSpPr>
          <p:nvPr/>
        </p:nvGrpSpPr>
        <p:grpSpPr bwMode="auto">
          <a:xfrm>
            <a:off x="4066383" y="1630364"/>
            <a:ext cx="1654175" cy="839787"/>
            <a:chOff x="1541421" y="1493811"/>
            <a:chExt cx="1654198" cy="839800"/>
          </a:xfrm>
        </p:grpSpPr>
        <p:cxnSp>
          <p:nvCxnSpPr>
            <p:cNvPr id="268" name="直接连接符 267"/>
            <p:cNvCxnSpPr/>
            <p:nvPr/>
          </p:nvCxnSpPr>
          <p:spPr>
            <a:xfrm rot="5400000" flipH="1" flipV="1">
              <a:off x="2892402" y="2114533"/>
              <a:ext cx="182566" cy="182566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794" name="组合 280"/>
            <p:cNvGrpSpPr>
              <a:grpSpLocks/>
            </p:cNvGrpSpPr>
            <p:nvPr/>
          </p:nvGrpSpPr>
          <p:grpSpPr bwMode="auto">
            <a:xfrm>
              <a:off x="1541421" y="1493811"/>
              <a:ext cx="1654198" cy="839800"/>
              <a:chOff x="1541421" y="1493811"/>
              <a:chExt cx="1654198" cy="839800"/>
            </a:xfrm>
          </p:grpSpPr>
          <p:cxnSp>
            <p:nvCxnSpPr>
              <p:cNvPr id="248" name="直接连接符 247"/>
              <p:cNvCxnSpPr/>
              <p:nvPr/>
            </p:nvCxnSpPr>
            <p:spPr>
              <a:xfrm rot="5400000" flipH="1" flipV="1">
                <a:off x="1541421" y="2151046"/>
                <a:ext cx="146052" cy="146052"/>
              </a:xfrm>
              <a:prstGeom prst="lin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直接连接符 251"/>
              <p:cNvCxnSpPr/>
              <p:nvPr/>
            </p:nvCxnSpPr>
            <p:spPr>
              <a:xfrm rot="5400000" flipH="1" flipV="1">
                <a:off x="1650959" y="2224072"/>
                <a:ext cx="109539" cy="109540"/>
              </a:xfrm>
              <a:prstGeom prst="lin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直接连接符 253"/>
              <p:cNvCxnSpPr/>
              <p:nvPr/>
            </p:nvCxnSpPr>
            <p:spPr>
              <a:xfrm rot="5400000" flipH="1" flipV="1">
                <a:off x="2271681" y="1493811"/>
                <a:ext cx="73026" cy="73026"/>
              </a:xfrm>
              <a:prstGeom prst="lin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/>
              <p:cNvCxnSpPr/>
              <p:nvPr/>
            </p:nvCxnSpPr>
            <p:spPr>
              <a:xfrm rot="5400000" flipH="1" flipV="1">
                <a:off x="2271681" y="1603350"/>
                <a:ext cx="109540" cy="109539"/>
              </a:xfrm>
              <a:prstGeom prst="lin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直接连接符 257"/>
              <p:cNvCxnSpPr/>
              <p:nvPr/>
            </p:nvCxnSpPr>
            <p:spPr>
              <a:xfrm rot="5400000" flipH="1" flipV="1">
                <a:off x="2271680" y="1676377"/>
                <a:ext cx="182566" cy="182565"/>
              </a:xfrm>
              <a:prstGeom prst="lin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直接连接符 259"/>
              <p:cNvCxnSpPr/>
              <p:nvPr/>
            </p:nvCxnSpPr>
            <p:spPr>
              <a:xfrm rot="5400000" flipH="1" flipV="1">
                <a:off x="2271680" y="1822429"/>
                <a:ext cx="182566" cy="182565"/>
              </a:xfrm>
              <a:prstGeom prst="lin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直接连接符 261"/>
              <p:cNvCxnSpPr/>
              <p:nvPr/>
            </p:nvCxnSpPr>
            <p:spPr>
              <a:xfrm rot="5400000" flipH="1" flipV="1">
                <a:off x="2125628" y="1978007"/>
                <a:ext cx="328618" cy="328617"/>
              </a:xfrm>
              <a:prstGeom prst="lin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直接连接符 263"/>
              <p:cNvCxnSpPr/>
              <p:nvPr/>
            </p:nvCxnSpPr>
            <p:spPr>
              <a:xfrm rot="5400000" flipH="1" flipV="1">
                <a:off x="2262156" y="2135171"/>
                <a:ext cx="182565" cy="182565"/>
              </a:xfrm>
              <a:prstGeom prst="lin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直接连接符 265"/>
              <p:cNvCxnSpPr/>
              <p:nvPr/>
            </p:nvCxnSpPr>
            <p:spPr>
              <a:xfrm rot="5400000" flipH="1" flipV="1">
                <a:off x="3013054" y="2141520"/>
                <a:ext cx="182565" cy="182566"/>
              </a:xfrm>
              <a:prstGeom prst="lin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直接连接符 269"/>
              <p:cNvCxnSpPr/>
              <p:nvPr/>
            </p:nvCxnSpPr>
            <p:spPr>
              <a:xfrm rot="5400000" flipH="1" flipV="1">
                <a:off x="2892402" y="1958955"/>
                <a:ext cx="182566" cy="182566"/>
              </a:xfrm>
              <a:prstGeom prst="lin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直接连接符 271"/>
              <p:cNvCxnSpPr/>
              <p:nvPr/>
            </p:nvCxnSpPr>
            <p:spPr>
              <a:xfrm rot="5400000" flipH="1" flipV="1">
                <a:off x="2892402" y="1806553"/>
                <a:ext cx="182566" cy="182566"/>
              </a:xfrm>
              <a:prstGeom prst="lin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直接连接符 275"/>
              <p:cNvCxnSpPr/>
              <p:nvPr/>
            </p:nvCxnSpPr>
            <p:spPr>
              <a:xfrm rot="5400000" flipH="1" flipV="1">
                <a:off x="2892403" y="1662088"/>
                <a:ext cx="182565" cy="182566"/>
              </a:xfrm>
              <a:prstGeom prst="lin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直接连接符 277"/>
              <p:cNvCxnSpPr/>
              <p:nvPr/>
            </p:nvCxnSpPr>
            <p:spPr>
              <a:xfrm rot="5400000" flipH="1" flipV="1">
                <a:off x="2892402" y="1612875"/>
                <a:ext cx="73026" cy="73026"/>
              </a:xfrm>
              <a:prstGeom prst="lin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直接连接符 279"/>
              <p:cNvCxnSpPr/>
              <p:nvPr/>
            </p:nvCxnSpPr>
            <p:spPr>
              <a:xfrm rot="5400000" flipH="1" flipV="1">
                <a:off x="3001941" y="1516036"/>
                <a:ext cx="73026" cy="73026"/>
              </a:xfrm>
              <a:prstGeom prst="lin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2792" name="图片 286" descr="9-9p1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789899" y="1787491"/>
            <a:ext cx="3432175" cy="310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5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5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5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1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105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561" grpId="0" autoUpdateAnimBg="0"/>
      <p:bldP spid="105562" grpId="0" autoUpdateAnimBg="0"/>
      <p:bldP spid="105563" grpId="0" autoUpdateAnimBg="0"/>
      <p:bldP spid="144" grpId="0" animBg="1"/>
      <p:bldP spid="144" grpId="1" animBg="1"/>
      <p:bldP spid="144" grpId="2" animBg="1"/>
      <p:bldP spid="14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55"/>
          <p:cNvSpPr>
            <a:spLocks noChangeArrowheads="1"/>
          </p:cNvSpPr>
          <p:nvPr/>
        </p:nvSpPr>
        <p:spPr bwMode="auto">
          <a:xfrm>
            <a:off x="4223792" y="656235"/>
            <a:ext cx="3416320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剖视图常用剖面符号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43572" y="1628800"/>
            <a:ext cx="7992888" cy="5156807"/>
          </a:xfrm>
          <a:prstGeom prst="rect">
            <a:avLst/>
          </a:prstGeom>
        </p:spPr>
      </p:pic>
      <p:pic>
        <p:nvPicPr>
          <p:cNvPr id="70" name="图片 69"/>
          <p:cNvPicPr>
            <a:picLocks noChangeAspect="1"/>
          </p:cNvPicPr>
          <p:nvPr/>
        </p:nvPicPr>
        <p:blipFill rotWithShape="1">
          <a:blip r:embed="rId2"/>
          <a:srcRect l="2147" t="6819" r="70826" b="69443"/>
          <a:stretch/>
        </p:blipFill>
        <p:spPr>
          <a:xfrm>
            <a:off x="2459596" y="1976140"/>
            <a:ext cx="2160240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762918"/>
      </p:ext>
    </p:extLst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1379476" y="708024"/>
            <a:ext cx="451326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画剖视图的注意事项</a:t>
            </a: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6753225" y="1612901"/>
            <a:ext cx="37338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dirty="0">
                <a:latin typeface="宋体" charset="-122"/>
                <a:sym typeface="Symbol" pitchFamily="18" charset="2"/>
              </a:rPr>
              <a:t>① </a:t>
            </a:r>
            <a:r>
              <a:rPr lang="zh-CN" altLang="en-US" sz="2800" dirty="0">
                <a:latin typeface="宋体" charset="-122"/>
                <a:sym typeface="Symbol" pitchFamily="18" charset="2"/>
              </a:rPr>
              <a:t>剖切平面的选择：</a:t>
            </a:r>
            <a:r>
              <a:rPr lang="zh-CN" altLang="en-US" sz="2800" dirty="0">
                <a:solidFill>
                  <a:srgbClr val="FF0000"/>
                </a:solidFill>
                <a:latin typeface="宋体" charset="-122"/>
                <a:sym typeface="Symbol" pitchFamily="18" charset="2"/>
              </a:rPr>
              <a:t>通过机件的</a:t>
            </a:r>
            <a:r>
              <a:rPr lang="zh-CN" altLang="en-US" sz="2800" dirty="0">
                <a:solidFill>
                  <a:schemeClr val="accent2"/>
                </a:solidFill>
                <a:latin typeface="宋体" charset="-122"/>
                <a:sym typeface="Symbol" pitchFamily="18" charset="2"/>
              </a:rPr>
              <a:t>对称面</a:t>
            </a:r>
            <a:r>
              <a:rPr lang="zh-CN" altLang="en-US" sz="2800" dirty="0">
                <a:solidFill>
                  <a:srgbClr val="FF0000"/>
                </a:solidFill>
                <a:latin typeface="宋体" charset="-122"/>
                <a:sym typeface="Symbol" pitchFamily="18" charset="2"/>
              </a:rPr>
              <a:t>或轴线且平行于投影面。</a:t>
            </a:r>
          </a:p>
        </p:txBody>
      </p:sp>
      <p:pic>
        <p:nvPicPr>
          <p:cNvPr id="33796" name="Picture 138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260601" y="1727200"/>
            <a:ext cx="4124325" cy="31623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2" name="组合 141"/>
          <p:cNvGrpSpPr>
            <a:grpSpLocks/>
          </p:cNvGrpSpPr>
          <p:nvPr/>
        </p:nvGrpSpPr>
        <p:grpSpPr bwMode="auto">
          <a:xfrm>
            <a:off x="1787526" y="3616325"/>
            <a:ext cx="3471863" cy="685800"/>
            <a:chOff x="484131" y="3105150"/>
            <a:chExt cx="3471903" cy="685800"/>
          </a:xfrm>
        </p:grpSpPr>
        <p:pic>
          <p:nvPicPr>
            <p:cNvPr id="33801" name="Picture 139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84131" y="3143250"/>
              <a:ext cx="542925" cy="6477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  <p:pic>
          <p:nvPicPr>
            <p:cNvPr id="33802" name="Picture 14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394059" y="3105150"/>
              <a:ext cx="561975" cy="685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</p:grpSp>
      <p:pic>
        <p:nvPicPr>
          <p:cNvPr id="33798" name="Picture 14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721101" y="1530350"/>
            <a:ext cx="466725" cy="2667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33799" name="图片 67" descr="9-9p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29239" y="3429001"/>
            <a:ext cx="2300287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800" name="图片 68" descr="9-9p-y.jp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556500" y="4560888"/>
            <a:ext cx="1936750" cy="206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5" name="Picture 3"/>
          <p:cNvPicPr>
            <a:picLocks noChangeAspect="1" noChangeArrowheads="1"/>
          </p:cNvPicPr>
          <p:nvPr/>
        </p:nvPicPr>
        <p:blipFill>
          <a:blip r:embed="rId2"/>
          <a:srcRect r="54742"/>
          <a:stretch>
            <a:fillRect/>
          </a:stretch>
        </p:blipFill>
        <p:spPr bwMode="auto">
          <a:xfrm>
            <a:off x="7118351" y="2297114"/>
            <a:ext cx="2081213" cy="12477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2043114" y="1371601"/>
            <a:ext cx="2738437" cy="52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2800" dirty="0">
                <a:latin typeface="+mn-ea"/>
                <a:ea typeface="+mn-ea"/>
              </a:rPr>
              <a:t>② 剖视图组成</a:t>
            </a:r>
            <a:r>
              <a:rPr lang="en-US" altLang="zh-CN" sz="2800" dirty="0">
                <a:latin typeface="+mn-ea"/>
                <a:ea typeface="+mn-ea"/>
              </a:rPr>
              <a:t>: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4964114" y="1712913"/>
            <a:ext cx="3976687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剖切面后边可见部分</a:t>
            </a:r>
            <a:r>
              <a:rPr lang="zh-CN" altLang="en-US" sz="2400" dirty="0">
                <a:latin typeface="+mn-ea"/>
                <a:ea typeface="+mn-ea"/>
              </a:rPr>
              <a:t>的投影 </a:t>
            </a:r>
          </a:p>
        </p:txBody>
      </p:sp>
      <p:sp>
        <p:nvSpPr>
          <p:cNvPr id="58" name="Rectangle 7"/>
          <p:cNvSpPr>
            <a:spLocks noChangeArrowheads="1"/>
          </p:cNvSpPr>
          <p:nvPr/>
        </p:nvSpPr>
        <p:spPr bwMode="auto">
          <a:xfrm>
            <a:off x="1933576" y="5656264"/>
            <a:ext cx="5148263" cy="52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2800" dirty="0">
                <a:latin typeface="+mn-ea"/>
                <a:ea typeface="+mn-ea"/>
              </a:rPr>
              <a:t>③在剖面区域上画剖面符号</a:t>
            </a:r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6570663" y="1214438"/>
            <a:ext cx="2811462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剖切面接触</a:t>
            </a:r>
            <a:r>
              <a:rPr lang="zh-CN" altLang="en-US" sz="2400" dirty="0">
                <a:latin typeface="+mn-ea"/>
                <a:ea typeface="+mn-ea"/>
              </a:rPr>
              <a:t>的部分</a:t>
            </a:r>
          </a:p>
        </p:txBody>
      </p:sp>
      <p:sp>
        <p:nvSpPr>
          <p:cNvPr id="22" name="Rectangle 6"/>
          <p:cNvSpPr>
            <a:spLocks noChangeArrowheads="1"/>
          </p:cNvSpPr>
          <p:nvPr/>
        </p:nvSpPr>
        <p:spPr bwMode="auto">
          <a:xfrm>
            <a:off x="4964113" y="1250951"/>
            <a:ext cx="1789112" cy="4619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2400" dirty="0">
                <a:latin typeface="+mn-ea"/>
                <a:ea typeface="+mn-ea"/>
              </a:rPr>
              <a:t>剖面区域 </a:t>
            </a:r>
          </a:p>
        </p:txBody>
      </p:sp>
      <p:sp>
        <p:nvSpPr>
          <p:cNvPr id="34824" name="Text Box 2"/>
          <p:cNvSpPr txBox="1">
            <a:spLocks noChangeArrowheads="1"/>
          </p:cNvSpPr>
          <p:nvPr/>
        </p:nvSpPr>
        <p:spPr bwMode="auto">
          <a:xfrm>
            <a:off x="1155701" y="503239"/>
            <a:ext cx="451326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画剖视图的注意事项</a:t>
            </a:r>
          </a:p>
        </p:txBody>
      </p:sp>
      <p:sp>
        <p:nvSpPr>
          <p:cNvPr id="25" name="左大括号 24"/>
          <p:cNvSpPr/>
          <p:nvPr/>
        </p:nvSpPr>
        <p:spPr>
          <a:xfrm>
            <a:off x="4672013" y="1274763"/>
            <a:ext cx="182562" cy="730250"/>
          </a:xfrm>
          <a:prstGeom prst="leftBrace">
            <a:avLst>
              <a:gd name="adj1" fmla="val 42342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3482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97064" y="2406650"/>
            <a:ext cx="2555875" cy="289718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2"/>
          <a:srcRect l="53197"/>
          <a:stretch>
            <a:fillRect/>
          </a:stretch>
        </p:blipFill>
        <p:spPr bwMode="auto">
          <a:xfrm>
            <a:off x="7086600" y="2308226"/>
            <a:ext cx="2152650" cy="12477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34828" name="图片 29" descr="9-11p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73564" y="3462339"/>
            <a:ext cx="2325687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组合 30"/>
          <p:cNvGrpSpPr>
            <a:grpSpLocks/>
          </p:cNvGrpSpPr>
          <p:nvPr/>
        </p:nvGrpSpPr>
        <p:grpSpPr bwMode="auto">
          <a:xfrm>
            <a:off x="6815138" y="2444751"/>
            <a:ext cx="2265362" cy="936625"/>
            <a:chOff x="5291145" y="2444749"/>
            <a:chExt cx="2265355" cy="936620"/>
          </a:xfrm>
        </p:grpSpPr>
        <p:cxnSp>
          <p:nvCxnSpPr>
            <p:cNvPr id="34831" name="直接连接符 9"/>
            <p:cNvCxnSpPr>
              <a:cxnSpLocks noChangeShapeType="1"/>
            </p:cNvCxnSpPr>
            <p:nvPr/>
          </p:nvCxnSpPr>
          <p:spPr bwMode="auto">
            <a:xfrm>
              <a:off x="6107115" y="2444749"/>
              <a:ext cx="782637" cy="1588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4832" name="直接连接符 10"/>
            <p:cNvCxnSpPr>
              <a:cxnSpLocks noChangeShapeType="1"/>
            </p:cNvCxnSpPr>
            <p:nvPr/>
          </p:nvCxnSpPr>
          <p:spPr bwMode="auto">
            <a:xfrm flipV="1">
              <a:off x="6243640" y="2703503"/>
              <a:ext cx="495300" cy="3175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4833" name="直接连接符 12"/>
            <p:cNvCxnSpPr>
              <a:cxnSpLocks noChangeShapeType="1"/>
            </p:cNvCxnSpPr>
            <p:nvPr/>
          </p:nvCxnSpPr>
          <p:spPr bwMode="auto">
            <a:xfrm>
              <a:off x="7204075" y="3044823"/>
              <a:ext cx="352425" cy="0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4834" name="直接连接符 15"/>
            <p:cNvCxnSpPr>
              <a:cxnSpLocks noChangeShapeType="1"/>
            </p:cNvCxnSpPr>
            <p:nvPr/>
          </p:nvCxnSpPr>
          <p:spPr bwMode="auto">
            <a:xfrm flipV="1">
              <a:off x="6264278" y="3378197"/>
              <a:ext cx="458787" cy="0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4835" name="直接连接符 16"/>
            <p:cNvCxnSpPr>
              <a:cxnSpLocks noChangeShapeType="1"/>
            </p:cNvCxnSpPr>
            <p:nvPr/>
          </p:nvCxnSpPr>
          <p:spPr bwMode="auto">
            <a:xfrm>
              <a:off x="5291145" y="3043232"/>
              <a:ext cx="447675" cy="1587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4836" name="直接连接符 17"/>
            <p:cNvCxnSpPr>
              <a:cxnSpLocks noChangeShapeType="1"/>
            </p:cNvCxnSpPr>
            <p:nvPr/>
          </p:nvCxnSpPr>
          <p:spPr bwMode="auto">
            <a:xfrm>
              <a:off x="5303845" y="3152769"/>
              <a:ext cx="371475" cy="1588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4837" name="直接连接符 18"/>
            <p:cNvCxnSpPr>
              <a:cxnSpLocks noChangeShapeType="1"/>
            </p:cNvCxnSpPr>
            <p:nvPr/>
          </p:nvCxnSpPr>
          <p:spPr bwMode="auto">
            <a:xfrm flipV="1">
              <a:off x="5291145" y="3375019"/>
              <a:ext cx="393700" cy="1588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4838" name="直接连接符 20"/>
            <p:cNvCxnSpPr>
              <a:cxnSpLocks noChangeShapeType="1"/>
            </p:cNvCxnSpPr>
            <p:nvPr/>
          </p:nvCxnSpPr>
          <p:spPr bwMode="auto">
            <a:xfrm flipV="1">
              <a:off x="7254875" y="3136896"/>
              <a:ext cx="241300" cy="0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4839" name="直接连接符 23"/>
            <p:cNvCxnSpPr>
              <a:cxnSpLocks noChangeShapeType="1"/>
            </p:cNvCxnSpPr>
            <p:nvPr/>
          </p:nvCxnSpPr>
          <p:spPr bwMode="auto">
            <a:xfrm>
              <a:off x="7259637" y="3375021"/>
              <a:ext cx="231775" cy="1588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4840" name="直接连接符 26"/>
            <p:cNvCxnSpPr>
              <a:cxnSpLocks noChangeShapeType="1"/>
            </p:cNvCxnSpPr>
            <p:nvPr/>
          </p:nvCxnSpPr>
          <p:spPr bwMode="auto">
            <a:xfrm rot="16200000" flipH="1">
              <a:off x="5124457" y="3201982"/>
              <a:ext cx="358775" cy="0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</p:spPr>
        </p:cxnSp>
      </p:grpSp>
      <p:pic>
        <p:nvPicPr>
          <p:cNvPr id="34830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691314" y="3770313"/>
            <a:ext cx="2592387" cy="14843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0" grpId="0"/>
      <p:bldP spid="7" grpId="0"/>
      <p:bldP spid="58" grpId="0"/>
      <p:bldP spid="20" grpId="0"/>
      <p:bldP spid="22" grpId="0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67076" y="3027364"/>
            <a:ext cx="3552825" cy="37242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</p:pic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335213" y="1419225"/>
            <a:ext cx="6189662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zh-CN" altLang="en-US" sz="28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④剖视图中不漏线、不多线</a:t>
            </a:r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2620963" y="1822451"/>
            <a:ext cx="3960812" cy="4619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在剖视图中不要漏线</a:t>
            </a:r>
          </a:p>
        </p:txBody>
      </p:sp>
      <p:pic>
        <p:nvPicPr>
          <p:cNvPr id="860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14664" y="2457450"/>
            <a:ext cx="5419725" cy="42481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</p:pic>
      <p:sp>
        <p:nvSpPr>
          <p:cNvPr id="6" name="椭圆 5"/>
          <p:cNvSpPr>
            <a:spLocks noChangeArrowheads="1"/>
          </p:cNvSpPr>
          <p:nvPr/>
        </p:nvSpPr>
        <p:spPr bwMode="auto">
          <a:xfrm>
            <a:off x="3341689" y="2406651"/>
            <a:ext cx="1201737" cy="511175"/>
          </a:xfrm>
          <a:prstGeom prst="ellipse">
            <a:avLst/>
          </a:prstGeom>
          <a:solidFill>
            <a:schemeClr val="bg1">
              <a:alpha val="0"/>
            </a:schemeClr>
          </a:solidFill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椭圆 6"/>
          <p:cNvSpPr>
            <a:spLocks noChangeArrowheads="1"/>
          </p:cNvSpPr>
          <p:nvPr/>
        </p:nvSpPr>
        <p:spPr bwMode="auto">
          <a:xfrm>
            <a:off x="6864351" y="2333625"/>
            <a:ext cx="1465263" cy="573088"/>
          </a:xfrm>
          <a:prstGeom prst="ellipse">
            <a:avLst/>
          </a:prstGeom>
          <a:solidFill>
            <a:schemeClr val="bg1">
              <a:alpha val="0"/>
            </a:schemeClr>
          </a:solidFill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7450138" y="3255963"/>
            <a:ext cx="2508250" cy="8302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在剖视图中不要画多线</a:t>
            </a:r>
          </a:p>
        </p:txBody>
      </p:sp>
      <p:sp>
        <p:nvSpPr>
          <p:cNvPr id="9" name="椭圆 8"/>
          <p:cNvSpPr>
            <a:spLocks noChangeArrowheads="1"/>
          </p:cNvSpPr>
          <p:nvPr/>
        </p:nvSpPr>
        <p:spPr bwMode="auto">
          <a:xfrm>
            <a:off x="5276851" y="2443163"/>
            <a:ext cx="904875" cy="379412"/>
          </a:xfrm>
          <a:prstGeom prst="ellipse">
            <a:avLst/>
          </a:prstGeom>
          <a:solidFill>
            <a:schemeClr val="bg1">
              <a:alpha val="0"/>
            </a:schemeClr>
          </a:solidFill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0" name="Text Box 2"/>
          <p:cNvSpPr txBox="1">
            <a:spLocks noChangeArrowheads="1"/>
          </p:cNvSpPr>
          <p:nvPr/>
        </p:nvSpPr>
        <p:spPr bwMode="auto">
          <a:xfrm>
            <a:off x="1204225" y="630236"/>
            <a:ext cx="451326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画剖视图的注意事项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6" grpId="0" animBg="1"/>
      <p:bldP spid="7" grpId="0" animBg="1"/>
      <p:bldP spid="5" grpId="0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7" name="Rectangle 9"/>
          <p:cNvSpPr>
            <a:spLocks noChangeArrowheads="1"/>
          </p:cNvSpPr>
          <p:nvPr/>
        </p:nvSpPr>
        <p:spPr bwMode="auto">
          <a:xfrm>
            <a:off x="1824039" y="1466851"/>
            <a:ext cx="3176587" cy="523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>
                <a:sym typeface="Symbol" pitchFamily="18" charset="2"/>
              </a:rPr>
              <a:t>⑤</a:t>
            </a:r>
            <a:r>
              <a:rPr lang="zh-CN" altLang="en-US" sz="2800">
                <a:solidFill>
                  <a:srgbClr val="FF3300"/>
                </a:solidFill>
                <a:sym typeface="Symbol" pitchFamily="18" charset="2"/>
              </a:rPr>
              <a:t>虚线省略不画</a:t>
            </a:r>
          </a:p>
        </p:txBody>
      </p:sp>
      <p:grpSp>
        <p:nvGrpSpPr>
          <p:cNvPr id="2" name="组合 15"/>
          <p:cNvGrpSpPr>
            <a:grpSpLocks/>
          </p:cNvGrpSpPr>
          <p:nvPr/>
        </p:nvGrpSpPr>
        <p:grpSpPr bwMode="auto">
          <a:xfrm>
            <a:off x="5999491" y="1530351"/>
            <a:ext cx="3966835" cy="2714625"/>
            <a:chOff x="5518530" y="4431793"/>
            <a:chExt cx="7031451" cy="5212277"/>
          </a:xfrm>
        </p:grpSpPr>
        <p:pic>
          <p:nvPicPr>
            <p:cNvPr id="36880" name="Picture 2"/>
            <p:cNvPicPr>
              <a:picLocks noChangeAspect="1" noChangeArrowheads="1"/>
            </p:cNvPicPr>
            <p:nvPr/>
          </p:nvPicPr>
          <p:blipFill>
            <a:blip r:embed="rId2"/>
            <a:srcRect l="14970" r="19705"/>
            <a:stretch>
              <a:fillRect/>
            </a:stretch>
          </p:blipFill>
          <p:spPr bwMode="auto">
            <a:xfrm>
              <a:off x="5689600" y="4572008"/>
              <a:ext cx="6860381" cy="5072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6881" name="TextBox 17"/>
            <p:cNvSpPr txBox="1">
              <a:spLocks noChangeArrowheads="1"/>
            </p:cNvSpPr>
            <p:nvPr/>
          </p:nvSpPr>
          <p:spPr bwMode="auto">
            <a:xfrm>
              <a:off x="7890100" y="4431793"/>
              <a:ext cx="1628654" cy="5909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sz="1400" i="1" dirty="0">
                  <a:solidFill>
                    <a:srgbClr val="FF0000"/>
                  </a:solidFill>
                  <a:latin typeface="仿宋_GB2312" pitchFamily="49" charset="-122"/>
                  <a:ea typeface="仿宋_GB2312" pitchFamily="49" charset="-122"/>
                </a:rPr>
                <a:t>A—A</a:t>
              </a:r>
            </a:p>
          </p:txBody>
        </p:sp>
        <p:sp>
          <p:nvSpPr>
            <p:cNvPr id="36882" name="TextBox 16"/>
            <p:cNvSpPr txBox="1">
              <a:spLocks noChangeArrowheads="1"/>
            </p:cNvSpPr>
            <p:nvPr/>
          </p:nvSpPr>
          <p:spPr bwMode="auto">
            <a:xfrm>
              <a:off x="5518530" y="8172870"/>
              <a:ext cx="286635" cy="65004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600" i="1" dirty="0">
                  <a:solidFill>
                    <a:srgbClr val="FF0000"/>
                  </a:solidFill>
                  <a:latin typeface="仿宋_GB2312" pitchFamily="49" charset="-122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36883" name="TextBox 16"/>
            <p:cNvSpPr txBox="1">
              <a:spLocks noChangeArrowheads="1"/>
            </p:cNvSpPr>
            <p:nvPr/>
          </p:nvSpPr>
          <p:spPr bwMode="auto">
            <a:xfrm>
              <a:off x="9956078" y="8227917"/>
              <a:ext cx="286635" cy="65004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600" i="1">
                  <a:solidFill>
                    <a:srgbClr val="FF0000"/>
                  </a:solidFill>
                  <a:latin typeface="仿宋_GB2312" pitchFamily="49" charset="-122"/>
                  <a:ea typeface="仿宋_GB2312" pitchFamily="49" charset="-122"/>
                </a:rPr>
                <a:t>A</a:t>
              </a:r>
            </a:p>
          </p:txBody>
        </p:sp>
      </p:grpSp>
      <p:pic>
        <p:nvPicPr>
          <p:cNvPr id="13316" name="Picture 5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rgbClr val="FFFFFF">
                <a:tint val="45000"/>
                <a:satMod val="400000"/>
              </a:srgbClr>
            </a:duotone>
          </a:blip>
          <a:srcRect l="57443" t="4617" r="20670" b="48740"/>
          <a:stretch>
            <a:fillRect/>
          </a:stretch>
        </p:blipFill>
        <p:spPr bwMode="auto">
          <a:xfrm>
            <a:off x="8688424" y="1749403"/>
            <a:ext cx="1241857" cy="1204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0785" name="Picture 7"/>
          <p:cNvPicPr>
            <a:picLocks noChangeAspect="1" noChangeArrowheads="1"/>
          </p:cNvPicPr>
          <p:nvPr/>
        </p:nvPicPr>
        <p:blipFill>
          <a:blip r:embed="rId4"/>
          <a:srcRect l="17160" t="53046" r="48019" b="1083"/>
          <a:stretch>
            <a:fillRect/>
          </a:stretch>
        </p:blipFill>
        <p:spPr bwMode="auto">
          <a:xfrm>
            <a:off x="6388100" y="2990851"/>
            <a:ext cx="2008188" cy="1204913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  <a:miter lim="800000"/>
            <a:headEnd/>
            <a:tailEnd/>
          </a:ln>
        </p:spPr>
      </p:pic>
      <p:sp>
        <p:nvSpPr>
          <p:cNvPr id="36870" name="Text Box 2"/>
          <p:cNvSpPr txBox="1">
            <a:spLocks noChangeArrowheads="1"/>
          </p:cNvSpPr>
          <p:nvPr/>
        </p:nvSpPr>
        <p:spPr bwMode="auto">
          <a:xfrm>
            <a:off x="1055440" y="642145"/>
            <a:ext cx="451326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画剖视图的注意事项</a:t>
            </a:r>
          </a:p>
        </p:txBody>
      </p:sp>
      <p:grpSp>
        <p:nvGrpSpPr>
          <p:cNvPr id="3" name="组合 8"/>
          <p:cNvGrpSpPr>
            <a:grpSpLocks/>
          </p:cNvGrpSpPr>
          <p:nvPr/>
        </p:nvGrpSpPr>
        <p:grpSpPr bwMode="auto">
          <a:xfrm>
            <a:off x="1933575" y="3976689"/>
            <a:ext cx="3176588" cy="2300287"/>
            <a:chOff x="1643063" y="1672753"/>
            <a:chExt cx="5643562" cy="4632797"/>
          </a:xfrm>
        </p:grpSpPr>
        <p:pic>
          <p:nvPicPr>
            <p:cNvPr id="36875" name="Picture 4"/>
            <p:cNvPicPr>
              <a:picLocks noChangeAspect="1" noChangeArrowheads="1"/>
            </p:cNvPicPr>
            <p:nvPr/>
          </p:nvPicPr>
          <p:blipFill>
            <a:blip r:embed="rId5"/>
            <a:srcRect l="14766" t="2911" r="27576"/>
            <a:stretch>
              <a:fillRect/>
            </a:stretch>
          </p:blipFill>
          <p:spPr bwMode="auto">
            <a:xfrm>
              <a:off x="1643063" y="1714500"/>
              <a:ext cx="5643562" cy="4591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" name="Picture 11"/>
            <p:cNvPicPr>
              <a:picLocks noChangeAspect="1" noChangeArrowheads="1"/>
            </p:cNvPicPr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rgbClr val="000000">
                  <a:tint val="45000"/>
                  <a:satMod val="400000"/>
                </a:srgbClr>
              </a:duotone>
            </a:blip>
            <a:srcRect l="73383" t="63425" r="24487" b="25430"/>
            <a:stretch>
              <a:fillRect/>
            </a:stretch>
          </p:blipFill>
          <p:spPr bwMode="auto">
            <a:xfrm>
              <a:off x="5211245" y="4928465"/>
              <a:ext cx="193675" cy="490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" name="Picture 11"/>
            <p:cNvPicPr>
              <a:picLocks noChangeAspect="1" noChangeArrowheads="1"/>
            </p:cNvPicPr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rgbClr val="000000">
                  <a:tint val="45000"/>
                  <a:satMod val="400000"/>
                </a:srgbClr>
              </a:duotone>
            </a:blip>
            <a:srcRect l="73383" t="63425" r="24487" b="25430"/>
            <a:stretch>
              <a:fillRect/>
            </a:stretch>
          </p:blipFill>
          <p:spPr bwMode="auto">
            <a:xfrm>
              <a:off x="1761873" y="4921926"/>
              <a:ext cx="193675" cy="490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" name="Picture 11"/>
            <p:cNvPicPr>
              <a:picLocks noChangeAspect="1" noChangeArrowheads="1"/>
            </p:cNvPicPr>
            <p:nvPr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rgbClr val="000000">
                  <a:tint val="45000"/>
                  <a:satMod val="400000"/>
                </a:srgbClr>
              </a:duotone>
            </a:blip>
            <a:srcRect l="73383" t="63425" r="24487" b="25430"/>
            <a:stretch>
              <a:fillRect/>
            </a:stretch>
          </p:blipFill>
          <p:spPr bwMode="auto">
            <a:xfrm rot="5400000">
              <a:off x="4568502" y="4057334"/>
              <a:ext cx="193675" cy="490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" name="Picture 11"/>
            <p:cNvPicPr>
              <a:picLocks noChangeAspect="1" noChangeArrowheads="1"/>
            </p:cNvPicPr>
            <p:nvPr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rgbClr val="000000">
                  <a:tint val="45000"/>
                  <a:satMod val="400000"/>
                </a:srgbClr>
              </a:duotone>
            </a:blip>
            <a:srcRect l="73383" t="63425" r="24487" b="25430"/>
            <a:stretch>
              <a:fillRect/>
            </a:stretch>
          </p:blipFill>
          <p:spPr bwMode="auto">
            <a:xfrm rot="5400000">
              <a:off x="4550395" y="1524322"/>
              <a:ext cx="193675" cy="490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1860550" y="2963863"/>
            <a:ext cx="4052888" cy="8302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/>
              <a:t>⑥同一机件在各个视图中</a:t>
            </a:r>
            <a:r>
              <a:rPr lang="zh-CN" altLang="en-US" sz="2400">
                <a:solidFill>
                  <a:srgbClr val="FF0000"/>
                </a:solidFill>
              </a:rPr>
              <a:t>剖面线的方向和间距</a:t>
            </a:r>
            <a:r>
              <a:rPr lang="zh-CN" altLang="en-US" sz="2400"/>
              <a:t>必须一致。</a:t>
            </a:r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5908638" y="4946848"/>
            <a:ext cx="5188643" cy="83099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ym typeface="Symbol" pitchFamily="18" charset="2"/>
              </a:rPr>
              <a:t>⑦ </a:t>
            </a:r>
            <a:r>
              <a:rPr lang="zh-CN" altLang="en-US" sz="2400" dirty="0">
                <a:sym typeface="Symbol" pitchFamily="18" charset="2"/>
              </a:rPr>
              <a:t>剖视是假想的，某一视图取剖视，其他视图仍按完整机件画出</a:t>
            </a:r>
            <a:endParaRPr lang="zh-CN" altLang="en-US" sz="2400" dirty="0">
              <a:solidFill>
                <a:srgbClr val="FF3300"/>
              </a:solidFill>
              <a:sym typeface="Symbol" pitchFamily="18" charset="2"/>
            </a:endParaRPr>
          </a:p>
        </p:txBody>
      </p:sp>
      <p:sp>
        <p:nvSpPr>
          <p:cNvPr id="20" name="Text Box 231"/>
          <p:cNvSpPr txBox="1">
            <a:spLocks noChangeArrowheads="1"/>
          </p:cNvSpPr>
          <p:nvPr/>
        </p:nvSpPr>
        <p:spPr bwMode="auto">
          <a:xfrm>
            <a:off x="2116139" y="2005013"/>
            <a:ext cx="3906837" cy="830262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>
                <a:latin typeface="宋体" charset="-122"/>
                <a:sym typeface="Symbol" pitchFamily="18" charset="2"/>
              </a:rPr>
              <a:t>但没有表示清楚的结构，</a:t>
            </a:r>
            <a:r>
              <a:rPr lang="zh-CN" altLang="en-US" sz="2400">
                <a:solidFill>
                  <a:srgbClr val="FF0000"/>
                </a:solidFill>
                <a:latin typeface="宋体" charset="-122"/>
                <a:sym typeface="Symbol" pitchFamily="18" charset="2"/>
              </a:rPr>
              <a:t>允许画少量虚线</a:t>
            </a:r>
            <a:r>
              <a:rPr lang="zh-CN" altLang="en-US" sz="2400">
                <a:solidFill>
                  <a:schemeClr val="tx2"/>
                </a:solidFill>
                <a:latin typeface="宋体" charset="-122"/>
                <a:sym typeface="Symbol" pitchFamily="18" charset="2"/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60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0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7" grpId="0"/>
      <p:bldP spid="18" grpId="0"/>
      <p:bldP spid="19" grpId="0"/>
      <p:bldP spid="20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BBBD713-DE73-4E9E-8376-78F35DFA780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</p:spPr>
        <p:txBody>
          <a:bodyPr vert="horz" wrap="square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选择正确说法：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332BB01-E13E-4275-9C59-A2D08B47918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739644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画剖视图时，所选择的剖切面应平行于相应的投影面，且通过机件的对称平面或轴线。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36E913-8B0D-4465-BE85-797272883F9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剖视图由平面区域和剖切面后面可见部分的投影两部分组成。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520D41-9410-4EB7-AFAE-1CBA78FB839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某一个视图取剖视后，其他视图仍按完整的机件画出。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B19F0E-9196-4209-BD45-3356163BD31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在剖面区域上应画出剖面符号。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6A4B459-E544-4D0E-AD3B-DF2007970EC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7848B2-AA5C-4BDF-9331-4F8BA6668E9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309923-C4D7-4119-98CE-DF3C6B7DADB7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93312DF-B88E-4AAE-91E4-7A5DEF0B126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638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AD0DFD4-CD7F-4A07-B0C7-77A9759A546D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A947B1B-1046-405E-8ACF-ACF91B359715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16FA0FB0-BD40-4328-AED5-0A0DE805A87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CAD752DA-2237-46B8-956B-1BB64D6B612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4C3AF75E-48E0-4605-B221-15C43C55008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lang="zh-CN" altLang="en-US" sz="2600" b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多选题</a:t>
              </a:r>
              <a:endPara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30EAA466-CEFE-4AAC-8415-A4E10A7E9B4F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lang="en-US" altLang="zh-CN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3</a:t>
              </a:r>
              <a:r>
                <a:rPr lang="zh-CN" altLang="en-US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lang="zh-CN" altLang="en-US" sz="2000" b="1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50131D4F-C8D9-449C-AD05-57A5C8225C3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731375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1163452" y="651530"/>
            <a:ext cx="3200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剖视图的标注</a:t>
            </a:r>
          </a:p>
        </p:txBody>
      </p:sp>
      <p:sp>
        <p:nvSpPr>
          <p:cNvPr id="106499" name="Text Box 3"/>
          <p:cNvSpPr txBox="1">
            <a:spLocks noChangeArrowheads="1"/>
          </p:cNvSpPr>
          <p:nvPr/>
        </p:nvSpPr>
        <p:spPr bwMode="auto">
          <a:xfrm>
            <a:off x="1303214" y="2952750"/>
            <a:ext cx="26019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rgbClr val="003399"/>
                </a:solidFill>
                <a:latin typeface="宋体" charset="-122"/>
              </a:rPr>
              <a:t>② </a:t>
            </a:r>
            <a:r>
              <a:rPr lang="zh-CN" altLang="en-US" sz="2800" dirty="0">
                <a:solidFill>
                  <a:srgbClr val="003399"/>
                </a:solidFill>
                <a:latin typeface="宋体" charset="-122"/>
                <a:sym typeface="Symbol" pitchFamily="18" charset="2"/>
              </a:rPr>
              <a:t>剖切符号</a:t>
            </a:r>
            <a:r>
              <a:rPr lang="zh-CN" altLang="en-US" sz="2800" dirty="0">
                <a:latin typeface="宋体" charset="-122"/>
                <a:sym typeface="Symbol" pitchFamily="18" charset="2"/>
              </a:rPr>
              <a:t> </a:t>
            </a:r>
          </a:p>
        </p:txBody>
      </p:sp>
      <p:sp>
        <p:nvSpPr>
          <p:cNvPr id="106500" name="Text Box 4"/>
          <p:cNvSpPr txBox="1">
            <a:spLocks noChangeArrowheads="1"/>
          </p:cNvSpPr>
          <p:nvPr/>
        </p:nvSpPr>
        <p:spPr bwMode="auto">
          <a:xfrm>
            <a:off x="1288926" y="4206031"/>
            <a:ext cx="3232150" cy="5191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solidFill>
                  <a:srgbClr val="003399"/>
                </a:solidFill>
                <a:latin typeface="宋体" charset="-122"/>
                <a:sym typeface="Symbol" pitchFamily="18" charset="2"/>
              </a:rPr>
              <a:t>③</a:t>
            </a:r>
            <a:r>
              <a:rPr lang="en-US" altLang="zh-CN" sz="2800" dirty="0">
                <a:latin typeface="宋体" charset="-122"/>
                <a:sym typeface="Symbol" pitchFamily="18" charset="2"/>
              </a:rPr>
              <a:t> </a:t>
            </a:r>
            <a:r>
              <a:rPr lang="zh-CN" altLang="en-US" sz="2800" dirty="0">
                <a:latin typeface="宋体" charset="-122"/>
                <a:sym typeface="Symbol" pitchFamily="18" charset="2"/>
              </a:rPr>
              <a:t>剖视图的</a:t>
            </a:r>
            <a:r>
              <a:rPr lang="zh-CN" altLang="en-US" sz="2800" dirty="0">
                <a:solidFill>
                  <a:srgbClr val="003399"/>
                </a:solidFill>
                <a:latin typeface="宋体" charset="-122"/>
                <a:sym typeface="Symbol" pitchFamily="18" charset="2"/>
              </a:rPr>
              <a:t>名称</a:t>
            </a:r>
            <a:r>
              <a:rPr lang="zh-CN" altLang="en-US" sz="2800" dirty="0">
                <a:latin typeface="宋体" charset="-122"/>
                <a:sym typeface="Symbol" pitchFamily="18" charset="2"/>
              </a:rPr>
              <a:t>。</a:t>
            </a:r>
          </a:p>
        </p:txBody>
      </p:sp>
      <p:sp>
        <p:nvSpPr>
          <p:cNvPr id="106501" name="Text Box 5"/>
          <p:cNvSpPr txBox="1">
            <a:spLocks noChangeArrowheads="1"/>
          </p:cNvSpPr>
          <p:nvPr/>
        </p:nvSpPr>
        <p:spPr bwMode="auto">
          <a:xfrm>
            <a:off x="3751072" y="1238560"/>
            <a:ext cx="1980029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charset="-122"/>
              </a:rPr>
              <a:t>标注内容：</a:t>
            </a:r>
          </a:p>
        </p:txBody>
      </p:sp>
      <p:sp>
        <p:nvSpPr>
          <p:cNvPr id="106502" name="Text Box 6"/>
          <p:cNvSpPr txBox="1">
            <a:spLocks noChangeArrowheads="1"/>
          </p:cNvSpPr>
          <p:nvPr/>
        </p:nvSpPr>
        <p:spPr bwMode="auto">
          <a:xfrm>
            <a:off x="1303214" y="1728614"/>
            <a:ext cx="17970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rgbClr val="003399"/>
                </a:solidFill>
                <a:latin typeface="宋体" charset="-122"/>
                <a:sym typeface="Symbol" pitchFamily="18" charset="2"/>
              </a:rPr>
              <a:t>① </a:t>
            </a:r>
            <a:r>
              <a:rPr lang="zh-CN" altLang="en-US" sz="2800" dirty="0">
                <a:solidFill>
                  <a:srgbClr val="003399"/>
                </a:solidFill>
                <a:latin typeface="宋体" charset="-122"/>
                <a:sym typeface="Symbol" pitchFamily="18" charset="2"/>
              </a:rPr>
              <a:t>剖切线</a:t>
            </a:r>
          </a:p>
        </p:txBody>
      </p:sp>
      <p:sp>
        <p:nvSpPr>
          <p:cNvPr id="106577" name="Text Box 81"/>
          <p:cNvSpPr txBox="1">
            <a:spLocks noChangeArrowheads="1"/>
          </p:cNvSpPr>
          <p:nvPr/>
        </p:nvSpPr>
        <p:spPr bwMode="auto">
          <a:xfrm>
            <a:off x="1490539" y="2131702"/>
            <a:ext cx="3833812" cy="75723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latin typeface="宋体" charset="-122"/>
                <a:sym typeface="Symbol" pitchFamily="18" charset="2"/>
              </a:rPr>
              <a:t>指示剖切面的位置</a:t>
            </a:r>
            <a:r>
              <a:rPr lang="en-US" altLang="zh-CN" sz="2400" dirty="0">
                <a:latin typeface="宋体" charset="-122"/>
                <a:sym typeface="Symbol" pitchFamily="18" charset="2"/>
              </a:rPr>
              <a:t>(</a:t>
            </a:r>
            <a:r>
              <a:rPr lang="zh-CN" altLang="en-US" sz="2400" dirty="0">
                <a:latin typeface="宋体" charset="-122"/>
                <a:sym typeface="Symbol" pitchFamily="18" charset="2"/>
              </a:rPr>
              <a:t>细单长画线</a:t>
            </a:r>
            <a:r>
              <a:rPr lang="en-US" altLang="zh-CN" sz="2400" dirty="0">
                <a:latin typeface="宋体" charset="-122"/>
                <a:sym typeface="Symbol" pitchFamily="18" charset="2"/>
              </a:rPr>
              <a:t>)</a:t>
            </a:r>
            <a:r>
              <a:rPr lang="zh-CN" altLang="en-US" sz="2400" dirty="0">
                <a:latin typeface="宋体" charset="-122"/>
                <a:sym typeface="Symbol" pitchFamily="18" charset="2"/>
              </a:rPr>
              <a:t>。一般情况下可省略。</a:t>
            </a:r>
          </a:p>
        </p:txBody>
      </p:sp>
      <p:sp>
        <p:nvSpPr>
          <p:cNvPr id="106578" name="Text Box 82"/>
          <p:cNvSpPr txBox="1">
            <a:spLocks noChangeArrowheads="1"/>
          </p:cNvSpPr>
          <p:nvPr/>
        </p:nvSpPr>
        <p:spPr bwMode="auto">
          <a:xfrm>
            <a:off x="1490540" y="3463851"/>
            <a:ext cx="3614737" cy="757237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latin typeface="宋体" charset="-122"/>
                <a:sym typeface="Symbol" pitchFamily="18" charset="2"/>
              </a:rPr>
              <a:t>表示剖切面起、迄和转折位置及投射方向。</a:t>
            </a:r>
          </a:p>
        </p:txBody>
      </p:sp>
      <p:sp>
        <p:nvSpPr>
          <p:cNvPr id="106579" name="Text Box 83"/>
          <p:cNvSpPr txBox="1">
            <a:spLocks noChangeArrowheads="1"/>
          </p:cNvSpPr>
          <p:nvPr/>
        </p:nvSpPr>
        <p:spPr bwMode="auto">
          <a:xfrm>
            <a:off x="1271464" y="5343599"/>
            <a:ext cx="6939246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宋体" charset="-122"/>
              </a:rPr>
              <a:t>◆ </a:t>
            </a:r>
            <a:r>
              <a:rPr lang="zh-CN" altLang="en-US" sz="2400" dirty="0">
                <a:latin typeface="宋体" charset="-122"/>
              </a:rPr>
              <a:t>剖视图按基本视图关系配置时，可省略箭头。</a:t>
            </a:r>
          </a:p>
        </p:txBody>
      </p:sp>
      <p:sp>
        <p:nvSpPr>
          <p:cNvPr id="106580" name="Text Box 84"/>
          <p:cNvSpPr txBox="1">
            <a:spLocks noChangeArrowheads="1"/>
          </p:cNvSpPr>
          <p:nvPr/>
        </p:nvSpPr>
        <p:spPr bwMode="auto">
          <a:xfrm>
            <a:off x="1271464" y="5803094"/>
            <a:ext cx="9639546" cy="830262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宋体" charset="-122"/>
              </a:rPr>
              <a:t>◆ </a:t>
            </a:r>
            <a:r>
              <a:rPr lang="zh-CN" altLang="en-US" sz="2400" dirty="0">
                <a:latin typeface="宋体" charset="-122"/>
              </a:rPr>
              <a:t>当单一剖切面通过机件的对称（或基本对称）平面，且剖视图按基本视图关系配置时，可不标注。</a:t>
            </a:r>
          </a:p>
        </p:txBody>
      </p:sp>
      <p:sp>
        <p:nvSpPr>
          <p:cNvPr id="106581" name="Text Box 85"/>
          <p:cNvSpPr txBox="1">
            <a:spLocks noChangeArrowheads="1"/>
          </p:cNvSpPr>
          <p:nvPr/>
        </p:nvSpPr>
        <p:spPr bwMode="auto">
          <a:xfrm>
            <a:off x="1271464" y="4782095"/>
            <a:ext cx="3771900" cy="519113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CC0000"/>
                </a:solidFill>
                <a:latin typeface="宋体" charset="-122"/>
              </a:rPr>
              <a:t>下列情况可省略标注：</a:t>
            </a:r>
          </a:p>
        </p:txBody>
      </p:sp>
      <p:pic>
        <p:nvPicPr>
          <p:cNvPr id="37900" name="Picture 13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7589" y="1763713"/>
            <a:ext cx="4124325" cy="31623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2" name="组合 86"/>
          <p:cNvGrpSpPr>
            <a:grpSpLocks/>
          </p:cNvGrpSpPr>
          <p:nvPr/>
        </p:nvGrpSpPr>
        <p:grpSpPr bwMode="auto">
          <a:xfrm>
            <a:off x="5624513" y="3652838"/>
            <a:ext cx="3471862" cy="685800"/>
            <a:chOff x="484131" y="3105150"/>
            <a:chExt cx="3471903" cy="685800"/>
          </a:xfrm>
        </p:grpSpPr>
        <p:pic>
          <p:nvPicPr>
            <p:cNvPr id="37903" name="Picture 139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84131" y="3143250"/>
              <a:ext cx="542925" cy="6477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  <p:pic>
          <p:nvPicPr>
            <p:cNvPr id="37904" name="Picture 14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394059" y="3105150"/>
              <a:ext cx="561975" cy="6858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</p:grpSp>
      <p:pic>
        <p:nvPicPr>
          <p:cNvPr id="90" name="Picture 14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558089" y="1566863"/>
            <a:ext cx="466725" cy="2667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106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6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6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9" dur="500"/>
                                        <p:tgtEl>
                                          <p:spTgt spid="106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4" dur="500"/>
                                        <p:tgtEl>
                                          <p:spTgt spid="10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9" dur="500"/>
                                        <p:tgtEl>
                                          <p:spTgt spid="10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autoUpdateAnimBg="0"/>
      <p:bldP spid="106500" grpId="0" autoUpdateAnimBg="0"/>
      <p:bldP spid="106501" grpId="0" autoUpdateAnimBg="0"/>
      <p:bldP spid="106502" grpId="0" autoUpdateAnimBg="0"/>
      <p:bldP spid="106577" grpId="0" autoUpdateAnimBg="0"/>
      <p:bldP spid="106578" grpId="0" autoUpdateAnimBg="0"/>
      <p:bldP spid="106579" grpId="0" autoUpdateAnimBg="0"/>
      <p:bldP spid="106580" grpId="0" autoUpdateAnimBg="0"/>
      <p:bldP spid="106581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933602" y="578977"/>
            <a:ext cx="3272050" cy="707886"/>
          </a:xfrm>
          <a:prstGeom prst="rect">
            <a:avLst/>
          </a:prstGeom>
          <a:noFill/>
        </p:spPr>
        <p:txBody>
          <a:bodyPr wrap="none">
            <a:prstTxWarp prst="textWave2">
              <a:avLst/>
            </a:prstTxWarp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>
              <a:defRPr/>
            </a:pPr>
            <a:r>
              <a:rPr lang="zh-CN" altLang="en-US" sz="4000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ea typeface="宋体" pitchFamily="2" charset="-122"/>
              </a:rPr>
              <a:t>本讲内容小结</a:t>
            </a:r>
          </a:p>
        </p:txBody>
      </p:sp>
      <p:sp>
        <p:nvSpPr>
          <p:cNvPr id="6" name="AutoShape 20"/>
          <p:cNvSpPr>
            <a:spLocks/>
          </p:cNvSpPr>
          <p:nvPr/>
        </p:nvSpPr>
        <p:spPr bwMode="auto">
          <a:xfrm>
            <a:off x="4141924" y="2330487"/>
            <a:ext cx="291420" cy="2654300"/>
          </a:xfrm>
          <a:prstGeom prst="leftBrace">
            <a:avLst>
              <a:gd name="adj1" fmla="val 108412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4580074" y="2147926"/>
            <a:ext cx="3096336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tabLst>
                <a:tab pos="2636838" algn="ctr"/>
                <a:tab pos="5273675" algn="r"/>
              </a:tabLst>
            </a:pPr>
            <a:r>
              <a:rPr lang="zh-CN" altLang="en-US" sz="2800" b="1"/>
              <a:t>剖视图的概念</a:t>
            </a: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4507050" y="4813338"/>
            <a:ext cx="244064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/>
              <a:t>剖视图的标注</a:t>
            </a:r>
            <a:endParaRPr lang="zh-CN" altLang="en-US" b="1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4507050" y="3973551"/>
            <a:ext cx="396521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/>
              <a:t>画剖视图应注意的问题</a:t>
            </a:r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2790961" y="3352838"/>
            <a:ext cx="160281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tabLst>
                <a:tab pos="2636838" algn="ctr"/>
                <a:tab pos="5273675" algn="r"/>
              </a:tabLst>
            </a:pPr>
            <a:r>
              <a:rPr lang="zh-CN" altLang="en-US" sz="2800" b="1"/>
              <a:t>剖视图</a:t>
            </a:r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4580074" y="3060738"/>
            <a:ext cx="2950626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tabLst>
                <a:tab pos="2636838" algn="ctr"/>
                <a:tab pos="5273675" algn="r"/>
              </a:tabLst>
            </a:pPr>
            <a:r>
              <a:rPr lang="zh-CN" altLang="en-US" sz="2800" b="1"/>
              <a:t>剖视图的画法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/>
      <p:bldP spid="16" grpId="0"/>
      <p:bldP spid="19" grpId="0"/>
      <p:bldP spid="20" grpId="0"/>
      <p:bldP spid="2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eeb572fc652afad33a0325825961c9309ee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2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3.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3.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Office 主题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5400000"/>
        </a:gradFill>
        <a:ln w="9525">
          <a:noFill/>
          <a:miter lim="800000"/>
          <a:headEnd/>
          <a:tailEnd/>
        </a:ln>
      </a:spPr>
      <a:bodyPr anchor="ctr"/>
      <a:lstStyle>
        <a:defPPr>
          <a:defRPr sz="3600" dirty="0">
            <a:solidFill>
              <a:schemeClr val="tx2"/>
            </a:solidFill>
            <a:latin typeface="宋体" pitchFamily="2" charset="-122"/>
          </a:defRPr>
        </a:defPPr>
      </a:lstStyle>
    </a:spDef>
    <a:txDef>
      <a:spPr/>
      <a:bodyPr anchor="ctr">
        <a:spAutoFit/>
      </a:bodyPr>
      <a:lstStyle>
        <a:defPPr algn="ctr" fontAlgn="auto">
          <a:spcAft>
            <a:spcPts val="0"/>
          </a:spcAft>
          <a:defRPr kumimoji="0" sz="4400" b="1" dirty="0">
            <a:solidFill>
              <a:schemeClr val="tx2"/>
            </a:solidFill>
            <a:latin typeface="黑体" pitchFamily="2" charset="-122"/>
            <a:ea typeface="黑体" pitchFamily="2" charset="-122"/>
            <a:cs typeface="+mj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4665</TotalTime>
  <Words>1482</Words>
  <Application>Microsoft Office PowerPoint</Application>
  <PresentationFormat>宽屏</PresentationFormat>
  <Paragraphs>243</Paragraphs>
  <Slides>28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仿宋_GB2312</vt:lpstr>
      <vt:lpstr>黑体</vt:lpstr>
      <vt:lpstr>华文行楷</vt:lpstr>
      <vt:lpstr>宋体</vt:lpstr>
      <vt:lpstr>Microsoft Yahei</vt:lpstr>
      <vt:lpstr>Arial</vt:lpstr>
      <vt:lpstr>Calibri</vt:lpstr>
      <vt:lpstr>Times New Roman</vt:lpstr>
      <vt:lpstr>Wingdings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第9章 机件的表达 1</dc:title>
  <dc:creator>穆浩志</dc:creator>
  <cp:keywords>天津理工大学</cp:keywords>
  <cp:lastModifiedBy>Lenovo</cp:lastModifiedBy>
  <cp:revision>408</cp:revision>
  <dcterms:created xsi:type="dcterms:W3CDTF">2014-03-20T09:34:50Z</dcterms:created>
  <dcterms:modified xsi:type="dcterms:W3CDTF">2021-03-09T05:43:42Z</dcterms:modified>
</cp:coreProperties>
</file>
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53"/>
  </p:notesMasterIdLst>
  <p:sldIdLst>
    <p:sldId id="556" r:id="rId2"/>
    <p:sldId id="557" r:id="rId3"/>
    <p:sldId id="558" r:id="rId4"/>
    <p:sldId id="559" r:id="rId5"/>
    <p:sldId id="560" r:id="rId6"/>
    <p:sldId id="561" r:id="rId7"/>
    <p:sldId id="562" r:id="rId8"/>
    <p:sldId id="563" r:id="rId9"/>
    <p:sldId id="564" r:id="rId10"/>
    <p:sldId id="565" r:id="rId11"/>
    <p:sldId id="566" r:id="rId12"/>
    <p:sldId id="567" r:id="rId13"/>
    <p:sldId id="568" r:id="rId14"/>
    <p:sldId id="569" r:id="rId15"/>
    <p:sldId id="570" r:id="rId16"/>
    <p:sldId id="574" r:id="rId17"/>
    <p:sldId id="571" r:id="rId18"/>
    <p:sldId id="572" r:id="rId19"/>
    <p:sldId id="573" r:id="rId20"/>
    <p:sldId id="575" r:id="rId21"/>
    <p:sldId id="576" r:id="rId22"/>
    <p:sldId id="577" r:id="rId23"/>
    <p:sldId id="578" r:id="rId24"/>
    <p:sldId id="579" r:id="rId25"/>
    <p:sldId id="580" r:id="rId26"/>
    <p:sldId id="581" r:id="rId27"/>
    <p:sldId id="582" r:id="rId28"/>
    <p:sldId id="583" r:id="rId29"/>
    <p:sldId id="584" r:id="rId30"/>
    <p:sldId id="585" r:id="rId31"/>
    <p:sldId id="586" r:id="rId32"/>
    <p:sldId id="587" r:id="rId33"/>
    <p:sldId id="588" r:id="rId34"/>
    <p:sldId id="589" r:id="rId35"/>
    <p:sldId id="590" r:id="rId36"/>
    <p:sldId id="591" r:id="rId37"/>
    <p:sldId id="592" r:id="rId38"/>
    <p:sldId id="593" r:id="rId39"/>
    <p:sldId id="594" r:id="rId40"/>
    <p:sldId id="595" r:id="rId41"/>
    <p:sldId id="596" r:id="rId42"/>
    <p:sldId id="597" r:id="rId43"/>
    <p:sldId id="598" r:id="rId44"/>
    <p:sldId id="599" r:id="rId45"/>
    <p:sldId id="600" r:id="rId46"/>
    <p:sldId id="601" r:id="rId47"/>
    <p:sldId id="602" r:id="rId48"/>
    <p:sldId id="603" r:id="rId49"/>
    <p:sldId id="604" r:id="rId50"/>
    <p:sldId id="605" r:id="rId51"/>
    <p:sldId id="606" r:id="rId52"/>
  </p:sldIdLst>
  <p:sldSz cx="12192000" cy="6858000"/>
  <p:notesSz cx="6858000" cy="9144000"/>
  <p:custDataLst>
    <p:tags r:id="rId5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modifyVerifier cryptProviderType="rsaFull" cryptAlgorithmClass="hash" cryptAlgorithmType="typeAny" cryptAlgorithmSid="4" spinCount="50000" saltData="mO70nCLIcukbO/AWMqOVBA==" hashData="3UCDgBbuXkPhh88f0aBJLmsLrss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3902" autoAdjust="0"/>
  </p:normalViewPr>
  <p:slideViewPr>
    <p:cSldViewPr>
      <p:cViewPr varScale="1">
        <p:scale>
          <a:sx n="107" d="100"/>
          <a:sy n="107" d="100"/>
        </p:scale>
        <p:origin x="768" y="114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94F821-7148-4155-8A4B-3568DDD25123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50BB752-86F0-4A2B-B1F4-3D725A534A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08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5882894-31D0-4353-8FC4-53FD4467D4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1325CCF-3893-4AF4-9378-6503525C1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528D238-9626-4573-9B0E-3A01311DA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BC39A87-C04B-44B8-8492-59308235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1C292D2-F234-45FE-9C8F-D7CD6A71B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B59C782-E5B5-4D1E-84E8-00EB87A66F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3F1626B-87FC-4106-99C3-08CD08C6C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D8AFA40-474E-4131-9465-1772CE74A1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624BEE-B42A-4D24-A6A0-A13054AF2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D04EAC3-810B-4186-9CDC-14BAD1372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3A06682-6D3C-44FE-A8FD-CF179FE87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73827A9-F015-4526-A947-A7D0641A67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730E9EB-F9AD-4188-B464-117A56F21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7FC85D4-21D3-4B1F-9919-8F298A4744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4B1C4B7-372D-48C2-8DDA-B810BF3CD4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E84D88-8CA2-4D77-8F92-4C576078AA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E7EA432-7B9C-4122-898F-523AEF872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623D218-3769-4A9E-A4E2-A5A466000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303CE-ECB0-44C7-B52F-07EEFDF08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40368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1DB3A-59F7-48AD-8082-4990A29E6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BE59C6-21B5-4BB5-A9AA-E4943B0010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575" y="9823"/>
            <a:ext cx="10858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45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0136772" y="1128681"/>
            <a:ext cx="1849992" cy="292104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5400" dirty="0">
                <a:ln w="11430"/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41DD1F-F67D-4FAD-BB07-60E74737572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30956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31" r:id="rId4"/>
    <p:sldLayoutId id="2147484732" r:id="rId5"/>
    <p:sldLayoutId id="2147484733" r:id="rId6"/>
    <p:sldLayoutId id="2147484734" r:id="rId7"/>
    <p:sldLayoutId id="2147484735" r:id="rId8"/>
    <p:sldLayoutId id="2147484736" r:id="rId9"/>
    <p:sldLayoutId id="2147484737" r:id="rId10"/>
    <p:sldLayoutId id="2147484738" r:id="rId11"/>
    <p:sldLayoutId id="2147484739" r:id="rId12"/>
    <p:sldLayoutId id="2147484740" r:id="rId13"/>
    <p:sldLayoutId id="2147484741" r:id="rId14"/>
    <p:sldLayoutId id="2147484742" r:id="rId15"/>
    <p:sldLayoutId id="2147484743" r:id="rId16"/>
    <p:sldLayoutId id="2147484744" r:id="rId17"/>
    <p:sldLayoutId id="2147484745" r:id="rId18"/>
    <p:sldLayoutId id="2147484746" r:id="rId19"/>
    <p:sldLayoutId id="2147484747" r:id="rId2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15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image" Target="../media/image15.png"/><Relationship Id="rId2" Type="http://schemas.openxmlformats.org/officeDocument/2006/relationships/tags" Target="../tags/tag20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9.png"/><Relationship Id="rId7" Type="http://schemas.openxmlformats.org/officeDocument/2006/relationships/image" Target="../media/image6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jpeg"/><Relationship Id="rId9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E1E73F3A-E298-4CE4-A594-33FE06889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201" y="455550"/>
            <a:ext cx="4287838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AutoShape 20">
            <a:extLst>
              <a:ext uri="{FF2B5EF4-FFF2-40B4-BE49-F238E27FC236}">
                <a16:creationId xmlns:a16="http://schemas.microsoft.com/office/drawing/2014/main" id="{6CFF8D7D-F5A2-428D-895B-A665B06858E4}"/>
              </a:ext>
            </a:extLst>
          </p:cNvPr>
          <p:cNvSpPr>
            <a:spLocks/>
          </p:cNvSpPr>
          <p:nvPr/>
        </p:nvSpPr>
        <p:spPr bwMode="auto">
          <a:xfrm>
            <a:off x="3770213" y="1631068"/>
            <a:ext cx="280988" cy="2005013"/>
          </a:xfrm>
          <a:prstGeom prst="leftBrace">
            <a:avLst>
              <a:gd name="adj1" fmla="val 108322"/>
              <a:gd name="adj2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902B91-E097-44B4-A343-6ED43E2C6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776" y="1491368"/>
            <a:ext cx="609123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装配图概述</a:t>
            </a:r>
            <a:r>
              <a:rPr lang="zh-CN" alt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表达方法</a:t>
            </a:r>
            <a:r>
              <a:rPr lang="zh-CN" alt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及</a:t>
            </a: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视图选择</a:t>
            </a:r>
            <a:endParaRPr lang="en-US" altLang="zh-CN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装配图中的尺寸</a:t>
            </a:r>
            <a:r>
              <a:rPr lang="zh-CN" alt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技术要求</a:t>
            </a:r>
            <a:r>
              <a:rPr lang="zh-CN" alt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零件的序号和明细</a:t>
            </a:r>
            <a:endParaRPr lang="en-US" altLang="zh-CN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装配图</a:t>
            </a:r>
            <a:r>
              <a:rPr lang="zh-CN" alt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的绘图方法和步骤、</a:t>
            </a: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装配图中合理的装配结构</a:t>
            </a:r>
            <a:endParaRPr lang="en-US" altLang="zh-CN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读装配图</a:t>
            </a:r>
            <a:r>
              <a:rPr lang="zh-CN" alt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zh-CN" altLang="zh-CN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由装配图拆画零件图</a:t>
            </a:r>
          </a:p>
          <a:p>
            <a:pPr>
              <a:defRPr/>
            </a:pPr>
            <a:endParaRPr lang="en-US" altLang="zh-CN" sz="2400" dirty="0"/>
          </a:p>
        </p:txBody>
      </p:sp>
      <p:sp>
        <p:nvSpPr>
          <p:cNvPr id="6" name="AutoShape 20">
            <a:extLst>
              <a:ext uri="{FF2B5EF4-FFF2-40B4-BE49-F238E27FC236}">
                <a16:creationId xmlns:a16="http://schemas.microsoft.com/office/drawing/2014/main" id="{1ED2F783-FF6B-4334-82E0-78459E5E80AD}"/>
              </a:ext>
            </a:extLst>
          </p:cNvPr>
          <p:cNvSpPr>
            <a:spLocks/>
          </p:cNvSpPr>
          <p:nvPr/>
        </p:nvSpPr>
        <p:spPr bwMode="auto">
          <a:xfrm>
            <a:off x="3687663" y="4234518"/>
            <a:ext cx="363538" cy="2011589"/>
          </a:xfrm>
          <a:prstGeom prst="leftBrace">
            <a:avLst>
              <a:gd name="adj1" fmla="val 107695"/>
              <a:gd name="adj2" fmla="val 50000"/>
            </a:avLst>
          </a:prstGeom>
          <a:noFill/>
          <a:ln w="349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C0B486-BD43-4A1D-8931-E2192ACC7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1746" y="4058356"/>
            <a:ext cx="6465887" cy="230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+mn-ea"/>
                <a:ea typeface="+mn-ea"/>
                <a:cs typeface="Arial" charset="0"/>
              </a:rPr>
              <a:t>1.</a:t>
            </a:r>
            <a:r>
              <a:rPr lang="zh-CN" altLang="en-US" sz="2400" b="1" dirty="0">
                <a:solidFill>
                  <a:srgbClr val="0070C0"/>
                </a:solidFill>
              </a:rPr>
              <a:t>理解掌握装配图的作用与内容；会合理选择视图，能正确表达部件结构和装配关系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rgbClr val="0070C0"/>
                </a:solidFill>
              </a:rPr>
              <a:t>2.</a:t>
            </a:r>
            <a:r>
              <a:rPr lang="zh-CN" altLang="en-US" sz="2400" b="1" dirty="0">
                <a:solidFill>
                  <a:srgbClr val="0070C0"/>
                </a:solidFill>
              </a:rPr>
              <a:t>会利用投影关系绘制装配图、阅读装配图，掌握拆画零件图的方法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rgbClr val="0070C0"/>
                </a:solidFill>
              </a:rPr>
              <a:t>3.</a:t>
            </a:r>
            <a:r>
              <a:rPr lang="zh-CN" altLang="en-US" sz="2400" b="1" dirty="0">
                <a:solidFill>
                  <a:srgbClr val="0070C0"/>
                </a:solidFill>
              </a:rPr>
              <a:t>能够进行装配图的尺寸标注，正确注写序号、指引线、明细栏和标题栏</a:t>
            </a:r>
            <a:endParaRPr lang="en-US" altLang="zh-CN" sz="2400" b="1" dirty="0">
              <a:solidFill>
                <a:srgbClr val="0070C0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377B916-25AD-4265-96B6-DD6BF81F1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251" y="2321631"/>
            <a:ext cx="2722562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本章重点内容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9" name="Rectangle 52">
            <a:extLst>
              <a:ext uri="{FF2B5EF4-FFF2-40B4-BE49-F238E27FC236}">
                <a16:creationId xmlns:a16="http://schemas.microsoft.com/office/drawing/2014/main" id="{26BB2C0D-7F59-4C18-BBB7-6B6B39170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451" y="4926718"/>
            <a:ext cx="1954212" cy="72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学习目标</a:t>
            </a:r>
            <a:r>
              <a:rPr lang="en-US" altLang="zh-CN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:</a:t>
            </a:r>
            <a:endParaRPr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800" dirty="0"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800" dirty="0">
                <a:latin typeface="宋体" pitchFamily="2" charset="-122"/>
              </a:rPr>
              <a:t>		</a:t>
            </a:r>
            <a:endParaRPr lang="zh-CN" altLang="en-US" sz="2800" dirty="0">
              <a:solidFill>
                <a:srgbClr val="FF0000"/>
              </a:solidFill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2-2">
            <a:extLst>
              <a:ext uri="{FF2B5EF4-FFF2-40B4-BE49-F238E27FC236}">
                <a16:creationId xmlns:a16="http://schemas.microsoft.com/office/drawing/2014/main" id="{A3D0B785-6147-4F96-8B8F-C7FD8D7D3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3875" y="1289624"/>
            <a:ext cx="4845458" cy="3495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5" descr="12-1">
            <a:extLst>
              <a:ext uri="{FF2B5EF4-FFF2-40B4-BE49-F238E27FC236}">
                <a16:creationId xmlns:a16="http://schemas.microsoft.com/office/drawing/2014/main" id="{14F129E6-9471-4C7F-ABA1-E8DFAEA91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7924" y="1428004"/>
            <a:ext cx="4921659" cy="331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 descr="12-1(b)">
            <a:extLst>
              <a:ext uri="{FF2B5EF4-FFF2-40B4-BE49-F238E27FC236}">
                <a16:creationId xmlns:a16="http://schemas.microsoft.com/office/drawing/2014/main" id="{4D7E2A6A-F712-40C8-B54E-726B1B1BA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71901" y="1995105"/>
            <a:ext cx="2262187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>
            <a:extLst>
              <a:ext uri="{FF2B5EF4-FFF2-40B4-BE49-F238E27FC236}">
                <a16:creationId xmlns:a16="http://schemas.microsoft.com/office/drawing/2014/main" id="{22B0DD14-CC6B-4830-B032-092BC0A01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174" y="402631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795F86-34BF-4657-B09E-B10C64B4D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738336"/>
            <a:ext cx="30622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98450" eaLnBrk="1" hangingPunct="1"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零件与部件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68F58B9-E2AC-4D05-B65E-E30D4DE3C0E8}"/>
              </a:ext>
            </a:extLst>
          </p:cNvPr>
          <p:cNvCxnSpPr/>
          <p:nvPr/>
        </p:nvCxnSpPr>
        <p:spPr bwMode="auto">
          <a:xfrm>
            <a:off x="6633170" y="3420753"/>
            <a:ext cx="2203450" cy="1587"/>
          </a:xfrm>
          <a:prstGeom prst="straightConnector1">
            <a:avLst/>
          </a:prstGeom>
          <a:solidFill>
            <a:schemeClr val="accent1"/>
          </a:solidFill>
          <a:ln w="8255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0" name="Text Box 31">
            <a:extLst>
              <a:ext uri="{FF2B5EF4-FFF2-40B4-BE49-F238E27FC236}">
                <a16:creationId xmlns:a16="http://schemas.microsoft.com/office/drawing/2014/main" id="{CEFF110A-7C45-4388-B8D2-DDCACD95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987" y="317912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C84351-4E47-4383-A890-ACBDA7B37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44" y="4785447"/>
            <a:ext cx="1024714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★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设计时，一般先根据设计要求确定机器（或部件）的</a:t>
            </a:r>
            <a:r>
              <a:rPr lang="zh-CN" altLang="zh-CN" sz="2400" dirty="0">
                <a:solidFill>
                  <a:srgbClr val="FF0000"/>
                </a:solidFill>
                <a:cs typeface="Times New Roman" pitchFamily="18" charset="0"/>
              </a:rPr>
              <a:t>工作原理、传动路线、</a:t>
            </a:r>
            <a:endParaRPr lang="en-US" altLang="zh-CN" sz="2400" dirty="0">
              <a:solidFill>
                <a:srgbClr val="FF0000"/>
              </a:solidFill>
              <a:cs typeface="Times New Roman" pitchFamily="18" charset="0"/>
            </a:endParaRPr>
          </a:p>
          <a:p>
            <a:r>
              <a:rPr lang="en-US" altLang="zh-CN" sz="2400" dirty="0">
                <a:solidFill>
                  <a:srgbClr val="FF0000"/>
                </a:solidFill>
                <a:cs typeface="Times New Roman" pitchFamily="18" charset="0"/>
              </a:rPr>
              <a:t>   </a:t>
            </a:r>
            <a:r>
              <a:rPr lang="zh-CN" altLang="zh-CN" sz="2400" dirty="0">
                <a:solidFill>
                  <a:srgbClr val="FF0000"/>
                </a:solidFill>
                <a:cs typeface="Times New Roman" pitchFamily="18" charset="0"/>
              </a:rPr>
              <a:t>零件的装配关系、润滑、密封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等要求，绘制出装配图。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E5B10C-5BB1-44AB-B472-B0410C907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602" y="5708238"/>
            <a:ext cx="10247143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★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根据装配图</a:t>
            </a:r>
            <a:r>
              <a:rPr lang="zh-CN" altLang="zh-CN" sz="2400" dirty="0">
                <a:solidFill>
                  <a:srgbClr val="FF0000"/>
                </a:solidFill>
                <a:cs typeface="Times New Roman" pitchFamily="18" charset="0"/>
              </a:rPr>
              <a:t>分别设计、绘制出各零件的零件工作图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。最后依据零件工作图</a:t>
            </a:r>
            <a:endParaRPr lang="en-US" altLang="zh-CN" sz="2400" dirty="0">
              <a:solidFill>
                <a:schemeClr val="tx1"/>
              </a:solidFill>
              <a:cs typeface="Times New Roman" pitchFamily="18" charset="0"/>
            </a:endParaRPr>
          </a:p>
          <a:p>
            <a:r>
              <a:rPr lang="en-US" altLang="zh-CN" sz="2400" dirty="0">
                <a:cs typeface="Times New Roman" pitchFamily="18" charset="0"/>
              </a:rPr>
              <a:t>    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加工出零件</a:t>
            </a:r>
            <a:r>
              <a:rPr lang="zh-CN" altLang="en-US" sz="2400" dirty="0">
                <a:solidFill>
                  <a:schemeClr val="tx1"/>
                </a:solidFill>
                <a:cs typeface="Times New Roman" pitchFamily="18" charset="0"/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F29B24-E6EE-4FB6-A8FD-2461B1462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683" y="2888940"/>
            <a:ext cx="22431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sz="2000" dirty="0">
                <a:solidFill>
                  <a:schemeClr val="tx1"/>
                </a:solidFill>
                <a:cs typeface="Times New Roman" pitchFamily="18" charset="0"/>
              </a:rPr>
              <a:t>按装配图</a:t>
            </a:r>
            <a:r>
              <a:rPr lang="zh-CN" altLang="en-US" sz="2000" dirty="0">
                <a:solidFill>
                  <a:schemeClr val="tx1"/>
                </a:solidFill>
                <a:cs typeface="Times New Roman" pitchFamily="18" charset="0"/>
              </a:rPr>
              <a:t>设计</a:t>
            </a:r>
            <a:r>
              <a:rPr lang="zh-CN" altLang="zh-CN" sz="2000" dirty="0">
                <a:solidFill>
                  <a:schemeClr val="tx1"/>
                </a:solidFill>
                <a:cs typeface="Times New Roman" pitchFamily="18" charset="0"/>
              </a:rPr>
              <a:t>零件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D2C24B-8125-4FEF-AB39-A7E3C22DD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183" y="3600140"/>
            <a:ext cx="22431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sz="2000" dirty="0">
                <a:solidFill>
                  <a:schemeClr val="tx1"/>
                </a:solidFill>
                <a:cs typeface="Times New Roman" pitchFamily="18" charset="0"/>
              </a:rPr>
              <a:t>将零件按照装配图组装成机器或部件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1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2">
            <a:extLst>
              <a:ext uri="{FF2B5EF4-FFF2-40B4-BE49-F238E27FC236}">
                <a16:creationId xmlns:a16="http://schemas.microsoft.com/office/drawing/2014/main" id="{74132A8F-7EEB-4C4F-BC56-2DD087C17864}"/>
              </a:ext>
            </a:extLst>
          </p:cNvPr>
          <p:cNvGrpSpPr>
            <a:grpSpLocks/>
          </p:cNvGrpSpPr>
          <p:nvPr/>
        </p:nvGrpSpPr>
        <p:grpSpPr bwMode="auto">
          <a:xfrm>
            <a:off x="3395700" y="1556792"/>
            <a:ext cx="6648450" cy="4740275"/>
            <a:chOff x="1634953" y="1597158"/>
            <a:chExt cx="6648450" cy="4740275"/>
          </a:xfrm>
        </p:grpSpPr>
        <p:pic>
          <p:nvPicPr>
            <p:cNvPr id="3" name="图片 3">
              <a:extLst>
                <a:ext uri="{FF2B5EF4-FFF2-40B4-BE49-F238E27FC236}">
                  <a16:creationId xmlns:a16="http://schemas.microsoft.com/office/drawing/2014/main" id="{28A588A6-4D76-458B-B9E0-F2F187EE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260428" y="1597158"/>
              <a:ext cx="6022975" cy="4697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Group 14">
              <a:extLst>
                <a:ext uri="{FF2B5EF4-FFF2-40B4-BE49-F238E27FC236}">
                  <a16:creationId xmlns:a16="http://schemas.microsoft.com/office/drawing/2014/main" id="{11FBFA4D-4B1C-43FC-B09F-BA070F4ED6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7528" y="3897445"/>
              <a:ext cx="803275" cy="727075"/>
              <a:chOff x="2784" y="3593"/>
              <a:chExt cx="506" cy="582"/>
            </a:xfrm>
          </p:grpSpPr>
          <p:sp>
            <p:nvSpPr>
              <p:cNvPr id="40" name="Text Box 15">
                <a:extLst>
                  <a:ext uri="{FF2B5EF4-FFF2-40B4-BE49-F238E27FC236}">
                    <a16:creationId xmlns:a16="http://schemas.microsoft.com/office/drawing/2014/main" id="{30CD5396-0C9F-4B61-8914-EB59F9676E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3593"/>
                <a:ext cx="506" cy="3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端盖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Line 16">
                <a:extLst>
                  <a:ext uri="{FF2B5EF4-FFF2-40B4-BE49-F238E27FC236}">
                    <a16:creationId xmlns:a16="http://schemas.microsoft.com/office/drawing/2014/main" id="{84FCC85B-5DF9-4368-A6F0-E803B078F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" y="3911"/>
                <a:ext cx="90" cy="26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06B0323E-7F31-44E7-BF25-D34876804D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5128" y="2843345"/>
              <a:ext cx="1270000" cy="461963"/>
              <a:chOff x="3134" y="2047"/>
              <a:chExt cx="800" cy="291"/>
            </a:xfrm>
          </p:grpSpPr>
          <p:sp>
            <p:nvSpPr>
              <p:cNvPr id="38" name="Text Box 3">
                <a:extLst>
                  <a:ext uri="{FF2B5EF4-FFF2-40B4-BE49-F238E27FC236}">
                    <a16:creationId xmlns:a16="http://schemas.microsoft.com/office/drawing/2014/main" id="{7E2F779D-8F62-47D3-A5DB-0C4ADBB7F8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4" y="2047"/>
                <a:ext cx="57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/>
                  <a:t>阀杆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Line 4">
                <a:extLst>
                  <a:ext uri="{FF2B5EF4-FFF2-40B4-BE49-F238E27FC236}">
                    <a16:creationId xmlns:a16="http://schemas.microsoft.com/office/drawing/2014/main" id="{CE34CED6-3C84-4AC3-BD42-511E2D4D9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9" y="2205"/>
                <a:ext cx="315" cy="1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6B105B84-59DE-49C3-92C5-751217CAF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94278" y="2181358"/>
              <a:ext cx="1100137" cy="585787"/>
              <a:chOff x="5026" y="1950"/>
              <a:chExt cx="693" cy="369"/>
            </a:xfrm>
          </p:grpSpPr>
          <p:sp>
            <p:nvSpPr>
              <p:cNvPr id="36" name="Text Box 9">
                <a:extLst>
                  <a:ext uri="{FF2B5EF4-FFF2-40B4-BE49-F238E27FC236}">
                    <a16:creationId xmlns:a16="http://schemas.microsoft.com/office/drawing/2014/main" id="{18BA8C33-00F5-45FD-BC6A-08BA7FF9FB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3" y="2028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扳手</a:t>
                </a:r>
              </a:p>
            </p:txBody>
          </p:sp>
          <p:sp>
            <p:nvSpPr>
              <p:cNvPr id="37" name="Line 10">
                <a:extLst>
                  <a:ext uri="{FF2B5EF4-FFF2-40B4-BE49-F238E27FC236}">
                    <a16:creationId xmlns:a16="http://schemas.microsoft.com/office/drawing/2014/main" id="{E74D21AB-3C19-48C4-8798-D724E3CEF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6" y="1950"/>
                <a:ext cx="241" cy="1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45914CC6-F1C7-4D15-842C-4264C89F3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89640" y="5175383"/>
              <a:ext cx="803275" cy="723900"/>
              <a:chOff x="3288" y="3503"/>
              <a:chExt cx="506" cy="456"/>
            </a:xfrm>
          </p:grpSpPr>
          <p:sp>
            <p:nvSpPr>
              <p:cNvPr id="34" name="Line 12">
                <a:extLst>
                  <a:ext uri="{FF2B5EF4-FFF2-40B4-BE49-F238E27FC236}">
                    <a16:creationId xmlns:a16="http://schemas.microsoft.com/office/drawing/2014/main" id="{196420A6-512F-44FB-A7F5-22167CE12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8" y="3503"/>
                <a:ext cx="124" cy="19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Text Box 13">
                <a:extLst>
                  <a:ext uri="{FF2B5EF4-FFF2-40B4-BE49-F238E27FC236}">
                    <a16:creationId xmlns:a16="http://schemas.microsoft.com/office/drawing/2014/main" id="{4E7B79E7-2E56-4DEE-8188-72B992D05A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3668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阀体</a:t>
                </a:r>
              </a:p>
            </p:txBody>
          </p:sp>
        </p:grpSp>
        <p:grpSp>
          <p:nvGrpSpPr>
            <p:cNvPr id="8" name="Group 17">
              <a:extLst>
                <a:ext uri="{FF2B5EF4-FFF2-40B4-BE49-F238E27FC236}">
                  <a16:creationId xmlns:a16="http://schemas.microsoft.com/office/drawing/2014/main" id="{AFB610AB-DDC5-47AA-A999-37DE8226E4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6140" y="3811720"/>
              <a:ext cx="803275" cy="1076325"/>
              <a:chOff x="5220" y="2250"/>
              <a:chExt cx="506" cy="678"/>
            </a:xfrm>
          </p:grpSpPr>
          <p:sp>
            <p:nvSpPr>
              <p:cNvPr id="32" name="Text Box 18">
                <a:extLst>
                  <a:ext uri="{FF2B5EF4-FFF2-40B4-BE49-F238E27FC236}">
                    <a16:creationId xmlns:a16="http://schemas.microsoft.com/office/drawing/2014/main" id="{A1913A1D-43A8-4E3B-AB8C-519DA05D30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0" y="2250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螺柱</a:t>
                </a:r>
              </a:p>
            </p:txBody>
          </p:sp>
          <p:sp>
            <p:nvSpPr>
              <p:cNvPr id="33" name="Line 19">
                <a:extLst>
                  <a:ext uri="{FF2B5EF4-FFF2-40B4-BE49-F238E27FC236}">
                    <a16:creationId xmlns:a16="http://schemas.microsoft.com/office/drawing/2014/main" id="{73490C76-2AE0-4751-B9CE-B17F7A8AC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454" y="2523"/>
                <a:ext cx="150" cy="4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Group 23">
              <a:extLst>
                <a:ext uri="{FF2B5EF4-FFF2-40B4-BE49-F238E27FC236}">
                  <a16:creationId xmlns:a16="http://schemas.microsoft.com/office/drawing/2014/main" id="{23D876C3-91C0-48D3-A860-F36CEBA5D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728" y="5415095"/>
              <a:ext cx="803275" cy="882650"/>
              <a:chOff x="4672" y="3002"/>
              <a:chExt cx="506" cy="556"/>
            </a:xfrm>
          </p:grpSpPr>
          <p:sp>
            <p:nvSpPr>
              <p:cNvPr id="30" name="Text Box 24">
                <a:extLst>
                  <a:ext uri="{FF2B5EF4-FFF2-40B4-BE49-F238E27FC236}">
                    <a16:creationId xmlns:a16="http://schemas.microsoft.com/office/drawing/2014/main" id="{5E52C006-92CC-4580-9F44-3A8492AF92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2" y="3267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垫片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Line 25">
                <a:extLst>
                  <a:ext uri="{FF2B5EF4-FFF2-40B4-BE49-F238E27FC236}">
                    <a16:creationId xmlns:a16="http://schemas.microsoft.com/office/drawing/2014/main" id="{9534B2CD-CF4E-4170-BF6E-5B0BB915A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5" y="3002"/>
                <a:ext cx="142" cy="3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Group 26">
              <a:extLst>
                <a:ext uri="{FF2B5EF4-FFF2-40B4-BE49-F238E27FC236}">
                  <a16:creationId xmlns:a16="http://schemas.microsoft.com/office/drawing/2014/main" id="{580C23E6-99F7-454F-9E43-66FDE97848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45003" y="2887795"/>
              <a:ext cx="1778000" cy="461963"/>
              <a:chOff x="4797" y="2783"/>
              <a:chExt cx="1120" cy="291"/>
            </a:xfrm>
          </p:grpSpPr>
          <p:sp>
            <p:nvSpPr>
              <p:cNvPr id="28" name="Text Box 27">
                <a:extLst>
                  <a:ext uri="{FF2B5EF4-FFF2-40B4-BE49-F238E27FC236}">
                    <a16:creationId xmlns:a16="http://schemas.microsoft.com/office/drawing/2014/main" id="{AF95A557-E615-48D8-9AB0-4C5F2CEDFF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21" y="2783"/>
                <a:ext cx="89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螺纹压环</a:t>
                </a:r>
              </a:p>
            </p:txBody>
          </p:sp>
          <p:sp>
            <p:nvSpPr>
              <p:cNvPr id="29" name="Line 28">
                <a:extLst>
                  <a:ext uri="{FF2B5EF4-FFF2-40B4-BE49-F238E27FC236}">
                    <a16:creationId xmlns:a16="http://schemas.microsoft.com/office/drawing/2014/main" id="{6C1E73BC-0AFF-4D3E-A24A-404E04387B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7" y="2823"/>
                <a:ext cx="260" cy="78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Group 26">
              <a:extLst>
                <a:ext uri="{FF2B5EF4-FFF2-40B4-BE49-F238E27FC236}">
                  <a16:creationId xmlns:a16="http://schemas.microsoft.com/office/drawing/2014/main" id="{57F49E7D-3D72-41B5-AF36-E654553E9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4953" y="5586545"/>
              <a:ext cx="868362" cy="750888"/>
              <a:chOff x="4989" y="2553"/>
              <a:chExt cx="547" cy="473"/>
            </a:xfrm>
          </p:grpSpPr>
          <p:sp>
            <p:nvSpPr>
              <p:cNvPr id="26" name="Text Box 27">
                <a:extLst>
                  <a:ext uri="{FF2B5EF4-FFF2-40B4-BE49-F238E27FC236}">
                    <a16:creationId xmlns:a16="http://schemas.microsoft.com/office/drawing/2014/main" id="{FC3E0F48-C20F-43E4-9CF1-B3C5F2C3C0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9" y="2735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螺母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Line 28">
                <a:extLst>
                  <a:ext uri="{FF2B5EF4-FFF2-40B4-BE49-F238E27FC236}">
                    <a16:creationId xmlns:a16="http://schemas.microsoft.com/office/drawing/2014/main" id="{2C973D00-BC21-4813-AB94-739818CED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9" y="2553"/>
                <a:ext cx="227" cy="218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28">
              <a:extLst>
                <a:ext uri="{FF2B5EF4-FFF2-40B4-BE49-F238E27FC236}">
                  <a16:creationId xmlns:a16="http://schemas.microsoft.com/office/drawing/2014/main" id="{6B06066F-45AD-4790-82AE-EF1CC4673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8415" y="5110295"/>
              <a:ext cx="1377950" cy="847725"/>
              <a:chOff x="6067424" y="5470421"/>
              <a:chExt cx="1377950" cy="847831"/>
            </a:xfrm>
          </p:grpSpPr>
          <p:grpSp>
            <p:nvGrpSpPr>
              <p:cNvPr id="22" name="Group 20">
                <a:extLst>
                  <a:ext uri="{FF2B5EF4-FFF2-40B4-BE49-F238E27FC236}">
                    <a16:creationId xmlns:a16="http://schemas.microsoft.com/office/drawing/2014/main" id="{009B809B-9896-4A23-A885-93357D94AF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67429" y="5576889"/>
                <a:ext cx="1377951" cy="741363"/>
                <a:chOff x="4279" y="3784"/>
                <a:chExt cx="868" cy="467"/>
              </a:xfrm>
            </p:grpSpPr>
            <p:sp>
              <p:nvSpPr>
                <p:cNvPr id="24" name="Text Box 21">
                  <a:extLst>
                    <a:ext uri="{FF2B5EF4-FFF2-40B4-BE49-F238E27FC236}">
                      <a16:creationId xmlns:a16="http://schemas.microsoft.com/office/drawing/2014/main" id="{E4D25B83-9BC4-45F9-8C8F-A57BD3F256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46" y="3960"/>
                  <a:ext cx="701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/>
                    <a:t>密封圈</a:t>
                  </a:r>
                </a:p>
              </p:txBody>
            </p:sp>
            <p:sp>
              <p:nvSpPr>
                <p:cNvPr id="25" name="Line 22">
                  <a:extLst>
                    <a:ext uri="{FF2B5EF4-FFF2-40B4-BE49-F238E27FC236}">
                      <a16:creationId xmlns:a16="http://schemas.microsoft.com/office/drawing/2014/main" id="{0D20917B-49DD-4AB2-9350-E8B1C4E52F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9" y="3784"/>
                  <a:ext cx="604" cy="17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Line 22">
                <a:extLst>
                  <a:ext uri="{FF2B5EF4-FFF2-40B4-BE49-F238E27FC236}">
                    <a16:creationId xmlns:a16="http://schemas.microsoft.com/office/drawing/2014/main" id="{3DEEA8EA-6828-475F-91B7-C38C86E8C5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026275" y="5470421"/>
                <a:ext cx="193675" cy="38586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Group 2">
              <a:extLst>
                <a:ext uri="{FF2B5EF4-FFF2-40B4-BE49-F238E27FC236}">
                  <a16:creationId xmlns:a16="http://schemas.microsoft.com/office/drawing/2014/main" id="{32D1BC19-171F-40AB-B6F3-9E5D0EF5D8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3528" y="3503745"/>
              <a:ext cx="1441450" cy="552450"/>
              <a:chOff x="3134" y="2047"/>
              <a:chExt cx="908" cy="348"/>
            </a:xfrm>
          </p:grpSpPr>
          <p:sp>
            <p:nvSpPr>
              <p:cNvPr id="20" name="Text Box 3">
                <a:extLst>
                  <a:ext uri="{FF2B5EF4-FFF2-40B4-BE49-F238E27FC236}">
                    <a16:creationId xmlns:a16="http://schemas.microsoft.com/office/drawing/2014/main" id="{038D462E-01D2-43D2-A89B-F55C832988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4" y="2047"/>
                <a:ext cx="74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/>
                  <a:t>密封环</a:t>
                </a:r>
              </a:p>
            </p:txBody>
          </p:sp>
          <p:sp>
            <p:nvSpPr>
              <p:cNvPr id="21" name="Line 4">
                <a:extLst>
                  <a:ext uri="{FF2B5EF4-FFF2-40B4-BE49-F238E27FC236}">
                    <a16:creationId xmlns:a16="http://schemas.microsoft.com/office/drawing/2014/main" id="{CFBB7E1B-5E43-414F-A44B-7986DB4FA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290"/>
                <a:ext cx="315" cy="1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Group 26">
              <a:extLst>
                <a:ext uri="{FF2B5EF4-FFF2-40B4-BE49-F238E27FC236}">
                  <a16:creationId xmlns:a16="http://schemas.microsoft.com/office/drawing/2014/main" id="{5BB64E02-5566-4013-8C72-803223CD6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9303" y="3435483"/>
              <a:ext cx="803275" cy="925512"/>
              <a:chOff x="5021" y="2783"/>
              <a:chExt cx="506" cy="583"/>
            </a:xfrm>
          </p:grpSpPr>
          <p:sp>
            <p:nvSpPr>
              <p:cNvPr id="18" name="Text Box 27">
                <a:extLst>
                  <a:ext uri="{FF2B5EF4-FFF2-40B4-BE49-F238E27FC236}">
                    <a16:creationId xmlns:a16="http://schemas.microsoft.com/office/drawing/2014/main" id="{AEF02B55-CBA5-4F6E-901E-C679D96328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21" y="2783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垫圈</a:t>
                </a:r>
              </a:p>
            </p:txBody>
          </p:sp>
          <p:sp>
            <p:nvSpPr>
              <p:cNvPr id="19" name="Line 28">
                <a:extLst>
                  <a:ext uri="{FF2B5EF4-FFF2-40B4-BE49-F238E27FC236}">
                    <a16:creationId xmlns:a16="http://schemas.microsoft.com/office/drawing/2014/main" id="{BFE1E69B-2390-47DD-BA9C-68ED3790B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34" y="3017"/>
                <a:ext cx="225" cy="349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8BFCD6CF-61C6-4217-B7AE-25B5C17044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8303" y="4087945"/>
              <a:ext cx="1216025" cy="514350"/>
              <a:chOff x="3276" y="2071"/>
              <a:chExt cx="766" cy="324"/>
            </a:xfrm>
          </p:grpSpPr>
          <p:sp>
            <p:nvSpPr>
              <p:cNvPr id="16" name="Text Box 3">
                <a:extLst>
                  <a:ext uri="{FF2B5EF4-FFF2-40B4-BE49-F238E27FC236}">
                    <a16:creationId xmlns:a16="http://schemas.microsoft.com/office/drawing/2014/main" id="{DB9B3CE4-42B6-4EB1-9944-5B2B381F5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" y="2071"/>
                <a:ext cx="53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/>
                  <a:t>阀芯</a:t>
                </a:r>
              </a:p>
            </p:txBody>
          </p:sp>
          <p:sp>
            <p:nvSpPr>
              <p:cNvPr id="17" name="Line 4">
                <a:extLst>
                  <a:ext uri="{FF2B5EF4-FFF2-40B4-BE49-F238E27FC236}">
                    <a16:creationId xmlns:a16="http://schemas.microsoft.com/office/drawing/2014/main" id="{413C4173-6351-4D9F-A577-81C12D1E8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290"/>
                <a:ext cx="315" cy="1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42AAA067-2C5D-4CF1-B068-9C4386F29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738336"/>
            <a:ext cx="30622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98450" eaLnBrk="1" hangingPunct="1"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零件与部件</a:t>
            </a:r>
          </a:p>
        </p:txBody>
      </p:sp>
      <p:sp>
        <p:nvSpPr>
          <p:cNvPr id="43" name="Text Box 31">
            <a:extLst>
              <a:ext uri="{FF2B5EF4-FFF2-40B4-BE49-F238E27FC236}">
                <a16:creationId xmlns:a16="http://schemas.microsoft.com/office/drawing/2014/main" id="{2E1FC098-9E05-47A2-B063-96016AA3F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987" y="317912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658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45C8582B-46E3-402A-9477-1FC69531F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4" y="3816201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/>
            <a:r>
              <a:rPr lang="en-US" altLang="zh-CN" sz="1000">
                <a:latin typeface="宋体" pitchFamily="2" charset="-122"/>
              </a:rPr>
              <a:t>  </a:t>
            </a: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F57CBFD-81FC-4504-809F-A6C3E20B0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4" y="5754539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60F03384-59DD-43E7-8014-9733EFD4B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386" y="932508"/>
            <a:ext cx="36179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98450" eaLnBrk="1" hangingPunct="1"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装配图与部件图</a:t>
            </a:r>
          </a:p>
        </p:txBody>
      </p:sp>
      <p:pic>
        <p:nvPicPr>
          <p:cNvPr id="6" name="图片 5" descr="sk.jpg">
            <a:extLst>
              <a:ext uri="{FF2B5EF4-FFF2-40B4-BE49-F238E27FC236}">
                <a16:creationId xmlns:a16="http://schemas.microsoft.com/office/drawing/2014/main" id="{3A22D08A-6B99-4A65-8542-F9AD0B584F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719" b="6676"/>
          <a:stretch>
            <a:fillRect/>
          </a:stretch>
        </p:blipFill>
        <p:spPr bwMode="auto">
          <a:xfrm>
            <a:off x="1476374" y="1627115"/>
            <a:ext cx="1855788" cy="2018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 descr="skt.jpg">
            <a:extLst>
              <a:ext uri="{FF2B5EF4-FFF2-40B4-BE49-F238E27FC236}">
                <a16:creationId xmlns:a16="http://schemas.microsoft.com/office/drawing/2014/main" id="{820FAD2A-4A7E-4396-8776-049A7DB7FF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30440" y="1640367"/>
            <a:ext cx="2867005" cy="2064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12-1(b)">
            <a:extLst>
              <a:ext uri="{FF2B5EF4-FFF2-40B4-BE49-F238E27FC236}">
                <a16:creationId xmlns:a16="http://schemas.microsoft.com/office/drawing/2014/main" id="{D953C74F-9B22-433E-9EC4-907759227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83312" y="1678199"/>
            <a:ext cx="1987842" cy="1895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12-2">
            <a:extLst>
              <a:ext uri="{FF2B5EF4-FFF2-40B4-BE49-F238E27FC236}">
                <a16:creationId xmlns:a16="http://schemas.microsoft.com/office/drawing/2014/main" id="{2971E233-62FF-4899-BA6F-189A21E60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439527" y="1679723"/>
            <a:ext cx="2778678" cy="2004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4F57FC4-1DEB-4A06-AEE1-4E3B9A3E6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3363" y="3715318"/>
            <a:ext cx="1119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chemeClr val="tx1"/>
                </a:solidFill>
              </a:rPr>
              <a:t>机器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1EE044-7B95-4ED4-8F80-79C9E9172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3" y="3701433"/>
            <a:ext cx="16605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chemeClr val="tx1"/>
                </a:solidFill>
              </a:rPr>
              <a:t>总装配图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F4E334-005E-4D50-B935-E7B652DC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1229" y="3690708"/>
            <a:ext cx="11207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chemeClr val="tx1"/>
                </a:solidFill>
              </a:rPr>
              <a:t>部件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8C1CF8-37C4-4C47-A2A9-30DBB8B2D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1687" y="3701433"/>
            <a:ext cx="1993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chemeClr val="tx1"/>
                </a:solidFill>
              </a:rPr>
              <a:t>部件装配图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9180D4-6041-4CA0-883A-0BB59470A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6781" y="4216855"/>
            <a:ext cx="15652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rgbClr val="FF0000"/>
                </a:solidFill>
              </a:rPr>
              <a:t>装配图</a:t>
            </a:r>
          </a:p>
        </p:txBody>
      </p:sp>
      <p:sp>
        <p:nvSpPr>
          <p:cNvPr id="15" name="Text Box 31">
            <a:extLst>
              <a:ext uri="{FF2B5EF4-FFF2-40B4-BE49-F238E27FC236}">
                <a16:creationId xmlns:a16="http://schemas.microsoft.com/office/drawing/2014/main" id="{00FA9E1C-2311-4B8D-BFFF-CFD61D82E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16" name="组合 29">
            <a:extLst>
              <a:ext uri="{FF2B5EF4-FFF2-40B4-BE49-F238E27FC236}">
                <a16:creationId xmlns:a16="http://schemas.microsoft.com/office/drawing/2014/main" id="{29887687-A500-457F-91ED-F26223B513B8}"/>
              </a:ext>
            </a:extLst>
          </p:cNvPr>
          <p:cNvGrpSpPr>
            <a:grpSpLocks/>
          </p:cNvGrpSpPr>
          <p:nvPr/>
        </p:nvGrpSpPr>
        <p:grpSpPr bwMode="auto">
          <a:xfrm>
            <a:off x="4799855" y="4092426"/>
            <a:ext cx="4932550" cy="456734"/>
            <a:chOff x="3629891" y="4364180"/>
            <a:chExt cx="3560621" cy="456737"/>
          </a:xfrm>
        </p:grpSpPr>
        <p:sp>
          <p:nvSpPr>
            <p:cNvPr id="17" name="直角上箭头 27">
              <a:extLst>
                <a:ext uri="{FF2B5EF4-FFF2-40B4-BE49-F238E27FC236}">
                  <a16:creationId xmlns:a16="http://schemas.microsoft.com/office/drawing/2014/main" id="{CF620D69-5694-4116-B7F5-AE6FFF427138}"/>
                </a:ext>
              </a:extLst>
            </p:cNvPr>
            <p:cNvSpPr/>
            <p:nvPr/>
          </p:nvSpPr>
          <p:spPr bwMode="auto">
            <a:xfrm rot="5400000">
              <a:off x="3954423" y="4095213"/>
              <a:ext cx="401172" cy="1050235"/>
            </a:xfrm>
            <a:prstGeom prst="bentUpArrow">
              <a:avLst>
                <a:gd name="adj1" fmla="val 25000"/>
                <a:gd name="adj2" fmla="val 25000"/>
                <a:gd name="adj3" fmla="val 50000"/>
              </a:avLst>
            </a:pr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/>
            </a:gra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8" name="直角上箭头 28">
              <a:extLst>
                <a:ext uri="{FF2B5EF4-FFF2-40B4-BE49-F238E27FC236}">
                  <a16:creationId xmlns:a16="http://schemas.microsoft.com/office/drawing/2014/main" id="{75E71313-0793-4A13-B4CD-444282F11A05}"/>
                </a:ext>
              </a:extLst>
            </p:cNvPr>
            <p:cNvSpPr/>
            <p:nvPr/>
          </p:nvSpPr>
          <p:spPr bwMode="auto">
            <a:xfrm rot="16200000" flipH="1">
              <a:off x="6323165" y="3953542"/>
              <a:ext cx="456709" cy="1277985"/>
            </a:xfrm>
            <a:prstGeom prst="bentUpArrow">
              <a:avLst>
                <a:gd name="adj1" fmla="val 25000"/>
                <a:gd name="adj2" fmla="val 25000"/>
                <a:gd name="adj3" fmla="val 50000"/>
              </a:avLst>
            </a:pr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/>
            </a:gra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9" name="Text Box 1029">
            <a:extLst>
              <a:ext uri="{FF2B5EF4-FFF2-40B4-BE49-F238E27FC236}">
                <a16:creationId xmlns:a16="http://schemas.microsoft.com/office/drawing/2014/main" id="{BD10980A-5539-40ED-B415-3474BB97C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799" y="4735364"/>
            <a:ext cx="8162925" cy="4616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2400" dirty="0">
                <a:latin typeface="+mn-ea"/>
                <a:ea typeface="+mn-ea"/>
              </a:rPr>
              <a:t>装配图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是表示产品及其组成部分的连接装配关系的图样。</a:t>
            </a:r>
          </a:p>
        </p:txBody>
      </p:sp>
      <p:sp>
        <p:nvSpPr>
          <p:cNvPr id="20" name="Text Box 2050" descr="点式菱形">
            <a:extLst>
              <a:ext uri="{FF2B5EF4-FFF2-40B4-BE49-F238E27FC236}">
                <a16:creationId xmlns:a16="http://schemas.microsoft.com/office/drawing/2014/main" id="{41FD439E-C3A4-42B8-AAB7-CD64D99F1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49" y="5268764"/>
            <a:ext cx="11128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latin typeface="宋体" pitchFamily="2" charset="-122"/>
              </a:rPr>
              <a:t>功用：</a:t>
            </a:r>
            <a:endParaRPr lang="zh-CN" altLang="en-US" sz="2400" b="0" dirty="0">
              <a:latin typeface="宋体" pitchFamily="2" charset="-122"/>
            </a:endParaRPr>
          </a:p>
        </p:txBody>
      </p:sp>
      <p:sp>
        <p:nvSpPr>
          <p:cNvPr id="21" name="Text Box 2057">
            <a:extLst>
              <a:ext uri="{FF2B5EF4-FFF2-40B4-BE49-F238E27FC236}">
                <a16:creationId xmlns:a16="http://schemas.microsoft.com/office/drawing/2014/main" id="{0C8B11C2-AB6E-4153-A0B4-061EA6B99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9200" y="6131380"/>
            <a:ext cx="87090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是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制定装配工艺规程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，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装配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检验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安装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及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维修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的技术文件。</a:t>
            </a:r>
          </a:p>
        </p:txBody>
      </p:sp>
      <p:sp>
        <p:nvSpPr>
          <p:cNvPr id="22" name="Text Box 2086">
            <a:extLst>
              <a:ext uri="{FF2B5EF4-FFF2-40B4-BE49-F238E27FC236}">
                <a16:creationId xmlns:a16="http://schemas.microsoft.com/office/drawing/2014/main" id="{D7C80233-0DB6-460D-A3B0-15320A201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100" y="5284994"/>
            <a:ext cx="84931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表达部件或机器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工作原理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、零件间的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相对位置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连接和装配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关系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主要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零件的结构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及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装配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需要的尺寸和技术要求。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400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9" grpId="0" animBg="1" autoUpdateAnimBg="0"/>
      <p:bldP spid="20" grpId="0"/>
      <p:bldP spid="21" grpId="0" autoUpdateAnimBg="0"/>
      <p:bldP spid="2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1" descr="点式菱形">
            <a:extLst>
              <a:ext uri="{FF2B5EF4-FFF2-40B4-BE49-F238E27FC236}">
                <a16:creationId xmlns:a16="http://schemas.microsoft.com/office/drawing/2014/main" id="{15570044-AC69-4215-9E9F-C67F1F72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052">
            <a:extLst>
              <a:ext uri="{FF2B5EF4-FFF2-40B4-BE49-F238E27FC236}">
                <a16:creationId xmlns:a16="http://schemas.microsoft.com/office/drawing/2014/main" id="{B03F4DFA-880A-408F-8440-D2F91D19A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020" y="2234361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4" name="Text Box 2053">
            <a:extLst>
              <a:ext uri="{FF2B5EF4-FFF2-40B4-BE49-F238E27FC236}">
                <a16:creationId xmlns:a16="http://schemas.microsoft.com/office/drawing/2014/main" id="{B657DC92-1805-4296-A90A-720505A0A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020" y="2758236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5" name="Text Box 2054">
            <a:extLst>
              <a:ext uri="{FF2B5EF4-FFF2-40B4-BE49-F238E27FC236}">
                <a16:creationId xmlns:a16="http://schemas.microsoft.com/office/drawing/2014/main" id="{7A5787D7-DB95-44B1-961C-021487E69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195" y="3399586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6" name="Text Box 2055">
            <a:extLst>
              <a:ext uri="{FF2B5EF4-FFF2-40B4-BE49-F238E27FC236}">
                <a16:creationId xmlns:a16="http://schemas.microsoft.com/office/drawing/2014/main" id="{79418EC6-D19E-4CCF-AD19-B90278C46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195" y="4094911"/>
            <a:ext cx="227171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7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47201EB9-3B54-4E15-8B3E-E1C8CADF7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8428" y="6239024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 dirty="0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AA9D71-E243-4D35-A2FD-02D9748E2E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97351" y="1517192"/>
            <a:ext cx="6664325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31">
            <a:extLst>
              <a:ext uri="{FF2B5EF4-FFF2-40B4-BE49-F238E27FC236}">
                <a16:creationId xmlns:a16="http://schemas.microsoft.com/office/drawing/2014/main" id="{54665587-CE92-4C4C-8CA2-40DCA12D1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855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2">
            <a:extLst>
              <a:ext uri="{FF2B5EF4-FFF2-40B4-BE49-F238E27FC236}">
                <a16:creationId xmlns:a16="http://schemas.microsoft.com/office/drawing/2014/main" id="{D8C8EA43-2AD1-4DE1-8B07-9B721AF06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061" y="2052947"/>
            <a:ext cx="2159566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3" name="Text Box 2053">
            <a:extLst>
              <a:ext uri="{FF2B5EF4-FFF2-40B4-BE49-F238E27FC236}">
                <a16:creationId xmlns:a16="http://schemas.microsoft.com/office/drawing/2014/main" id="{55F50BBB-02EE-49C3-BB52-196AF4BBF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061" y="2727307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4" name="Text Box 2054">
            <a:extLst>
              <a:ext uri="{FF2B5EF4-FFF2-40B4-BE49-F238E27FC236}">
                <a16:creationId xmlns:a16="http://schemas.microsoft.com/office/drawing/2014/main" id="{6BF92FE4-9790-442F-94F2-1E2B6DA1E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236" y="3273735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5" name="Text Box 2055">
            <a:extLst>
              <a:ext uri="{FF2B5EF4-FFF2-40B4-BE49-F238E27FC236}">
                <a16:creationId xmlns:a16="http://schemas.microsoft.com/office/drawing/2014/main" id="{D761A6FA-83E5-459C-8D1A-3CA68D741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236" y="3969060"/>
            <a:ext cx="227171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6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DC7BBEB9-08B6-4B90-897C-B31DC291A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391" y="6255654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 dirty="0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CD3B7C-EE4E-4848-990B-26F90E0D0F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78565" y="1499505"/>
            <a:ext cx="6608763" cy="477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7447590-E03D-47D4-9506-909133B4CC52}"/>
              </a:ext>
            </a:extLst>
          </p:cNvPr>
          <p:cNvSpPr/>
          <p:nvPr/>
        </p:nvSpPr>
        <p:spPr>
          <a:xfrm>
            <a:off x="7824193" y="4560474"/>
            <a:ext cx="2941572" cy="1754326"/>
          </a:xfrm>
          <a:prstGeom prst="rect">
            <a:avLst/>
          </a:prstGeom>
          <a:effectLst>
            <a:glow>
              <a:schemeClr val="accent1"/>
            </a:glow>
          </a:effec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B0F0"/>
                </a:solidFill>
              </a:rPr>
              <a:t>可正确、</a:t>
            </a:r>
            <a:r>
              <a:rPr lang="zh-CN" altLang="en-US" b="1" dirty="0">
                <a:solidFill>
                  <a:srgbClr val="FF0000"/>
                </a:solidFill>
              </a:rPr>
              <a:t>清晰地表达</a:t>
            </a:r>
            <a:r>
              <a:rPr lang="zh-CN" altLang="en-US" b="1" dirty="0">
                <a:solidFill>
                  <a:srgbClr val="00B0F0"/>
                </a:solidFill>
              </a:rPr>
              <a:t>机器（或部件）的</a:t>
            </a:r>
            <a:r>
              <a:rPr lang="zh-CN" altLang="en-US" b="1" dirty="0">
                <a:solidFill>
                  <a:srgbClr val="FF0000"/>
                </a:solidFill>
              </a:rPr>
              <a:t>工作原理、传动路线</a:t>
            </a:r>
            <a:r>
              <a:rPr lang="zh-CN" altLang="en-US" b="1" dirty="0">
                <a:solidFill>
                  <a:srgbClr val="00B0F0"/>
                </a:solidFill>
              </a:rPr>
              <a:t>、各组成</a:t>
            </a:r>
            <a:r>
              <a:rPr lang="zh-CN" altLang="en-US" b="1" dirty="0">
                <a:solidFill>
                  <a:srgbClr val="FF0000"/>
                </a:solidFill>
              </a:rPr>
              <a:t>零件之间</a:t>
            </a:r>
            <a:r>
              <a:rPr lang="zh-CN" altLang="en-US" b="1" dirty="0">
                <a:solidFill>
                  <a:srgbClr val="00B0F0"/>
                </a:solidFill>
              </a:rPr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装配</a:t>
            </a:r>
            <a:r>
              <a:rPr lang="zh-CN" altLang="en-US" b="1" dirty="0">
                <a:solidFill>
                  <a:srgbClr val="00B0F0"/>
                </a:solidFill>
              </a:rPr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连接关系</a:t>
            </a:r>
            <a:r>
              <a:rPr lang="zh-CN" altLang="en-US" b="1" dirty="0">
                <a:solidFill>
                  <a:srgbClr val="00B0F0"/>
                </a:solidFill>
              </a:rPr>
              <a:t>及</a:t>
            </a:r>
            <a:r>
              <a:rPr lang="zh-CN" altLang="en-US" b="1" dirty="0">
                <a:solidFill>
                  <a:srgbClr val="FF0000"/>
                </a:solidFill>
              </a:rPr>
              <a:t>主要零件的结构形状</a:t>
            </a:r>
            <a:r>
              <a:rPr lang="zh-CN" altLang="en-US" b="1" dirty="0">
                <a:solidFill>
                  <a:srgbClr val="00B0F0"/>
                </a:solidFill>
              </a:rPr>
              <a:t>，并详细表达机器的</a:t>
            </a:r>
            <a:r>
              <a:rPr lang="zh-CN" altLang="en-US" b="1" dirty="0">
                <a:solidFill>
                  <a:srgbClr val="FF0000"/>
                </a:solidFill>
              </a:rPr>
              <a:t>密封方式</a:t>
            </a:r>
            <a:r>
              <a:rPr lang="zh-CN" altLang="en-US" b="1" dirty="0">
                <a:solidFill>
                  <a:srgbClr val="00B0F0"/>
                </a:solidFill>
              </a:rPr>
              <a:t>等</a:t>
            </a:r>
          </a:p>
        </p:txBody>
      </p:sp>
      <p:sp>
        <p:nvSpPr>
          <p:cNvPr id="9" name="Text Box 2051" descr="点式菱形">
            <a:extLst>
              <a:ext uri="{FF2B5EF4-FFF2-40B4-BE49-F238E27FC236}">
                <a16:creationId xmlns:a16="http://schemas.microsoft.com/office/drawing/2014/main" id="{7A52BE12-E602-4118-B013-4A506E9F6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Text Box 31">
            <a:extLst>
              <a:ext uri="{FF2B5EF4-FFF2-40B4-BE49-F238E27FC236}">
                <a16:creationId xmlns:a16="http://schemas.microsoft.com/office/drawing/2014/main" id="{20A6ED4A-03EA-4BDD-9C51-0CB1FD5D0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09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1" descr="点式菱形">
            <a:extLst>
              <a:ext uri="{FF2B5EF4-FFF2-40B4-BE49-F238E27FC236}">
                <a16:creationId xmlns:a16="http://schemas.microsoft.com/office/drawing/2014/main" id="{9D80726B-3DF8-4592-9404-55A8F12C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31">
            <a:extLst>
              <a:ext uri="{FF2B5EF4-FFF2-40B4-BE49-F238E27FC236}">
                <a16:creationId xmlns:a16="http://schemas.microsoft.com/office/drawing/2014/main" id="{6D26DE31-266C-4A07-8259-5CE533D2B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Text Box 2052">
            <a:extLst>
              <a:ext uri="{FF2B5EF4-FFF2-40B4-BE49-F238E27FC236}">
                <a16:creationId xmlns:a16="http://schemas.microsoft.com/office/drawing/2014/main" id="{66CA06E1-06AF-4B4E-836C-AC81A1A50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46" y="2189189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5" name="Text Box 2053">
            <a:extLst>
              <a:ext uri="{FF2B5EF4-FFF2-40B4-BE49-F238E27FC236}">
                <a16:creationId xmlns:a16="http://schemas.microsoft.com/office/drawing/2014/main" id="{79C078A6-6F78-474A-BF76-CBFF3C98B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46" y="2713064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6" name="Text Box 2054">
            <a:extLst>
              <a:ext uri="{FF2B5EF4-FFF2-40B4-BE49-F238E27FC236}">
                <a16:creationId xmlns:a16="http://schemas.microsoft.com/office/drawing/2014/main" id="{DDD4952B-F8B0-477C-8100-6AA541A79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609" y="3409977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7" name="Text Box 2055">
            <a:extLst>
              <a:ext uri="{FF2B5EF4-FFF2-40B4-BE49-F238E27FC236}">
                <a16:creationId xmlns:a16="http://schemas.microsoft.com/office/drawing/2014/main" id="{CE9C47A3-D1D8-4749-9ED6-5278DD4AF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609" y="4105302"/>
            <a:ext cx="227171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8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67B6FCC7-7142-43B8-A775-8146C0F74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119" y="6163766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 dirty="0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9" name="图片 5">
            <a:extLst>
              <a:ext uri="{FF2B5EF4-FFF2-40B4-BE49-F238E27FC236}">
                <a16:creationId xmlns:a16="http://schemas.microsoft.com/office/drawing/2014/main" id="{A91F6DC4-A1EF-4823-A738-3FE74680D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0179" y="1484784"/>
            <a:ext cx="6627813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E266E05-41C2-4E13-B67F-790B53B29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236" y="4301595"/>
            <a:ext cx="2667756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70C0"/>
                </a:solidFill>
              </a:rPr>
              <a:t>表示机器或部件</a:t>
            </a:r>
            <a:r>
              <a:rPr lang="zh-CN" altLang="en-US" b="1" dirty="0">
                <a:solidFill>
                  <a:srgbClr val="FF0000"/>
                </a:solidFill>
              </a:rPr>
              <a:t>性能尺寸</a:t>
            </a:r>
            <a:r>
              <a:rPr lang="zh-CN" altLang="en-US" b="1" dirty="0">
                <a:solidFill>
                  <a:srgbClr val="0070C0"/>
                </a:solidFill>
              </a:rPr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规格尺寸、配合尺寸、安装尺寸、</a:t>
            </a:r>
            <a:r>
              <a:rPr lang="zh-CN" altLang="en-US" b="1" dirty="0">
                <a:solidFill>
                  <a:srgbClr val="0070C0"/>
                </a:solidFill>
              </a:rPr>
              <a:t>部件和零件间的</a:t>
            </a:r>
            <a:r>
              <a:rPr lang="zh-CN" altLang="en-US" b="1" dirty="0">
                <a:solidFill>
                  <a:srgbClr val="FF0000"/>
                </a:solidFill>
              </a:rPr>
              <a:t>相对位置</a:t>
            </a:r>
            <a:r>
              <a:rPr lang="zh-CN" altLang="en-US" b="1" dirty="0">
                <a:solidFill>
                  <a:srgbClr val="0070C0"/>
                </a:solidFill>
              </a:rPr>
              <a:t>等尺寸以及机器（或部件）</a:t>
            </a:r>
            <a:r>
              <a:rPr lang="zh-CN" altLang="en-US" b="1" dirty="0">
                <a:solidFill>
                  <a:srgbClr val="FF0000"/>
                </a:solidFill>
              </a:rPr>
              <a:t>总体大小</a:t>
            </a:r>
            <a:r>
              <a:rPr lang="zh-CN" altLang="en-US" b="1" dirty="0">
                <a:solidFill>
                  <a:srgbClr val="0070C0"/>
                </a:solidFill>
              </a:rPr>
              <a:t>的尺寸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91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1" descr="点式菱形">
            <a:extLst>
              <a:ext uri="{FF2B5EF4-FFF2-40B4-BE49-F238E27FC236}">
                <a16:creationId xmlns:a16="http://schemas.microsoft.com/office/drawing/2014/main" id="{9DAE78E0-E520-4495-B487-719F5DA8D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31">
            <a:extLst>
              <a:ext uri="{FF2B5EF4-FFF2-40B4-BE49-F238E27FC236}">
                <a16:creationId xmlns:a16="http://schemas.microsoft.com/office/drawing/2014/main" id="{9D0F1C4C-CBED-48D9-9293-E70522B0A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Text Box 2052">
            <a:extLst>
              <a:ext uri="{FF2B5EF4-FFF2-40B4-BE49-F238E27FC236}">
                <a16:creationId xmlns:a16="http://schemas.microsoft.com/office/drawing/2014/main" id="{DDEBEE34-1068-4B36-B6C0-157CA71AB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432" y="2172011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5" name="Text Box 2053">
            <a:extLst>
              <a:ext uri="{FF2B5EF4-FFF2-40B4-BE49-F238E27FC236}">
                <a16:creationId xmlns:a16="http://schemas.microsoft.com/office/drawing/2014/main" id="{5977E90A-AAC2-4E0A-9581-FC11C0414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432" y="2695886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6" name="Text Box 2054">
            <a:hlinkClick r:id="rId2" action="ppaction://hlinksldjump"/>
            <a:extLst>
              <a:ext uri="{FF2B5EF4-FFF2-40B4-BE49-F238E27FC236}">
                <a16:creationId xmlns:a16="http://schemas.microsoft.com/office/drawing/2014/main" id="{BDC21E2E-CB01-4DFD-B6D0-37080C043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607" y="3392799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7" name="Text Box 2055">
            <a:extLst>
              <a:ext uri="{FF2B5EF4-FFF2-40B4-BE49-F238E27FC236}">
                <a16:creationId xmlns:a16="http://schemas.microsoft.com/office/drawing/2014/main" id="{17DFE89C-8DF2-40D2-96A7-171D07E6B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607" y="4088124"/>
            <a:ext cx="227171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8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600FAB02-9D91-4D81-9C63-6E97EB83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7688" y="6278562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 dirty="0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9" name="图片 6">
            <a:extLst>
              <a:ext uri="{FF2B5EF4-FFF2-40B4-BE49-F238E27FC236}">
                <a16:creationId xmlns:a16="http://schemas.microsoft.com/office/drawing/2014/main" id="{0E038AC7-CCA0-45A4-9B21-2B063DE788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9576" y="1572728"/>
            <a:ext cx="6619875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36CAC49-1A45-4C1B-9879-F450E6F25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151" y="5154128"/>
            <a:ext cx="297656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70C0"/>
                </a:solidFill>
              </a:rPr>
              <a:t>机器和部件在装配、调试、安装、检验以及维修和使用应达到的要求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78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1" descr="点式菱形">
            <a:extLst>
              <a:ext uri="{FF2B5EF4-FFF2-40B4-BE49-F238E27FC236}">
                <a16:creationId xmlns:a16="http://schemas.microsoft.com/office/drawing/2014/main" id="{4061C4F1-0458-497D-B558-3DB728D74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31">
            <a:extLst>
              <a:ext uri="{FF2B5EF4-FFF2-40B4-BE49-F238E27FC236}">
                <a16:creationId xmlns:a16="http://schemas.microsoft.com/office/drawing/2014/main" id="{92F09A71-2CA3-4391-9E9B-1A2B28029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Text Box 2052">
            <a:extLst>
              <a:ext uri="{FF2B5EF4-FFF2-40B4-BE49-F238E27FC236}">
                <a16:creationId xmlns:a16="http://schemas.microsoft.com/office/drawing/2014/main" id="{FEBA4DE5-A58A-448F-A6C8-DBB9294F0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441" y="2189189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5" name="Text Box 2053">
            <a:extLst>
              <a:ext uri="{FF2B5EF4-FFF2-40B4-BE49-F238E27FC236}">
                <a16:creationId xmlns:a16="http://schemas.microsoft.com/office/drawing/2014/main" id="{35B4854C-6CDB-4A59-9548-A695F4E21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441" y="2713064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6" name="Text Box 2054">
            <a:extLst>
              <a:ext uri="{FF2B5EF4-FFF2-40B4-BE49-F238E27FC236}">
                <a16:creationId xmlns:a16="http://schemas.microsoft.com/office/drawing/2014/main" id="{C056E581-D419-4F3B-A0AA-86C8A7172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616" y="3409977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7" name="Text Box 2055">
            <a:extLst>
              <a:ext uri="{FF2B5EF4-FFF2-40B4-BE49-F238E27FC236}">
                <a16:creationId xmlns:a16="http://schemas.microsoft.com/office/drawing/2014/main" id="{9F541453-606C-4D55-B036-1FED6E1C0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503" y="4105302"/>
            <a:ext cx="227171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rgbClr val="0070C0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rgbClr val="0070C0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rgbClr val="0070C0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rgbClr val="0070C0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8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BC3B7B26-3265-4D5D-9C4A-3771FBA4E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1184" y="6114352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9" name="图片 6">
            <a:extLst>
              <a:ext uri="{FF2B5EF4-FFF2-40B4-BE49-F238E27FC236}">
                <a16:creationId xmlns:a16="http://schemas.microsoft.com/office/drawing/2014/main" id="{7995E462-E63D-4EAE-A310-BE6EB09A0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6109" y="1361377"/>
            <a:ext cx="6618287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35CE69B-06C7-4430-9E5A-02A98C24F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26834" y="5519040"/>
            <a:ext cx="2147887" cy="63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2EAE86-48C5-43CD-8616-DDD68361D4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96109" y="1378840"/>
            <a:ext cx="6605587" cy="477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88E8A6F-72C4-4DDB-BF3A-368852CE0A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69121" y="1389952"/>
            <a:ext cx="6632575" cy="481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9044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D4A6B5-0689-4D4C-B801-700E201537A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625316" y="506387"/>
            <a:ext cx="7315200" cy="2143125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关于装配图的作用与内容说法正确的是：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570BC8-041E-46DD-8D81-5A4A6B1429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539716" y="2657450"/>
            <a:ext cx="6913563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dirty="0"/>
              <a:t>表示产品及其组成部分的连接、装配关系的图样</a:t>
            </a:r>
            <a:endParaRPr kumimoji="0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F20B9B-9C51-4E8D-BAD9-5490B892BAB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539716" y="3514700"/>
            <a:ext cx="6913563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dirty="0"/>
              <a:t>进行设计、装配、检验、安装、调试和维修时必要的技术文件</a:t>
            </a:r>
            <a:endParaRPr kumimoji="0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5" name="矩形 7">
            <a:extLst>
              <a:ext uri="{FF2B5EF4-FFF2-40B4-BE49-F238E27FC236}">
                <a16:creationId xmlns:a16="http://schemas.microsoft.com/office/drawing/2014/main" id="{D0501F28-6407-45BC-ACFD-2C9D93F3B382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2825341" y="2720950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68A1DFAF-23AE-4FC8-AF15-BE915BB79A5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825341" y="3578200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7" name="圆角矩形 11">
            <a:extLst>
              <a:ext uri="{FF2B5EF4-FFF2-40B4-BE49-F238E27FC236}">
                <a16:creationId xmlns:a16="http://schemas.microsoft.com/office/drawing/2014/main" id="{53CE4BB2-4727-4227-A57A-173E47076A3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883116" y="6086450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CF22AD-C508-4BF3-8B00-15F8302235C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39716" y="4371950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/>
              <a:t>一组视图</a:t>
            </a:r>
            <a:r>
              <a:rPr lang="zh-CN" altLang="zh-CN" dirty="0"/>
              <a:t>、</a:t>
            </a:r>
            <a:r>
              <a:rPr lang="zh-CN" altLang="en-US" dirty="0"/>
              <a:t>必要尺寸、技术要求</a:t>
            </a:r>
            <a:endParaRPr kumimoji="0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9" name="矩形 21">
            <a:extLst>
              <a:ext uri="{FF2B5EF4-FFF2-40B4-BE49-F238E27FC236}">
                <a16:creationId xmlns:a16="http://schemas.microsoft.com/office/drawing/2014/main" id="{F189AF8F-DE2F-4E55-9CD9-77F5FCE1269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825341" y="4435450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3FC728-1193-4EEB-AB1B-17FA01F39D1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539716" y="5229200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dirty="0"/>
              <a:t>零部件的编号、明细栏和标题栏</a:t>
            </a:r>
            <a:endParaRPr kumimoji="0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11" name="矩形 23">
            <a:extLst>
              <a:ext uri="{FF2B5EF4-FFF2-40B4-BE49-F238E27FC236}">
                <a16:creationId xmlns:a16="http://schemas.microsoft.com/office/drawing/2014/main" id="{22ED584A-3B2F-4C78-A090-CB632C815FC6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2825341" y="5292700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grpSp>
        <p:nvGrpSpPr>
          <p:cNvPr id="12" name="组合 16">
            <a:extLst>
              <a:ext uri="{FF2B5EF4-FFF2-40B4-BE49-F238E27FC236}">
                <a16:creationId xmlns:a16="http://schemas.microsoft.com/office/drawing/2014/main" id="{2A6EF078-8445-440B-A893-B1C47758E732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710916" y="128613"/>
            <a:chExt cx="9144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5F4045AB-125B-4915-8C89-A787E527E666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710916" y="128613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573CC19F-A7E8-4DE0-998B-F3A5CAC98A78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710916" y="128613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5D558D22-E277-4F84-A424-7CA6C3B8D88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456916" y="128613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3364B439-3C47-4C48-8898-D475403BD9B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85011" y="237833"/>
              <a:ext cx="2286000" cy="508000"/>
            </a:xfrm>
            <a:prstGeom prst="rect">
              <a:avLst/>
            </a:prstGeom>
          </p:spPr>
          <p:txBody>
            <a:bodyPr vert="horz" wrap="none" anchor="ctr" anchorCtr="0">
              <a:no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17" name="图片 1">
            <a:extLst>
              <a:ext uri="{FF2B5EF4-FFF2-40B4-BE49-F238E27FC236}">
                <a16:creationId xmlns:a16="http://schemas.microsoft.com/office/drawing/2014/main" id="{3784E426-66AC-42C1-9A94-3537E45C019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0214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>
            <a:extLst>
              <a:ext uri="{FF2B5EF4-FFF2-40B4-BE49-F238E27FC236}">
                <a16:creationId xmlns:a16="http://schemas.microsoft.com/office/drawing/2014/main" id="{65AFFA24-CFFD-4B6C-BBDC-CB5B7B17C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96100" y="3212935"/>
            <a:ext cx="3138488" cy="297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0D470E1-2967-4228-8D0C-84BDB5B5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7188" y="3224047"/>
            <a:ext cx="3005137" cy="267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5ADC1D24-FFEF-47F7-ADF7-17E533008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863" y="1305863"/>
            <a:ext cx="64976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一、规定画法 </a:t>
            </a:r>
            <a:r>
              <a:rPr lang="en-US" altLang="zh-CN" sz="2800" b="1" dirty="0">
                <a:solidFill>
                  <a:srgbClr val="0070C0"/>
                </a:solidFill>
                <a:latin typeface="宋体" pitchFamily="2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接触表面和非接触面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E569C33-1530-4C14-9672-954C1C46D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840160"/>
            <a:ext cx="79803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 ⒈ 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相邻零件的接触表面和配合表面只画一条线</a:t>
            </a:r>
          </a:p>
        </p:txBody>
      </p:sp>
      <p:grpSp>
        <p:nvGrpSpPr>
          <p:cNvPr id="6" name="Group 48">
            <a:extLst>
              <a:ext uri="{FF2B5EF4-FFF2-40B4-BE49-F238E27FC236}">
                <a16:creationId xmlns:a16="http://schemas.microsoft.com/office/drawing/2014/main" id="{073B92F8-DBF6-4DD9-8D92-F861705A1575}"/>
              </a:ext>
            </a:extLst>
          </p:cNvPr>
          <p:cNvGrpSpPr>
            <a:grpSpLocks/>
          </p:cNvGrpSpPr>
          <p:nvPr/>
        </p:nvGrpSpPr>
        <p:grpSpPr bwMode="auto">
          <a:xfrm>
            <a:off x="5980100" y="5105235"/>
            <a:ext cx="3248025" cy="1098550"/>
            <a:chOff x="2247" y="3063"/>
            <a:chExt cx="2046" cy="692"/>
          </a:xfrm>
        </p:grpSpPr>
        <p:sp>
          <p:nvSpPr>
            <p:cNvPr id="7" name="Text Box 49">
              <a:extLst>
                <a:ext uri="{FF2B5EF4-FFF2-40B4-BE49-F238E27FC236}">
                  <a16:creationId xmlns:a16="http://schemas.microsoft.com/office/drawing/2014/main" id="{02FE52D4-E398-42C1-AF28-965568837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441"/>
              <a:ext cx="109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99"/>
                  </a:solidFill>
                </a:rPr>
                <a:t>两面不配合</a:t>
              </a:r>
              <a:endParaRPr lang="zh-CN" altLang="en-US" sz="2400" b="0" dirty="0">
                <a:solidFill>
                  <a:srgbClr val="333399"/>
                </a:solidFill>
              </a:endParaRPr>
            </a:p>
          </p:txBody>
        </p:sp>
        <p:sp>
          <p:nvSpPr>
            <p:cNvPr id="8" name="Freeform 50">
              <a:extLst>
                <a:ext uri="{FF2B5EF4-FFF2-40B4-BE49-F238E27FC236}">
                  <a16:creationId xmlns:a16="http://schemas.microsoft.com/office/drawing/2014/main" id="{096735AC-6AD6-4553-8EA7-0746CC4CB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3123"/>
              <a:ext cx="547" cy="630"/>
            </a:xfrm>
            <a:custGeom>
              <a:avLst/>
              <a:gdLst>
                <a:gd name="T0" fmla="*/ 547 w 547"/>
                <a:gd name="T1" fmla="*/ 0 h 630"/>
                <a:gd name="T2" fmla="*/ 0 w 547"/>
                <a:gd name="T3" fmla="*/ 630 h 630"/>
                <a:gd name="T4" fmla="*/ 0 60000 65536"/>
                <a:gd name="T5" fmla="*/ 0 60000 65536"/>
                <a:gd name="T6" fmla="*/ 0 w 547"/>
                <a:gd name="T7" fmla="*/ 0 h 630"/>
                <a:gd name="T8" fmla="*/ 547 w 547"/>
                <a:gd name="T9" fmla="*/ 630 h 63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7" h="630">
                  <a:moveTo>
                    <a:pt x="547" y="0"/>
                  </a:moveTo>
                  <a:lnTo>
                    <a:pt x="0" y="630"/>
                  </a:lnTo>
                </a:path>
              </a:pathLst>
            </a:custGeom>
            <a:noFill/>
            <a:ln w="19050">
              <a:solidFill>
                <a:srgbClr val="333399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" name="Line 51">
              <a:extLst>
                <a:ext uri="{FF2B5EF4-FFF2-40B4-BE49-F238E27FC236}">
                  <a16:creationId xmlns:a16="http://schemas.microsoft.com/office/drawing/2014/main" id="{A339D297-28CF-4F23-ACF3-9D409F74B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3755"/>
              <a:ext cx="117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" name="Freeform 52">
              <a:extLst>
                <a:ext uri="{FF2B5EF4-FFF2-40B4-BE49-F238E27FC236}">
                  <a16:creationId xmlns:a16="http://schemas.microsoft.com/office/drawing/2014/main" id="{840A6D23-9315-42B6-8018-EAEAF7840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3063"/>
              <a:ext cx="686" cy="465"/>
            </a:xfrm>
            <a:custGeom>
              <a:avLst/>
              <a:gdLst>
                <a:gd name="T0" fmla="*/ 12660 w 422"/>
                <a:gd name="T1" fmla="*/ 0 h 233"/>
                <a:gd name="T2" fmla="*/ 0 w 422"/>
                <a:gd name="T3" fmla="*/ 29377 h 233"/>
                <a:gd name="T4" fmla="*/ 0 60000 65536"/>
                <a:gd name="T5" fmla="*/ 0 60000 65536"/>
                <a:gd name="T6" fmla="*/ 0 w 422"/>
                <a:gd name="T7" fmla="*/ 0 h 233"/>
                <a:gd name="T8" fmla="*/ 422 w 422"/>
                <a:gd name="T9" fmla="*/ 233 h 2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22" h="233">
                  <a:moveTo>
                    <a:pt x="422" y="0"/>
                  </a:moveTo>
                  <a:lnTo>
                    <a:pt x="0" y="233"/>
                  </a:lnTo>
                </a:path>
              </a:pathLst>
            </a:custGeom>
            <a:noFill/>
            <a:ln w="19050">
              <a:solidFill>
                <a:srgbClr val="333399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11" name="Group 93">
            <a:extLst>
              <a:ext uri="{FF2B5EF4-FFF2-40B4-BE49-F238E27FC236}">
                <a16:creationId xmlns:a16="http://schemas.microsoft.com/office/drawing/2014/main" id="{92E9BD3E-996D-4989-A293-7FFAF99EFDCE}"/>
              </a:ext>
            </a:extLst>
          </p:cNvPr>
          <p:cNvGrpSpPr>
            <a:grpSpLocks/>
          </p:cNvGrpSpPr>
          <p:nvPr/>
        </p:nvGrpSpPr>
        <p:grpSpPr bwMode="auto">
          <a:xfrm>
            <a:off x="3019413" y="4979822"/>
            <a:ext cx="1698625" cy="1355725"/>
            <a:chOff x="1068" y="2954"/>
            <a:chExt cx="1069" cy="854"/>
          </a:xfrm>
        </p:grpSpPr>
        <p:sp>
          <p:nvSpPr>
            <p:cNvPr id="12" name="Text Box 87">
              <a:extLst>
                <a:ext uri="{FF2B5EF4-FFF2-40B4-BE49-F238E27FC236}">
                  <a16:creationId xmlns:a16="http://schemas.microsoft.com/office/drawing/2014/main" id="{165B9358-4F42-4C6A-B92E-F6E46989C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2" y="3499"/>
              <a:ext cx="89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99"/>
                  </a:solidFill>
                </a:rPr>
                <a:t>两面配合</a:t>
              </a:r>
              <a:endParaRPr lang="zh-CN" altLang="en-US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88">
              <a:extLst>
                <a:ext uri="{FF2B5EF4-FFF2-40B4-BE49-F238E27FC236}">
                  <a16:creationId xmlns:a16="http://schemas.microsoft.com/office/drawing/2014/main" id="{0E3C47DE-02AA-42D6-B14F-2C9BCC4BB7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7" y="3808"/>
              <a:ext cx="1015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" name="Line 89">
              <a:extLst>
                <a:ext uri="{FF2B5EF4-FFF2-40B4-BE49-F238E27FC236}">
                  <a16:creationId xmlns:a16="http://schemas.microsoft.com/office/drawing/2014/main" id="{A3A91530-4AF5-4F42-82A4-CEB915E67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" y="2954"/>
              <a:ext cx="526" cy="85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15" name="Text Box 104">
            <a:extLst>
              <a:ext uri="{FF2B5EF4-FFF2-40B4-BE49-F238E27FC236}">
                <a16:creationId xmlns:a16="http://schemas.microsoft.com/office/drawing/2014/main" id="{DF7CEE15-257A-4396-962C-5110A2D34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398" y="296019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/>
          </a:p>
        </p:txBody>
      </p:sp>
      <p:grpSp>
        <p:nvGrpSpPr>
          <p:cNvPr id="16" name="组合 4">
            <a:extLst>
              <a:ext uri="{FF2B5EF4-FFF2-40B4-BE49-F238E27FC236}">
                <a16:creationId xmlns:a16="http://schemas.microsoft.com/office/drawing/2014/main" id="{CF222397-D580-446A-9878-76FC2B54B2D9}"/>
              </a:ext>
            </a:extLst>
          </p:cNvPr>
          <p:cNvGrpSpPr>
            <a:grpSpLocks/>
          </p:cNvGrpSpPr>
          <p:nvPr/>
        </p:nvGrpSpPr>
        <p:grpSpPr bwMode="auto">
          <a:xfrm>
            <a:off x="3852850" y="3089110"/>
            <a:ext cx="4494213" cy="989012"/>
            <a:chOff x="2624931" y="3416755"/>
            <a:chExt cx="4494326" cy="989012"/>
          </a:xfrm>
        </p:grpSpPr>
        <p:grpSp>
          <p:nvGrpSpPr>
            <p:cNvPr id="17" name="Group 82">
              <a:extLst>
                <a:ext uri="{FF2B5EF4-FFF2-40B4-BE49-F238E27FC236}">
                  <a16:creationId xmlns:a16="http://schemas.microsoft.com/office/drawing/2014/main" id="{E5319495-04BE-44FE-BD24-E5E7E67FAB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4931" y="3416755"/>
              <a:ext cx="2413000" cy="989012"/>
              <a:chOff x="1742" y="2326"/>
              <a:chExt cx="1520" cy="623"/>
            </a:xfrm>
          </p:grpSpPr>
          <p:sp>
            <p:nvSpPr>
              <p:cNvPr id="19" name="Text Box 83">
                <a:extLst>
                  <a:ext uri="{FF2B5EF4-FFF2-40B4-BE49-F238E27FC236}">
                    <a16:creationId xmlns:a16="http://schemas.microsoft.com/office/drawing/2014/main" id="{7E454172-2933-47BC-A8AC-5980605EA1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8" y="2326"/>
                <a:ext cx="89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400">
                    <a:solidFill>
                      <a:srgbClr val="333399"/>
                    </a:solidFill>
                  </a:rPr>
                  <a:t>两面接触</a:t>
                </a:r>
                <a:endParaRPr lang="zh-CN" altLang="en-US" sz="2400" b="0">
                  <a:solidFill>
                    <a:srgbClr val="333399"/>
                  </a:solidFill>
                </a:endParaRPr>
              </a:p>
            </p:txBody>
          </p:sp>
          <p:sp>
            <p:nvSpPr>
              <p:cNvPr id="20" name="Line 84">
                <a:extLst>
                  <a:ext uri="{FF2B5EF4-FFF2-40B4-BE49-F238E27FC236}">
                    <a16:creationId xmlns:a16="http://schemas.microsoft.com/office/drawing/2014/main" id="{51C0BD98-0BEB-44D2-8A9E-E29854B6F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631"/>
                <a:ext cx="955" cy="0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21" name="Line 85">
                <a:extLst>
                  <a:ext uri="{FF2B5EF4-FFF2-40B4-BE49-F238E27FC236}">
                    <a16:creationId xmlns:a16="http://schemas.microsoft.com/office/drawing/2014/main" id="{D600FDD7-14F9-44F4-82E2-934EEFB02A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2" y="2633"/>
                <a:ext cx="571" cy="316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18" name="Line 85">
              <a:extLst>
                <a:ext uri="{FF2B5EF4-FFF2-40B4-BE49-F238E27FC236}">
                  <a16:creationId xmlns:a16="http://schemas.microsoft.com/office/drawing/2014/main" id="{DCF485EF-5A8D-427D-9DC0-21B96CD96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37933" y="3892199"/>
              <a:ext cx="2081324" cy="34617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22" name="Text Box 31">
            <a:extLst>
              <a:ext uri="{FF2B5EF4-FFF2-40B4-BE49-F238E27FC236}">
                <a16:creationId xmlns:a16="http://schemas.microsoft.com/office/drawing/2014/main" id="{F6CA9192-F56D-45F8-BEEA-C62B606F9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04BC9C3E-61DD-4EB4-B1B4-BFEB3B705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8" y="2429529"/>
            <a:ext cx="57604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不接触表面和非配合表面画两条线。</a:t>
            </a:r>
          </a:p>
        </p:txBody>
      </p:sp>
    </p:spTree>
    <p:extLst>
      <p:ext uri="{BB962C8B-B14F-4D97-AF65-F5344CB8AC3E}">
        <p14:creationId xmlns:p14="http://schemas.microsoft.com/office/powerpoint/2010/main" val="199803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2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>
            <a:extLst>
              <a:ext uri="{FF2B5EF4-FFF2-40B4-BE49-F238E27FC236}">
                <a16:creationId xmlns:a16="http://schemas.microsoft.com/office/drawing/2014/main" id="{6DEC350C-69BB-4932-B263-8982F367DD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5595" y="1736812"/>
            <a:ext cx="3881437" cy="304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9D4CD696-A24F-4E1C-866C-72C0543F4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023" y="2132856"/>
            <a:ext cx="3603625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两个</a:t>
            </a:r>
            <a:r>
              <a:rPr lang="en-US" altLang="zh-CN" sz="2800" dirty="0">
                <a:solidFill>
                  <a:schemeClr val="tx1"/>
                </a:solidFill>
                <a:latin typeface="宋体" pitchFamily="2" charset="-12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或两个以上</a:t>
            </a:r>
            <a:r>
              <a:rPr lang="en-US" altLang="zh-CN" sz="2800" dirty="0">
                <a:solidFill>
                  <a:schemeClr val="tx1"/>
                </a:solidFill>
                <a:latin typeface="宋体" pitchFamily="2" charset="-122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零件邻接时，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剖面线的倾 斜方向应相反或间隔</a:t>
            </a:r>
            <a:r>
              <a:rPr lang="zh-CN" altLang="en-US" sz="2800" dirty="0">
                <a:latin typeface="宋体" pitchFamily="2" charset="-122"/>
              </a:rPr>
              <a:t>不同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。</a:t>
            </a:r>
            <a:endParaRPr lang="en-US" altLang="zh-CN" sz="2800" dirty="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endParaRPr lang="en-US" altLang="zh-CN" sz="2800" dirty="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   但同一零件在各视图上的剖面线方向和间隔必须一致。</a:t>
            </a:r>
          </a:p>
        </p:txBody>
      </p:sp>
      <p:grpSp>
        <p:nvGrpSpPr>
          <p:cNvPr id="4" name="组合 93">
            <a:extLst>
              <a:ext uri="{FF2B5EF4-FFF2-40B4-BE49-F238E27FC236}">
                <a16:creationId xmlns:a16="http://schemas.microsoft.com/office/drawing/2014/main" id="{E28604A9-AF30-4147-A1C5-0882DE6980C6}"/>
              </a:ext>
            </a:extLst>
          </p:cNvPr>
          <p:cNvGrpSpPr>
            <a:grpSpLocks/>
          </p:cNvGrpSpPr>
          <p:nvPr/>
        </p:nvGrpSpPr>
        <p:grpSpPr bwMode="auto">
          <a:xfrm>
            <a:off x="5159896" y="3540212"/>
            <a:ext cx="2657749" cy="2301056"/>
            <a:chOff x="2771771" y="3818966"/>
            <a:chExt cx="3064160" cy="1902274"/>
          </a:xfrm>
        </p:grpSpPr>
        <p:sp>
          <p:nvSpPr>
            <p:cNvPr id="5" name="Text Box 137">
              <a:extLst>
                <a:ext uri="{FF2B5EF4-FFF2-40B4-BE49-F238E27FC236}">
                  <a16:creationId xmlns:a16="http://schemas.microsoft.com/office/drawing/2014/main" id="{B97D9D3A-BBCB-4FF8-A0D3-D3ADE9C2B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771" y="4890243"/>
              <a:ext cx="2003425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CC"/>
                  </a:solidFill>
                </a:rPr>
                <a:t>两零件剖面线方向相反</a:t>
              </a:r>
              <a:endParaRPr lang="zh-CN" altLang="en-US" sz="2400" b="0" dirty="0">
                <a:solidFill>
                  <a:srgbClr val="3333CC"/>
                </a:solidFill>
              </a:endParaRPr>
            </a:p>
          </p:txBody>
        </p:sp>
        <p:grpSp>
          <p:nvGrpSpPr>
            <p:cNvPr id="6" name="Group 181">
              <a:extLst>
                <a:ext uri="{FF2B5EF4-FFF2-40B4-BE49-F238E27FC236}">
                  <a16:creationId xmlns:a16="http://schemas.microsoft.com/office/drawing/2014/main" id="{4B4C07B8-2794-4CC8-91EC-8B96F1A4ED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0631" y="3818966"/>
              <a:ext cx="3035300" cy="1897063"/>
              <a:chOff x="2247" y="2343"/>
              <a:chExt cx="1912" cy="1195"/>
            </a:xfrm>
          </p:grpSpPr>
          <p:sp>
            <p:nvSpPr>
              <p:cNvPr id="7" name="Freeform 138">
                <a:extLst>
                  <a:ext uri="{FF2B5EF4-FFF2-40B4-BE49-F238E27FC236}">
                    <a16:creationId xmlns:a16="http://schemas.microsoft.com/office/drawing/2014/main" id="{F8F3717D-F408-4C84-8CC6-7BDD686BE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2343"/>
                <a:ext cx="685" cy="1193"/>
              </a:xfrm>
              <a:custGeom>
                <a:avLst/>
                <a:gdLst>
                  <a:gd name="T0" fmla="*/ 12753 w 547"/>
                  <a:gd name="T1" fmla="*/ 0 h 630"/>
                  <a:gd name="T2" fmla="*/ 0 w 547"/>
                  <a:gd name="T3" fmla="*/ 4803245 h 630"/>
                  <a:gd name="T4" fmla="*/ 0 60000 65536"/>
                  <a:gd name="T5" fmla="*/ 0 60000 65536"/>
                  <a:gd name="T6" fmla="*/ 0 w 547"/>
                  <a:gd name="T7" fmla="*/ 0 h 630"/>
                  <a:gd name="T8" fmla="*/ 547 w 547"/>
                  <a:gd name="T9" fmla="*/ 630 h 6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7" h="630">
                    <a:moveTo>
                      <a:pt x="547" y="0"/>
                    </a:moveTo>
                    <a:lnTo>
                      <a:pt x="0" y="630"/>
                    </a:lnTo>
                  </a:path>
                </a:pathLst>
              </a:custGeom>
              <a:noFill/>
              <a:ln w="19050">
                <a:solidFill>
                  <a:srgbClr val="0033CC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8" name="Line 139">
                <a:extLst>
                  <a:ext uri="{FF2B5EF4-FFF2-40B4-BE49-F238E27FC236}">
                    <a16:creationId xmlns:a16="http://schemas.microsoft.com/office/drawing/2014/main" id="{21A81CBE-3EE7-48A2-8A1F-A43FC3427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7" y="3538"/>
                <a:ext cx="1174" cy="0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9" name="Freeform 140">
                <a:extLst>
                  <a:ext uri="{FF2B5EF4-FFF2-40B4-BE49-F238E27FC236}">
                    <a16:creationId xmlns:a16="http://schemas.microsoft.com/office/drawing/2014/main" id="{4832D19D-EA01-4A21-B15D-2EF4FBB25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2" y="2936"/>
                <a:ext cx="737" cy="589"/>
              </a:xfrm>
              <a:custGeom>
                <a:avLst/>
                <a:gdLst>
                  <a:gd name="T0" fmla="*/ 1036385 w 422"/>
                  <a:gd name="T1" fmla="*/ 0 h 233"/>
                  <a:gd name="T2" fmla="*/ 0 w 422"/>
                  <a:gd name="T3" fmla="*/ 101392628 h 233"/>
                  <a:gd name="T4" fmla="*/ 0 60000 65536"/>
                  <a:gd name="T5" fmla="*/ 0 60000 65536"/>
                  <a:gd name="T6" fmla="*/ 0 w 422"/>
                  <a:gd name="T7" fmla="*/ 0 h 233"/>
                  <a:gd name="T8" fmla="*/ 422 w 422"/>
                  <a:gd name="T9" fmla="*/ 233 h 2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22" h="233">
                    <a:moveTo>
                      <a:pt x="422" y="0"/>
                    </a:moveTo>
                    <a:lnTo>
                      <a:pt x="0" y="233"/>
                    </a:lnTo>
                  </a:path>
                </a:pathLst>
              </a:custGeom>
              <a:noFill/>
              <a:ln w="19050">
                <a:solidFill>
                  <a:srgbClr val="0033CC"/>
                </a:solidFill>
                <a:round/>
                <a:headEnd type="triangl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</p:grpSp>
      <p:sp>
        <p:nvSpPr>
          <p:cNvPr id="10" name="矩形 92">
            <a:extLst>
              <a:ext uri="{FF2B5EF4-FFF2-40B4-BE49-F238E27FC236}">
                <a16:creationId xmlns:a16="http://schemas.microsoft.com/office/drawing/2014/main" id="{5D1DDC3C-C2A1-4A5F-A5A3-13A9C5330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468" y="1474874"/>
            <a:ext cx="26484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70C0"/>
                </a:solidFill>
              </a:rPr>
              <a:t>2.</a:t>
            </a:r>
            <a:r>
              <a:rPr lang="zh-CN" altLang="en-US" sz="2800" b="1" dirty="0">
                <a:solidFill>
                  <a:srgbClr val="0070C0"/>
                </a:solidFill>
              </a:rPr>
              <a:t>剖面符号画法</a:t>
            </a:r>
          </a:p>
        </p:txBody>
      </p:sp>
      <p:sp>
        <p:nvSpPr>
          <p:cNvPr id="11" name="Text Box 31">
            <a:extLst>
              <a:ext uri="{FF2B5EF4-FFF2-40B4-BE49-F238E27FC236}">
                <a16:creationId xmlns:a16="http://schemas.microsoft.com/office/drawing/2014/main" id="{5BDD5907-6BA9-4BA4-8E84-E14AC4C39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049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829A1A12-4075-44C3-846E-B439502B7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Picture 9">
            <a:extLst>
              <a:ext uri="{FF2B5EF4-FFF2-40B4-BE49-F238E27FC236}">
                <a16:creationId xmlns:a16="http://schemas.microsoft.com/office/drawing/2014/main" id="{7235A694-A0C7-49B8-ABC6-EA089833F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07668" y="2649973"/>
            <a:ext cx="6829425" cy="41472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5123">
            <a:extLst>
              <a:ext uri="{FF2B5EF4-FFF2-40B4-BE49-F238E27FC236}">
                <a16:creationId xmlns:a16="http://schemas.microsoft.com/office/drawing/2014/main" id="{D694F61D-088F-4B04-939A-B06DA90D3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822" y="1313600"/>
            <a:ext cx="3016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二、简化画法</a:t>
            </a:r>
          </a:p>
        </p:txBody>
      </p:sp>
      <p:sp>
        <p:nvSpPr>
          <p:cNvPr id="5" name="Text Box 5125">
            <a:extLst>
              <a:ext uri="{FF2B5EF4-FFF2-40B4-BE49-F238E27FC236}">
                <a16:creationId xmlns:a16="http://schemas.microsoft.com/office/drawing/2014/main" id="{C5982927-B038-4075-A0DF-BB5A54FE9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752" y="1811261"/>
            <a:ext cx="1011685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⒈</a:t>
            </a:r>
            <a:r>
              <a:rPr lang="zh-CN" altLang="en-US" sz="2400" b="1" dirty="0">
                <a:solidFill>
                  <a:schemeClr val="tx1"/>
                </a:solidFill>
              </a:rPr>
              <a:t>装配图中</a:t>
            </a:r>
            <a:r>
              <a:rPr lang="zh-CN" altLang="en-US" sz="2400" b="1" dirty="0">
                <a:solidFill>
                  <a:srgbClr val="FF0000"/>
                </a:solidFill>
              </a:rPr>
              <a:t>若干相同</a:t>
            </a:r>
            <a:r>
              <a:rPr lang="zh-CN" altLang="en-US" sz="2400" b="1" dirty="0">
                <a:solidFill>
                  <a:schemeClr val="tx1"/>
                </a:solidFill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零件组</a:t>
            </a:r>
            <a:r>
              <a:rPr lang="zh-CN" altLang="en-US" sz="2400" b="1" dirty="0">
                <a:solidFill>
                  <a:schemeClr val="tx1"/>
                </a:solidFill>
              </a:rPr>
              <a:t>，如螺栓连接等，可仅</a:t>
            </a:r>
            <a:r>
              <a:rPr lang="zh-CN" altLang="en-US" sz="2400" b="1" dirty="0">
                <a:solidFill>
                  <a:srgbClr val="FF0000"/>
                </a:solidFill>
              </a:rPr>
              <a:t>详细地画出一组</a:t>
            </a:r>
            <a:r>
              <a:rPr lang="zh-CN" altLang="en-US" sz="2400" b="1" dirty="0">
                <a:solidFill>
                  <a:schemeClr val="tx1"/>
                </a:solidFill>
              </a:rPr>
              <a:t>，其余只需用</a:t>
            </a:r>
            <a:r>
              <a:rPr lang="zh-CN" altLang="en-US" sz="2400" b="1" dirty="0">
                <a:solidFill>
                  <a:srgbClr val="FF0000"/>
                </a:solidFill>
              </a:rPr>
              <a:t>细点画线</a:t>
            </a:r>
            <a:r>
              <a:rPr lang="zh-CN" altLang="en-US" sz="2400" b="1" dirty="0">
                <a:solidFill>
                  <a:schemeClr val="tx1"/>
                </a:solidFill>
              </a:rPr>
              <a:t>表示出</a:t>
            </a:r>
            <a:r>
              <a:rPr lang="zh-CN" altLang="en-US" sz="2400" b="1" dirty="0">
                <a:solidFill>
                  <a:srgbClr val="FF0000"/>
                </a:solidFill>
              </a:rPr>
              <a:t>其位置</a:t>
            </a:r>
            <a:r>
              <a:rPr lang="zh-CN" altLang="en-US" sz="2400" b="1" dirty="0">
                <a:solidFill>
                  <a:schemeClr val="tx1"/>
                </a:solidFill>
              </a:rPr>
              <a:t>，并给出零、部件总数</a:t>
            </a:r>
            <a:endParaRPr lang="zh-CN" altLang="en-US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32E343-BBD8-40B2-BB2E-273D1F34B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412" y="4628807"/>
            <a:ext cx="3046412" cy="12001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400" dirty="0"/>
              <a:t>连接阀体接头和阀体的四组螺柱在视图中仅画出一组</a:t>
            </a:r>
          </a:p>
        </p:txBody>
      </p:sp>
      <p:sp>
        <p:nvSpPr>
          <p:cNvPr id="7" name="右箭头 11">
            <a:extLst>
              <a:ext uri="{FF2B5EF4-FFF2-40B4-BE49-F238E27FC236}">
                <a16:creationId xmlns:a16="http://schemas.microsoft.com/office/drawing/2014/main" id="{B490F6E2-D0C6-4C17-B34B-7AF6381D00F4}"/>
              </a:ext>
            </a:extLst>
          </p:cNvPr>
          <p:cNvSpPr>
            <a:spLocks noChangeArrowheads="1"/>
          </p:cNvSpPr>
          <p:nvPr/>
        </p:nvSpPr>
        <p:spPr bwMode="auto">
          <a:xfrm rot="9352353">
            <a:off x="4070842" y="5763646"/>
            <a:ext cx="1548000" cy="180000"/>
          </a:xfrm>
          <a:prstGeom prst="rightArrow">
            <a:avLst>
              <a:gd name="adj1" fmla="val 50000"/>
              <a:gd name="adj2" fmla="val 142896"/>
            </a:avLst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8" name="右箭头 12">
            <a:extLst>
              <a:ext uri="{FF2B5EF4-FFF2-40B4-BE49-F238E27FC236}">
                <a16:creationId xmlns:a16="http://schemas.microsoft.com/office/drawing/2014/main" id="{D40B06A8-1D77-4FF9-9C22-AB5C6969168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156834" y="4680052"/>
            <a:ext cx="690018" cy="196825"/>
          </a:xfrm>
          <a:prstGeom prst="rightArrow">
            <a:avLst>
              <a:gd name="adj1" fmla="val 50000"/>
              <a:gd name="adj2" fmla="val 129475"/>
            </a:avLst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255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63769650-D709-4EDA-9548-AC565F523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5123">
            <a:extLst>
              <a:ext uri="{FF2B5EF4-FFF2-40B4-BE49-F238E27FC236}">
                <a16:creationId xmlns:a16="http://schemas.microsoft.com/office/drawing/2014/main" id="{BE9BAD0A-814C-4A6A-8B37-CC1FC7593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077" y="1224695"/>
            <a:ext cx="3016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二、简化画法</a:t>
            </a: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921D81E6-66EB-4154-90EC-9AC8921B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271" y="1785505"/>
            <a:ext cx="6076950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2.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零件的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工艺结构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，如倒角、圆角、退刀槽等可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不画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B749D8-45EE-4D96-842A-DA7AB9EC7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90478" y="2074561"/>
            <a:ext cx="2217737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99">
            <a:extLst>
              <a:ext uri="{FF2B5EF4-FFF2-40B4-BE49-F238E27FC236}">
                <a16:creationId xmlns:a16="http://schemas.microsoft.com/office/drawing/2014/main" id="{B1F79566-BB10-42B1-B65D-5551408E20DB}"/>
              </a:ext>
            </a:extLst>
          </p:cNvPr>
          <p:cNvGrpSpPr>
            <a:grpSpLocks/>
          </p:cNvGrpSpPr>
          <p:nvPr/>
        </p:nvGrpSpPr>
        <p:grpSpPr bwMode="auto">
          <a:xfrm>
            <a:off x="6896628" y="5335286"/>
            <a:ext cx="2428875" cy="838200"/>
            <a:chOff x="2795" y="2506"/>
            <a:chExt cx="1530" cy="528"/>
          </a:xfrm>
        </p:grpSpPr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1A3DB4E1-E66B-453F-8882-EFC84C36C6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8" y="2630"/>
              <a:ext cx="697" cy="40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4B82AD33-BD45-4909-99E5-C167F3BAD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8" y="3034"/>
              <a:ext cx="76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7E6146A5-BCB7-4795-8D27-115ADB01A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5" y="2506"/>
              <a:ext cx="952" cy="51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/>
                <a:t>滚动轴承</a:t>
              </a:r>
            </a:p>
            <a:p>
              <a:pPr algn="ctr" eaLnBrk="1" hangingPunct="1"/>
              <a:r>
                <a:rPr lang="zh-CN" altLang="en-US"/>
                <a:t>简化画法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101">
            <a:extLst>
              <a:ext uri="{FF2B5EF4-FFF2-40B4-BE49-F238E27FC236}">
                <a16:creationId xmlns:a16="http://schemas.microsoft.com/office/drawing/2014/main" id="{1F01C51F-75A0-4322-AB30-04210BF74B22}"/>
              </a:ext>
            </a:extLst>
          </p:cNvPr>
          <p:cNvGrpSpPr>
            <a:grpSpLocks/>
          </p:cNvGrpSpPr>
          <p:nvPr/>
        </p:nvGrpSpPr>
        <p:grpSpPr bwMode="auto">
          <a:xfrm>
            <a:off x="7499858" y="1594665"/>
            <a:ext cx="2755307" cy="693570"/>
            <a:chOff x="3894" y="366"/>
            <a:chExt cx="1775" cy="602"/>
          </a:xfrm>
        </p:grpSpPr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53C2FE4A-E466-498F-A664-710BC0450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7" y="711"/>
              <a:ext cx="192" cy="25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07FF82E7-E229-4400-B68C-E2657140D8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0" y="710"/>
              <a:ext cx="152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B6324F8D-8E6F-4D00-850C-7D6F0FC46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366"/>
              <a:ext cx="1705" cy="40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zh-CN" altLang="en-US" sz="2400" dirty="0"/>
                <a:t>垫圈厚度夸大画出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00">
            <a:extLst>
              <a:ext uri="{FF2B5EF4-FFF2-40B4-BE49-F238E27FC236}">
                <a16:creationId xmlns:a16="http://schemas.microsoft.com/office/drawing/2014/main" id="{5609A903-FF8B-4109-AD57-43B4CA8073B1}"/>
              </a:ext>
            </a:extLst>
          </p:cNvPr>
          <p:cNvGrpSpPr>
            <a:grpSpLocks/>
          </p:cNvGrpSpPr>
          <p:nvPr/>
        </p:nvGrpSpPr>
        <p:grpSpPr bwMode="auto">
          <a:xfrm>
            <a:off x="8242828" y="5798836"/>
            <a:ext cx="1957387" cy="966788"/>
            <a:chOff x="4081" y="3206"/>
            <a:chExt cx="1233" cy="609"/>
          </a:xfrm>
        </p:grpSpPr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1579C536-A1A0-4B78-9074-21A0E32AF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3" y="3206"/>
              <a:ext cx="351" cy="60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41424C3C-395B-4DF6-B9D2-05D29A0066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4" y="3811"/>
              <a:ext cx="86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62645686-2D8D-425A-9D81-73FEC094D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" y="3523"/>
              <a:ext cx="89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zh-CN" altLang="en-US" sz="2400"/>
                <a:t>圆角不画</a:t>
              </a:r>
              <a:endParaRPr lang="zh-CN" altLang="en-US" sz="2400" b="0">
                <a:solidFill>
                  <a:schemeClr val="tx1"/>
                </a:solidFill>
              </a:endParaRPr>
            </a:p>
          </p:txBody>
        </p:sp>
      </p:grpSp>
      <p:sp>
        <p:nvSpPr>
          <p:cNvPr id="18" name="Text Box 18">
            <a:extLst>
              <a:ext uri="{FF2B5EF4-FFF2-40B4-BE49-F238E27FC236}">
                <a16:creationId xmlns:a16="http://schemas.microsoft.com/office/drawing/2014/main" id="{6857A242-5EDB-4AE5-BD35-A511133E4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9777" y="2611361"/>
            <a:ext cx="575612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滚动轴承、螺栓联接等可采用简化画法。</a:t>
            </a:r>
          </a:p>
        </p:txBody>
      </p:sp>
      <p:grpSp>
        <p:nvGrpSpPr>
          <p:cNvPr id="19" name="Group 98">
            <a:extLst>
              <a:ext uri="{FF2B5EF4-FFF2-40B4-BE49-F238E27FC236}">
                <a16:creationId xmlns:a16="http://schemas.microsoft.com/office/drawing/2014/main" id="{A1031DCF-F7E8-4140-B2C1-264CC453BAB0}"/>
              </a:ext>
            </a:extLst>
          </p:cNvPr>
          <p:cNvGrpSpPr>
            <a:grpSpLocks/>
          </p:cNvGrpSpPr>
          <p:nvPr/>
        </p:nvGrpSpPr>
        <p:grpSpPr bwMode="auto">
          <a:xfrm>
            <a:off x="6892449" y="2830213"/>
            <a:ext cx="1967915" cy="490538"/>
            <a:chOff x="3020" y="1290"/>
            <a:chExt cx="1379" cy="309"/>
          </a:xfrm>
        </p:grpSpPr>
        <p:sp>
          <p:nvSpPr>
            <p:cNvPr id="20" name="Line 94">
              <a:extLst>
                <a:ext uri="{FF2B5EF4-FFF2-40B4-BE49-F238E27FC236}">
                  <a16:creationId xmlns:a16="http://schemas.microsoft.com/office/drawing/2014/main" id="{9637A55A-0274-4FF4-8140-ED21CD59C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9" y="1413"/>
              <a:ext cx="320" cy="18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1" name="Line 95">
              <a:extLst>
                <a:ext uri="{FF2B5EF4-FFF2-40B4-BE49-F238E27FC236}">
                  <a16:creationId xmlns:a16="http://schemas.microsoft.com/office/drawing/2014/main" id="{174EE276-2C8A-48D2-918A-F419974C02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4" y="1593"/>
              <a:ext cx="99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" name="Text Box 96">
              <a:extLst>
                <a:ext uri="{FF2B5EF4-FFF2-40B4-BE49-F238E27FC236}">
                  <a16:creationId xmlns:a16="http://schemas.microsoft.com/office/drawing/2014/main" id="{655BD9F7-DD22-48C4-A869-BE819131E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0" y="1290"/>
              <a:ext cx="11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 eaLnBrk="1" hangingPunct="1"/>
              <a:r>
                <a:rPr lang="zh-CN" altLang="en-US" sz="2400" dirty="0"/>
                <a:t>倒角不画</a:t>
              </a:r>
            </a:p>
          </p:txBody>
        </p:sp>
      </p:grpSp>
      <p:sp>
        <p:nvSpPr>
          <p:cNvPr id="23" name="Text Box 3">
            <a:extLst>
              <a:ext uri="{FF2B5EF4-FFF2-40B4-BE49-F238E27FC236}">
                <a16:creationId xmlns:a16="http://schemas.microsoft.com/office/drawing/2014/main" id="{51510B96-A597-4BE9-93C9-28B61D099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34" y="3198128"/>
            <a:ext cx="48059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⒊ 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标准件和实心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件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按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不剖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画。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D77D6F3-9A05-4CD5-A7D9-524D74CF5C4A}"/>
              </a:ext>
            </a:extLst>
          </p:cNvPr>
          <p:cNvGrpSpPr/>
          <p:nvPr/>
        </p:nvGrpSpPr>
        <p:grpSpPr>
          <a:xfrm>
            <a:off x="1159899" y="4029094"/>
            <a:ext cx="7363754" cy="2584169"/>
            <a:chOff x="698653" y="4190701"/>
            <a:chExt cx="7363754" cy="2584169"/>
          </a:xfrm>
        </p:grpSpPr>
        <p:pic>
          <p:nvPicPr>
            <p:cNvPr id="25" name="图片 2">
              <a:extLst>
                <a:ext uri="{FF2B5EF4-FFF2-40B4-BE49-F238E27FC236}">
                  <a16:creationId xmlns:a16="http://schemas.microsoft.com/office/drawing/2014/main" id="{2387BDF6-5CA2-495A-9F38-CC3A9A128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560178" y="4190701"/>
              <a:ext cx="2502229" cy="2584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6" name="组合 26">
              <a:extLst>
                <a:ext uri="{FF2B5EF4-FFF2-40B4-BE49-F238E27FC236}">
                  <a16:creationId xmlns:a16="http://schemas.microsoft.com/office/drawing/2014/main" id="{338F908B-4E0D-44E5-A794-5FD9E96DEC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8653" y="4294909"/>
              <a:ext cx="2252365" cy="2079489"/>
              <a:chOff x="449651" y="3367261"/>
              <a:chExt cx="3104762" cy="2771429"/>
            </a:xfrm>
          </p:grpSpPr>
          <p:pic>
            <p:nvPicPr>
              <p:cNvPr id="27" name="图片 3">
                <a:extLst>
                  <a:ext uri="{FF2B5EF4-FFF2-40B4-BE49-F238E27FC236}">
                    <a16:creationId xmlns:a16="http://schemas.microsoft.com/office/drawing/2014/main" id="{C097EBD7-19A8-4C7D-9A62-4C8EB1BCE5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449651" y="3367261"/>
                <a:ext cx="3104762" cy="27714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28" name="组合 25">
                <a:extLst>
                  <a:ext uri="{FF2B5EF4-FFF2-40B4-BE49-F238E27FC236}">
                    <a16:creationId xmlns:a16="http://schemas.microsoft.com/office/drawing/2014/main" id="{99FB2C6B-D44B-4BA2-9C71-4A84AC6E83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9651" y="3887896"/>
                <a:ext cx="1931746" cy="2146032"/>
                <a:chOff x="1049651" y="3887896"/>
                <a:chExt cx="1931746" cy="2146032"/>
              </a:xfrm>
            </p:grpSpPr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06F423E8-E4FF-432B-BE65-D34719B769EF}"/>
                    </a:ext>
                  </a:extLst>
                </p:cNvPr>
                <p:cNvCxnSpPr/>
                <p:nvPr/>
              </p:nvCxnSpPr>
              <p:spPr>
                <a:xfrm>
                  <a:off x="1049651" y="3887896"/>
                  <a:ext cx="1931746" cy="0"/>
                </a:xfrm>
                <a:prstGeom prst="line">
                  <a:avLst/>
                </a:prstGeom>
                <a:ln w="412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9">
                  <a:extLst>
                    <a:ext uri="{FF2B5EF4-FFF2-40B4-BE49-F238E27FC236}">
                      <a16:creationId xmlns:a16="http://schemas.microsoft.com/office/drawing/2014/main" id="{E2A65243-6D85-4AC3-BC02-E36422EB9631}"/>
                    </a:ext>
                  </a:extLst>
                </p:cNvPr>
                <p:cNvCxnSpPr/>
                <p:nvPr/>
              </p:nvCxnSpPr>
              <p:spPr>
                <a:xfrm>
                  <a:off x="1049651" y="4638689"/>
                  <a:ext cx="1931746" cy="0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FE1B782B-E897-4C74-BEC5-E293D91A0A2D}"/>
                    </a:ext>
                  </a:extLst>
                </p:cNvPr>
                <p:cNvCxnSpPr/>
                <p:nvPr/>
              </p:nvCxnSpPr>
              <p:spPr>
                <a:xfrm flipV="1">
                  <a:off x="2968699" y="3887896"/>
                  <a:ext cx="0" cy="750793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AEC6D2EB-7438-4F5A-A986-28E232A52279}"/>
                    </a:ext>
                  </a:extLst>
                </p:cNvPr>
                <p:cNvCxnSpPr/>
                <p:nvPr/>
              </p:nvCxnSpPr>
              <p:spPr>
                <a:xfrm flipV="1">
                  <a:off x="1051238" y="3889483"/>
                  <a:ext cx="9524" cy="750794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AA1F03A6-AB61-48C4-9BBF-35E9B396E825}"/>
                    </a:ext>
                  </a:extLst>
                </p:cNvPr>
                <p:cNvCxnSpPr/>
                <p:nvPr/>
              </p:nvCxnSpPr>
              <p:spPr>
                <a:xfrm flipV="1">
                  <a:off x="1532191" y="5603769"/>
                  <a:ext cx="973016" cy="0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90E678AC-A205-456D-944D-F584740B0D13}"/>
                    </a:ext>
                  </a:extLst>
                </p:cNvPr>
                <p:cNvCxnSpPr/>
                <p:nvPr/>
              </p:nvCxnSpPr>
              <p:spPr>
                <a:xfrm flipH="1" flipV="1">
                  <a:off x="2487747" y="4638689"/>
                  <a:ext cx="0" cy="1395239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>
                  <a:extLst>
                    <a:ext uri="{FF2B5EF4-FFF2-40B4-BE49-F238E27FC236}">
                      <a16:creationId xmlns:a16="http://schemas.microsoft.com/office/drawing/2014/main" id="{151B13C2-94F9-46A7-938C-18161B35AEA1}"/>
                    </a:ext>
                  </a:extLst>
                </p:cNvPr>
                <p:cNvCxnSpPr/>
                <p:nvPr/>
              </p:nvCxnSpPr>
              <p:spPr>
                <a:xfrm flipV="1">
                  <a:off x="1536952" y="4646626"/>
                  <a:ext cx="0" cy="1387302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A063F679-4F1D-454E-8871-5E0DEAFC3062}"/>
                    </a:ext>
                  </a:extLst>
                </p:cNvPr>
                <p:cNvCxnSpPr/>
                <p:nvPr/>
              </p:nvCxnSpPr>
              <p:spPr>
                <a:xfrm>
                  <a:off x="1536952" y="5600594"/>
                  <a:ext cx="144445" cy="176191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7DD08377-C00F-4660-B920-66FF167D63FD}"/>
                    </a:ext>
                  </a:extLst>
                </p:cNvPr>
                <p:cNvCxnSpPr/>
                <p:nvPr/>
              </p:nvCxnSpPr>
              <p:spPr>
                <a:xfrm>
                  <a:off x="1665524" y="5760912"/>
                  <a:ext cx="677777" cy="0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A71324EB-4AD8-482A-8D30-6D3DB9B6AC5E}"/>
                    </a:ext>
                  </a:extLst>
                </p:cNvPr>
                <p:cNvCxnSpPr/>
                <p:nvPr/>
              </p:nvCxnSpPr>
              <p:spPr>
                <a:xfrm flipH="1">
                  <a:off x="2333778" y="5600594"/>
                  <a:ext cx="160318" cy="168254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9" name="Group 185">
            <a:extLst>
              <a:ext uri="{FF2B5EF4-FFF2-40B4-BE49-F238E27FC236}">
                <a16:creationId xmlns:a16="http://schemas.microsoft.com/office/drawing/2014/main" id="{073E44EE-EF6B-46A2-ABD8-3EBA04B9AEE5}"/>
              </a:ext>
            </a:extLst>
          </p:cNvPr>
          <p:cNvGrpSpPr>
            <a:grpSpLocks/>
          </p:cNvGrpSpPr>
          <p:nvPr/>
        </p:nvGrpSpPr>
        <p:grpSpPr bwMode="auto">
          <a:xfrm>
            <a:off x="2301218" y="3662175"/>
            <a:ext cx="1824038" cy="876300"/>
            <a:chOff x="1783" y="2197"/>
            <a:chExt cx="1149" cy="552"/>
          </a:xfrm>
        </p:grpSpPr>
        <p:grpSp>
          <p:nvGrpSpPr>
            <p:cNvPr id="40" name="Group 182">
              <a:extLst>
                <a:ext uri="{FF2B5EF4-FFF2-40B4-BE49-F238E27FC236}">
                  <a16:creationId xmlns:a16="http://schemas.microsoft.com/office/drawing/2014/main" id="{6BDEB9DD-3ABF-4FA8-8742-458C47BFA1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3" y="2486"/>
              <a:ext cx="1083" cy="263"/>
              <a:chOff x="1783" y="2486"/>
              <a:chExt cx="1083" cy="263"/>
            </a:xfrm>
          </p:grpSpPr>
          <p:sp>
            <p:nvSpPr>
              <p:cNvPr id="42" name="Line 173">
                <a:extLst>
                  <a:ext uri="{FF2B5EF4-FFF2-40B4-BE49-F238E27FC236}">
                    <a16:creationId xmlns:a16="http://schemas.microsoft.com/office/drawing/2014/main" id="{FD352B6B-E5CB-4DF0-80EC-2588F2459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5" y="2486"/>
                <a:ext cx="571" cy="0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43" name="Line 174">
                <a:extLst>
                  <a:ext uri="{FF2B5EF4-FFF2-40B4-BE49-F238E27FC236}">
                    <a16:creationId xmlns:a16="http://schemas.microsoft.com/office/drawing/2014/main" id="{AC42DEDF-DC45-4A0B-9206-5202D037A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3" y="2488"/>
                <a:ext cx="518" cy="261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41" name="Text Box 178">
              <a:extLst>
                <a:ext uri="{FF2B5EF4-FFF2-40B4-BE49-F238E27FC236}">
                  <a16:creationId xmlns:a16="http://schemas.microsoft.com/office/drawing/2014/main" id="{CC7ED6D0-2970-44DE-B9D1-66518A825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2197"/>
              <a:ext cx="6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CC"/>
                  </a:solidFill>
                </a:rPr>
                <a:t>轴不剖</a:t>
              </a:r>
            </a:p>
          </p:txBody>
        </p:sp>
      </p:grpSp>
      <p:grpSp>
        <p:nvGrpSpPr>
          <p:cNvPr id="44" name="Group 184">
            <a:extLst>
              <a:ext uri="{FF2B5EF4-FFF2-40B4-BE49-F238E27FC236}">
                <a16:creationId xmlns:a16="http://schemas.microsoft.com/office/drawing/2014/main" id="{32523265-AE61-4055-9C6E-69F1F99A570B}"/>
              </a:ext>
            </a:extLst>
          </p:cNvPr>
          <p:cNvGrpSpPr>
            <a:grpSpLocks/>
          </p:cNvGrpSpPr>
          <p:nvPr/>
        </p:nvGrpSpPr>
        <p:grpSpPr bwMode="auto">
          <a:xfrm>
            <a:off x="4189246" y="3717893"/>
            <a:ext cx="3524250" cy="1239838"/>
            <a:chOff x="2544" y="1655"/>
            <a:chExt cx="2220" cy="781"/>
          </a:xfrm>
        </p:grpSpPr>
        <p:sp>
          <p:nvSpPr>
            <p:cNvPr id="45" name="Text Box 172">
              <a:extLst>
                <a:ext uri="{FF2B5EF4-FFF2-40B4-BE49-F238E27FC236}">
                  <a16:creationId xmlns:a16="http://schemas.microsoft.com/office/drawing/2014/main" id="{EDBFCCE0-35F4-4F0D-9852-C5A2D3E40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4" y="1655"/>
              <a:ext cx="20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CC"/>
                  </a:solidFill>
                </a:rPr>
                <a:t>螺栓、螺母和垫圈不剖</a:t>
              </a:r>
              <a:endParaRPr lang="zh-CN" altLang="en-US" sz="2400" b="0" dirty="0">
                <a:solidFill>
                  <a:srgbClr val="333399"/>
                </a:solidFill>
              </a:endParaRPr>
            </a:p>
          </p:txBody>
        </p:sp>
        <p:grpSp>
          <p:nvGrpSpPr>
            <p:cNvPr id="46" name="Group 183">
              <a:extLst>
                <a:ext uri="{FF2B5EF4-FFF2-40B4-BE49-F238E27FC236}">
                  <a16:creationId xmlns:a16="http://schemas.microsoft.com/office/drawing/2014/main" id="{769FE930-F9CD-4B33-9603-226928A44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932"/>
              <a:ext cx="2220" cy="504"/>
              <a:chOff x="2544" y="1932"/>
              <a:chExt cx="2220" cy="504"/>
            </a:xfrm>
          </p:grpSpPr>
          <p:sp>
            <p:nvSpPr>
              <p:cNvPr id="47" name="Freeform 175">
                <a:extLst>
                  <a:ext uri="{FF2B5EF4-FFF2-40B4-BE49-F238E27FC236}">
                    <a16:creationId xmlns:a16="http://schemas.microsoft.com/office/drawing/2014/main" id="{2E7E8AC6-019E-4BF8-AE5C-53B7C3062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1932"/>
                <a:ext cx="336" cy="504"/>
              </a:xfrm>
              <a:custGeom>
                <a:avLst/>
                <a:gdLst>
                  <a:gd name="T0" fmla="*/ 40 w 396"/>
                  <a:gd name="T1" fmla="*/ 0 h 492"/>
                  <a:gd name="T2" fmla="*/ 0 w 396"/>
                  <a:gd name="T3" fmla="*/ 690 h 492"/>
                  <a:gd name="T4" fmla="*/ 0 60000 65536"/>
                  <a:gd name="T5" fmla="*/ 0 60000 65536"/>
                  <a:gd name="T6" fmla="*/ 0 w 396"/>
                  <a:gd name="T7" fmla="*/ 0 h 492"/>
                  <a:gd name="T8" fmla="*/ 396 w 396"/>
                  <a:gd name="T9" fmla="*/ 492 h 49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492">
                    <a:moveTo>
                      <a:pt x="396" y="0"/>
                    </a:moveTo>
                    <a:lnTo>
                      <a:pt x="0" y="492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48" name="Line 177">
                <a:extLst>
                  <a:ext uri="{FF2B5EF4-FFF2-40B4-BE49-F238E27FC236}">
                    <a16:creationId xmlns:a16="http://schemas.microsoft.com/office/drawing/2014/main" id="{5255ECF7-7B12-4C39-9A8E-2D0B1F6969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932"/>
                <a:ext cx="222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718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8" grpId="0" autoUpdateAnimBg="0"/>
      <p:bldP spid="2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88E72F3E-9428-47CA-B4A2-95B1A762F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图片 2" descr="滑动轴承.jpg">
            <a:extLst>
              <a:ext uri="{FF2B5EF4-FFF2-40B4-BE49-F238E27FC236}">
                <a16:creationId xmlns:a16="http://schemas.microsoft.com/office/drawing/2014/main" id="{1FA74E49-209A-4567-B851-FB6057255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556" y="3394231"/>
            <a:ext cx="3630900" cy="3010990"/>
          </a:xfrm>
          <a:prstGeom prst="rect">
            <a:avLst/>
          </a:prstGeom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7601447C-D5AF-4528-9C03-1A29CCA3E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832" y="1837096"/>
            <a:ext cx="545026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70C0"/>
                </a:solidFill>
                <a:latin typeface="宋体" pitchFamily="2" charset="-122"/>
              </a:rPr>
              <a:t>4.</a:t>
            </a:r>
            <a:r>
              <a:rPr lang="zh-CN" altLang="en-US" sz="2400" b="1" dirty="0">
                <a:solidFill>
                  <a:srgbClr val="0070C0"/>
                </a:solidFill>
              </a:rPr>
              <a:t>沿结合面剖切画法。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eaLnBrk="1" hangingPunct="1"/>
            <a:r>
              <a:rPr lang="zh-CN" altLang="en-US" sz="2400" dirty="0">
                <a:solidFill>
                  <a:schemeClr val="tx1"/>
                </a:solidFill>
              </a:rPr>
              <a:t>        为了表达装配体的内部结构，可</a:t>
            </a:r>
            <a:r>
              <a:rPr lang="zh-CN" altLang="en-US" sz="2400" dirty="0">
                <a:solidFill>
                  <a:srgbClr val="FF0000"/>
                </a:solidFill>
              </a:rPr>
              <a:t>假想沿着两零件的结合</a:t>
            </a:r>
            <a:r>
              <a:rPr lang="zh-CN" altLang="en-US" sz="2400" dirty="0">
                <a:solidFill>
                  <a:schemeClr val="tx1"/>
                </a:solidFill>
              </a:rPr>
              <a:t>面进行剖切，此时在零件的结合面上不画剖面符号。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5" name="Text Box 5123">
            <a:extLst>
              <a:ext uri="{FF2B5EF4-FFF2-40B4-BE49-F238E27FC236}">
                <a16:creationId xmlns:a16="http://schemas.microsoft.com/office/drawing/2014/main" id="{7335F890-860C-44B6-B130-451C79AFD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215" y="1298400"/>
            <a:ext cx="3016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二、简化画法</a:t>
            </a:r>
          </a:p>
        </p:txBody>
      </p:sp>
      <p:pic>
        <p:nvPicPr>
          <p:cNvPr id="6" name="Picture 12" descr="10-13f">
            <a:extLst>
              <a:ext uri="{FF2B5EF4-FFF2-40B4-BE49-F238E27FC236}">
                <a16:creationId xmlns:a16="http://schemas.microsoft.com/office/drawing/2014/main" id="{3447B526-DD06-4129-BE36-65FECA46E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2701" t="4216" r="25862" b="3615"/>
          <a:stretch>
            <a:fillRect/>
          </a:stretch>
        </p:blipFill>
        <p:spPr bwMode="auto">
          <a:xfrm>
            <a:off x="2478623" y="3609718"/>
            <a:ext cx="3085156" cy="2636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12-3">
            <a:extLst>
              <a:ext uri="{FF2B5EF4-FFF2-40B4-BE49-F238E27FC236}">
                <a16:creationId xmlns:a16="http://schemas.microsoft.com/office/drawing/2014/main" id="{37977B63-30EC-4CCD-8DA7-4E83BA31C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924092" y="1255406"/>
            <a:ext cx="4319662" cy="4830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E0E41158-CB59-40DE-8416-A8BBFE8CF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738" y="6199756"/>
            <a:ext cx="7491016" cy="46166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tx1"/>
                </a:solidFill>
              </a:rPr>
              <a:t>需要说明时，可在其视图上方注写“拆去</a:t>
            </a:r>
            <a:r>
              <a:rPr lang="en-US" sz="2400" dirty="0">
                <a:solidFill>
                  <a:schemeClr val="tx1"/>
                </a:solidFill>
              </a:rPr>
              <a:t>XX</a:t>
            </a:r>
            <a:r>
              <a:rPr lang="zh-CN" altLang="en-US" sz="2400" dirty="0">
                <a:solidFill>
                  <a:schemeClr val="tx1"/>
                </a:solidFill>
              </a:rPr>
              <a:t>”等字样。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169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566F13A7-CD91-4EDB-A151-88385F227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253C3F3-D569-4D3F-A09B-F6DC489B1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1810649"/>
            <a:ext cx="289718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333399"/>
                </a:solidFill>
                <a:latin typeface="宋体" pitchFamily="2" charset="-122"/>
              </a:rPr>
              <a:t>5.</a:t>
            </a:r>
            <a:r>
              <a:rPr lang="zh-CN" altLang="en-US" sz="2400" b="1" dirty="0">
                <a:solidFill>
                  <a:srgbClr val="333399"/>
                </a:solidFill>
                <a:latin typeface="宋体" pitchFamily="2" charset="-122"/>
              </a:rPr>
              <a:t>拆卸画法</a:t>
            </a:r>
          </a:p>
        </p:txBody>
      </p:sp>
      <p:pic>
        <p:nvPicPr>
          <p:cNvPr id="4" name="Picture 12" descr="10-13f">
            <a:extLst>
              <a:ext uri="{FF2B5EF4-FFF2-40B4-BE49-F238E27FC236}">
                <a16:creationId xmlns:a16="http://schemas.microsoft.com/office/drawing/2014/main" id="{2D4DABA9-A072-42FF-B0C6-030DB73E7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22701" t="4216" r="25862" b="3615"/>
          <a:stretch>
            <a:fillRect/>
          </a:stretch>
        </p:blipFill>
        <p:spPr bwMode="auto">
          <a:xfrm>
            <a:off x="2207568" y="4190745"/>
            <a:ext cx="3101197" cy="265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13">
            <a:extLst>
              <a:ext uri="{FF2B5EF4-FFF2-40B4-BE49-F238E27FC236}">
                <a16:creationId xmlns:a16="http://schemas.microsoft.com/office/drawing/2014/main" id="{108E0CED-1A2C-4245-88A1-EB1A9D6D6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8208" y="6190558"/>
            <a:ext cx="24426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/>
              <a:t>拆去油杯的画法</a:t>
            </a:r>
          </a:p>
        </p:txBody>
      </p:sp>
      <p:pic>
        <p:nvPicPr>
          <p:cNvPr id="6" name="Picture 2" descr="12-3">
            <a:extLst>
              <a:ext uri="{FF2B5EF4-FFF2-40B4-BE49-F238E27FC236}">
                <a16:creationId xmlns:a16="http://schemas.microsoft.com/office/drawing/2014/main" id="{27AF4DA6-EACF-4AD8-AC70-6992C2A84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700653" y="1448780"/>
            <a:ext cx="4240212" cy="4741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1">
            <a:extLst>
              <a:ext uri="{FF2B5EF4-FFF2-40B4-BE49-F238E27FC236}">
                <a16:creationId xmlns:a16="http://schemas.microsoft.com/office/drawing/2014/main" id="{33E9ACA5-F4AA-4844-950B-5674FA6DC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7565" y="2251753"/>
            <a:ext cx="4696979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当装配体上</a:t>
            </a:r>
            <a:r>
              <a:rPr lang="zh-CN" altLang="en-US" sz="2400" dirty="0">
                <a:solidFill>
                  <a:srgbClr val="FF0000"/>
                </a:solidFill>
              </a:rPr>
              <a:t>某些</a:t>
            </a:r>
            <a:r>
              <a:rPr lang="zh-CN" altLang="en-US" sz="2400" dirty="0">
                <a:solidFill>
                  <a:srgbClr val="0070C0"/>
                </a:solidFill>
              </a:rPr>
              <a:t>常见的较大</a:t>
            </a:r>
            <a:r>
              <a:rPr lang="zh-CN" altLang="en-US" sz="2400" dirty="0">
                <a:solidFill>
                  <a:srgbClr val="FF0000"/>
                </a:solidFill>
              </a:rPr>
              <a:t>零件</a:t>
            </a:r>
            <a:r>
              <a:rPr lang="zh-CN" altLang="en-US" sz="2400" dirty="0">
                <a:solidFill>
                  <a:srgbClr val="0070C0"/>
                </a:solidFill>
              </a:rPr>
              <a:t>在视图上的</a:t>
            </a:r>
            <a:r>
              <a:rPr lang="zh-CN" altLang="en-US" sz="2400" dirty="0">
                <a:solidFill>
                  <a:srgbClr val="FF0000"/>
                </a:solidFill>
              </a:rPr>
              <a:t>位置和连接关系</a:t>
            </a:r>
            <a:r>
              <a:rPr lang="zh-CN" altLang="en-US" sz="2400" dirty="0">
                <a:solidFill>
                  <a:srgbClr val="0070C0"/>
                </a:solidFill>
              </a:rPr>
              <a:t>已经</a:t>
            </a:r>
            <a:r>
              <a:rPr lang="zh-CN" altLang="en-US" sz="2400" dirty="0">
                <a:solidFill>
                  <a:srgbClr val="FF0000"/>
                </a:solidFill>
              </a:rPr>
              <a:t>表达清楚</a:t>
            </a:r>
            <a:r>
              <a:rPr lang="zh-CN" altLang="en-US" sz="2400" dirty="0">
                <a:solidFill>
                  <a:srgbClr val="0070C0"/>
                </a:solidFill>
              </a:rPr>
              <a:t>时，</a:t>
            </a:r>
            <a:r>
              <a:rPr lang="zh-CN" altLang="zh-CN" sz="2400" dirty="0">
                <a:solidFill>
                  <a:srgbClr val="0070C0"/>
                </a:solidFill>
                <a:cs typeface="Times New Roman" pitchFamily="18" charset="0"/>
              </a:rPr>
              <a:t>为了避免遮盖某些零件的投影，在其他视图上</a:t>
            </a:r>
            <a:r>
              <a:rPr lang="zh-CN" altLang="zh-CN" sz="2400" dirty="0">
                <a:solidFill>
                  <a:srgbClr val="FF0000"/>
                </a:solidFill>
                <a:cs typeface="Times New Roman" pitchFamily="18" charset="0"/>
              </a:rPr>
              <a:t>可假想将这些零件拆去不画</a:t>
            </a:r>
            <a:r>
              <a:rPr lang="zh-CN" altLang="zh-CN" sz="2400" dirty="0">
                <a:solidFill>
                  <a:srgbClr val="0070C0"/>
                </a:solidFill>
                <a:cs typeface="Times New Roman" pitchFamily="18" charset="0"/>
              </a:rPr>
              <a:t>。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8" name="Text Box 5123">
            <a:extLst>
              <a:ext uri="{FF2B5EF4-FFF2-40B4-BE49-F238E27FC236}">
                <a16:creationId xmlns:a16="http://schemas.microsoft.com/office/drawing/2014/main" id="{808E2F53-6E5A-4643-885D-13060B425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472" y="1286774"/>
            <a:ext cx="3016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二、简化画法</a:t>
            </a:r>
          </a:p>
        </p:txBody>
      </p:sp>
    </p:spTree>
    <p:extLst>
      <p:ext uri="{BB962C8B-B14F-4D97-AF65-F5344CB8AC3E}">
        <p14:creationId xmlns:p14="http://schemas.microsoft.com/office/powerpoint/2010/main" val="71669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330F368D-3E6D-4848-B8D4-161943C2D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" name="图片 79">
            <a:extLst>
              <a:ext uri="{FF2B5EF4-FFF2-40B4-BE49-F238E27FC236}">
                <a16:creationId xmlns:a16="http://schemas.microsoft.com/office/drawing/2014/main" id="{38D2D525-8D96-475E-85F0-6D83C2B89F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92493" y="2478037"/>
            <a:ext cx="1860550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5123">
            <a:extLst>
              <a:ext uri="{FF2B5EF4-FFF2-40B4-BE49-F238E27FC236}">
                <a16:creationId xmlns:a16="http://schemas.microsoft.com/office/drawing/2014/main" id="{B5546340-E6E6-48EE-97AC-19811D0CC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114" y="1313741"/>
            <a:ext cx="3016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三、特殊画法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99BFB7A-54E9-4569-9BA1-891438655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0630" y="1837616"/>
            <a:ext cx="1888659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1. 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夸大画法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FB9648B-84E3-416B-B545-B254724A8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2299281"/>
            <a:ext cx="3600400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薄垫片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的厚度、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小间隙等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可适当夸大画出。</a:t>
            </a:r>
          </a:p>
        </p:txBody>
      </p:sp>
      <p:grpSp>
        <p:nvGrpSpPr>
          <p:cNvPr id="8" name="Group 101">
            <a:extLst>
              <a:ext uri="{FF2B5EF4-FFF2-40B4-BE49-F238E27FC236}">
                <a16:creationId xmlns:a16="http://schemas.microsoft.com/office/drawing/2014/main" id="{45E375CE-8B78-42F9-A37E-0C0F6B0E6A77}"/>
              </a:ext>
            </a:extLst>
          </p:cNvPr>
          <p:cNvGrpSpPr>
            <a:grpSpLocks/>
          </p:cNvGrpSpPr>
          <p:nvPr/>
        </p:nvGrpSpPr>
        <p:grpSpPr bwMode="auto">
          <a:xfrm>
            <a:off x="5098793" y="1600305"/>
            <a:ext cx="2647950" cy="1128713"/>
            <a:chOff x="3913" y="422"/>
            <a:chExt cx="1668" cy="711"/>
          </a:xfrm>
        </p:grpSpPr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0E3027F2-21F1-4AA0-8037-4A3308180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55" y="711"/>
              <a:ext cx="422" cy="42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63A8CB3C-B2D8-41C0-8D56-110866ECD4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0" y="710"/>
              <a:ext cx="152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87DB0157-53C9-441F-A78F-D482469EE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3" y="422"/>
              <a:ext cx="166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zh-CN" altLang="en-US" sz="2400" dirty="0"/>
                <a:t>垫圈厚度夸大画出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 Box 2">
            <a:extLst>
              <a:ext uri="{FF2B5EF4-FFF2-40B4-BE49-F238E27FC236}">
                <a16:creationId xmlns:a16="http://schemas.microsoft.com/office/drawing/2014/main" id="{E3FE5D29-4875-4EF5-A6DA-C3C843C7B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916" y="3225485"/>
            <a:ext cx="18774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2. 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假想画法</a:t>
            </a:r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3C5926DD-384E-4D3F-9CD5-8370091A5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3069" y="3745185"/>
            <a:ext cx="3262811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☆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运动机件的极限位置，可用双点画线表示。</a:t>
            </a:r>
          </a:p>
        </p:txBody>
      </p:sp>
      <p:pic>
        <p:nvPicPr>
          <p:cNvPr id="19" name="图片 4">
            <a:extLst>
              <a:ext uri="{FF2B5EF4-FFF2-40B4-BE49-F238E27FC236}">
                <a16:creationId xmlns:a16="http://schemas.microsoft.com/office/drawing/2014/main" id="{A3C6FACF-D7A4-4E9A-8BEA-7270712E8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31513" y="1612899"/>
            <a:ext cx="3248025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CB1325D-BA0D-4768-8D92-5C87609548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98201" y="1627186"/>
            <a:ext cx="3009900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AutoShape 24">
            <a:extLst>
              <a:ext uri="{FF2B5EF4-FFF2-40B4-BE49-F238E27FC236}">
                <a16:creationId xmlns:a16="http://schemas.microsoft.com/office/drawing/2014/main" id="{2F3F62DB-9964-4CB8-BCC2-B37C2104E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734" y="5201855"/>
            <a:ext cx="2450216" cy="1371600"/>
          </a:xfrm>
          <a:prstGeom prst="wedgeRoundRectCallout">
            <a:avLst>
              <a:gd name="adj1" fmla="val 76313"/>
              <a:gd name="adj2" fmla="val -198338"/>
              <a:gd name="adj3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00FF00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99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zh-CN" altLang="en-US" sz="2400">
                <a:solidFill>
                  <a:schemeClr val="tx1"/>
                </a:solidFill>
              </a:rPr>
              <a:t>运动机件的极</a:t>
            </a:r>
          </a:p>
          <a:p>
            <a:pPr algn="ctr" eaLnBrk="1" hangingPunct="1"/>
            <a:r>
              <a:rPr lang="zh-CN" altLang="en-US" sz="2400">
                <a:solidFill>
                  <a:schemeClr val="tx1"/>
                </a:solidFill>
              </a:rPr>
              <a:t>限位置轮廓线</a:t>
            </a:r>
          </a:p>
          <a:p>
            <a:pPr algn="ctr" eaLnBrk="1" hangingPunct="1"/>
            <a:r>
              <a:rPr lang="zh-CN" altLang="en-US" sz="2400">
                <a:solidFill>
                  <a:schemeClr val="tx1"/>
                </a:solidFill>
              </a:rPr>
              <a:t>画双点画线。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EFEF08-E6C9-4043-9FD2-504099981A9C}"/>
              </a:ext>
            </a:extLst>
          </p:cNvPr>
          <p:cNvSpPr/>
          <p:nvPr/>
        </p:nvSpPr>
        <p:spPr>
          <a:xfrm>
            <a:off x="1753069" y="4593239"/>
            <a:ext cx="326281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☆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对于与本部件有关但不属于本部件的相邻零、部件，可用细双点画线表示其与本部件的连接关系。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367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17" grpId="0"/>
      <p:bldP spid="18" grpId="0" autoUpdateAnimBg="0"/>
      <p:bldP spid="21" grpId="0" animBg="1" autoUpdateAnimBg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A8B8B9CB-EA21-430F-890E-D594E491A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19F5E3-CA40-4069-851F-47C9C8573377}"/>
              </a:ext>
            </a:extLst>
          </p:cNvPr>
          <p:cNvSpPr/>
          <p:nvPr/>
        </p:nvSpPr>
        <p:spPr>
          <a:xfrm>
            <a:off x="1157967" y="4354454"/>
            <a:ext cx="18870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3</a:t>
            </a:r>
            <a:r>
              <a:rPr lang="zh-CN" altLang="en-US" sz="2400" b="1" dirty="0">
                <a:latin typeface="+mn-ea"/>
                <a:ea typeface="+mn-ea"/>
              </a:rPr>
              <a:t>．展开画法</a:t>
            </a: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B799AE52-D67E-4C96-85E9-0386C2BBC4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9936" y="1196752"/>
            <a:ext cx="5133975" cy="543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3E03125-B0D5-4329-8F43-659701EF1E15}"/>
              </a:ext>
            </a:extLst>
          </p:cNvPr>
          <p:cNvSpPr/>
          <p:nvPr/>
        </p:nvSpPr>
        <p:spPr>
          <a:xfrm>
            <a:off x="6014275" y="297093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</a:rPr>
              <a:t>☆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510CE5-9B7C-490D-9012-1D22D4ED2A82}"/>
              </a:ext>
            </a:extLst>
          </p:cNvPr>
          <p:cNvSpPr/>
          <p:nvPr/>
        </p:nvSpPr>
        <p:spPr>
          <a:xfrm>
            <a:off x="1538089" y="2232268"/>
            <a:ext cx="326281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☆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对于与本部件有关但不属于本部件的相邻零、部件，可用细双点画线表示其与本部件的连接关系。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9CD4BFF8-9249-481B-918E-1B2C5F322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7585" y="1580217"/>
            <a:ext cx="18774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2. 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假想画法</a:t>
            </a:r>
          </a:p>
        </p:txBody>
      </p:sp>
    </p:spTree>
    <p:extLst>
      <p:ext uri="{BB962C8B-B14F-4D97-AF65-F5344CB8AC3E}">
        <p14:creationId xmlns:p14="http://schemas.microsoft.com/office/powerpoint/2010/main" val="273836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1">
            <a:extLst>
              <a:ext uri="{FF2B5EF4-FFF2-40B4-BE49-F238E27FC236}">
                <a16:creationId xmlns:a16="http://schemas.microsoft.com/office/drawing/2014/main" id="{3E37AA79-A50A-40A6-89CE-23DBBD816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5CF5502-BF66-491F-9DAE-62E173604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09" y="1287116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9C4D9F4-75B9-4393-A3D5-28711BC3E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596" y="1829521"/>
            <a:ext cx="374173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1</a:t>
            </a:r>
            <a:r>
              <a:rPr lang="zh-CN" altLang="en-US" sz="2400" dirty="0">
                <a:solidFill>
                  <a:srgbClr val="0070C0"/>
                </a:solidFill>
              </a:rPr>
              <a:t>．螺纹紧固件的联接形式</a:t>
            </a:r>
          </a:p>
        </p:txBody>
      </p:sp>
      <p:pic>
        <p:nvPicPr>
          <p:cNvPr id="6" name="Picture 2" descr="snap">
            <a:extLst>
              <a:ext uri="{FF2B5EF4-FFF2-40B4-BE49-F238E27FC236}">
                <a16:creationId xmlns:a16="http://schemas.microsoft.com/office/drawing/2014/main" id="{347BDD12-98B7-4FFE-BD66-DD143F073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35649" r="35524"/>
          <a:stretch>
            <a:fillRect/>
          </a:stretch>
        </p:blipFill>
        <p:spPr bwMode="auto">
          <a:xfrm>
            <a:off x="5338297" y="3116462"/>
            <a:ext cx="2119745" cy="312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26CD3EEF-8E2D-423B-81CE-1816172B6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216" y="2446613"/>
            <a:ext cx="8277909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0" hangingPunct="0"/>
            <a:r>
              <a:rPr lang="zh-CN" altLang="en-US" sz="2400" b="0" dirty="0">
                <a:solidFill>
                  <a:srgbClr val="0070C0"/>
                </a:solidFill>
              </a:rPr>
              <a:t>   螺栓联接               </a:t>
            </a:r>
            <a:r>
              <a:rPr lang="en-US" altLang="zh-CN" sz="2400" b="0" dirty="0">
                <a:solidFill>
                  <a:srgbClr val="0070C0"/>
                </a:solidFill>
              </a:rPr>
              <a:t>    </a:t>
            </a:r>
            <a:r>
              <a:rPr lang="zh-CN" altLang="en-US" sz="2400" b="0" dirty="0">
                <a:solidFill>
                  <a:srgbClr val="0070C0"/>
                </a:solidFill>
              </a:rPr>
              <a:t>双头螺柱联接                </a:t>
            </a:r>
            <a:r>
              <a:rPr lang="en-US" altLang="zh-CN" sz="2400" b="0" dirty="0">
                <a:solidFill>
                  <a:srgbClr val="0070C0"/>
                </a:solidFill>
              </a:rPr>
              <a:t>   </a:t>
            </a:r>
            <a:r>
              <a:rPr lang="zh-CN" altLang="en-US" sz="2400" b="0" dirty="0">
                <a:solidFill>
                  <a:srgbClr val="0070C0"/>
                </a:solidFill>
              </a:rPr>
              <a:t>螺钉联接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8" name="Picture 2" descr="snap">
            <a:extLst>
              <a:ext uri="{FF2B5EF4-FFF2-40B4-BE49-F238E27FC236}">
                <a16:creationId xmlns:a16="http://schemas.microsoft.com/office/drawing/2014/main" id="{5E85A28B-BD74-4EDE-AE40-2A3F997AB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72076"/>
          <a:stretch>
            <a:fillRect/>
          </a:stretch>
        </p:blipFill>
        <p:spPr bwMode="auto">
          <a:xfrm>
            <a:off x="2351667" y="3073599"/>
            <a:ext cx="2053359" cy="312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snap">
            <a:extLst>
              <a:ext uri="{FF2B5EF4-FFF2-40B4-BE49-F238E27FC236}">
                <a16:creationId xmlns:a16="http://schemas.microsoft.com/office/drawing/2014/main" id="{B14502B2-27EE-47F8-AD8D-EB347B6BE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73709"/>
          <a:stretch>
            <a:fillRect/>
          </a:stretch>
        </p:blipFill>
        <p:spPr bwMode="auto">
          <a:xfrm>
            <a:off x="8603839" y="2908575"/>
            <a:ext cx="1933286" cy="312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0342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88F03783-6979-4A39-AC6A-17D768D82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372" y="1926840"/>
            <a:ext cx="5749925" cy="523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．装配图中螺纹紧固件尺寸的确定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278789D-75AF-4EA5-8D8C-5E1ABC8D9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134076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sp>
        <p:nvSpPr>
          <p:cNvPr id="4" name="Text Box 38">
            <a:extLst>
              <a:ext uri="{FF2B5EF4-FFF2-40B4-BE49-F238E27FC236}">
                <a16:creationId xmlns:a16="http://schemas.microsoft.com/office/drawing/2014/main" id="{59DC351D-6CFB-45ED-A985-D67FE8728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0109" y="4091478"/>
            <a:ext cx="22510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其中：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d=</a:t>
            </a:r>
            <a:r>
              <a:rPr lang="zh-CN" altLang="zh-CN" sz="2000" b="1" dirty="0">
                <a:solidFill>
                  <a:schemeClr val="accent2"/>
                </a:solidFill>
                <a:latin typeface="宋体" pitchFamily="2" charset="-122"/>
              </a:rPr>
              <a:t>螺纹大径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8C651C-C8C2-43D6-AC2C-14B268913C9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98376" y="2539192"/>
            <a:ext cx="3081337" cy="264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814318-1156-4B62-9201-CD5BE55780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10109" y="4730880"/>
            <a:ext cx="3514725" cy="159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B09659C-B094-4798-A9F6-36702D62B0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91662" y="2027618"/>
            <a:ext cx="3255963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751CF8-E902-498C-AF03-93CBB0439D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09783" y="4104502"/>
            <a:ext cx="4062412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31">
            <a:extLst>
              <a:ext uri="{FF2B5EF4-FFF2-40B4-BE49-F238E27FC236}">
                <a16:creationId xmlns:a16="http://schemas.microsoft.com/office/drawing/2014/main" id="{54A5C237-3CDC-47DF-A8E8-D9133408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</p:spTree>
    <p:extLst>
      <p:ext uri="{BB962C8B-B14F-4D97-AF65-F5344CB8AC3E}">
        <p14:creationId xmlns:p14="http://schemas.microsoft.com/office/powerpoint/2010/main" val="126033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D1E9B390-5B14-4006-BDA2-DFF45D91F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0E7B868-2F61-49E8-8FF3-7EE30A6596B5}"/>
              </a:ext>
            </a:extLst>
          </p:cNvPr>
          <p:cNvGrpSpPr/>
          <p:nvPr/>
        </p:nvGrpSpPr>
        <p:grpSpPr>
          <a:xfrm>
            <a:off x="2819636" y="1628800"/>
            <a:ext cx="8210466" cy="5068536"/>
            <a:chOff x="771520" y="2122343"/>
            <a:chExt cx="7629525" cy="44641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02F0E5-4393-43E9-BD86-374E0E3343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r="73823" b="14265"/>
            <a:stretch>
              <a:fillRect/>
            </a:stretch>
          </p:blipFill>
          <p:spPr bwMode="auto">
            <a:xfrm>
              <a:off x="771520" y="2122343"/>
              <a:ext cx="2700338" cy="2833687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8FAC052E-52F1-4B35-9F48-6917195696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l="50000" t="18011" b="9366"/>
            <a:stretch>
              <a:fillRect/>
            </a:stretch>
          </p:blipFill>
          <p:spPr bwMode="auto">
            <a:xfrm>
              <a:off x="3243258" y="4186238"/>
              <a:ext cx="5157787" cy="2400300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9C9545C4-26E8-409D-8BBC-CFF40A60C7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l="29271" t="24496" r="54524" b="18876"/>
            <a:stretch>
              <a:fillRect/>
            </a:stretch>
          </p:blipFill>
          <p:spPr bwMode="auto">
            <a:xfrm>
              <a:off x="5386382" y="2141393"/>
              <a:ext cx="1671638" cy="1871662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</p:grpSp>
      <p:sp>
        <p:nvSpPr>
          <p:cNvPr id="7" name="Text Box 4">
            <a:extLst>
              <a:ext uri="{FF2B5EF4-FFF2-40B4-BE49-F238E27FC236}">
                <a16:creationId xmlns:a16="http://schemas.microsoft.com/office/drawing/2014/main" id="{A15F6824-3200-4138-9B12-9FAA683F6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159" y="5134130"/>
            <a:ext cx="3268374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</a:rPr>
              <a:t>．装配图中螺纹紧固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/>
              <a:t>     </a:t>
            </a:r>
            <a:r>
              <a:rPr lang="zh-CN" altLang="en-US" sz="2400" b="1" dirty="0">
                <a:solidFill>
                  <a:schemeClr val="tx1"/>
                </a:solidFill>
              </a:rPr>
              <a:t>件尺寸的确定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ED1B5D4-24A6-42E6-9688-95409E754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59" y="119552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</p:spTree>
    <p:extLst>
      <p:ext uri="{BB962C8B-B14F-4D97-AF65-F5344CB8AC3E}">
        <p14:creationId xmlns:p14="http://schemas.microsoft.com/office/powerpoint/2010/main" val="306644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1CB1EFC0-8DEE-42C4-9DBB-A768C48D9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FDEF5-B62F-4D76-978E-CC5EC519027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43886" y="1125453"/>
            <a:ext cx="7716982" cy="1443182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关于装配图的表达方法，下面说法正确的是：</a:t>
            </a:r>
            <a:endParaRPr kumimoji="0" lang="zh-CN" altLang="en-US" sz="26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+mj-cs"/>
              <a:sym typeface="Microsoft Ya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B3A4A-D8B9-490B-83EE-CDB969482B9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31132" y="2148446"/>
            <a:ext cx="7962444" cy="1440872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</a:rPr>
              <a:t>相邻零件的表达方法中，两个零件的接触面应画一条线，不接触的相邻表面应画两条线，间隙过小时，应夸大画出。</a:t>
            </a:r>
            <a:endParaRPr kumimoji="0" lang="zh-CN" altLang="en-US" sz="2000" b="1" dirty="0">
              <a:solidFill>
                <a:schemeClr val="tx1"/>
              </a:solidFill>
              <a:latin typeface="Microsoft Yahei"/>
              <a:ea typeface="Microsoft Yahei"/>
              <a:cs typeface="+mj-cs"/>
              <a:sym typeface="Microsoft Yahe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EA438-BFAD-4CC9-9F16-D9CDBEF48AA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72695" y="3242959"/>
            <a:ext cx="7920881" cy="1357745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</a:rPr>
              <a:t>简化画法中，当剖切平面通过实心零件（如球、轴等）和紧固件（如螺栓、螺柱、螺钉、螺母、垫圈、键、销等）的轴线时，这些零件均按不剖绘制，仅画其外形。</a:t>
            </a:r>
            <a:endParaRPr kumimoji="0" lang="zh-CN" altLang="en-US" sz="2000" b="1" dirty="0">
              <a:solidFill>
                <a:schemeClr val="tx1"/>
              </a:solidFill>
              <a:latin typeface="Microsoft Yahei"/>
              <a:ea typeface="Microsoft Yahei"/>
              <a:cs typeface="+mj-cs"/>
              <a:sym typeface="Microsoft Yahe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99E7CE-997D-4490-BAE4-CA4B66140B3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72696" y="4626257"/>
            <a:ext cx="7776864" cy="642937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</a:rPr>
              <a:t>螺纹紧固件一般采用简化画法，对其工艺结构如倒角、倒圆、退刀槽等均可省略不画。</a:t>
            </a:r>
            <a:endParaRPr kumimoji="0" lang="zh-CN" altLang="en-US" sz="2000" b="1" dirty="0">
              <a:solidFill>
                <a:schemeClr val="tx1"/>
              </a:solidFill>
              <a:latin typeface="Microsoft Yahei"/>
              <a:ea typeface="Microsoft Yahei"/>
              <a:cs typeface="+mj-cs"/>
              <a:sym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899A2A-52AC-43B2-B6E9-14B0EB4C2F5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858321" y="25742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000" b="1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067383-1583-4809-A93F-F5899FA5CCA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858321" y="35700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000" b="1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9C39AC-15FA-48D9-A5A9-44AAE64A90B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858321" y="4690551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000" b="1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圆角矩形 11">
            <a:extLst>
              <a:ext uri="{FF2B5EF4-FFF2-40B4-BE49-F238E27FC236}">
                <a16:creationId xmlns:a16="http://schemas.microsoft.com/office/drawing/2014/main" id="{17FF0C97-BD36-4658-8A27-351E72094F5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451068" y="6289877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73723E5-755C-46F2-9577-FB7B1FCDDD31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2" name="TitleBackground">
              <a:extLst>
                <a:ext uri="{FF2B5EF4-FFF2-40B4-BE49-F238E27FC236}">
                  <a16:creationId xmlns:a16="http://schemas.microsoft.com/office/drawing/2014/main" id="{A6439785-E607-45B4-B882-138503D1A84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3" name="ColorBlock">
              <a:extLst>
                <a:ext uri="{FF2B5EF4-FFF2-40B4-BE49-F238E27FC236}">
                  <a16:creationId xmlns:a16="http://schemas.microsoft.com/office/drawing/2014/main" id="{12D5B383-0115-49FD-951A-EF2FD76A848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4" name="TypeText">
              <a:extLst>
                <a:ext uri="{FF2B5EF4-FFF2-40B4-BE49-F238E27FC236}">
                  <a16:creationId xmlns:a16="http://schemas.microsoft.com/office/drawing/2014/main" id="{019A376C-F327-4649-AB43-5E81E50117D3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5" name="TipText">
              <a:extLst>
                <a:ext uri="{FF2B5EF4-FFF2-40B4-BE49-F238E27FC236}">
                  <a16:creationId xmlns:a16="http://schemas.microsoft.com/office/drawing/2014/main" id="{AFFBD98B-6594-4EC4-9DB5-5B7CEA887E8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11" name="图片 10" descr="tmp4D6B.tmp">
            <a:extLst>
              <a:ext uri="{FF2B5EF4-FFF2-40B4-BE49-F238E27FC236}">
                <a16:creationId xmlns:a16="http://schemas.microsoft.com/office/drawing/2014/main" id="{D5829497-A2D1-4BAA-83C5-258BFA334BD5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5905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ED7DEFD-5EFF-4A2C-BF2A-12AF7CA1E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22517B53-FF0A-46F3-B153-B313117DC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0718" y="1827473"/>
            <a:ext cx="6494462" cy="4619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．螺纹紧固件装配画法遵循装配图的表达方法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D5DFB0-0C78-4872-9324-A7C9639CA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124" y="2708164"/>
            <a:ext cx="2954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螺栓联接的装配画法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22FC089-91C4-4F01-A293-E9603502C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017" y="127693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4001BD1-5169-46E6-B5AD-55A0C7641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9426" y="2577492"/>
            <a:ext cx="2943225" cy="42862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E9E04C7E-BA63-494A-BA90-49D792D70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59009" r="42302"/>
          <a:stretch>
            <a:fillRect/>
          </a:stretch>
        </p:blipFill>
        <p:spPr bwMode="auto">
          <a:xfrm>
            <a:off x="6812975" y="5087765"/>
            <a:ext cx="1972973" cy="17335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C1B9239E-8C3C-410F-930A-5CF215A8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46233"/>
          <a:stretch>
            <a:fillRect/>
          </a:stretch>
        </p:blipFill>
        <p:spPr bwMode="auto">
          <a:xfrm>
            <a:off x="6812970" y="2606935"/>
            <a:ext cx="3419475" cy="2411557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2A63FCF5-2DAA-4FD3-9442-AFAA41A8D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0018" t="71130" r="60534" b="11507"/>
          <a:stretch>
            <a:fillRect/>
          </a:stretch>
        </p:blipFill>
        <p:spPr bwMode="auto">
          <a:xfrm>
            <a:off x="7502671" y="5596919"/>
            <a:ext cx="665018" cy="734291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3DF3F72A-07F9-49FB-8E56-D2A52719F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64941" y="2687898"/>
            <a:ext cx="3333750" cy="231457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8E1A41A9-24D4-4C5B-91B6-3EE590E5E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20224" y="2445010"/>
            <a:ext cx="1000125" cy="24574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63A81DD3-3494-4D99-953E-B07AD9345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l="7182" r="47514" b="39805"/>
          <a:stretch>
            <a:fillRect/>
          </a:stretch>
        </p:blipFill>
        <p:spPr bwMode="auto">
          <a:xfrm>
            <a:off x="7081146" y="2364048"/>
            <a:ext cx="1562100" cy="2643187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8CD11A9D-75F7-4C59-82F2-50DF9A027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l="54144" b="39805"/>
          <a:stretch>
            <a:fillRect/>
          </a:stretch>
        </p:blipFill>
        <p:spPr bwMode="auto">
          <a:xfrm>
            <a:off x="8698491" y="2354523"/>
            <a:ext cx="1581150" cy="2643187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4E0DFD7A-132D-4BE7-A49D-4AA1C86D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31679" y="5661285"/>
            <a:ext cx="600075" cy="6286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3DCB9F2B-C85B-40B6-917F-964706E02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91966" y="5442210"/>
            <a:ext cx="1066800" cy="106680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3A9E68D0-F68D-4B1E-AFB9-E4A324320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01491" y="3027622"/>
            <a:ext cx="1051200" cy="162458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996D26C2-C8E9-4B36-B15B-1DC387495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277679" y="5443796"/>
            <a:ext cx="1095375" cy="10858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9" name="Picture 10">
            <a:extLst>
              <a:ext uri="{FF2B5EF4-FFF2-40B4-BE49-F238E27FC236}">
                <a16:creationId xmlns:a16="http://schemas.microsoft.com/office/drawing/2014/main" id="{910798A0-2399-476E-B002-05673DB28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7137979" y="2378335"/>
            <a:ext cx="1400175" cy="8191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20" name="Picture 11">
            <a:extLst>
              <a:ext uri="{FF2B5EF4-FFF2-40B4-BE49-F238E27FC236}">
                <a16:creationId xmlns:a16="http://schemas.microsoft.com/office/drawing/2014/main" id="{B2C19C9A-E25F-479B-8768-EAC34DDD6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974716" y="2356110"/>
            <a:ext cx="1066800" cy="8191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21" name="Picture 12">
            <a:extLst>
              <a:ext uri="{FF2B5EF4-FFF2-40B4-BE49-F238E27FC236}">
                <a16:creationId xmlns:a16="http://schemas.microsoft.com/office/drawing/2014/main" id="{E10F0CBE-E65F-4ACE-8C80-4A55E300B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863631" y="2395652"/>
            <a:ext cx="3429000" cy="44005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sp>
        <p:nvSpPr>
          <p:cNvPr id="22" name="Line 90">
            <a:extLst>
              <a:ext uri="{FF2B5EF4-FFF2-40B4-BE49-F238E27FC236}">
                <a16:creationId xmlns:a16="http://schemas.microsoft.com/office/drawing/2014/main" id="{0AF9FDAC-AF1A-4746-8B39-3A2671C6D0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0191" y="3157798"/>
            <a:ext cx="0" cy="28440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3" name="Picture 4" descr="螺栓连">
            <a:extLst>
              <a:ext uri="{FF2B5EF4-FFF2-40B4-BE49-F238E27FC236}">
                <a16:creationId xmlns:a16="http://schemas.microsoft.com/office/drawing/2014/main" id="{EDA40E50-D227-4788-B484-D631CB55F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271065" y="3403880"/>
            <a:ext cx="2214562" cy="307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4484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3FCCB266-89D2-44DD-9821-8151B77AC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892" y="1881508"/>
            <a:ext cx="4512774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．螺纹紧固件装配画法遵循装配图的表达方法</a:t>
            </a:r>
          </a:p>
        </p:txBody>
      </p:sp>
      <p:pic>
        <p:nvPicPr>
          <p:cNvPr id="3" name="Picture 4" descr="螺栓连">
            <a:extLst>
              <a:ext uri="{FF2B5EF4-FFF2-40B4-BE49-F238E27FC236}">
                <a16:creationId xmlns:a16="http://schemas.microsoft.com/office/drawing/2014/main" id="{89E55948-C92F-4F6F-8C66-5392E7C21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271065" y="3403880"/>
            <a:ext cx="2214562" cy="307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1">
            <a:extLst>
              <a:ext uri="{FF2B5EF4-FFF2-40B4-BE49-F238E27FC236}">
                <a16:creationId xmlns:a16="http://schemas.microsoft.com/office/drawing/2014/main" id="{2889FA50-6920-4799-A14B-D7795825B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62541" y="1595189"/>
            <a:ext cx="4340225" cy="459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32C7843F-D6C4-4399-8FDE-653B1CACA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027" y="2003636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900"/>
              <a:t>            </a:t>
            </a:r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28D471-F9D2-438E-AF41-0BD0AEF6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177" y="2860568"/>
            <a:ext cx="2954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螺栓联接的装配画法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4B3875B9-53AA-4323-A53A-C8A5F4AC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E6491DD-2570-40D3-B446-7BDC75FBD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017" y="127693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</p:spTree>
    <p:extLst>
      <p:ext uri="{BB962C8B-B14F-4D97-AF65-F5344CB8AC3E}">
        <p14:creationId xmlns:p14="http://schemas.microsoft.com/office/powerpoint/2010/main" val="282730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384A60BC-5B82-4493-9AE5-B7D06974B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3453045-6A21-4F62-95D0-44BC53D55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436" y="1121219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F712A4D-8535-45AF-AA47-A6D17D2D0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187" y="195269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900"/>
              <a:t>            </a:t>
            </a:r>
            <a:endParaRPr lang="en-US" altLang="zh-CN"/>
          </a:p>
        </p:txBody>
      </p:sp>
      <p:sp>
        <p:nvSpPr>
          <p:cNvPr id="5" name="矩形 10">
            <a:extLst>
              <a:ext uri="{FF2B5EF4-FFF2-40B4-BE49-F238E27FC236}">
                <a16:creationId xmlns:a16="http://schemas.microsoft.com/office/drawing/2014/main" id="{77C0ACAF-8475-4723-AC7C-80E1B589A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446" y="2486588"/>
            <a:ext cx="2954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/>
              <a:t>螺柱联接的装配画法</a:t>
            </a:r>
          </a:p>
        </p:txBody>
      </p:sp>
      <p:pic>
        <p:nvPicPr>
          <p:cNvPr id="6" name="Picture 4" descr="螺柱连">
            <a:extLst>
              <a:ext uri="{FF2B5EF4-FFF2-40B4-BE49-F238E27FC236}">
                <a16:creationId xmlns:a16="http://schemas.microsoft.com/office/drawing/2014/main" id="{E3010CE7-24A9-40EF-8BAF-248E52E9F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629084" y="2857856"/>
            <a:ext cx="2451100" cy="37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79EE1E53-3EA8-4B6E-962F-A208D26C4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07409" y="3306109"/>
            <a:ext cx="2162175" cy="180022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2F6C19F-E9D8-42F1-A394-CE2031072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65801" y="1986463"/>
            <a:ext cx="647700" cy="21526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13F1612C-274A-4424-8A59-0B25EBBF2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69321" y="1938628"/>
            <a:ext cx="2085975" cy="311921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5277D701-F5A2-4E8B-A9B5-2EB3904C5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11450" y="2746044"/>
            <a:ext cx="2211387" cy="733823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39BEA0E6-0021-4D51-9C69-00C2F8F45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333675" y="1924520"/>
            <a:ext cx="2233612" cy="3250797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5E3001BA-E0E4-402E-8ABF-1D762C619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l="4821" t="28544" b="20115"/>
          <a:stretch>
            <a:fillRect/>
          </a:stretch>
        </p:blipFill>
        <p:spPr bwMode="auto">
          <a:xfrm>
            <a:off x="7789286" y="2225743"/>
            <a:ext cx="1296000" cy="502644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6A3A011F-24DD-448B-9E3B-B869FD124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l="18419" t="76835" r="14092" b="5174"/>
          <a:stretch>
            <a:fillRect/>
          </a:stretch>
        </p:blipFill>
        <p:spPr bwMode="auto">
          <a:xfrm>
            <a:off x="7986137" y="2701992"/>
            <a:ext cx="900000" cy="17250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grpSp>
        <p:nvGrpSpPr>
          <p:cNvPr id="14" name="Group 65">
            <a:extLst>
              <a:ext uri="{FF2B5EF4-FFF2-40B4-BE49-F238E27FC236}">
                <a16:creationId xmlns:a16="http://schemas.microsoft.com/office/drawing/2014/main" id="{2F6E9C73-0BC3-44BF-9214-F05AE20EEE08}"/>
              </a:ext>
            </a:extLst>
          </p:cNvPr>
          <p:cNvGrpSpPr>
            <a:grpSpLocks/>
          </p:cNvGrpSpPr>
          <p:nvPr/>
        </p:nvGrpSpPr>
        <p:grpSpPr bwMode="auto">
          <a:xfrm>
            <a:off x="6427356" y="2049819"/>
            <a:ext cx="1820862" cy="1403350"/>
            <a:chOff x="545" y="785"/>
            <a:chExt cx="1147" cy="884"/>
          </a:xfrm>
        </p:grpSpPr>
        <p:sp>
          <p:nvSpPr>
            <p:cNvPr id="15" name="Line 66">
              <a:extLst>
                <a:ext uri="{FF2B5EF4-FFF2-40B4-BE49-F238E27FC236}">
                  <a16:creationId xmlns:a16="http://schemas.microsoft.com/office/drawing/2014/main" id="{4C935D52-D5E2-4900-910F-04537E18A9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" y="1666"/>
              <a:ext cx="44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67">
              <a:extLst>
                <a:ext uri="{FF2B5EF4-FFF2-40B4-BE49-F238E27FC236}">
                  <a16:creationId xmlns:a16="http://schemas.microsoft.com/office/drawing/2014/main" id="{871D63B5-ECE4-4214-A207-1BDB5D00F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6" y="794"/>
              <a:ext cx="96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68">
              <a:extLst>
                <a:ext uri="{FF2B5EF4-FFF2-40B4-BE49-F238E27FC236}">
                  <a16:creationId xmlns:a16="http://schemas.microsoft.com/office/drawing/2014/main" id="{D5E06690-C5AF-4B23-BCED-61BA280C7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" y="785"/>
              <a:ext cx="0" cy="8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69">
              <a:extLst>
                <a:ext uri="{FF2B5EF4-FFF2-40B4-BE49-F238E27FC236}">
                  <a16:creationId xmlns:a16="http://schemas.microsoft.com/office/drawing/2014/main" id="{A0C13BEF-2B5A-4229-A77A-29A7BF0B6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54" y="1145"/>
              <a:ext cx="2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Italic" pitchFamily="2" charset="0"/>
                </a:rPr>
                <a:t>l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Group 57">
            <a:extLst>
              <a:ext uri="{FF2B5EF4-FFF2-40B4-BE49-F238E27FC236}">
                <a16:creationId xmlns:a16="http://schemas.microsoft.com/office/drawing/2014/main" id="{C8B179DD-6F4D-4225-890B-8C54B2334B94}"/>
              </a:ext>
            </a:extLst>
          </p:cNvPr>
          <p:cNvGrpSpPr>
            <a:grpSpLocks/>
          </p:cNvGrpSpPr>
          <p:nvPr/>
        </p:nvGrpSpPr>
        <p:grpSpPr bwMode="auto">
          <a:xfrm>
            <a:off x="8702242" y="2841981"/>
            <a:ext cx="1476375" cy="1219200"/>
            <a:chOff x="2302" y="1416"/>
            <a:chExt cx="930" cy="768"/>
          </a:xfrm>
        </p:grpSpPr>
        <p:sp>
          <p:nvSpPr>
            <p:cNvPr id="20" name="Text Box 58">
              <a:extLst>
                <a:ext uri="{FF2B5EF4-FFF2-40B4-BE49-F238E27FC236}">
                  <a16:creationId xmlns:a16="http://schemas.microsoft.com/office/drawing/2014/main" id="{A9A78C1A-AF42-46D2-A966-6C3FA3788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891" y="1498"/>
              <a:ext cx="2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 dirty="0">
                  <a:solidFill>
                    <a:srgbClr val="FF0000"/>
                  </a:solidFill>
                  <a:latin typeface="宋体" pitchFamily="2" charset="-122"/>
                  <a:sym typeface="Symbol" pitchFamily="18" charset="2"/>
                </a:rPr>
                <a:t>t</a:t>
              </a:r>
              <a:endParaRPr lang="en-US" altLang="zh-CN" dirty="0">
                <a:solidFill>
                  <a:srgbClr val="FF0000"/>
                </a:solidFill>
                <a:sym typeface="Symbol" pitchFamily="18" charset="2"/>
              </a:endParaRPr>
            </a:p>
          </p:txBody>
        </p:sp>
        <p:sp>
          <p:nvSpPr>
            <p:cNvPr id="21" name="Line 59">
              <a:extLst>
                <a:ext uri="{FF2B5EF4-FFF2-40B4-BE49-F238E27FC236}">
                  <a16:creationId xmlns:a16="http://schemas.microsoft.com/office/drawing/2014/main" id="{90D83AA7-56ED-490B-9AF7-6CBBCAAF3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" y="1416"/>
              <a:ext cx="0" cy="4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60">
              <a:extLst>
                <a:ext uri="{FF2B5EF4-FFF2-40B4-BE49-F238E27FC236}">
                  <a16:creationId xmlns:a16="http://schemas.microsoft.com/office/drawing/2014/main" id="{5E4BFD62-BED1-42F6-9759-8D1CCA5C0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1" y="1803"/>
              <a:ext cx="41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61">
              <a:extLst>
                <a:ext uri="{FF2B5EF4-FFF2-40B4-BE49-F238E27FC236}">
                  <a16:creationId xmlns:a16="http://schemas.microsoft.com/office/drawing/2014/main" id="{6D87F2D9-3BBC-475C-8C43-F10AB6E4B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2" y="2168"/>
              <a:ext cx="93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62">
              <a:extLst>
                <a:ext uri="{FF2B5EF4-FFF2-40B4-BE49-F238E27FC236}">
                  <a16:creationId xmlns:a16="http://schemas.microsoft.com/office/drawing/2014/main" id="{8A104FC3-E20A-4D4B-ABC2-9008F4AC6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" y="1821"/>
              <a:ext cx="0" cy="3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63">
              <a:extLst>
                <a:ext uri="{FF2B5EF4-FFF2-40B4-BE49-F238E27FC236}">
                  <a16:creationId xmlns:a16="http://schemas.microsoft.com/office/drawing/2014/main" id="{877D8BAE-AF67-4B67-9C32-9FAFFAA11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813" y="1853"/>
              <a:ext cx="34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en-US" altLang="zh-CN" i="1" dirty="0" err="1">
                  <a:solidFill>
                    <a:srgbClr val="FF0000"/>
                  </a:solidFill>
                  <a:latin typeface="ISOCPEUR" pitchFamily="34" charset="0"/>
                </a:rPr>
                <a:t>b</a:t>
              </a:r>
              <a:r>
                <a:rPr lang="en-US" altLang="zh-CN" i="1" baseline="-25000" dirty="0" err="1">
                  <a:solidFill>
                    <a:srgbClr val="FF0000"/>
                  </a:solidFill>
                  <a:latin typeface="ISOCPEUR" pitchFamily="34" charset="0"/>
                </a:rPr>
                <a:t>m</a:t>
              </a:r>
              <a:endParaRPr lang="en-US" altLang="zh-CN" b="0" dirty="0">
                <a:solidFill>
                  <a:srgbClr val="FF0000"/>
                </a:solidFill>
                <a:latin typeface="ISOCPEUR" pitchFamily="34" charset="0"/>
              </a:endParaRPr>
            </a:p>
          </p:txBody>
        </p:sp>
        <p:sp>
          <p:nvSpPr>
            <p:cNvPr id="26" name="Line 64">
              <a:extLst>
                <a:ext uri="{FF2B5EF4-FFF2-40B4-BE49-F238E27FC236}">
                  <a16:creationId xmlns:a16="http://schemas.microsoft.com/office/drawing/2014/main" id="{E4C74B4F-18E8-4C86-B1FB-7AC58A159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6" y="1426"/>
              <a:ext cx="40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" name="Text Box 4">
            <a:extLst>
              <a:ext uri="{FF2B5EF4-FFF2-40B4-BE49-F238E27FC236}">
                <a16:creationId xmlns:a16="http://schemas.microsoft.com/office/drawing/2014/main" id="{948FF632-AF46-4A09-8B76-440CBC995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796" y="1622375"/>
            <a:ext cx="4450311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．螺纹紧固件装配画法遵循装配图的表达方法</a:t>
            </a:r>
          </a:p>
        </p:txBody>
      </p:sp>
      <p:sp>
        <p:nvSpPr>
          <p:cNvPr id="28" name="Text Box 70">
            <a:extLst>
              <a:ext uri="{FF2B5EF4-FFF2-40B4-BE49-F238E27FC236}">
                <a16:creationId xmlns:a16="http://schemas.microsoft.com/office/drawing/2014/main" id="{D0B5F5C6-40B5-4C55-8FCC-BE21D7B34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2488" y="5174151"/>
            <a:ext cx="3901152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Italic" pitchFamily="2" charset="0"/>
              </a:rPr>
              <a:t>l</a:t>
            </a:r>
            <a:r>
              <a:rPr lang="zh-CN" altLang="en-US" sz="2400" b="1" baseline="-25000" dirty="0">
                <a:solidFill>
                  <a:srgbClr val="FF0000"/>
                </a:solidFill>
              </a:rPr>
              <a:t>计</a:t>
            </a:r>
            <a:r>
              <a:rPr lang="en-US" altLang="zh-CN" sz="2400" b="1" dirty="0">
                <a:solidFill>
                  <a:srgbClr val="FF0000"/>
                </a:solidFill>
              </a:rPr>
              <a:t>= </a:t>
            </a:r>
            <a:r>
              <a:rPr lang="en-US" altLang="zh-CN" sz="2400" b="1" dirty="0">
                <a:solidFill>
                  <a:srgbClr val="FF0000"/>
                </a:solidFill>
                <a:sym typeface="Symbol" pitchFamily="18" charset="2"/>
              </a:rPr>
              <a:t>t</a:t>
            </a:r>
            <a:r>
              <a:rPr lang="en-US" altLang="zh-CN" sz="2400" b="1" dirty="0">
                <a:solidFill>
                  <a:srgbClr val="FF0000"/>
                </a:solidFill>
              </a:rPr>
              <a:t> +0.15d+0.8d+0.3d</a:t>
            </a:r>
          </a:p>
        </p:txBody>
      </p:sp>
      <p:sp>
        <p:nvSpPr>
          <p:cNvPr id="29" name="Text Box 178">
            <a:extLst>
              <a:ext uri="{FF2B5EF4-FFF2-40B4-BE49-F238E27FC236}">
                <a16:creationId xmlns:a16="http://schemas.microsoft.com/office/drawing/2014/main" id="{F3DC8EAB-145F-4328-B0F0-64E26168A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7544" y="4596178"/>
            <a:ext cx="1524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/>
              <a:t>螺柱长度</a:t>
            </a:r>
            <a:r>
              <a:rPr lang="en-US" altLang="zh-CN" sz="2400" b="1" dirty="0"/>
              <a:t>:</a:t>
            </a:r>
          </a:p>
        </p:txBody>
      </p:sp>
      <p:sp>
        <p:nvSpPr>
          <p:cNvPr id="30" name="Text Box 76">
            <a:extLst>
              <a:ext uri="{FF2B5EF4-FFF2-40B4-BE49-F238E27FC236}">
                <a16:creationId xmlns:a16="http://schemas.microsoft.com/office/drawing/2014/main" id="{67D8E846-4618-4C58-A902-B31DBD45D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886" y="5892792"/>
            <a:ext cx="8338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en-US" altLang="zh-CN" sz="2400" b="1" dirty="0" err="1">
                <a:solidFill>
                  <a:schemeClr val="tx1"/>
                </a:solidFill>
              </a:rPr>
              <a:t>bm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31" name="Text Box 77">
            <a:extLst>
              <a:ext uri="{FF2B5EF4-FFF2-40B4-BE49-F238E27FC236}">
                <a16:creationId xmlns:a16="http://schemas.microsoft.com/office/drawing/2014/main" id="{0C98CB28-4530-4162-AF6B-146457799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556" y="5576523"/>
            <a:ext cx="19431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zh-CN" altLang="en-US" sz="2400" b="1" dirty="0">
                <a:solidFill>
                  <a:schemeClr val="tx1"/>
                </a:solidFill>
              </a:rPr>
              <a:t>钢</a:t>
            </a:r>
            <a:r>
              <a:rPr kumimoji="0" lang="zh-CN" altLang="en-US" sz="2400" b="1" dirty="0">
                <a:solidFill>
                  <a:schemeClr val="tx1"/>
                </a:solidFill>
                <a:latin typeface="宋体" pitchFamily="2" charset="-122"/>
              </a:rPr>
              <a:t>：  </a:t>
            </a:r>
            <a:r>
              <a:rPr kumimoji="0" lang="en-US" altLang="zh-CN" sz="2400" b="1" dirty="0" err="1">
                <a:solidFill>
                  <a:schemeClr val="tx1"/>
                </a:solidFill>
              </a:rPr>
              <a:t>bm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=d</a:t>
            </a:r>
          </a:p>
        </p:txBody>
      </p:sp>
      <p:sp>
        <p:nvSpPr>
          <p:cNvPr id="32" name="Text Box 78">
            <a:extLst>
              <a:ext uri="{FF2B5EF4-FFF2-40B4-BE49-F238E27FC236}">
                <a16:creationId xmlns:a16="http://schemas.microsoft.com/office/drawing/2014/main" id="{303866FB-EF48-40EE-8AFE-149927BBD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556" y="5937303"/>
            <a:ext cx="3514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zh-CN" altLang="en-US" sz="2400" b="1" dirty="0">
                <a:solidFill>
                  <a:schemeClr val="tx1"/>
                </a:solidFill>
              </a:rPr>
              <a:t>铸铁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:   </a:t>
            </a:r>
            <a:r>
              <a:rPr kumimoji="0" lang="en-US" altLang="zh-CN" sz="2400" b="1" dirty="0" err="1">
                <a:solidFill>
                  <a:schemeClr val="tx1"/>
                </a:solidFill>
              </a:rPr>
              <a:t>bm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=1.25d</a:t>
            </a:r>
            <a:r>
              <a:rPr kumimoji="0" lang="zh-CN" altLang="zh-CN" sz="2400" b="1" dirty="0">
                <a:solidFill>
                  <a:schemeClr val="tx1"/>
                </a:solidFill>
              </a:rPr>
              <a:t>或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1.5d</a:t>
            </a:r>
          </a:p>
        </p:txBody>
      </p:sp>
      <p:sp>
        <p:nvSpPr>
          <p:cNvPr id="33" name="Text Box 79">
            <a:extLst>
              <a:ext uri="{FF2B5EF4-FFF2-40B4-BE49-F238E27FC236}">
                <a16:creationId xmlns:a16="http://schemas.microsoft.com/office/drawing/2014/main" id="{D2100E96-C262-401C-B3EE-683CD020D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556" y="6357650"/>
            <a:ext cx="21162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zh-CN" altLang="en-US" sz="2400" b="1" dirty="0">
                <a:solidFill>
                  <a:schemeClr val="tx1"/>
                </a:solidFill>
                <a:latin typeface="宋体" pitchFamily="2" charset="-122"/>
              </a:rPr>
              <a:t>铝</a:t>
            </a:r>
            <a:r>
              <a:rPr kumimoji="0" lang="en-US" altLang="zh-CN" sz="2400" b="1" dirty="0">
                <a:solidFill>
                  <a:schemeClr val="tx1"/>
                </a:solidFill>
                <a:latin typeface="宋体" pitchFamily="2" charset="-122"/>
              </a:rPr>
              <a:t>:   </a:t>
            </a:r>
            <a:r>
              <a:rPr kumimoji="0" lang="en-US" altLang="zh-CN" sz="2400" b="1" dirty="0" err="1">
                <a:solidFill>
                  <a:schemeClr val="tx1"/>
                </a:solidFill>
              </a:rPr>
              <a:t>bm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=2d</a:t>
            </a:r>
            <a:endParaRPr kumimoji="0" lang="en-US" altLang="zh-CN" sz="2400" b="1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856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75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75"/>
                            </p:stCondLst>
                            <p:childTnLst>
                              <p:par>
                                <p:cTn id="5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75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75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75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  <p:bldP spid="29" grpId="0" build="p" autoUpdateAnimBg="0"/>
      <p:bldP spid="30" grpId="0" autoUpdateAnimBg="0"/>
      <p:bldP spid="31" grpId="0" build="p" autoUpdateAnimBg="0"/>
      <p:bldP spid="32" grpId="0" build="p" autoUpdateAnimBg="0"/>
      <p:bldP spid="3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D28C255A-9298-471C-A297-139535016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pic>
        <p:nvPicPr>
          <p:cNvPr id="7" name="Picture 1" descr="snap">
            <a:extLst>
              <a:ext uri="{FF2B5EF4-FFF2-40B4-BE49-F238E27FC236}">
                <a16:creationId xmlns:a16="http://schemas.microsoft.com/office/drawing/2014/main" id="{B11B8D91-A13E-4B91-9A05-EED7376BF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428791" y="2024844"/>
            <a:ext cx="4957763" cy="467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螺柱连">
            <a:extLst>
              <a:ext uri="{FF2B5EF4-FFF2-40B4-BE49-F238E27FC236}">
                <a16:creationId xmlns:a16="http://schemas.microsoft.com/office/drawing/2014/main" id="{E4DDE019-BD98-44B7-8375-EBC160284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47064" y="2946244"/>
            <a:ext cx="2451100" cy="37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81BD9CF8-1F5F-403C-BF53-CF4B51973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436" y="1121219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1DD01C27-E634-4477-ABE1-65B13EF7D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446" y="2486588"/>
            <a:ext cx="2954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/>
              <a:t>螺柱联接的装配画法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28A02E6-E3BB-4D31-BAE8-3C71CFA06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796" y="1622375"/>
            <a:ext cx="4450311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．螺纹紧固件装配画法遵循装配图的表达方法</a:t>
            </a:r>
          </a:p>
        </p:txBody>
      </p:sp>
    </p:spTree>
    <p:extLst>
      <p:ext uri="{BB962C8B-B14F-4D97-AF65-F5344CB8AC3E}">
        <p14:creationId xmlns:p14="http://schemas.microsoft.com/office/powerpoint/2010/main" val="319480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41A4E2C0-EB4D-4478-9191-B6B42FE5A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108" y="1602315"/>
            <a:ext cx="6494462" cy="4619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3</a:t>
            </a:r>
            <a:r>
              <a:rPr lang="zh-CN" altLang="en-US" sz="2400" b="1" dirty="0">
                <a:solidFill>
                  <a:srgbClr val="0070C0"/>
                </a:solidFill>
              </a:rPr>
              <a:t>．螺纹紧固件装配画法遵循装配图的表达方法</a:t>
            </a: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20264A28-7D0C-433A-BD59-BE40A91C4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9492" y="396664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FB105E0-F36B-4BB4-B545-95976AFB6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454" y="104564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矩形 10">
            <a:extLst>
              <a:ext uri="{FF2B5EF4-FFF2-40B4-BE49-F238E27FC236}">
                <a16:creationId xmlns:a16="http://schemas.microsoft.com/office/drawing/2014/main" id="{7965D635-C1C3-4C3F-832E-F755395FE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9258" y="2062690"/>
            <a:ext cx="2954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70C0"/>
                </a:solidFill>
              </a:rPr>
              <a:t>螺钉连接的装配画法</a:t>
            </a:r>
          </a:p>
        </p:txBody>
      </p:sp>
      <p:pic>
        <p:nvPicPr>
          <p:cNvPr id="8" name="Picture 2" descr="1">
            <a:extLst>
              <a:ext uri="{FF2B5EF4-FFF2-40B4-BE49-F238E27FC236}">
                <a16:creationId xmlns:a16="http://schemas.microsoft.com/office/drawing/2014/main" id="{FF1FB403-2EEE-415B-BED9-5D21EF3D2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312829" y="2165139"/>
            <a:ext cx="485775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 descr="螺钉连">
            <a:extLst>
              <a:ext uri="{FF2B5EF4-FFF2-40B4-BE49-F238E27FC236}">
                <a16:creationId xmlns:a16="http://schemas.microsoft.com/office/drawing/2014/main" id="{D71D211E-AE64-4DC3-B29C-7DA39E98B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073275" y="2985028"/>
            <a:ext cx="2281238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31">
            <a:extLst>
              <a:ext uri="{FF2B5EF4-FFF2-40B4-BE49-F238E27FC236}">
                <a16:creationId xmlns:a16="http://schemas.microsoft.com/office/drawing/2014/main" id="{E9F11FEA-7A83-495A-982E-422F84AEA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3692" y="296652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C6278D5E-2D69-4A95-BC18-D2238CC3D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7305" y="985564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</p:spTree>
    <p:extLst>
      <p:ext uri="{BB962C8B-B14F-4D97-AF65-F5344CB8AC3E}">
        <p14:creationId xmlns:p14="http://schemas.microsoft.com/office/powerpoint/2010/main" val="139728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B1B625B8-0D29-4974-A7B1-C4A9A349D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600" y="1434943"/>
            <a:ext cx="6494462" cy="4619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3</a:t>
            </a:r>
            <a:r>
              <a:rPr lang="zh-CN" altLang="en-US" sz="2400" dirty="0">
                <a:solidFill>
                  <a:srgbClr val="0070C0"/>
                </a:solidFill>
              </a:rPr>
              <a:t>．螺纹紧固件装配画法遵循装配图的表达方法</a:t>
            </a: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5A8CE56E-20FB-4888-B238-58B71DC5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484" y="324656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4" name="矩形 10">
            <a:extLst>
              <a:ext uri="{FF2B5EF4-FFF2-40B4-BE49-F238E27FC236}">
                <a16:creationId xmlns:a16="http://schemas.microsoft.com/office/drawing/2014/main" id="{897A54A5-8351-45FA-A17C-FAC3D843A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750" y="1895318"/>
            <a:ext cx="2954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</a:rPr>
              <a:t>螺钉连接的装配画法</a:t>
            </a:r>
          </a:p>
        </p:txBody>
      </p:sp>
      <p:sp>
        <p:nvSpPr>
          <p:cNvPr id="5" name="Text Box 31">
            <a:extLst>
              <a:ext uri="{FF2B5EF4-FFF2-40B4-BE49-F238E27FC236}">
                <a16:creationId xmlns:a16="http://schemas.microsoft.com/office/drawing/2014/main" id="{D38F54B0-9751-46DD-8050-52E2F903A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684" y="224644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D4CCA609-0782-49A7-BA9A-6BFD2B5D1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241" y="911723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C3C01CF-FEC4-4BF2-8D5D-FC90D4F5CD10}"/>
              </a:ext>
            </a:extLst>
          </p:cNvPr>
          <p:cNvGrpSpPr/>
          <p:nvPr/>
        </p:nvGrpSpPr>
        <p:grpSpPr>
          <a:xfrm>
            <a:off x="2161066" y="2093131"/>
            <a:ext cx="7937505" cy="4556125"/>
            <a:chOff x="555620" y="2060575"/>
            <a:chExt cx="7937505" cy="4556125"/>
          </a:xfrm>
        </p:grpSpPr>
        <p:pic>
          <p:nvPicPr>
            <p:cNvPr id="8" name="Picture 2" descr="1">
              <a:extLst>
                <a:ext uri="{FF2B5EF4-FFF2-40B4-BE49-F238E27FC236}">
                  <a16:creationId xmlns:a16="http://schemas.microsoft.com/office/drawing/2014/main" id="{7B58A03C-A7BE-451B-8261-19CB82EDF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l="54052"/>
            <a:stretch>
              <a:fillRect/>
            </a:stretch>
          </p:blipFill>
          <p:spPr bwMode="auto">
            <a:xfrm>
              <a:off x="6261100" y="2060575"/>
              <a:ext cx="2232025" cy="4362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691C14EF-0CF4-42B8-A0DE-489B907CDD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r="73823" b="14265"/>
            <a:stretch>
              <a:fillRect/>
            </a:stretch>
          </p:blipFill>
          <p:spPr bwMode="auto">
            <a:xfrm>
              <a:off x="555620" y="2728913"/>
              <a:ext cx="2700338" cy="2833687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060D64AA-3C03-47F3-8753-0C4889346E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l="76300" t="18011" b="9366"/>
            <a:stretch>
              <a:fillRect/>
            </a:stretch>
          </p:blipFill>
          <p:spPr bwMode="auto">
            <a:xfrm>
              <a:off x="3352800" y="4216400"/>
              <a:ext cx="2444745" cy="2400300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87FD15B-0BF8-4826-8074-8DAE88203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l="29271" t="24496" r="54524" b="18876"/>
            <a:stretch>
              <a:fillRect/>
            </a:stretch>
          </p:blipFill>
          <p:spPr bwMode="auto">
            <a:xfrm>
              <a:off x="3913182" y="2222355"/>
              <a:ext cx="1671638" cy="1871662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72838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F5F97B9-09B7-4099-80F7-53D7075C2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510" y="1533393"/>
            <a:ext cx="5641975" cy="53975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紧定螺钉联接装配图的比例画法</a:t>
            </a:r>
            <a:endParaRPr lang="zh-CN" altLang="en-US" sz="2800" b="0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9EAF94-8F4B-4F86-9D14-052EB7A87DC9}"/>
              </a:ext>
            </a:extLst>
          </p:cNvPr>
          <p:cNvGrpSpPr>
            <a:grpSpLocks/>
          </p:cNvGrpSpPr>
          <p:nvPr/>
        </p:nvGrpSpPr>
        <p:grpSpPr bwMode="auto">
          <a:xfrm>
            <a:off x="6851182" y="1856224"/>
            <a:ext cx="641062" cy="1095808"/>
            <a:chOff x="1344" y="511"/>
            <a:chExt cx="492" cy="860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922D8E0B-B58E-4B21-A896-2D76E85E1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9" y="742"/>
              <a:ext cx="50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9650B04-BD45-4497-85CC-DFCE6A272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" y="511"/>
              <a:ext cx="16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latin typeface="宋体" pitchFamily="2" charset="-122"/>
                </a:rPr>
                <a:t>Ⅰ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259A0975-28D4-4EB9-B55A-6BF63136B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2" y="742"/>
              <a:ext cx="172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162E9383-898C-437F-A569-A2BE8037A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879"/>
              <a:ext cx="492" cy="49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E0428E7-6572-4E64-A421-BEDE1AC8BAE0}"/>
              </a:ext>
            </a:extLst>
          </p:cNvPr>
          <p:cNvGrpSpPr>
            <a:grpSpLocks/>
          </p:cNvGrpSpPr>
          <p:nvPr/>
        </p:nvGrpSpPr>
        <p:grpSpPr bwMode="auto">
          <a:xfrm>
            <a:off x="8790818" y="1776030"/>
            <a:ext cx="1867477" cy="2163169"/>
            <a:chOff x="2844" y="320"/>
            <a:chExt cx="1467" cy="1794"/>
          </a:xfrm>
        </p:grpSpPr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3CC018AD-C726-4ABA-98A0-31EF82167D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" y="1117"/>
              <a:ext cx="11" cy="1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E9CDCD78-3715-49FC-904B-13D1D6E7C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" y="1117"/>
              <a:ext cx="15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FFF77A27-BBE2-4608-AF7D-733A0EF01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" y="1117"/>
              <a:ext cx="290" cy="2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BCB40400-017F-49A6-8612-DA1AB8DD94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" y="1238"/>
              <a:ext cx="309" cy="3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5C8D4A11-443A-4EBD-A196-1F7FF020EA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2" y="1377"/>
              <a:ext cx="206" cy="2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74CDAB92-C58D-4D67-812E-8AA82CAAE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2" y="1517"/>
              <a:ext cx="66" cy="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B97DB8F2-BA1A-4DBC-97A5-DB1C3865B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6" y="1117"/>
              <a:ext cx="72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20EE853-C8B3-428B-A3DA-F51F058E8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117"/>
              <a:ext cx="212" cy="212"/>
            </a:xfrm>
            <a:custGeom>
              <a:avLst/>
              <a:gdLst>
                <a:gd name="T0" fmla="*/ 0 w 552"/>
                <a:gd name="T1" fmla="*/ 0 h 552"/>
                <a:gd name="T2" fmla="*/ 0 w 552"/>
                <a:gd name="T3" fmla="*/ 0 h 552"/>
                <a:gd name="T4" fmla="*/ 0 w 552"/>
                <a:gd name="T5" fmla="*/ 0 h 552"/>
                <a:gd name="T6" fmla="*/ 0 60000 65536"/>
                <a:gd name="T7" fmla="*/ 0 60000 65536"/>
                <a:gd name="T8" fmla="*/ 0 60000 65536"/>
                <a:gd name="T9" fmla="*/ 0 w 552"/>
                <a:gd name="T10" fmla="*/ 0 h 552"/>
                <a:gd name="T11" fmla="*/ 552 w 552"/>
                <a:gd name="T12" fmla="*/ 552 h 5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2" h="552">
                  <a:moveTo>
                    <a:pt x="0" y="552"/>
                  </a:moveTo>
                  <a:lnTo>
                    <a:pt x="95" y="458"/>
                  </a:lnTo>
                  <a:lnTo>
                    <a:pt x="55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16556D1-2116-4AD3-A6B7-17C2F9D3B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117"/>
              <a:ext cx="351" cy="353"/>
            </a:xfrm>
            <a:custGeom>
              <a:avLst/>
              <a:gdLst>
                <a:gd name="T0" fmla="*/ 0 w 916"/>
                <a:gd name="T1" fmla="*/ 0 h 916"/>
                <a:gd name="T2" fmla="*/ 0 w 916"/>
                <a:gd name="T3" fmla="*/ 0 h 916"/>
                <a:gd name="T4" fmla="*/ 0 w 916"/>
                <a:gd name="T5" fmla="*/ 0 h 916"/>
                <a:gd name="T6" fmla="*/ 0 60000 65536"/>
                <a:gd name="T7" fmla="*/ 0 60000 65536"/>
                <a:gd name="T8" fmla="*/ 0 60000 65536"/>
                <a:gd name="T9" fmla="*/ 0 w 916"/>
                <a:gd name="T10" fmla="*/ 0 h 916"/>
                <a:gd name="T11" fmla="*/ 916 w 916"/>
                <a:gd name="T12" fmla="*/ 916 h 9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6" h="916">
                  <a:moveTo>
                    <a:pt x="0" y="916"/>
                  </a:moveTo>
                  <a:lnTo>
                    <a:pt x="458" y="458"/>
                  </a:lnTo>
                  <a:lnTo>
                    <a:pt x="91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B20DDCC6-A989-44A9-B977-013ABEB393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0" y="1543"/>
              <a:ext cx="40" cy="4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F3FFF87-3E55-47D0-925A-9CE83FE0E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1215"/>
              <a:ext cx="329" cy="328"/>
            </a:xfrm>
            <a:custGeom>
              <a:avLst/>
              <a:gdLst>
                <a:gd name="T0" fmla="*/ 0 w 857"/>
                <a:gd name="T1" fmla="*/ 0 h 857"/>
                <a:gd name="T2" fmla="*/ 0 w 857"/>
                <a:gd name="T3" fmla="*/ 0 h 857"/>
                <a:gd name="T4" fmla="*/ 0 w 857"/>
                <a:gd name="T5" fmla="*/ 0 h 857"/>
                <a:gd name="T6" fmla="*/ 0 60000 65536"/>
                <a:gd name="T7" fmla="*/ 0 60000 65536"/>
                <a:gd name="T8" fmla="*/ 0 60000 65536"/>
                <a:gd name="T9" fmla="*/ 0 w 857"/>
                <a:gd name="T10" fmla="*/ 0 h 857"/>
                <a:gd name="T11" fmla="*/ 857 w 857"/>
                <a:gd name="T12" fmla="*/ 857 h 8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7" h="857">
                  <a:moveTo>
                    <a:pt x="857" y="0"/>
                  </a:moveTo>
                  <a:lnTo>
                    <a:pt x="653" y="205"/>
                  </a:lnTo>
                  <a:lnTo>
                    <a:pt x="0" y="85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CBEEE38-27C2-4BCB-A303-A38F30544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327"/>
              <a:ext cx="257" cy="257"/>
            </a:xfrm>
            <a:custGeom>
              <a:avLst/>
              <a:gdLst>
                <a:gd name="T0" fmla="*/ 0 w 669"/>
                <a:gd name="T1" fmla="*/ 0 h 669"/>
                <a:gd name="T2" fmla="*/ 0 w 669"/>
                <a:gd name="T3" fmla="*/ 0 h 669"/>
                <a:gd name="T4" fmla="*/ 0 w 669"/>
                <a:gd name="T5" fmla="*/ 0 h 669"/>
                <a:gd name="T6" fmla="*/ 0 60000 65536"/>
                <a:gd name="T7" fmla="*/ 0 60000 65536"/>
                <a:gd name="T8" fmla="*/ 0 60000 65536"/>
                <a:gd name="T9" fmla="*/ 0 w 669"/>
                <a:gd name="T10" fmla="*/ 0 h 669"/>
                <a:gd name="T11" fmla="*/ 669 w 669"/>
                <a:gd name="T12" fmla="*/ 669 h 6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9" h="669">
                  <a:moveTo>
                    <a:pt x="0" y="669"/>
                  </a:moveTo>
                  <a:lnTo>
                    <a:pt x="104" y="564"/>
                  </a:lnTo>
                  <a:lnTo>
                    <a:pt x="66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039D0D7-FEEB-49E8-9CB4-491DA6154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1459"/>
              <a:ext cx="123" cy="125"/>
            </a:xfrm>
            <a:custGeom>
              <a:avLst/>
              <a:gdLst>
                <a:gd name="T0" fmla="*/ 0 w 323"/>
                <a:gd name="T1" fmla="*/ 0 h 324"/>
                <a:gd name="T2" fmla="*/ 0 w 323"/>
                <a:gd name="T3" fmla="*/ 0 h 324"/>
                <a:gd name="T4" fmla="*/ 0 w 323"/>
                <a:gd name="T5" fmla="*/ 0 h 324"/>
                <a:gd name="T6" fmla="*/ 0 60000 65536"/>
                <a:gd name="T7" fmla="*/ 0 60000 65536"/>
                <a:gd name="T8" fmla="*/ 0 60000 65536"/>
                <a:gd name="T9" fmla="*/ 0 w 323"/>
                <a:gd name="T10" fmla="*/ 0 h 324"/>
                <a:gd name="T11" fmla="*/ 323 w 323"/>
                <a:gd name="T12" fmla="*/ 324 h 3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4">
                  <a:moveTo>
                    <a:pt x="0" y="324"/>
                  </a:moveTo>
                  <a:lnTo>
                    <a:pt x="103" y="219"/>
                  </a:lnTo>
                  <a:lnTo>
                    <a:pt x="323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BE8B4231-ED3D-41DF-AE5B-CDC5C97C1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04" y="1584"/>
              <a:ext cx="408" cy="4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E4BCEF22-C84E-4E77-A7F7-575DF6FF7C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87" y="1584"/>
              <a:ext cx="408" cy="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3E211B68-B685-4C91-B4D2-270DBD5768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72" y="1584"/>
              <a:ext cx="413" cy="4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A09C73DB-1DDB-481B-B97C-77DA784F1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6" y="1584"/>
              <a:ext cx="406" cy="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FF097BB9-7FD3-4EE1-9A20-667B4FEFB9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8" y="1763"/>
              <a:ext cx="188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0503077E-3131-4C57-9ED9-0ED219475F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0" y="1721"/>
              <a:ext cx="197" cy="1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040A2A7-4F19-416B-ACD0-D69A0872E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1679"/>
              <a:ext cx="210" cy="211"/>
            </a:xfrm>
            <a:custGeom>
              <a:avLst/>
              <a:gdLst>
                <a:gd name="T0" fmla="*/ 0 w 745"/>
                <a:gd name="T1" fmla="*/ 0 h 744"/>
                <a:gd name="T2" fmla="*/ 0 w 745"/>
                <a:gd name="T3" fmla="*/ 0 h 744"/>
                <a:gd name="T4" fmla="*/ 0 w 745"/>
                <a:gd name="T5" fmla="*/ 0 h 744"/>
                <a:gd name="T6" fmla="*/ 0 60000 65536"/>
                <a:gd name="T7" fmla="*/ 0 60000 65536"/>
                <a:gd name="T8" fmla="*/ 0 60000 65536"/>
                <a:gd name="T9" fmla="*/ 0 w 745"/>
                <a:gd name="T10" fmla="*/ 0 h 744"/>
                <a:gd name="T11" fmla="*/ 745 w 745"/>
                <a:gd name="T12" fmla="*/ 744 h 7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5" h="744">
                  <a:moveTo>
                    <a:pt x="745" y="744"/>
                  </a:moveTo>
                  <a:lnTo>
                    <a:pt x="64" y="6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40E7E5D-3518-45B4-B5BA-F3A83EA3D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1637"/>
              <a:ext cx="212" cy="212"/>
            </a:xfrm>
            <a:custGeom>
              <a:avLst/>
              <a:gdLst>
                <a:gd name="T0" fmla="*/ 0 w 759"/>
                <a:gd name="T1" fmla="*/ 0 h 759"/>
                <a:gd name="T2" fmla="*/ 0 w 759"/>
                <a:gd name="T3" fmla="*/ 0 h 759"/>
                <a:gd name="T4" fmla="*/ 0 w 759"/>
                <a:gd name="T5" fmla="*/ 0 h 759"/>
                <a:gd name="T6" fmla="*/ 0 60000 65536"/>
                <a:gd name="T7" fmla="*/ 0 60000 65536"/>
                <a:gd name="T8" fmla="*/ 0 60000 65536"/>
                <a:gd name="T9" fmla="*/ 0 w 759"/>
                <a:gd name="T10" fmla="*/ 0 h 759"/>
                <a:gd name="T11" fmla="*/ 759 w 759"/>
                <a:gd name="T12" fmla="*/ 759 h 7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9" h="759">
                  <a:moveTo>
                    <a:pt x="759" y="759"/>
                  </a:moveTo>
                  <a:lnTo>
                    <a:pt x="174" y="17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D48218C-8FE2-4151-A296-C3E27A5AC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1595"/>
              <a:ext cx="193" cy="193"/>
            </a:xfrm>
            <a:custGeom>
              <a:avLst/>
              <a:gdLst>
                <a:gd name="T0" fmla="*/ 0 w 762"/>
                <a:gd name="T1" fmla="*/ 0 h 762"/>
                <a:gd name="T2" fmla="*/ 0 w 762"/>
                <a:gd name="T3" fmla="*/ 0 h 762"/>
                <a:gd name="T4" fmla="*/ 0 w 762"/>
                <a:gd name="T5" fmla="*/ 0 h 762"/>
                <a:gd name="T6" fmla="*/ 0 60000 65536"/>
                <a:gd name="T7" fmla="*/ 0 60000 65536"/>
                <a:gd name="T8" fmla="*/ 0 60000 65536"/>
                <a:gd name="T9" fmla="*/ 0 w 762"/>
                <a:gd name="T10" fmla="*/ 0 h 762"/>
                <a:gd name="T11" fmla="*/ 762 w 762"/>
                <a:gd name="T12" fmla="*/ 762 h 7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2" h="762">
                  <a:moveTo>
                    <a:pt x="762" y="762"/>
                  </a:moveTo>
                  <a:lnTo>
                    <a:pt x="284" y="283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B338ED12-6823-4843-A5A4-FDBABFF3F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1584"/>
              <a:ext cx="150" cy="151"/>
            </a:xfrm>
            <a:custGeom>
              <a:avLst/>
              <a:gdLst>
                <a:gd name="T0" fmla="*/ 0 w 674"/>
                <a:gd name="T1" fmla="*/ 0 h 675"/>
                <a:gd name="T2" fmla="*/ 0 w 674"/>
                <a:gd name="T3" fmla="*/ 0 h 675"/>
                <a:gd name="T4" fmla="*/ 0 w 674"/>
                <a:gd name="T5" fmla="*/ 0 h 675"/>
                <a:gd name="T6" fmla="*/ 0 60000 65536"/>
                <a:gd name="T7" fmla="*/ 0 60000 65536"/>
                <a:gd name="T8" fmla="*/ 0 60000 65536"/>
                <a:gd name="T9" fmla="*/ 0 w 674"/>
                <a:gd name="T10" fmla="*/ 0 h 675"/>
                <a:gd name="T11" fmla="*/ 674 w 674"/>
                <a:gd name="T12" fmla="*/ 675 h 6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4" h="675">
                  <a:moveTo>
                    <a:pt x="0" y="0"/>
                  </a:moveTo>
                  <a:lnTo>
                    <a:pt x="310" y="311"/>
                  </a:lnTo>
                  <a:lnTo>
                    <a:pt x="674" y="675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34DAEEF-ADB7-46DD-8AA0-749D92AE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1584"/>
              <a:ext cx="99" cy="99"/>
            </a:xfrm>
            <a:custGeom>
              <a:avLst/>
              <a:gdLst>
                <a:gd name="T0" fmla="*/ 0 w 549"/>
                <a:gd name="T1" fmla="*/ 0 h 549"/>
                <a:gd name="T2" fmla="*/ 0 w 549"/>
                <a:gd name="T3" fmla="*/ 0 h 549"/>
                <a:gd name="T4" fmla="*/ 0 w 549"/>
                <a:gd name="T5" fmla="*/ 0 h 549"/>
                <a:gd name="T6" fmla="*/ 0 60000 65536"/>
                <a:gd name="T7" fmla="*/ 0 60000 65536"/>
                <a:gd name="T8" fmla="*/ 0 60000 65536"/>
                <a:gd name="T9" fmla="*/ 0 w 549"/>
                <a:gd name="T10" fmla="*/ 0 h 549"/>
                <a:gd name="T11" fmla="*/ 549 w 549"/>
                <a:gd name="T12" fmla="*/ 549 h 5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9" h="549">
                  <a:moveTo>
                    <a:pt x="0" y="0"/>
                  </a:moveTo>
                  <a:lnTo>
                    <a:pt x="312" y="311"/>
                  </a:lnTo>
                  <a:lnTo>
                    <a:pt x="549" y="54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A265A912-A7DA-4F70-8C05-6E4589E61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584"/>
              <a:ext cx="54" cy="54"/>
            </a:xfrm>
            <a:custGeom>
              <a:avLst/>
              <a:gdLst>
                <a:gd name="T0" fmla="*/ 0 w 413"/>
                <a:gd name="T1" fmla="*/ 0 h 413"/>
                <a:gd name="T2" fmla="*/ 0 w 413"/>
                <a:gd name="T3" fmla="*/ 0 h 413"/>
                <a:gd name="T4" fmla="*/ 0 w 413"/>
                <a:gd name="T5" fmla="*/ 0 h 413"/>
                <a:gd name="T6" fmla="*/ 0 60000 65536"/>
                <a:gd name="T7" fmla="*/ 0 60000 65536"/>
                <a:gd name="T8" fmla="*/ 0 60000 65536"/>
                <a:gd name="T9" fmla="*/ 0 w 413"/>
                <a:gd name="T10" fmla="*/ 0 h 413"/>
                <a:gd name="T11" fmla="*/ 413 w 413"/>
                <a:gd name="T12" fmla="*/ 413 h 4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3" h="413">
                  <a:moveTo>
                    <a:pt x="0" y="0"/>
                  </a:moveTo>
                  <a:lnTo>
                    <a:pt x="311" y="311"/>
                  </a:lnTo>
                  <a:lnTo>
                    <a:pt x="413" y="41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EBE73AA-0FE0-404A-9B11-FF6753CCB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1452"/>
              <a:ext cx="87" cy="29"/>
            </a:xfrm>
            <a:custGeom>
              <a:avLst/>
              <a:gdLst>
                <a:gd name="T0" fmla="*/ 0 w 225"/>
                <a:gd name="T1" fmla="*/ 0 h 75"/>
                <a:gd name="T2" fmla="*/ 0 w 225"/>
                <a:gd name="T3" fmla="*/ 0 h 75"/>
                <a:gd name="T4" fmla="*/ 0 w 225"/>
                <a:gd name="T5" fmla="*/ 0 h 75"/>
                <a:gd name="T6" fmla="*/ 0 w 22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5"/>
                <a:gd name="T14" fmla="*/ 225 w 22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5">
                  <a:moveTo>
                    <a:pt x="0" y="0"/>
                  </a:moveTo>
                  <a:lnTo>
                    <a:pt x="0" y="75"/>
                  </a:lnTo>
                  <a:lnTo>
                    <a:pt x="225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F449A61C-B4CD-4817-9D04-424D4C7EE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" y="740"/>
              <a:ext cx="400" cy="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0.2d</a:t>
              </a:r>
              <a:endParaRPr lang="en-US" altLang="zh-CN" sz="2000" dirty="0">
                <a:latin typeface="ISOCPEUR" pitchFamily="34" charset="0"/>
              </a:endParaRPr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B6BD172-450D-4CD2-BD28-CF4893C15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1452"/>
              <a:ext cx="87" cy="29"/>
            </a:xfrm>
            <a:custGeom>
              <a:avLst/>
              <a:gdLst>
                <a:gd name="T0" fmla="*/ 0 w 225"/>
                <a:gd name="T1" fmla="*/ 0 h 75"/>
                <a:gd name="T2" fmla="*/ 0 w 225"/>
                <a:gd name="T3" fmla="*/ 0 h 75"/>
                <a:gd name="T4" fmla="*/ 0 w 225"/>
                <a:gd name="T5" fmla="*/ 0 h 75"/>
                <a:gd name="T6" fmla="*/ 0 w 22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5"/>
                <a:gd name="T14" fmla="*/ 225 w 22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5">
                  <a:moveTo>
                    <a:pt x="0" y="0"/>
                  </a:moveTo>
                  <a:lnTo>
                    <a:pt x="0" y="75"/>
                  </a:lnTo>
                  <a:lnTo>
                    <a:pt x="225" y="38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B475B9C2-931A-4A88-AD27-0DE3F432F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" y="983"/>
              <a:ext cx="134" cy="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3798D800-C72C-43F1-B4E6-D69738BF4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" y="1199"/>
              <a:ext cx="762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80459E2D-A534-450B-85FC-6757ACE7C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" y="568"/>
              <a:ext cx="398" cy="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4D56E5FF-E7E2-4625-9686-9840FE9C4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" y="1117"/>
              <a:ext cx="18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0DDDFA51-C1E4-454D-891F-38384C02B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073"/>
              <a:ext cx="37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CB7EFE6F-83D1-4C19-A742-D21CD7B24F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1" y="1545"/>
              <a:ext cx="235" cy="2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577173EF-CC37-4DD5-871D-75E8C5FA5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536"/>
              <a:ext cx="25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dirty="0">
                  <a:solidFill>
                    <a:schemeClr val="accent2"/>
                  </a:solidFill>
                  <a:latin typeface="ISOCPEUR" pitchFamily="34" charset="0"/>
                </a:rPr>
                <a:t>2.5:1</a:t>
              </a:r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2F5BCF1B-E8DB-4EFE-9927-D56D4BE56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545"/>
              <a:ext cx="46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935A54C9-2C76-48C9-B359-EDFE3F78C4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1704"/>
              <a:ext cx="730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CF6118D7-9A68-457E-A0C2-AF3D8C05B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1115"/>
              <a:ext cx="2" cy="6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1119C9DD-B53D-4F86-A933-3852AD9C9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9" y="1496"/>
              <a:ext cx="2" cy="3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C8E80D2B-D1F2-4216-B4C0-CEFB540779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8" y="1545"/>
              <a:ext cx="233" cy="2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A2E36384-E450-4028-935E-583D2924B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6" y="1704"/>
              <a:ext cx="15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9BCE011E-2813-43D1-9E66-84C0EF62A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1117"/>
              <a:ext cx="30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4D60CCF1-98EA-4799-9624-71D10B8F8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1584"/>
              <a:ext cx="34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AC25D224-AD4E-4E91-9E11-0C4714E9ED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4" y="1388"/>
              <a:ext cx="11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49CD0D2F-878F-461C-9B58-AC369DAE3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5" y="1467"/>
              <a:ext cx="294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6400B393-2B51-4C34-93F7-C610216E5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970"/>
              <a:ext cx="86" cy="28"/>
            </a:xfrm>
            <a:custGeom>
              <a:avLst/>
              <a:gdLst>
                <a:gd name="T0" fmla="*/ 0 w 225"/>
                <a:gd name="T1" fmla="*/ 0 h 74"/>
                <a:gd name="T2" fmla="*/ 0 w 225"/>
                <a:gd name="T3" fmla="*/ 0 h 74"/>
                <a:gd name="T4" fmla="*/ 0 w 225"/>
                <a:gd name="T5" fmla="*/ 0 h 74"/>
                <a:gd name="T6" fmla="*/ 0 w 22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4"/>
                <a:gd name="T14" fmla="*/ 225 w 22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4">
                  <a:moveTo>
                    <a:pt x="0" y="0"/>
                  </a:moveTo>
                  <a:lnTo>
                    <a:pt x="0" y="74"/>
                  </a:lnTo>
                  <a:lnTo>
                    <a:pt x="225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DE9BE17D-E30A-407D-80F1-FA0C3F110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970"/>
              <a:ext cx="86" cy="28"/>
            </a:xfrm>
            <a:custGeom>
              <a:avLst/>
              <a:gdLst>
                <a:gd name="T0" fmla="*/ 0 w 225"/>
                <a:gd name="T1" fmla="*/ 0 h 74"/>
                <a:gd name="T2" fmla="*/ 0 w 225"/>
                <a:gd name="T3" fmla="*/ 0 h 74"/>
                <a:gd name="T4" fmla="*/ 0 w 225"/>
                <a:gd name="T5" fmla="*/ 0 h 74"/>
                <a:gd name="T6" fmla="*/ 0 w 22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4"/>
                <a:gd name="T14" fmla="*/ 225 w 22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4">
                  <a:moveTo>
                    <a:pt x="0" y="0"/>
                  </a:moveTo>
                  <a:lnTo>
                    <a:pt x="0" y="74"/>
                  </a:lnTo>
                  <a:lnTo>
                    <a:pt x="225" y="37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A982F13D-130E-4B77-8515-823A79671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2" y="983"/>
              <a:ext cx="255" cy="3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2608722D-6F62-4E5E-94DA-BAF6886DE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117"/>
              <a:ext cx="18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DBEBFCF5-BB8F-40C7-B588-B30119715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7" y="1079"/>
              <a:ext cx="1" cy="5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8784DC93-D3D5-49C5-A149-185A5B0AD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117"/>
              <a:ext cx="2" cy="4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67DBA447-50BC-4DA5-82F8-BC7D5408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" y="1452"/>
              <a:ext cx="87" cy="29"/>
            </a:xfrm>
            <a:custGeom>
              <a:avLst/>
              <a:gdLst>
                <a:gd name="T0" fmla="*/ 0 w 225"/>
                <a:gd name="T1" fmla="*/ 0 h 75"/>
                <a:gd name="T2" fmla="*/ 0 w 225"/>
                <a:gd name="T3" fmla="*/ 0 h 75"/>
                <a:gd name="T4" fmla="*/ 0 w 225"/>
                <a:gd name="T5" fmla="*/ 0 h 75"/>
                <a:gd name="T6" fmla="*/ 0 w 22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5"/>
                <a:gd name="T14" fmla="*/ 225 w 22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5">
                  <a:moveTo>
                    <a:pt x="225" y="0"/>
                  </a:moveTo>
                  <a:lnTo>
                    <a:pt x="225" y="75"/>
                  </a:lnTo>
                  <a:lnTo>
                    <a:pt x="0" y="38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9F6CE388-2410-4105-BC93-88AD92896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" y="1452"/>
              <a:ext cx="87" cy="29"/>
            </a:xfrm>
            <a:custGeom>
              <a:avLst/>
              <a:gdLst>
                <a:gd name="T0" fmla="*/ 0 w 225"/>
                <a:gd name="T1" fmla="*/ 0 h 75"/>
                <a:gd name="T2" fmla="*/ 0 w 225"/>
                <a:gd name="T3" fmla="*/ 0 h 75"/>
                <a:gd name="T4" fmla="*/ 0 w 225"/>
                <a:gd name="T5" fmla="*/ 0 h 75"/>
                <a:gd name="T6" fmla="*/ 0 w 22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5"/>
                <a:gd name="T14" fmla="*/ 225 w 22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5">
                  <a:moveTo>
                    <a:pt x="225" y="0"/>
                  </a:moveTo>
                  <a:lnTo>
                    <a:pt x="225" y="75"/>
                  </a:lnTo>
                  <a:lnTo>
                    <a:pt x="0" y="38"/>
                  </a:lnTo>
                  <a:lnTo>
                    <a:pt x="225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12D8BCD4-7E57-4D26-8F56-370FA213E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545"/>
              <a:ext cx="1" cy="39"/>
            </a:xfrm>
            <a:custGeom>
              <a:avLst/>
              <a:gdLst>
                <a:gd name="T0" fmla="*/ 0 w 1"/>
                <a:gd name="T1" fmla="*/ 0 h 39"/>
                <a:gd name="T2" fmla="*/ 0 w 1"/>
                <a:gd name="T3" fmla="*/ 39 h 39"/>
                <a:gd name="T4" fmla="*/ 0 60000 65536"/>
                <a:gd name="T5" fmla="*/ 0 60000 65536"/>
                <a:gd name="T6" fmla="*/ 0 w 1"/>
                <a:gd name="T7" fmla="*/ 0 h 39"/>
                <a:gd name="T8" fmla="*/ 1 w 1"/>
                <a:gd name="T9" fmla="*/ 39 h 3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9">
                  <a:moveTo>
                    <a:pt x="0" y="0"/>
                  </a:moveTo>
                  <a:lnTo>
                    <a:pt x="0" y="39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890A0247-8438-40E1-8512-C37F44BEED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1073"/>
              <a:ext cx="44" cy="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64">
              <a:extLst>
                <a:ext uri="{FF2B5EF4-FFF2-40B4-BE49-F238E27FC236}">
                  <a16:creationId xmlns:a16="http://schemas.microsoft.com/office/drawing/2014/main" id="{40346BCD-C206-4B19-AC9D-E2B0C40E8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1256"/>
              <a:ext cx="7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d</a:t>
              </a:r>
              <a:endParaRPr lang="en-US" altLang="zh-CN" sz="2000" dirty="0">
                <a:latin typeface="ISOCPEUR" pitchFamily="34" charset="0"/>
              </a:endParaRPr>
            </a:p>
          </p:txBody>
        </p:sp>
        <p:sp>
          <p:nvSpPr>
            <p:cNvPr id="65" name="Line 65">
              <a:extLst>
                <a:ext uri="{FF2B5EF4-FFF2-40B4-BE49-F238E27FC236}">
                  <a16:creationId xmlns:a16="http://schemas.microsoft.com/office/drawing/2014/main" id="{26C6F04E-7AC0-48F2-B1FF-C04BBE975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1" y="1039"/>
              <a:ext cx="2" cy="3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5354B2C5-46C2-490B-980E-7489A765C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1" y="1519"/>
              <a:ext cx="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C9522D8A-3183-437B-AE45-2D629130E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5" y="983"/>
              <a:ext cx="95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8">
              <a:extLst>
                <a:ext uri="{FF2B5EF4-FFF2-40B4-BE49-F238E27FC236}">
                  <a16:creationId xmlns:a16="http://schemas.microsoft.com/office/drawing/2014/main" id="{F62673F0-B47A-476A-AE3B-16FFB09CA9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5" y="955"/>
              <a:ext cx="1" cy="118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9">
              <a:extLst>
                <a:ext uri="{FF2B5EF4-FFF2-40B4-BE49-F238E27FC236}">
                  <a16:creationId xmlns:a16="http://schemas.microsoft.com/office/drawing/2014/main" id="{4F04F40B-51CD-4B4A-BE33-E6D28FF642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9" y="951"/>
              <a:ext cx="1" cy="12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C43F4769-4928-466A-BE78-E265C8F99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968"/>
              <a:ext cx="87" cy="30"/>
            </a:xfrm>
            <a:custGeom>
              <a:avLst/>
              <a:gdLst>
                <a:gd name="T0" fmla="*/ 0 w 225"/>
                <a:gd name="T1" fmla="*/ 0 h 76"/>
                <a:gd name="T2" fmla="*/ 0 w 225"/>
                <a:gd name="T3" fmla="*/ 0 h 76"/>
                <a:gd name="T4" fmla="*/ 0 w 225"/>
                <a:gd name="T5" fmla="*/ 0 h 76"/>
                <a:gd name="T6" fmla="*/ 0 w 22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6"/>
                <a:gd name="T14" fmla="*/ 225 w 22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6">
                  <a:moveTo>
                    <a:pt x="225" y="0"/>
                  </a:moveTo>
                  <a:lnTo>
                    <a:pt x="225" y="76"/>
                  </a:lnTo>
                  <a:lnTo>
                    <a:pt x="0" y="3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71">
              <a:extLst>
                <a:ext uri="{FF2B5EF4-FFF2-40B4-BE49-F238E27FC236}">
                  <a16:creationId xmlns:a16="http://schemas.microsoft.com/office/drawing/2014/main" id="{17AA30B9-30BF-44C2-A7F0-2D4E50F8B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968"/>
              <a:ext cx="87" cy="30"/>
            </a:xfrm>
            <a:custGeom>
              <a:avLst/>
              <a:gdLst>
                <a:gd name="T0" fmla="*/ 0 w 225"/>
                <a:gd name="T1" fmla="*/ 0 h 76"/>
                <a:gd name="T2" fmla="*/ 0 w 225"/>
                <a:gd name="T3" fmla="*/ 0 h 76"/>
                <a:gd name="T4" fmla="*/ 0 w 225"/>
                <a:gd name="T5" fmla="*/ 0 h 76"/>
                <a:gd name="T6" fmla="*/ 0 w 22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6"/>
                <a:gd name="T14" fmla="*/ 225 w 22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6">
                  <a:moveTo>
                    <a:pt x="225" y="0"/>
                  </a:moveTo>
                  <a:lnTo>
                    <a:pt x="225" y="76"/>
                  </a:lnTo>
                  <a:lnTo>
                    <a:pt x="0" y="37"/>
                  </a:lnTo>
                  <a:lnTo>
                    <a:pt x="225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3A3C5D4D-2A5F-4F72-B6FF-44D20FD41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320"/>
              <a:ext cx="16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dirty="0">
                  <a:solidFill>
                    <a:schemeClr val="accent2"/>
                  </a:solidFill>
                  <a:latin typeface="宋体" pitchFamily="2" charset="-122"/>
                </a:rPr>
                <a:t>Ⅰ</a:t>
              </a:r>
              <a:endParaRPr lang="en-US" altLang="zh-CN" sz="3200" dirty="0">
                <a:solidFill>
                  <a:schemeClr val="accent2"/>
                </a:solidFill>
              </a:endParaRPr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2F53A5D1-AD6D-4898-8B3B-74E0B622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0" y="98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F15BAB18-8168-48F2-8D5B-96595F7398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973" y="1884"/>
              <a:ext cx="26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0.4d</a:t>
              </a:r>
              <a:endParaRPr lang="en-US" altLang="zh-CN" sz="2000" dirty="0">
                <a:latin typeface="ISOCPEUR" pitchFamily="34" charset="0"/>
              </a:endParaRPr>
            </a:p>
          </p:txBody>
        </p:sp>
        <p:sp>
          <p:nvSpPr>
            <p:cNvPr id="75" name="Line 75">
              <a:extLst>
                <a:ext uri="{FF2B5EF4-FFF2-40B4-BE49-F238E27FC236}">
                  <a16:creationId xmlns:a16="http://schemas.microsoft.com/office/drawing/2014/main" id="{C137D8E4-996D-46E1-AD1E-A26B282AB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1418"/>
              <a:ext cx="1" cy="28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6">
              <a:extLst>
                <a:ext uri="{FF2B5EF4-FFF2-40B4-BE49-F238E27FC236}">
                  <a16:creationId xmlns:a16="http://schemas.microsoft.com/office/drawing/2014/main" id="{76ABCC46-A717-42E2-BE80-EDFF8A435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" y="1766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7">
              <a:extLst>
                <a:ext uri="{FF2B5EF4-FFF2-40B4-BE49-F238E27FC236}">
                  <a16:creationId xmlns:a16="http://schemas.microsoft.com/office/drawing/2014/main" id="{64839350-6A72-41BC-9A5A-F87421E9A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1736"/>
              <a:ext cx="1" cy="32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8">
              <a:extLst>
                <a:ext uri="{FF2B5EF4-FFF2-40B4-BE49-F238E27FC236}">
                  <a16:creationId xmlns:a16="http://schemas.microsoft.com/office/drawing/2014/main" id="{5841266B-12AA-4139-AD21-271F7E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704"/>
              <a:ext cx="29" cy="86"/>
            </a:xfrm>
            <a:custGeom>
              <a:avLst/>
              <a:gdLst>
                <a:gd name="T0" fmla="*/ 0 w 74"/>
                <a:gd name="T1" fmla="*/ 0 h 225"/>
                <a:gd name="T2" fmla="*/ 0 w 74"/>
                <a:gd name="T3" fmla="*/ 0 h 225"/>
                <a:gd name="T4" fmla="*/ 0 w 74"/>
                <a:gd name="T5" fmla="*/ 0 h 225"/>
                <a:gd name="T6" fmla="*/ 0 w 74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225"/>
                <a:gd name="T14" fmla="*/ 74 w 74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225">
                  <a:moveTo>
                    <a:pt x="0" y="225"/>
                  </a:moveTo>
                  <a:lnTo>
                    <a:pt x="74" y="225"/>
                  </a:lnTo>
                  <a:lnTo>
                    <a:pt x="37" y="0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9">
              <a:extLst>
                <a:ext uri="{FF2B5EF4-FFF2-40B4-BE49-F238E27FC236}">
                  <a16:creationId xmlns:a16="http://schemas.microsoft.com/office/drawing/2014/main" id="{20279DF3-F059-4F10-A976-BEAD5EBF9E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946" y="671"/>
              <a:ext cx="33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0.25d</a:t>
              </a:r>
              <a:endParaRPr lang="en-US" altLang="zh-CN" sz="2000" dirty="0">
                <a:latin typeface="ISOCPEUR" pitchFamily="34" charset="0"/>
              </a:endParaRPr>
            </a:p>
          </p:txBody>
        </p:sp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3585E35B-14BB-4729-BE63-64D278859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704"/>
              <a:ext cx="29" cy="86"/>
            </a:xfrm>
            <a:custGeom>
              <a:avLst/>
              <a:gdLst>
                <a:gd name="T0" fmla="*/ 0 w 74"/>
                <a:gd name="T1" fmla="*/ 0 h 225"/>
                <a:gd name="T2" fmla="*/ 0 w 74"/>
                <a:gd name="T3" fmla="*/ 0 h 225"/>
                <a:gd name="T4" fmla="*/ 0 w 74"/>
                <a:gd name="T5" fmla="*/ 0 h 225"/>
                <a:gd name="T6" fmla="*/ 0 w 74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225"/>
                <a:gd name="T14" fmla="*/ 74 w 74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225">
                  <a:moveTo>
                    <a:pt x="0" y="225"/>
                  </a:moveTo>
                  <a:lnTo>
                    <a:pt x="74" y="225"/>
                  </a:lnTo>
                  <a:lnTo>
                    <a:pt x="37" y="0"/>
                  </a:lnTo>
                  <a:lnTo>
                    <a:pt x="0" y="225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81">
              <a:extLst>
                <a:ext uri="{FF2B5EF4-FFF2-40B4-BE49-F238E27FC236}">
                  <a16:creationId xmlns:a16="http://schemas.microsoft.com/office/drawing/2014/main" id="{9CA1AD3A-D823-4A0F-8BFB-58118DBCA8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000">
              <a:off x="3691" y="1073"/>
              <a:ext cx="608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2DE1D9E6-66B6-41F6-B5FE-9C79287C9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1545"/>
              <a:ext cx="572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1E4A498D-C525-4BEA-8041-2E1AC249B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584"/>
              <a:ext cx="45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4">
              <a:extLst>
                <a:ext uri="{FF2B5EF4-FFF2-40B4-BE49-F238E27FC236}">
                  <a16:creationId xmlns:a16="http://schemas.microsoft.com/office/drawing/2014/main" id="{EADC4AA6-BBF1-44D8-9002-61D4DE5B8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1117"/>
              <a:ext cx="35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85">
              <a:extLst>
                <a:ext uri="{FF2B5EF4-FFF2-40B4-BE49-F238E27FC236}">
                  <a16:creationId xmlns:a16="http://schemas.microsoft.com/office/drawing/2014/main" id="{1972417D-6263-4A16-9E74-8BB93861E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" y="1081"/>
              <a:ext cx="1" cy="50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6">
              <a:extLst>
                <a:ext uri="{FF2B5EF4-FFF2-40B4-BE49-F238E27FC236}">
                  <a16:creationId xmlns:a16="http://schemas.microsoft.com/office/drawing/2014/main" id="{6B8A1855-F7F1-4670-95A4-E61A709F7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1117"/>
              <a:ext cx="1" cy="4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87">
              <a:extLst>
                <a:ext uri="{FF2B5EF4-FFF2-40B4-BE49-F238E27FC236}">
                  <a16:creationId xmlns:a16="http://schemas.microsoft.com/office/drawing/2014/main" id="{562A94AD-D063-487F-BA8F-A607638DC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1545"/>
              <a:ext cx="1" cy="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8">
              <a:extLst>
                <a:ext uri="{FF2B5EF4-FFF2-40B4-BE49-F238E27FC236}">
                  <a16:creationId xmlns:a16="http://schemas.microsoft.com/office/drawing/2014/main" id="{F8245B71-F1CE-4863-A4FE-81BB53ED8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91" y="1073"/>
              <a:ext cx="45" cy="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89">
              <a:extLst>
                <a:ext uri="{FF2B5EF4-FFF2-40B4-BE49-F238E27FC236}">
                  <a16:creationId xmlns:a16="http://schemas.microsoft.com/office/drawing/2014/main" id="{41A6771B-A61D-40A4-BEF6-57C7B655F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1" y="560"/>
              <a:ext cx="1" cy="78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90">
              <a:extLst>
                <a:ext uri="{FF2B5EF4-FFF2-40B4-BE49-F238E27FC236}">
                  <a16:creationId xmlns:a16="http://schemas.microsoft.com/office/drawing/2014/main" id="{7EBD2EC7-B9A7-4FFA-959C-7D5F5673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1199"/>
              <a:ext cx="29" cy="86"/>
            </a:xfrm>
            <a:custGeom>
              <a:avLst/>
              <a:gdLst>
                <a:gd name="T0" fmla="*/ 0 w 76"/>
                <a:gd name="T1" fmla="*/ 0 h 225"/>
                <a:gd name="T2" fmla="*/ 0 w 76"/>
                <a:gd name="T3" fmla="*/ 0 h 225"/>
                <a:gd name="T4" fmla="*/ 0 w 76"/>
                <a:gd name="T5" fmla="*/ 0 h 225"/>
                <a:gd name="T6" fmla="*/ 0 w 76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225"/>
                <a:gd name="T14" fmla="*/ 76 w 76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225">
                  <a:moveTo>
                    <a:pt x="0" y="225"/>
                  </a:moveTo>
                  <a:lnTo>
                    <a:pt x="76" y="225"/>
                  </a:lnTo>
                  <a:lnTo>
                    <a:pt x="37" y="0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91">
              <a:extLst>
                <a:ext uri="{FF2B5EF4-FFF2-40B4-BE49-F238E27FC236}">
                  <a16:creationId xmlns:a16="http://schemas.microsoft.com/office/drawing/2014/main" id="{D2107B7C-43AF-4F0E-9BA4-D804516D8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1199"/>
              <a:ext cx="29" cy="86"/>
            </a:xfrm>
            <a:custGeom>
              <a:avLst/>
              <a:gdLst>
                <a:gd name="T0" fmla="*/ 0 w 76"/>
                <a:gd name="T1" fmla="*/ 0 h 225"/>
                <a:gd name="T2" fmla="*/ 0 w 76"/>
                <a:gd name="T3" fmla="*/ 0 h 225"/>
                <a:gd name="T4" fmla="*/ 0 w 76"/>
                <a:gd name="T5" fmla="*/ 0 h 225"/>
                <a:gd name="T6" fmla="*/ 0 w 76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225"/>
                <a:gd name="T14" fmla="*/ 76 w 76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225">
                  <a:moveTo>
                    <a:pt x="0" y="225"/>
                  </a:moveTo>
                  <a:lnTo>
                    <a:pt x="76" y="225"/>
                  </a:lnTo>
                  <a:lnTo>
                    <a:pt x="37" y="0"/>
                  </a:lnTo>
                  <a:lnTo>
                    <a:pt x="0" y="225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2">
              <a:extLst>
                <a:ext uri="{FF2B5EF4-FFF2-40B4-BE49-F238E27FC236}">
                  <a16:creationId xmlns:a16="http://schemas.microsoft.com/office/drawing/2014/main" id="{21078322-8244-4FA2-BF0F-2AC5F98B7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458"/>
              <a:ext cx="29" cy="87"/>
            </a:xfrm>
            <a:custGeom>
              <a:avLst/>
              <a:gdLst>
                <a:gd name="T0" fmla="*/ 0 w 74"/>
                <a:gd name="T1" fmla="*/ 0 h 225"/>
                <a:gd name="T2" fmla="*/ 0 w 74"/>
                <a:gd name="T3" fmla="*/ 0 h 225"/>
                <a:gd name="T4" fmla="*/ 0 w 74"/>
                <a:gd name="T5" fmla="*/ 0 h 225"/>
                <a:gd name="T6" fmla="*/ 0 w 74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225"/>
                <a:gd name="T14" fmla="*/ 74 w 74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225">
                  <a:moveTo>
                    <a:pt x="0" y="0"/>
                  </a:moveTo>
                  <a:lnTo>
                    <a:pt x="74" y="0"/>
                  </a:lnTo>
                  <a:lnTo>
                    <a:pt x="37" y="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15E1EB1A-029D-4EE3-8E18-261B0E1CB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458"/>
              <a:ext cx="29" cy="87"/>
            </a:xfrm>
            <a:custGeom>
              <a:avLst/>
              <a:gdLst>
                <a:gd name="T0" fmla="*/ 0 w 74"/>
                <a:gd name="T1" fmla="*/ 0 h 225"/>
                <a:gd name="T2" fmla="*/ 0 w 74"/>
                <a:gd name="T3" fmla="*/ 0 h 225"/>
                <a:gd name="T4" fmla="*/ 0 w 74"/>
                <a:gd name="T5" fmla="*/ 0 h 225"/>
                <a:gd name="T6" fmla="*/ 0 w 74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225"/>
                <a:gd name="T14" fmla="*/ 74 w 74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225">
                  <a:moveTo>
                    <a:pt x="0" y="0"/>
                  </a:moveTo>
                  <a:lnTo>
                    <a:pt x="74" y="0"/>
                  </a:lnTo>
                  <a:lnTo>
                    <a:pt x="37" y="225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4">
              <a:extLst>
                <a:ext uri="{FF2B5EF4-FFF2-40B4-BE49-F238E27FC236}">
                  <a16:creationId xmlns:a16="http://schemas.microsoft.com/office/drawing/2014/main" id="{DC5A7679-827C-4A03-ACBF-9A1CE80ED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987"/>
              <a:ext cx="29" cy="87"/>
            </a:xfrm>
            <a:custGeom>
              <a:avLst/>
              <a:gdLst>
                <a:gd name="T0" fmla="*/ 0 w 76"/>
                <a:gd name="T1" fmla="*/ 0 h 226"/>
                <a:gd name="T2" fmla="*/ 0 w 76"/>
                <a:gd name="T3" fmla="*/ 0 h 226"/>
                <a:gd name="T4" fmla="*/ 0 w 76"/>
                <a:gd name="T5" fmla="*/ 0 h 226"/>
                <a:gd name="T6" fmla="*/ 0 w 76"/>
                <a:gd name="T7" fmla="*/ 0 h 2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226"/>
                <a:gd name="T14" fmla="*/ 76 w 76"/>
                <a:gd name="T15" fmla="*/ 226 h 2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226">
                  <a:moveTo>
                    <a:pt x="0" y="0"/>
                  </a:moveTo>
                  <a:lnTo>
                    <a:pt x="76" y="0"/>
                  </a:lnTo>
                  <a:lnTo>
                    <a:pt x="37" y="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3A448893-2756-4C6B-A1B4-9665B4266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987"/>
              <a:ext cx="29" cy="87"/>
            </a:xfrm>
            <a:custGeom>
              <a:avLst/>
              <a:gdLst>
                <a:gd name="T0" fmla="*/ 0 w 76"/>
                <a:gd name="T1" fmla="*/ 0 h 226"/>
                <a:gd name="T2" fmla="*/ 0 w 76"/>
                <a:gd name="T3" fmla="*/ 0 h 226"/>
                <a:gd name="T4" fmla="*/ 0 w 76"/>
                <a:gd name="T5" fmla="*/ 0 h 226"/>
                <a:gd name="T6" fmla="*/ 0 w 76"/>
                <a:gd name="T7" fmla="*/ 0 h 2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226"/>
                <a:gd name="T14" fmla="*/ 76 w 76"/>
                <a:gd name="T15" fmla="*/ 226 h 2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226">
                  <a:moveTo>
                    <a:pt x="0" y="0"/>
                  </a:moveTo>
                  <a:lnTo>
                    <a:pt x="76" y="0"/>
                  </a:lnTo>
                  <a:lnTo>
                    <a:pt x="37" y="226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B4C1301A-2C76-4ACC-89EA-12B39904C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1056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7">
              <a:extLst>
                <a:ext uri="{FF2B5EF4-FFF2-40B4-BE49-F238E27FC236}">
                  <a16:creationId xmlns:a16="http://schemas.microsoft.com/office/drawing/2014/main" id="{86BAF4C8-74C9-4132-B7D9-4B43271F8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584"/>
              <a:ext cx="1016" cy="420"/>
            </a:xfrm>
            <a:custGeom>
              <a:avLst/>
              <a:gdLst>
                <a:gd name="T0" fmla="*/ 0 w 1016"/>
                <a:gd name="T1" fmla="*/ 6 h 420"/>
                <a:gd name="T2" fmla="*/ 108 w 1016"/>
                <a:gd name="T3" fmla="*/ 184 h 420"/>
                <a:gd name="T4" fmla="*/ 268 w 1016"/>
                <a:gd name="T5" fmla="*/ 300 h 420"/>
                <a:gd name="T6" fmla="*/ 390 w 1016"/>
                <a:gd name="T7" fmla="*/ 408 h 420"/>
                <a:gd name="T8" fmla="*/ 640 w 1016"/>
                <a:gd name="T9" fmla="*/ 420 h 420"/>
                <a:gd name="T10" fmla="*/ 852 w 1016"/>
                <a:gd name="T11" fmla="*/ 276 h 420"/>
                <a:gd name="T12" fmla="*/ 904 w 1016"/>
                <a:gd name="T13" fmla="*/ 144 h 420"/>
                <a:gd name="T14" fmla="*/ 1016 w 1016"/>
                <a:gd name="T15" fmla="*/ 0 h 4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6"/>
                <a:gd name="T25" fmla="*/ 0 h 420"/>
                <a:gd name="T26" fmla="*/ 1016 w 1016"/>
                <a:gd name="T27" fmla="*/ 420 h 42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6" h="420">
                  <a:moveTo>
                    <a:pt x="0" y="6"/>
                  </a:moveTo>
                  <a:lnTo>
                    <a:pt x="108" y="184"/>
                  </a:lnTo>
                  <a:lnTo>
                    <a:pt x="268" y="300"/>
                  </a:lnTo>
                  <a:lnTo>
                    <a:pt x="390" y="408"/>
                  </a:lnTo>
                  <a:lnTo>
                    <a:pt x="640" y="420"/>
                  </a:lnTo>
                  <a:lnTo>
                    <a:pt x="852" y="276"/>
                  </a:lnTo>
                  <a:lnTo>
                    <a:pt x="904" y="144"/>
                  </a:lnTo>
                  <a:lnTo>
                    <a:pt x="101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Oval 98">
              <a:extLst>
                <a:ext uri="{FF2B5EF4-FFF2-40B4-BE49-F238E27FC236}">
                  <a16:creationId xmlns:a16="http://schemas.microsoft.com/office/drawing/2014/main" id="{AD3EC495-9DA5-424A-A5DE-1066FDB76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744"/>
              <a:ext cx="1314" cy="1338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Rectangle 99">
              <a:extLst>
                <a:ext uri="{FF2B5EF4-FFF2-40B4-BE49-F238E27FC236}">
                  <a16:creationId xmlns:a16="http://schemas.microsoft.com/office/drawing/2014/main" id="{E623D8A9-3D56-46CB-9B1A-F5C8AB566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072"/>
              <a:ext cx="92" cy="12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0" name="Group 100">
            <a:extLst>
              <a:ext uri="{FF2B5EF4-FFF2-40B4-BE49-F238E27FC236}">
                <a16:creationId xmlns:a16="http://schemas.microsoft.com/office/drawing/2014/main" id="{19606618-9256-4A9A-A4A5-753B5E16A883}"/>
              </a:ext>
            </a:extLst>
          </p:cNvPr>
          <p:cNvGrpSpPr>
            <a:grpSpLocks/>
          </p:cNvGrpSpPr>
          <p:nvPr/>
        </p:nvGrpSpPr>
        <p:grpSpPr bwMode="auto">
          <a:xfrm>
            <a:off x="6425877" y="1980911"/>
            <a:ext cx="1741487" cy="1997220"/>
            <a:chOff x="1096" y="626"/>
            <a:chExt cx="1232" cy="1531"/>
          </a:xfrm>
        </p:grpSpPr>
        <p:sp>
          <p:nvSpPr>
            <p:cNvPr id="101" name="Freeform 101">
              <a:extLst>
                <a:ext uri="{FF2B5EF4-FFF2-40B4-BE49-F238E27FC236}">
                  <a16:creationId xmlns:a16="http://schemas.microsoft.com/office/drawing/2014/main" id="{0BCFBBD5-9D76-4612-B7D2-11EC953CE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" y="1130"/>
              <a:ext cx="141" cy="528"/>
            </a:xfrm>
            <a:custGeom>
              <a:avLst/>
              <a:gdLst>
                <a:gd name="T0" fmla="*/ 0 w 366"/>
                <a:gd name="T1" fmla="*/ 0 h 1373"/>
                <a:gd name="T2" fmla="*/ 0 w 366"/>
                <a:gd name="T3" fmla="*/ 0 h 1373"/>
                <a:gd name="T4" fmla="*/ 0 w 366"/>
                <a:gd name="T5" fmla="*/ 0 h 1373"/>
                <a:gd name="T6" fmla="*/ 0 w 366"/>
                <a:gd name="T7" fmla="*/ 0 h 1373"/>
                <a:gd name="T8" fmla="*/ 0 w 366"/>
                <a:gd name="T9" fmla="*/ 0 h 1373"/>
                <a:gd name="T10" fmla="*/ 0 w 366"/>
                <a:gd name="T11" fmla="*/ 0 h 1373"/>
                <a:gd name="T12" fmla="*/ 0 w 366"/>
                <a:gd name="T13" fmla="*/ 0 h 1373"/>
                <a:gd name="T14" fmla="*/ 0 w 366"/>
                <a:gd name="T15" fmla="*/ 0 h 1373"/>
                <a:gd name="T16" fmla="*/ 0 w 366"/>
                <a:gd name="T17" fmla="*/ 0 h 1373"/>
                <a:gd name="T18" fmla="*/ 0 w 366"/>
                <a:gd name="T19" fmla="*/ 0 h 1373"/>
                <a:gd name="T20" fmla="*/ 0 w 366"/>
                <a:gd name="T21" fmla="*/ 0 h 1373"/>
                <a:gd name="T22" fmla="*/ 0 w 366"/>
                <a:gd name="T23" fmla="*/ 0 h 137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66"/>
                <a:gd name="T37" fmla="*/ 0 h 1373"/>
                <a:gd name="T38" fmla="*/ 366 w 366"/>
                <a:gd name="T39" fmla="*/ 1373 h 137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66" h="1373">
                  <a:moveTo>
                    <a:pt x="210" y="0"/>
                  </a:moveTo>
                  <a:lnTo>
                    <a:pt x="129" y="140"/>
                  </a:lnTo>
                  <a:lnTo>
                    <a:pt x="106" y="296"/>
                  </a:lnTo>
                  <a:lnTo>
                    <a:pt x="169" y="578"/>
                  </a:lnTo>
                  <a:lnTo>
                    <a:pt x="323" y="839"/>
                  </a:lnTo>
                  <a:lnTo>
                    <a:pt x="366" y="1133"/>
                  </a:lnTo>
                  <a:lnTo>
                    <a:pt x="327" y="1278"/>
                  </a:lnTo>
                  <a:lnTo>
                    <a:pt x="198" y="1373"/>
                  </a:lnTo>
                  <a:lnTo>
                    <a:pt x="74" y="1331"/>
                  </a:lnTo>
                  <a:lnTo>
                    <a:pt x="0" y="1205"/>
                  </a:lnTo>
                  <a:lnTo>
                    <a:pt x="42" y="910"/>
                  </a:lnTo>
                  <a:lnTo>
                    <a:pt x="245" y="68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2">
              <a:extLst>
                <a:ext uri="{FF2B5EF4-FFF2-40B4-BE49-F238E27FC236}">
                  <a16:creationId xmlns:a16="http://schemas.microsoft.com/office/drawing/2014/main" id="{FCF38D99-DF45-4276-B7B5-0A08357D5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209"/>
              <a:ext cx="366" cy="137"/>
            </a:xfrm>
            <a:custGeom>
              <a:avLst/>
              <a:gdLst>
                <a:gd name="T0" fmla="*/ 0 w 366"/>
                <a:gd name="T1" fmla="*/ 3 h 137"/>
                <a:gd name="T2" fmla="*/ 32 w 366"/>
                <a:gd name="T3" fmla="*/ 60 h 137"/>
                <a:gd name="T4" fmla="*/ 90 w 366"/>
                <a:gd name="T5" fmla="*/ 111 h 137"/>
                <a:gd name="T6" fmla="*/ 204 w 366"/>
                <a:gd name="T7" fmla="*/ 137 h 137"/>
                <a:gd name="T8" fmla="*/ 260 w 366"/>
                <a:gd name="T9" fmla="*/ 99 h 137"/>
                <a:gd name="T10" fmla="*/ 320 w 366"/>
                <a:gd name="T11" fmla="*/ 71 h 137"/>
                <a:gd name="T12" fmla="*/ 366 w 366"/>
                <a:gd name="T13" fmla="*/ 0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6"/>
                <a:gd name="T22" fmla="*/ 0 h 137"/>
                <a:gd name="T23" fmla="*/ 366 w 366"/>
                <a:gd name="T24" fmla="*/ 137 h 1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6" h="137">
                  <a:moveTo>
                    <a:pt x="0" y="3"/>
                  </a:moveTo>
                  <a:lnTo>
                    <a:pt x="32" y="60"/>
                  </a:lnTo>
                  <a:lnTo>
                    <a:pt x="90" y="111"/>
                  </a:lnTo>
                  <a:lnTo>
                    <a:pt x="204" y="137"/>
                  </a:lnTo>
                  <a:lnTo>
                    <a:pt x="260" y="99"/>
                  </a:lnTo>
                  <a:lnTo>
                    <a:pt x="320" y="71"/>
                  </a:ln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03">
              <a:extLst>
                <a:ext uri="{FF2B5EF4-FFF2-40B4-BE49-F238E27FC236}">
                  <a16:creationId xmlns:a16="http://schemas.microsoft.com/office/drawing/2014/main" id="{BF233BD2-B3C6-4BC3-B07E-29E37277E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0" y="1130"/>
              <a:ext cx="232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04">
              <a:extLst>
                <a:ext uri="{FF2B5EF4-FFF2-40B4-BE49-F238E27FC236}">
                  <a16:creationId xmlns:a16="http://schemas.microsoft.com/office/drawing/2014/main" id="{812FCEBC-25A6-4316-9EBD-7A3589B3E7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5" y="1659"/>
              <a:ext cx="23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05">
              <a:extLst>
                <a:ext uri="{FF2B5EF4-FFF2-40B4-BE49-F238E27FC236}">
                  <a16:creationId xmlns:a16="http://schemas.microsoft.com/office/drawing/2014/main" id="{6E996687-AB70-45BB-AB6C-A1FC93CFB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8" y="1531"/>
              <a:ext cx="11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06">
              <a:extLst>
                <a:ext uri="{FF2B5EF4-FFF2-40B4-BE49-F238E27FC236}">
                  <a16:creationId xmlns:a16="http://schemas.microsoft.com/office/drawing/2014/main" id="{E1D62D0C-FE52-4E9E-A17F-EA66864CC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21" y="1471"/>
              <a:ext cx="117" cy="1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07">
              <a:extLst>
                <a:ext uri="{FF2B5EF4-FFF2-40B4-BE49-F238E27FC236}">
                  <a16:creationId xmlns:a16="http://schemas.microsoft.com/office/drawing/2014/main" id="{165BFEEB-F6C2-4A9C-A491-85EA7A2C2D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61" y="1427"/>
              <a:ext cx="72" cy="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108">
              <a:extLst>
                <a:ext uri="{FF2B5EF4-FFF2-40B4-BE49-F238E27FC236}">
                  <a16:creationId xmlns:a16="http://schemas.microsoft.com/office/drawing/2014/main" id="{28F44B0E-439E-42FA-884C-2C7E0E4C5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" y="1581"/>
              <a:ext cx="1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09">
              <a:extLst>
                <a:ext uri="{FF2B5EF4-FFF2-40B4-BE49-F238E27FC236}">
                  <a16:creationId xmlns:a16="http://schemas.microsoft.com/office/drawing/2014/main" id="{52F59528-CEE9-45DD-B2C6-EE50ADDB4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5" y="1581"/>
              <a:ext cx="187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110">
              <a:extLst>
                <a:ext uri="{FF2B5EF4-FFF2-40B4-BE49-F238E27FC236}">
                  <a16:creationId xmlns:a16="http://schemas.microsoft.com/office/drawing/2014/main" id="{95D8EED3-5448-433D-AADB-7E9491A44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2" y="1581"/>
              <a:ext cx="181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11">
              <a:extLst>
                <a:ext uri="{FF2B5EF4-FFF2-40B4-BE49-F238E27FC236}">
                  <a16:creationId xmlns:a16="http://schemas.microsoft.com/office/drawing/2014/main" id="{9E19D833-13BE-4C95-8AC3-3D9CE5F71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7" y="1581"/>
              <a:ext cx="185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12">
              <a:extLst>
                <a:ext uri="{FF2B5EF4-FFF2-40B4-BE49-F238E27FC236}">
                  <a16:creationId xmlns:a16="http://schemas.microsoft.com/office/drawing/2014/main" id="{769F17CF-9F1A-4188-A051-AB5A975C4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1581"/>
              <a:ext cx="316" cy="3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113">
              <a:extLst>
                <a:ext uri="{FF2B5EF4-FFF2-40B4-BE49-F238E27FC236}">
                  <a16:creationId xmlns:a16="http://schemas.microsoft.com/office/drawing/2014/main" id="{2C7BE0A6-0586-465C-B7DC-8A557ECDC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" y="1021"/>
              <a:ext cx="1" cy="7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114">
              <a:extLst>
                <a:ext uri="{FF2B5EF4-FFF2-40B4-BE49-F238E27FC236}">
                  <a16:creationId xmlns:a16="http://schemas.microsoft.com/office/drawing/2014/main" id="{3E3B4ADD-BAE6-4BD8-AF2C-9C0AB0722D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6" y="1581"/>
              <a:ext cx="187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15">
              <a:extLst>
                <a:ext uri="{FF2B5EF4-FFF2-40B4-BE49-F238E27FC236}">
                  <a16:creationId xmlns:a16="http://schemas.microsoft.com/office/drawing/2014/main" id="{A45C133C-18C5-4999-B6BC-D6B36F9B3B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6" y="1841"/>
              <a:ext cx="316" cy="3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16">
              <a:extLst>
                <a:ext uri="{FF2B5EF4-FFF2-40B4-BE49-F238E27FC236}">
                  <a16:creationId xmlns:a16="http://schemas.microsoft.com/office/drawing/2014/main" id="{B5F3787B-1BBF-44E6-BAD6-08E66571F4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1701"/>
              <a:ext cx="33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17">
              <a:extLst>
                <a:ext uri="{FF2B5EF4-FFF2-40B4-BE49-F238E27FC236}">
                  <a16:creationId xmlns:a16="http://schemas.microsoft.com/office/drawing/2014/main" id="{D3A77380-8C5D-4213-ABD5-B64342977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8" y="1768"/>
              <a:ext cx="43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18">
              <a:extLst>
                <a:ext uri="{FF2B5EF4-FFF2-40B4-BE49-F238E27FC236}">
                  <a16:creationId xmlns:a16="http://schemas.microsoft.com/office/drawing/2014/main" id="{C11858A0-EBD6-4350-9826-74D4E7BDF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6" y="1768"/>
              <a:ext cx="2" cy="3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19">
              <a:extLst>
                <a:ext uri="{FF2B5EF4-FFF2-40B4-BE49-F238E27FC236}">
                  <a16:creationId xmlns:a16="http://schemas.microsoft.com/office/drawing/2014/main" id="{70157402-B971-47DA-A183-981DA43126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6" y="1981"/>
              <a:ext cx="176" cy="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120">
              <a:extLst>
                <a:ext uri="{FF2B5EF4-FFF2-40B4-BE49-F238E27FC236}">
                  <a16:creationId xmlns:a16="http://schemas.microsoft.com/office/drawing/2014/main" id="{B6D9476A-7953-4C4D-9BF5-099BD740A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5" y="2120"/>
              <a:ext cx="37" cy="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21">
              <a:extLst>
                <a:ext uri="{FF2B5EF4-FFF2-40B4-BE49-F238E27FC236}">
                  <a16:creationId xmlns:a16="http://schemas.microsoft.com/office/drawing/2014/main" id="{9F9BC194-5468-4A01-B299-BBB3016ADA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626"/>
              <a:ext cx="153" cy="1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22">
              <a:extLst>
                <a:ext uri="{FF2B5EF4-FFF2-40B4-BE49-F238E27FC236}">
                  <a16:creationId xmlns:a16="http://schemas.microsoft.com/office/drawing/2014/main" id="{D92820D3-8E1B-456A-9F84-26FB52B9D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1208"/>
              <a:ext cx="50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123">
              <a:extLst>
                <a:ext uri="{FF2B5EF4-FFF2-40B4-BE49-F238E27FC236}">
                  <a16:creationId xmlns:a16="http://schemas.microsoft.com/office/drawing/2014/main" id="{325D75C2-1EB1-4273-976A-F23BA87C6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7" y="862"/>
              <a:ext cx="345" cy="3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124">
              <a:extLst>
                <a:ext uri="{FF2B5EF4-FFF2-40B4-BE49-F238E27FC236}">
                  <a16:creationId xmlns:a16="http://schemas.microsoft.com/office/drawing/2014/main" id="{581500DE-D1D7-4116-A462-3D90574F93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626"/>
              <a:ext cx="292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125">
              <a:extLst>
                <a:ext uri="{FF2B5EF4-FFF2-40B4-BE49-F238E27FC236}">
                  <a16:creationId xmlns:a16="http://schemas.microsoft.com/office/drawing/2014/main" id="{45B83FA3-49C9-4A29-8C85-47702E0A67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2" y="723"/>
              <a:ext cx="460" cy="4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126">
              <a:extLst>
                <a:ext uri="{FF2B5EF4-FFF2-40B4-BE49-F238E27FC236}">
                  <a16:creationId xmlns:a16="http://schemas.microsoft.com/office/drawing/2014/main" id="{E39E9627-F59C-4A64-B195-73487346B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" y="1581"/>
              <a:ext cx="802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27">
              <a:extLst>
                <a:ext uri="{FF2B5EF4-FFF2-40B4-BE49-F238E27FC236}">
                  <a16:creationId xmlns:a16="http://schemas.microsoft.com/office/drawing/2014/main" id="{9D30A45F-E798-43CE-8145-02F218153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6" y="632"/>
              <a:ext cx="2" cy="3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128">
              <a:extLst>
                <a:ext uri="{FF2B5EF4-FFF2-40B4-BE49-F238E27FC236}">
                  <a16:creationId xmlns:a16="http://schemas.microsoft.com/office/drawing/2014/main" id="{C000A2D5-5EAC-46D0-B6B9-FAC8067ED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9" y="1181"/>
              <a:ext cx="101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129">
              <a:extLst>
                <a:ext uri="{FF2B5EF4-FFF2-40B4-BE49-F238E27FC236}">
                  <a16:creationId xmlns:a16="http://schemas.microsoft.com/office/drawing/2014/main" id="{C2AD14E1-432C-4100-8458-C612C3F05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1" y="1185"/>
              <a:ext cx="19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30">
              <a:extLst>
                <a:ext uri="{FF2B5EF4-FFF2-40B4-BE49-F238E27FC236}">
                  <a16:creationId xmlns:a16="http://schemas.microsoft.com/office/drawing/2014/main" id="{A70A32A4-CD8A-4E30-9CE6-17880205D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6" y="1000"/>
              <a:ext cx="14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131">
              <a:extLst>
                <a:ext uri="{FF2B5EF4-FFF2-40B4-BE49-F238E27FC236}">
                  <a16:creationId xmlns:a16="http://schemas.microsoft.com/office/drawing/2014/main" id="{03686CE8-D727-442A-B0D8-FD72EBFCF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208"/>
              <a:ext cx="134" cy="132"/>
            </a:xfrm>
            <a:custGeom>
              <a:avLst/>
              <a:gdLst>
                <a:gd name="T0" fmla="*/ 134 w 134"/>
                <a:gd name="T1" fmla="*/ 132 h 132"/>
                <a:gd name="T2" fmla="*/ 0 w 134"/>
                <a:gd name="T3" fmla="*/ 0 h 132"/>
                <a:gd name="T4" fmla="*/ 0 60000 65536"/>
                <a:gd name="T5" fmla="*/ 0 60000 65536"/>
                <a:gd name="T6" fmla="*/ 0 w 134"/>
                <a:gd name="T7" fmla="*/ 0 h 132"/>
                <a:gd name="T8" fmla="*/ 134 w 134"/>
                <a:gd name="T9" fmla="*/ 132 h 1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4" h="132">
                  <a:moveTo>
                    <a:pt x="134" y="132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132">
              <a:extLst>
                <a:ext uri="{FF2B5EF4-FFF2-40B4-BE49-F238E27FC236}">
                  <a16:creationId xmlns:a16="http://schemas.microsoft.com/office/drawing/2014/main" id="{C34991C8-1B9F-49DF-BE5D-7008F2AD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" y="1288"/>
              <a:ext cx="36" cy="36"/>
            </a:xfrm>
            <a:custGeom>
              <a:avLst/>
              <a:gdLst>
                <a:gd name="T0" fmla="*/ 36 w 36"/>
                <a:gd name="T1" fmla="*/ 36 h 36"/>
                <a:gd name="T2" fmla="*/ 0 w 36"/>
                <a:gd name="T3" fmla="*/ 0 h 36"/>
                <a:gd name="T4" fmla="*/ 0 60000 65536"/>
                <a:gd name="T5" fmla="*/ 0 60000 65536"/>
                <a:gd name="T6" fmla="*/ 0 w 36"/>
                <a:gd name="T7" fmla="*/ 0 h 36"/>
                <a:gd name="T8" fmla="*/ 36 w 36"/>
                <a:gd name="T9" fmla="*/ 36 h 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" h="36">
                  <a:moveTo>
                    <a:pt x="36" y="36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133">
              <a:extLst>
                <a:ext uri="{FF2B5EF4-FFF2-40B4-BE49-F238E27FC236}">
                  <a16:creationId xmlns:a16="http://schemas.microsoft.com/office/drawing/2014/main" id="{D3BCE7F8-52D5-4278-9380-582731470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1240"/>
              <a:ext cx="52" cy="52"/>
            </a:xfrm>
            <a:custGeom>
              <a:avLst/>
              <a:gdLst>
                <a:gd name="T0" fmla="*/ 52 w 52"/>
                <a:gd name="T1" fmla="*/ 52 h 52"/>
                <a:gd name="T2" fmla="*/ 0 w 52"/>
                <a:gd name="T3" fmla="*/ 0 h 52"/>
                <a:gd name="T4" fmla="*/ 0 60000 65536"/>
                <a:gd name="T5" fmla="*/ 0 60000 65536"/>
                <a:gd name="T6" fmla="*/ 0 w 52"/>
                <a:gd name="T7" fmla="*/ 0 h 52"/>
                <a:gd name="T8" fmla="*/ 52 w 52"/>
                <a:gd name="T9" fmla="*/ 52 h 5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" h="52">
                  <a:moveTo>
                    <a:pt x="52" y="52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134">
              <a:extLst>
                <a:ext uri="{FF2B5EF4-FFF2-40B4-BE49-F238E27FC236}">
                  <a16:creationId xmlns:a16="http://schemas.microsoft.com/office/drawing/2014/main" id="{F853CF50-E19C-4640-9B88-ED57B10E0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208"/>
              <a:ext cx="51" cy="50"/>
            </a:xfrm>
            <a:custGeom>
              <a:avLst/>
              <a:gdLst>
                <a:gd name="T0" fmla="*/ 51 w 51"/>
                <a:gd name="T1" fmla="*/ 50 h 50"/>
                <a:gd name="T2" fmla="*/ 0 w 51"/>
                <a:gd name="T3" fmla="*/ 0 h 50"/>
                <a:gd name="T4" fmla="*/ 0 60000 65536"/>
                <a:gd name="T5" fmla="*/ 0 60000 65536"/>
                <a:gd name="T6" fmla="*/ 0 w 51"/>
                <a:gd name="T7" fmla="*/ 0 h 50"/>
                <a:gd name="T8" fmla="*/ 51 w 51"/>
                <a:gd name="T9" fmla="*/ 50 h 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" h="50">
                  <a:moveTo>
                    <a:pt x="51" y="5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135">
              <a:extLst>
                <a:ext uri="{FF2B5EF4-FFF2-40B4-BE49-F238E27FC236}">
                  <a16:creationId xmlns:a16="http://schemas.microsoft.com/office/drawing/2014/main" id="{E5D49750-3838-409F-9758-162B5559E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9" y="975"/>
              <a:ext cx="1" cy="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136">
              <a:extLst>
                <a:ext uri="{FF2B5EF4-FFF2-40B4-BE49-F238E27FC236}">
                  <a16:creationId xmlns:a16="http://schemas.microsoft.com/office/drawing/2014/main" id="{07E36862-76BE-4F4E-988C-065CA8D22F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31" y="1185"/>
              <a:ext cx="100" cy="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37">
              <a:extLst>
                <a:ext uri="{FF2B5EF4-FFF2-40B4-BE49-F238E27FC236}">
                  <a16:creationId xmlns:a16="http://schemas.microsoft.com/office/drawing/2014/main" id="{D5A7BC83-629C-40CC-AC8F-07C9AB14B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2" y="1581"/>
              <a:ext cx="52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138">
              <a:extLst>
                <a:ext uri="{FF2B5EF4-FFF2-40B4-BE49-F238E27FC236}">
                  <a16:creationId xmlns:a16="http://schemas.microsoft.com/office/drawing/2014/main" id="{2D9F12AD-800E-4741-B4E5-65A4A2EC4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9" y="1251"/>
              <a:ext cx="6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139">
              <a:extLst>
                <a:ext uri="{FF2B5EF4-FFF2-40B4-BE49-F238E27FC236}">
                  <a16:creationId xmlns:a16="http://schemas.microsoft.com/office/drawing/2014/main" id="{64447BCB-965F-4FF5-946B-F4E72A035C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4" y="1020"/>
              <a:ext cx="44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140">
              <a:extLst>
                <a:ext uri="{FF2B5EF4-FFF2-40B4-BE49-F238E27FC236}">
                  <a16:creationId xmlns:a16="http://schemas.microsoft.com/office/drawing/2014/main" id="{CA6FC49A-9026-4141-BF0E-70017D86A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" y="1208"/>
              <a:ext cx="13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41">
              <a:extLst>
                <a:ext uri="{FF2B5EF4-FFF2-40B4-BE49-F238E27FC236}">
                  <a16:creationId xmlns:a16="http://schemas.microsoft.com/office/drawing/2014/main" id="{661922AC-0DD7-4536-8C8A-B34CF85C2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9" y="1090"/>
              <a:ext cx="116" cy="1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142">
              <a:extLst>
                <a:ext uri="{FF2B5EF4-FFF2-40B4-BE49-F238E27FC236}">
                  <a16:creationId xmlns:a16="http://schemas.microsoft.com/office/drawing/2014/main" id="{2FE44D2D-4526-4B18-90B8-B51E5CBC2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2" y="1021"/>
              <a:ext cx="53" cy="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143">
              <a:extLst>
                <a:ext uri="{FF2B5EF4-FFF2-40B4-BE49-F238E27FC236}">
                  <a16:creationId xmlns:a16="http://schemas.microsoft.com/office/drawing/2014/main" id="{A3FE06DD-9FB9-4EEF-8E80-68ABCA619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5" y="1021"/>
              <a:ext cx="1" cy="163"/>
            </a:xfrm>
            <a:custGeom>
              <a:avLst/>
              <a:gdLst>
                <a:gd name="T0" fmla="*/ 0 w 1"/>
                <a:gd name="T1" fmla="*/ 0 h 163"/>
                <a:gd name="T2" fmla="*/ 1 w 1"/>
                <a:gd name="T3" fmla="*/ 163 h 163"/>
                <a:gd name="T4" fmla="*/ 0 60000 65536"/>
                <a:gd name="T5" fmla="*/ 0 60000 65536"/>
                <a:gd name="T6" fmla="*/ 0 w 1"/>
                <a:gd name="T7" fmla="*/ 0 h 163"/>
                <a:gd name="T8" fmla="*/ 1 w 1"/>
                <a:gd name="T9" fmla="*/ 163 h 1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3">
                  <a:moveTo>
                    <a:pt x="0" y="0"/>
                  </a:moveTo>
                  <a:lnTo>
                    <a:pt x="1" y="163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144">
              <a:extLst>
                <a:ext uri="{FF2B5EF4-FFF2-40B4-BE49-F238E27FC236}">
                  <a16:creationId xmlns:a16="http://schemas.microsoft.com/office/drawing/2014/main" id="{381F85A2-0759-4417-A0F4-BB1E5A552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1001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145">
              <a:extLst>
                <a:ext uri="{FF2B5EF4-FFF2-40B4-BE49-F238E27FC236}">
                  <a16:creationId xmlns:a16="http://schemas.microsoft.com/office/drawing/2014/main" id="{C5763ABE-B1B9-4B5D-AC00-5418818DA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5" y="998"/>
              <a:ext cx="21" cy="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46">
              <a:extLst>
                <a:ext uri="{FF2B5EF4-FFF2-40B4-BE49-F238E27FC236}">
                  <a16:creationId xmlns:a16="http://schemas.microsoft.com/office/drawing/2014/main" id="{CE1EA39E-084C-419C-9F08-7009A4DB1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020"/>
              <a:ext cx="1" cy="168"/>
            </a:xfrm>
            <a:custGeom>
              <a:avLst/>
              <a:gdLst>
                <a:gd name="T0" fmla="*/ 0 w 1"/>
                <a:gd name="T1" fmla="*/ 0 h 168"/>
                <a:gd name="T2" fmla="*/ 0 w 1"/>
                <a:gd name="T3" fmla="*/ 168 h 168"/>
                <a:gd name="T4" fmla="*/ 0 60000 65536"/>
                <a:gd name="T5" fmla="*/ 0 60000 65536"/>
                <a:gd name="T6" fmla="*/ 0 w 1"/>
                <a:gd name="T7" fmla="*/ 0 h 168"/>
                <a:gd name="T8" fmla="*/ 1 w 1"/>
                <a:gd name="T9" fmla="*/ 168 h 1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8">
                  <a:moveTo>
                    <a:pt x="0" y="0"/>
                  </a:moveTo>
                  <a:lnTo>
                    <a:pt x="0" y="168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147">
              <a:extLst>
                <a:ext uri="{FF2B5EF4-FFF2-40B4-BE49-F238E27FC236}">
                  <a16:creationId xmlns:a16="http://schemas.microsoft.com/office/drawing/2014/main" id="{1ED4B068-9B3D-4435-A8C5-E9E7C8CEF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1002"/>
              <a:ext cx="2" cy="2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148">
              <a:extLst>
                <a:ext uri="{FF2B5EF4-FFF2-40B4-BE49-F238E27FC236}">
                  <a16:creationId xmlns:a16="http://schemas.microsoft.com/office/drawing/2014/main" id="{AC3BB8CE-2445-4217-AE72-C6DDE846E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97" y="996"/>
              <a:ext cx="21" cy="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149">
              <a:extLst>
                <a:ext uri="{FF2B5EF4-FFF2-40B4-BE49-F238E27FC236}">
                  <a16:creationId xmlns:a16="http://schemas.microsoft.com/office/drawing/2014/main" id="{2D4FC16D-527C-45C1-B690-BB54148952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626"/>
              <a:ext cx="13" cy="13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150">
              <a:extLst>
                <a:ext uri="{FF2B5EF4-FFF2-40B4-BE49-F238E27FC236}">
                  <a16:creationId xmlns:a16="http://schemas.microsoft.com/office/drawing/2014/main" id="{E78EF8C2-A3FF-44D2-A0F1-B4D60C41D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" y="626"/>
              <a:ext cx="1" cy="5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151">
              <a:extLst>
                <a:ext uri="{FF2B5EF4-FFF2-40B4-BE49-F238E27FC236}">
                  <a16:creationId xmlns:a16="http://schemas.microsoft.com/office/drawing/2014/main" id="{DBA00AD1-D5D9-4516-8045-49AD9B6E6D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8" y="1208"/>
              <a:ext cx="48" cy="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152">
              <a:extLst>
                <a:ext uri="{FF2B5EF4-FFF2-40B4-BE49-F238E27FC236}">
                  <a16:creationId xmlns:a16="http://schemas.microsoft.com/office/drawing/2014/main" id="{D046E57C-09E7-46D2-8516-D6E437FF9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2" y="1530"/>
              <a:ext cx="54" cy="54"/>
            </a:xfrm>
            <a:custGeom>
              <a:avLst/>
              <a:gdLst>
                <a:gd name="T0" fmla="*/ 0 w 54"/>
                <a:gd name="T1" fmla="*/ 54 h 54"/>
                <a:gd name="T2" fmla="*/ 54 w 54"/>
                <a:gd name="T3" fmla="*/ 0 h 54"/>
                <a:gd name="T4" fmla="*/ 0 60000 65536"/>
                <a:gd name="T5" fmla="*/ 0 60000 65536"/>
                <a:gd name="T6" fmla="*/ 0 w 54"/>
                <a:gd name="T7" fmla="*/ 0 h 54"/>
                <a:gd name="T8" fmla="*/ 54 w 54"/>
                <a:gd name="T9" fmla="*/ 54 h 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" h="54">
                  <a:moveTo>
                    <a:pt x="0" y="54"/>
                  </a:moveTo>
                  <a:lnTo>
                    <a:pt x="54" y="0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153">
              <a:extLst>
                <a:ext uri="{FF2B5EF4-FFF2-40B4-BE49-F238E27FC236}">
                  <a16:creationId xmlns:a16="http://schemas.microsoft.com/office/drawing/2014/main" id="{128F4C56-8F64-472F-9102-C682E8ADA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200"/>
              <a:ext cx="1" cy="378"/>
            </a:xfrm>
            <a:custGeom>
              <a:avLst/>
              <a:gdLst>
                <a:gd name="T0" fmla="*/ 0 w 1"/>
                <a:gd name="T1" fmla="*/ 0 h 378"/>
                <a:gd name="T2" fmla="*/ 0 w 1"/>
                <a:gd name="T3" fmla="*/ 378 h 378"/>
                <a:gd name="T4" fmla="*/ 0 60000 65536"/>
                <a:gd name="T5" fmla="*/ 0 60000 65536"/>
                <a:gd name="T6" fmla="*/ 0 w 1"/>
                <a:gd name="T7" fmla="*/ 0 h 378"/>
                <a:gd name="T8" fmla="*/ 1 w 1"/>
                <a:gd name="T9" fmla="*/ 378 h 3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8">
                  <a:moveTo>
                    <a:pt x="0" y="0"/>
                  </a:moveTo>
                  <a:lnTo>
                    <a:pt x="0" y="378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154">
              <a:extLst>
                <a:ext uri="{FF2B5EF4-FFF2-40B4-BE49-F238E27FC236}">
                  <a16:creationId xmlns:a16="http://schemas.microsoft.com/office/drawing/2014/main" id="{3A11DB2E-4AAB-4674-AEB9-42CBE72A1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7" y="1002"/>
              <a:ext cx="205" cy="2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155">
              <a:extLst>
                <a:ext uri="{FF2B5EF4-FFF2-40B4-BE49-F238E27FC236}">
                  <a16:creationId xmlns:a16="http://schemas.microsoft.com/office/drawing/2014/main" id="{9092EE5D-75E7-4D98-B641-9D371319E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6" y="1142"/>
              <a:ext cx="66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156">
              <a:extLst>
                <a:ext uri="{FF2B5EF4-FFF2-40B4-BE49-F238E27FC236}">
                  <a16:creationId xmlns:a16="http://schemas.microsoft.com/office/drawing/2014/main" id="{C9479BE2-9F6C-4347-8AA1-E955BF77E0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1255"/>
              <a:ext cx="1" cy="2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157">
              <a:extLst>
                <a:ext uri="{FF2B5EF4-FFF2-40B4-BE49-F238E27FC236}">
                  <a16:creationId xmlns:a16="http://schemas.microsoft.com/office/drawing/2014/main" id="{8E08D256-DFEF-47EA-A1C6-00E468CB0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392"/>
              <a:ext cx="12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158">
              <a:extLst>
                <a:ext uri="{FF2B5EF4-FFF2-40B4-BE49-F238E27FC236}">
                  <a16:creationId xmlns:a16="http://schemas.microsoft.com/office/drawing/2014/main" id="{C8168227-CBC7-48F2-88A9-86F65478F6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0" y="1174"/>
              <a:ext cx="0" cy="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Line 159">
              <a:extLst>
                <a:ext uri="{FF2B5EF4-FFF2-40B4-BE49-F238E27FC236}">
                  <a16:creationId xmlns:a16="http://schemas.microsoft.com/office/drawing/2014/main" id="{BF7F52AE-78AE-426C-B2AE-8EEE19823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" y="1174"/>
              <a:ext cx="0" cy="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Rectangle 160">
              <a:extLst>
                <a:ext uri="{FF2B5EF4-FFF2-40B4-BE49-F238E27FC236}">
                  <a16:creationId xmlns:a16="http://schemas.microsoft.com/office/drawing/2014/main" id="{900507A5-F437-423C-9DEF-2CF206395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" y="996"/>
              <a:ext cx="47" cy="6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1" name="Group 161">
            <a:extLst>
              <a:ext uri="{FF2B5EF4-FFF2-40B4-BE49-F238E27FC236}">
                <a16:creationId xmlns:a16="http://schemas.microsoft.com/office/drawing/2014/main" id="{81739F53-9122-4F28-A758-3082571A8DD6}"/>
              </a:ext>
            </a:extLst>
          </p:cNvPr>
          <p:cNvGrpSpPr>
            <a:grpSpLocks/>
          </p:cNvGrpSpPr>
          <p:nvPr/>
        </p:nvGrpSpPr>
        <p:grpSpPr bwMode="auto">
          <a:xfrm>
            <a:off x="6885968" y="4197625"/>
            <a:ext cx="657946" cy="1097973"/>
            <a:chOff x="1272" y="2307"/>
            <a:chExt cx="549" cy="921"/>
          </a:xfrm>
        </p:grpSpPr>
        <p:sp>
          <p:nvSpPr>
            <p:cNvPr id="162" name="Rectangle 162">
              <a:extLst>
                <a:ext uri="{FF2B5EF4-FFF2-40B4-BE49-F238E27FC236}">
                  <a16:creationId xmlns:a16="http://schemas.microsoft.com/office/drawing/2014/main" id="{E5A3BE86-8DFA-425B-9F3F-53461FBFA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8" y="2307"/>
              <a:ext cx="16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latin typeface="宋体" pitchFamily="2" charset="-122"/>
                </a:rPr>
                <a:t>Ⅱ</a:t>
              </a:r>
              <a:endParaRPr lang="en-US" altLang="zh-CN" sz="2000">
                <a:solidFill>
                  <a:schemeClr val="accent2"/>
                </a:solidFill>
              </a:endParaRPr>
            </a:p>
          </p:txBody>
        </p:sp>
        <p:sp>
          <p:nvSpPr>
            <p:cNvPr id="163" name="Line 163">
              <a:extLst>
                <a:ext uri="{FF2B5EF4-FFF2-40B4-BE49-F238E27FC236}">
                  <a16:creationId xmlns:a16="http://schemas.microsoft.com/office/drawing/2014/main" id="{EBCE65BF-99C1-4E10-A98E-9FFFD67CC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7" y="2510"/>
              <a:ext cx="100" cy="1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164">
              <a:extLst>
                <a:ext uri="{FF2B5EF4-FFF2-40B4-BE49-F238E27FC236}">
                  <a16:creationId xmlns:a16="http://schemas.microsoft.com/office/drawing/2014/main" id="{13159BEE-C1C5-4EEA-A878-E383C02A8B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8" y="2507"/>
              <a:ext cx="152" cy="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Oval 165">
              <a:extLst>
                <a:ext uri="{FF2B5EF4-FFF2-40B4-BE49-F238E27FC236}">
                  <a16:creationId xmlns:a16="http://schemas.microsoft.com/office/drawing/2014/main" id="{F1D061D5-383B-49EE-AB92-9F7D3D39F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2679"/>
              <a:ext cx="549" cy="549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6" name="Group 166">
            <a:extLst>
              <a:ext uri="{FF2B5EF4-FFF2-40B4-BE49-F238E27FC236}">
                <a16:creationId xmlns:a16="http://schemas.microsoft.com/office/drawing/2014/main" id="{5978EA68-D8AF-4620-811F-F04BF9646AC8}"/>
              </a:ext>
            </a:extLst>
          </p:cNvPr>
          <p:cNvGrpSpPr>
            <a:grpSpLocks/>
          </p:cNvGrpSpPr>
          <p:nvPr/>
        </p:nvGrpSpPr>
        <p:grpSpPr bwMode="auto">
          <a:xfrm>
            <a:off x="6454167" y="4183771"/>
            <a:ext cx="1837892" cy="2369127"/>
            <a:chOff x="1011" y="2369"/>
            <a:chExt cx="1348" cy="1685"/>
          </a:xfrm>
        </p:grpSpPr>
        <p:sp>
          <p:nvSpPr>
            <p:cNvPr id="167" name="Freeform 167">
              <a:extLst>
                <a:ext uri="{FF2B5EF4-FFF2-40B4-BE49-F238E27FC236}">
                  <a16:creationId xmlns:a16="http://schemas.microsoft.com/office/drawing/2014/main" id="{FABF8605-6501-41D7-9712-97D0A689B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5" y="3000"/>
              <a:ext cx="388" cy="191"/>
            </a:xfrm>
            <a:custGeom>
              <a:avLst/>
              <a:gdLst>
                <a:gd name="T0" fmla="*/ 0 w 926"/>
                <a:gd name="T1" fmla="*/ 0 h 457"/>
                <a:gd name="T2" fmla="*/ 0 w 926"/>
                <a:gd name="T3" fmla="*/ 0 h 457"/>
                <a:gd name="T4" fmla="*/ 0 w 926"/>
                <a:gd name="T5" fmla="*/ 0 h 457"/>
                <a:gd name="T6" fmla="*/ 0 w 926"/>
                <a:gd name="T7" fmla="*/ 0 h 457"/>
                <a:gd name="T8" fmla="*/ 0 w 926"/>
                <a:gd name="T9" fmla="*/ 0 h 457"/>
                <a:gd name="T10" fmla="*/ 0 w 926"/>
                <a:gd name="T11" fmla="*/ 0 h 457"/>
                <a:gd name="T12" fmla="*/ 0 w 926"/>
                <a:gd name="T13" fmla="*/ 0 h 4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26"/>
                <a:gd name="T22" fmla="*/ 0 h 457"/>
                <a:gd name="T23" fmla="*/ 926 w 926"/>
                <a:gd name="T24" fmla="*/ 457 h 4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26" h="457">
                  <a:moveTo>
                    <a:pt x="0" y="0"/>
                  </a:moveTo>
                  <a:lnTo>
                    <a:pt x="75" y="213"/>
                  </a:lnTo>
                  <a:lnTo>
                    <a:pt x="218" y="324"/>
                  </a:lnTo>
                  <a:lnTo>
                    <a:pt x="526" y="457"/>
                  </a:lnTo>
                  <a:lnTo>
                    <a:pt x="694" y="439"/>
                  </a:lnTo>
                  <a:lnTo>
                    <a:pt x="812" y="319"/>
                  </a:lnTo>
                  <a:lnTo>
                    <a:pt x="926" y="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168">
              <a:extLst>
                <a:ext uri="{FF2B5EF4-FFF2-40B4-BE49-F238E27FC236}">
                  <a16:creationId xmlns:a16="http://schemas.microsoft.com/office/drawing/2014/main" id="{9BD9A797-3FBB-4EE5-A90F-D53E08833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16"/>
              <a:ext cx="155" cy="573"/>
            </a:xfrm>
            <a:custGeom>
              <a:avLst/>
              <a:gdLst>
                <a:gd name="T0" fmla="*/ 90 w 155"/>
                <a:gd name="T1" fmla="*/ 0 h 573"/>
                <a:gd name="T2" fmla="*/ 55 w 155"/>
                <a:gd name="T3" fmla="*/ 59 h 573"/>
                <a:gd name="T4" fmla="*/ 45 w 155"/>
                <a:gd name="T5" fmla="*/ 124 h 573"/>
                <a:gd name="T6" fmla="*/ 57 w 155"/>
                <a:gd name="T7" fmla="*/ 186 h 573"/>
                <a:gd name="T8" fmla="*/ 72 w 155"/>
                <a:gd name="T9" fmla="*/ 242 h 573"/>
                <a:gd name="T10" fmla="*/ 137 w 155"/>
                <a:gd name="T11" fmla="*/ 350 h 573"/>
                <a:gd name="T12" fmla="*/ 153 w 155"/>
                <a:gd name="T13" fmla="*/ 423 h 573"/>
                <a:gd name="T14" fmla="*/ 155 w 155"/>
                <a:gd name="T15" fmla="*/ 473 h 573"/>
                <a:gd name="T16" fmla="*/ 138 w 155"/>
                <a:gd name="T17" fmla="*/ 534 h 573"/>
                <a:gd name="T18" fmla="*/ 84 w 155"/>
                <a:gd name="T19" fmla="*/ 573 h 573"/>
                <a:gd name="T20" fmla="*/ 32 w 155"/>
                <a:gd name="T21" fmla="*/ 555 h 573"/>
                <a:gd name="T22" fmla="*/ 1 w 155"/>
                <a:gd name="T23" fmla="*/ 503 h 573"/>
                <a:gd name="T24" fmla="*/ 0 w 155"/>
                <a:gd name="T25" fmla="*/ 444 h 573"/>
                <a:gd name="T26" fmla="*/ 19 w 155"/>
                <a:gd name="T27" fmla="*/ 380 h 573"/>
                <a:gd name="T28" fmla="*/ 104 w 155"/>
                <a:gd name="T29" fmla="*/ 288 h 57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55"/>
                <a:gd name="T46" fmla="*/ 0 h 573"/>
                <a:gd name="T47" fmla="*/ 155 w 155"/>
                <a:gd name="T48" fmla="*/ 573 h 57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55" h="573">
                  <a:moveTo>
                    <a:pt x="90" y="0"/>
                  </a:moveTo>
                  <a:lnTo>
                    <a:pt x="55" y="59"/>
                  </a:lnTo>
                  <a:lnTo>
                    <a:pt x="45" y="124"/>
                  </a:lnTo>
                  <a:lnTo>
                    <a:pt x="57" y="186"/>
                  </a:lnTo>
                  <a:lnTo>
                    <a:pt x="72" y="242"/>
                  </a:lnTo>
                  <a:lnTo>
                    <a:pt x="137" y="350"/>
                  </a:lnTo>
                  <a:lnTo>
                    <a:pt x="153" y="423"/>
                  </a:lnTo>
                  <a:lnTo>
                    <a:pt x="155" y="473"/>
                  </a:lnTo>
                  <a:lnTo>
                    <a:pt x="138" y="534"/>
                  </a:lnTo>
                  <a:lnTo>
                    <a:pt x="84" y="573"/>
                  </a:lnTo>
                  <a:lnTo>
                    <a:pt x="32" y="555"/>
                  </a:lnTo>
                  <a:lnTo>
                    <a:pt x="1" y="503"/>
                  </a:lnTo>
                  <a:lnTo>
                    <a:pt x="0" y="444"/>
                  </a:lnTo>
                  <a:lnTo>
                    <a:pt x="19" y="380"/>
                  </a:lnTo>
                  <a:lnTo>
                    <a:pt x="104" y="28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169">
              <a:extLst>
                <a:ext uri="{FF2B5EF4-FFF2-40B4-BE49-F238E27FC236}">
                  <a16:creationId xmlns:a16="http://schemas.microsoft.com/office/drawing/2014/main" id="{0E261392-0C17-40DA-B5C1-9C7FA57F1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1" y="2916"/>
              <a:ext cx="25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170">
              <a:extLst>
                <a:ext uri="{FF2B5EF4-FFF2-40B4-BE49-F238E27FC236}">
                  <a16:creationId xmlns:a16="http://schemas.microsoft.com/office/drawing/2014/main" id="{77779E15-F922-4813-BCDE-3954BEA11B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5" y="3491"/>
              <a:ext cx="25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171">
              <a:extLst>
                <a:ext uri="{FF2B5EF4-FFF2-40B4-BE49-F238E27FC236}">
                  <a16:creationId xmlns:a16="http://schemas.microsoft.com/office/drawing/2014/main" id="{8A79DFDE-8FC1-4C4F-AF13-CBD29C784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4" y="3203"/>
              <a:ext cx="37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172">
              <a:extLst>
                <a:ext uri="{FF2B5EF4-FFF2-40B4-BE49-F238E27FC236}">
                  <a16:creationId xmlns:a16="http://schemas.microsoft.com/office/drawing/2014/main" id="{60626256-6132-42B8-95C4-4C79E3154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9" y="3203"/>
              <a:ext cx="7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173">
              <a:extLst>
                <a:ext uri="{FF2B5EF4-FFF2-40B4-BE49-F238E27FC236}">
                  <a16:creationId xmlns:a16="http://schemas.microsoft.com/office/drawing/2014/main" id="{E60EE838-6172-4939-B4F1-FABB1068C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1" y="3203"/>
              <a:ext cx="359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74">
              <a:extLst>
                <a:ext uri="{FF2B5EF4-FFF2-40B4-BE49-F238E27FC236}">
                  <a16:creationId xmlns:a16="http://schemas.microsoft.com/office/drawing/2014/main" id="{EB15608C-9989-4E66-A5F3-AD303D4CA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3203"/>
              <a:ext cx="7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175">
              <a:extLst>
                <a:ext uri="{FF2B5EF4-FFF2-40B4-BE49-F238E27FC236}">
                  <a16:creationId xmlns:a16="http://schemas.microsoft.com/office/drawing/2014/main" id="{84C5E0EF-F297-4C57-8F94-A458E14B9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3203"/>
              <a:ext cx="259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76">
              <a:extLst>
                <a:ext uri="{FF2B5EF4-FFF2-40B4-BE49-F238E27FC236}">
                  <a16:creationId xmlns:a16="http://schemas.microsoft.com/office/drawing/2014/main" id="{7AE58ADA-E68A-4893-8EEB-301635504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11" y="3351"/>
              <a:ext cx="119" cy="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77">
              <a:extLst>
                <a:ext uri="{FF2B5EF4-FFF2-40B4-BE49-F238E27FC236}">
                  <a16:creationId xmlns:a16="http://schemas.microsoft.com/office/drawing/2014/main" id="{4C359646-8A67-471B-925B-7498A059F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7" y="3286"/>
              <a:ext cx="126" cy="1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178">
              <a:extLst>
                <a:ext uri="{FF2B5EF4-FFF2-40B4-BE49-F238E27FC236}">
                  <a16:creationId xmlns:a16="http://schemas.microsoft.com/office/drawing/2014/main" id="{FD6D49B1-AD79-4415-AF96-127825533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80" y="3238"/>
              <a:ext cx="78" cy="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179">
              <a:extLst>
                <a:ext uri="{FF2B5EF4-FFF2-40B4-BE49-F238E27FC236}">
                  <a16:creationId xmlns:a16="http://schemas.microsoft.com/office/drawing/2014/main" id="{FD18D554-473B-4FCF-BECA-BB7AAD5C4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369"/>
              <a:ext cx="2" cy="6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180">
              <a:extLst>
                <a:ext uri="{FF2B5EF4-FFF2-40B4-BE49-F238E27FC236}">
                  <a16:creationId xmlns:a16="http://schemas.microsoft.com/office/drawing/2014/main" id="{388F3DD0-7646-478E-8945-66DF3591B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6" y="2372"/>
              <a:ext cx="2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181">
              <a:extLst>
                <a:ext uri="{FF2B5EF4-FFF2-40B4-BE49-F238E27FC236}">
                  <a16:creationId xmlns:a16="http://schemas.microsoft.com/office/drawing/2014/main" id="{1AAE7A35-DE55-4408-B084-BA2B63F37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0" y="2473"/>
              <a:ext cx="500" cy="5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182">
              <a:extLst>
                <a:ext uri="{FF2B5EF4-FFF2-40B4-BE49-F238E27FC236}">
                  <a16:creationId xmlns:a16="http://schemas.microsoft.com/office/drawing/2014/main" id="{54DC9D9E-B540-46EC-A42B-06F0B2FD76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5" y="2625"/>
              <a:ext cx="375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83">
              <a:extLst>
                <a:ext uri="{FF2B5EF4-FFF2-40B4-BE49-F238E27FC236}">
                  <a16:creationId xmlns:a16="http://schemas.microsoft.com/office/drawing/2014/main" id="{DD34F7D2-9EBC-4DAB-A9B1-805A18123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7" y="3000"/>
              <a:ext cx="56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84">
              <a:extLst>
                <a:ext uri="{FF2B5EF4-FFF2-40B4-BE49-F238E27FC236}">
                  <a16:creationId xmlns:a16="http://schemas.microsoft.com/office/drawing/2014/main" id="{540BB162-C1BD-4C7C-9B66-91A544B821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3537"/>
              <a:ext cx="365" cy="3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85">
              <a:extLst>
                <a:ext uri="{FF2B5EF4-FFF2-40B4-BE49-F238E27FC236}">
                  <a16:creationId xmlns:a16="http://schemas.microsoft.com/office/drawing/2014/main" id="{8486797C-75EF-4A92-8077-2D9F59F69E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3689"/>
              <a:ext cx="365" cy="3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186">
              <a:extLst>
                <a:ext uri="{FF2B5EF4-FFF2-40B4-BE49-F238E27FC236}">
                  <a16:creationId xmlns:a16="http://schemas.microsoft.com/office/drawing/2014/main" id="{42FE607F-6468-4AB0-B646-3F41C75F9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4" y="3406"/>
              <a:ext cx="203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187">
              <a:extLst>
                <a:ext uri="{FF2B5EF4-FFF2-40B4-BE49-F238E27FC236}">
                  <a16:creationId xmlns:a16="http://schemas.microsoft.com/office/drawing/2014/main" id="{8D7882F2-6E7D-4AE0-AB3E-FAC079CF60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3406"/>
              <a:ext cx="344" cy="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188">
              <a:extLst>
                <a:ext uri="{FF2B5EF4-FFF2-40B4-BE49-F238E27FC236}">
                  <a16:creationId xmlns:a16="http://schemas.microsoft.com/office/drawing/2014/main" id="{85277C5C-E520-452F-9890-B16E8238E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3406"/>
              <a:ext cx="874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189">
              <a:extLst>
                <a:ext uri="{FF2B5EF4-FFF2-40B4-BE49-F238E27FC236}">
                  <a16:creationId xmlns:a16="http://schemas.microsoft.com/office/drawing/2014/main" id="{8A252107-444D-4058-A94B-F8F7405D8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3610"/>
              <a:ext cx="1" cy="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190">
              <a:extLst>
                <a:ext uri="{FF2B5EF4-FFF2-40B4-BE49-F238E27FC236}">
                  <a16:creationId xmlns:a16="http://schemas.microsoft.com/office/drawing/2014/main" id="{EE191B40-C698-4138-9F28-621517C1A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" y="3091"/>
              <a:ext cx="109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191">
              <a:extLst>
                <a:ext uri="{FF2B5EF4-FFF2-40B4-BE49-F238E27FC236}">
                  <a16:creationId xmlns:a16="http://schemas.microsoft.com/office/drawing/2014/main" id="{AD2AF5B6-D3CD-4809-B17E-C602227BB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774"/>
              <a:ext cx="16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192">
              <a:extLst>
                <a:ext uri="{FF2B5EF4-FFF2-40B4-BE49-F238E27FC236}">
                  <a16:creationId xmlns:a16="http://schemas.microsoft.com/office/drawing/2014/main" id="{A9851F9C-D491-4298-A49E-412A50911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4" y="3132"/>
              <a:ext cx="49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193">
              <a:extLst>
                <a:ext uri="{FF2B5EF4-FFF2-40B4-BE49-F238E27FC236}">
                  <a16:creationId xmlns:a16="http://schemas.microsoft.com/office/drawing/2014/main" id="{FFA9D2EE-08A6-4109-96E5-7BEF2B7084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8" y="3118"/>
              <a:ext cx="69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194">
              <a:extLst>
                <a:ext uri="{FF2B5EF4-FFF2-40B4-BE49-F238E27FC236}">
                  <a16:creationId xmlns:a16="http://schemas.microsoft.com/office/drawing/2014/main" id="{4AE1FFEF-44B7-4FA6-B4B1-CED46FE3D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118"/>
              <a:ext cx="14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195">
              <a:extLst>
                <a:ext uri="{FF2B5EF4-FFF2-40B4-BE49-F238E27FC236}">
                  <a16:creationId xmlns:a16="http://schemas.microsoft.com/office/drawing/2014/main" id="{66A1C2B8-1E32-44EC-B4B6-E62AA0D3D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9" y="2972"/>
              <a:ext cx="20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196">
              <a:extLst>
                <a:ext uri="{FF2B5EF4-FFF2-40B4-BE49-F238E27FC236}">
                  <a16:creationId xmlns:a16="http://schemas.microsoft.com/office/drawing/2014/main" id="{BE69D02E-D844-4ED8-9F47-C676D223B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8" y="3406"/>
              <a:ext cx="126" cy="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197">
              <a:extLst>
                <a:ext uri="{FF2B5EF4-FFF2-40B4-BE49-F238E27FC236}">
                  <a16:creationId xmlns:a16="http://schemas.microsoft.com/office/drawing/2014/main" id="{0D9BB1BA-2818-43BE-B497-9351E2871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3610"/>
              <a:ext cx="47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198">
              <a:extLst>
                <a:ext uri="{FF2B5EF4-FFF2-40B4-BE49-F238E27FC236}">
                  <a16:creationId xmlns:a16="http://schemas.microsoft.com/office/drawing/2014/main" id="{8C107556-970F-4D1F-9702-A6FE4E1197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2797"/>
              <a:ext cx="1" cy="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199">
              <a:extLst>
                <a:ext uri="{FF2B5EF4-FFF2-40B4-BE49-F238E27FC236}">
                  <a16:creationId xmlns:a16="http://schemas.microsoft.com/office/drawing/2014/main" id="{4583F519-2B27-4AE1-AE22-180C62F7A1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7" y="3406"/>
              <a:ext cx="203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200">
              <a:extLst>
                <a:ext uri="{FF2B5EF4-FFF2-40B4-BE49-F238E27FC236}">
                  <a16:creationId xmlns:a16="http://schemas.microsoft.com/office/drawing/2014/main" id="{D392DA2A-8B8A-4DF1-8FD4-4F19F5AD1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" y="3406"/>
              <a:ext cx="57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201">
              <a:extLst>
                <a:ext uri="{FF2B5EF4-FFF2-40B4-BE49-F238E27FC236}">
                  <a16:creationId xmlns:a16="http://schemas.microsoft.com/office/drawing/2014/main" id="{364E3DB7-5958-4384-AB81-F6413B7C3B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" y="3531"/>
              <a:ext cx="78" cy="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202">
              <a:extLst>
                <a:ext uri="{FF2B5EF4-FFF2-40B4-BE49-F238E27FC236}">
                  <a16:creationId xmlns:a16="http://schemas.microsoft.com/office/drawing/2014/main" id="{9A3B0201-E7B1-410B-BF70-467FC784F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15" y="3002"/>
              <a:ext cx="107" cy="1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203">
              <a:extLst>
                <a:ext uri="{FF2B5EF4-FFF2-40B4-BE49-F238E27FC236}">
                  <a16:creationId xmlns:a16="http://schemas.microsoft.com/office/drawing/2014/main" id="{491FEBCD-26D4-4E82-86E0-249F629E6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2797"/>
              <a:ext cx="479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204">
              <a:extLst>
                <a:ext uri="{FF2B5EF4-FFF2-40B4-BE49-F238E27FC236}">
                  <a16:creationId xmlns:a16="http://schemas.microsoft.com/office/drawing/2014/main" id="{38B5B657-08B4-4DE0-A0E1-E95ADE948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3000"/>
              <a:ext cx="17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205">
              <a:extLst>
                <a:ext uri="{FF2B5EF4-FFF2-40B4-BE49-F238E27FC236}">
                  <a16:creationId xmlns:a16="http://schemas.microsoft.com/office/drawing/2014/main" id="{C68C5F93-1CE4-4C7C-AA2E-817C08D30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0" y="2872"/>
              <a:ext cx="128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206">
              <a:extLst>
                <a:ext uri="{FF2B5EF4-FFF2-40B4-BE49-F238E27FC236}">
                  <a16:creationId xmlns:a16="http://schemas.microsoft.com/office/drawing/2014/main" id="{99F0DFF9-2D6A-4AD5-B69A-62A2A319AD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" y="2797"/>
              <a:ext cx="59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207">
              <a:extLst>
                <a:ext uri="{FF2B5EF4-FFF2-40B4-BE49-F238E27FC236}">
                  <a16:creationId xmlns:a16="http://schemas.microsoft.com/office/drawing/2014/main" id="{4EA8C265-9564-48D4-98A4-A25B7E93F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797"/>
              <a:ext cx="1" cy="1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Freeform 208">
              <a:extLst>
                <a:ext uri="{FF2B5EF4-FFF2-40B4-BE49-F238E27FC236}">
                  <a16:creationId xmlns:a16="http://schemas.microsoft.com/office/drawing/2014/main" id="{B2A50E83-1D64-46BB-B860-7CB86365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" y="2776"/>
              <a:ext cx="1" cy="197"/>
            </a:xfrm>
            <a:custGeom>
              <a:avLst/>
              <a:gdLst>
                <a:gd name="T0" fmla="*/ 0 w 1"/>
                <a:gd name="T1" fmla="*/ 0 h 197"/>
                <a:gd name="T2" fmla="*/ 1 w 1"/>
                <a:gd name="T3" fmla="*/ 197 h 197"/>
                <a:gd name="T4" fmla="*/ 0 60000 65536"/>
                <a:gd name="T5" fmla="*/ 0 60000 65536"/>
                <a:gd name="T6" fmla="*/ 0 w 1"/>
                <a:gd name="T7" fmla="*/ 0 h 197"/>
                <a:gd name="T8" fmla="*/ 1 w 1"/>
                <a:gd name="T9" fmla="*/ 197 h 1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7">
                  <a:moveTo>
                    <a:pt x="0" y="0"/>
                  </a:moveTo>
                  <a:lnTo>
                    <a:pt x="1" y="197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209">
              <a:extLst>
                <a:ext uri="{FF2B5EF4-FFF2-40B4-BE49-F238E27FC236}">
                  <a16:creationId xmlns:a16="http://schemas.microsoft.com/office/drawing/2014/main" id="{5347BC74-8D9B-41DB-8F05-05CBE31E4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8" y="2743"/>
              <a:ext cx="1" cy="4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210">
              <a:extLst>
                <a:ext uri="{FF2B5EF4-FFF2-40B4-BE49-F238E27FC236}">
                  <a16:creationId xmlns:a16="http://schemas.microsoft.com/office/drawing/2014/main" id="{26B98C06-5096-4D93-AA06-B9B56D339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2" y="3118"/>
              <a:ext cx="66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Freeform 211">
              <a:extLst>
                <a:ext uri="{FF2B5EF4-FFF2-40B4-BE49-F238E27FC236}">
                  <a16:creationId xmlns:a16="http://schemas.microsoft.com/office/drawing/2014/main" id="{63645F54-1B27-489E-A4F6-C4ED252F3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3079"/>
              <a:ext cx="12" cy="12"/>
            </a:xfrm>
            <a:custGeom>
              <a:avLst/>
              <a:gdLst>
                <a:gd name="T0" fmla="*/ 0 w 32"/>
                <a:gd name="T1" fmla="*/ 0 h 32"/>
                <a:gd name="T2" fmla="*/ 0 w 32"/>
                <a:gd name="T3" fmla="*/ 0 h 32"/>
                <a:gd name="T4" fmla="*/ 0 w 32"/>
                <a:gd name="T5" fmla="*/ 0 h 32"/>
                <a:gd name="T6" fmla="*/ 0 60000 65536"/>
                <a:gd name="T7" fmla="*/ 0 60000 65536"/>
                <a:gd name="T8" fmla="*/ 0 60000 65536"/>
                <a:gd name="T9" fmla="*/ 0 w 32"/>
                <a:gd name="T10" fmla="*/ 0 h 32"/>
                <a:gd name="T11" fmla="*/ 32 w 32"/>
                <a:gd name="T12" fmla="*/ 32 h 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" h="32">
                  <a:moveTo>
                    <a:pt x="0" y="0"/>
                  </a:moveTo>
                  <a:lnTo>
                    <a:pt x="9" y="23"/>
                  </a:lnTo>
                  <a:lnTo>
                    <a:pt x="32" y="3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12">
              <a:extLst>
                <a:ext uri="{FF2B5EF4-FFF2-40B4-BE49-F238E27FC236}">
                  <a16:creationId xmlns:a16="http://schemas.microsoft.com/office/drawing/2014/main" id="{ACF4EDE2-578F-4966-B89C-0C552B1A5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984"/>
              <a:ext cx="1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13">
              <a:extLst>
                <a:ext uri="{FF2B5EF4-FFF2-40B4-BE49-F238E27FC236}">
                  <a16:creationId xmlns:a16="http://schemas.microsoft.com/office/drawing/2014/main" id="{4137791B-2FFF-4FB4-BD17-7E3D26ABC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2984"/>
              <a:ext cx="1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Freeform 214">
              <a:extLst>
                <a:ext uri="{FF2B5EF4-FFF2-40B4-BE49-F238E27FC236}">
                  <a16:creationId xmlns:a16="http://schemas.microsoft.com/office/drawing/2014/main" id="{36268BDD-CBF1-4B8C-B7AC-20991BA0C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973"/>
              <a:ext cx="28" cy="23"/>
            </a:xfrm>
            <a:custGeom>
              <a:avLst/>
              <a:gdLst>
                <a:gd name="T0" fmla="*/ 28 w 28"/>
                <a:gd name="T1" fmla="*/ 23 h 23"/>
                <a:gd name="T2" fmla="*/ 15 w 28"/>
                <a:gd name="T3" fmla="*/ 9 h 23"/>
                <a:gd name="T4" fmla="*/ 0 w 28"/>
                <a:gd name="T5" fmla="*/ 0 h 23"/>
                <a:gd name="T6" fmla="*/ 0 60000 65536"/>
                <a:gd name="T7" fmla="*/ 0 60000 65536"/>
                <a:gd name="T8" fmla="*/ 0 60000 65536"/>
                <a:gd name="T9" fmla="*/ 0 w 28"/>
                <a:gd name="T10" fmla="*/ 0 h 23"/>
                <a:gd name="T11" fmla="*/ 28 w 28"/>
                <a:gd name="T12" fmla="*/ 23 h 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23">
                  <a:moveTo>
                    <a:pt x="28" y="23"/>
                  </a:moveTo>
                  <a:lnTo>
                    <a:pt x="15" y="9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Freeform 215">
              <a:extLst>
                <a:ext uri="{FF2B5EF4-FFF2-40B4-BE49-F238E27FC236}">
                  <a16:creationId xmlns:a16="http://schemas.microsoft.com/office/drawing/2014/main" id="{51B30840-828F-44FC-9626-D8D105131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996"/>
              <a:ext cx="1" cy="121"/>
            </a:xfrm>
            <a:custGeom>
              <a:avLst/>
              <a:gdLst>
                <a:gd name="T0" fmla="*/ 1 w 1"/>
                <a:gd name="T1" fmla="*/ 0 h 121"/>
                <a:gd name="T2" fmla="*/ 0 w 1"/>
                <a:gd name="T3" fmla="*/ 121 h 121"/>
                <a:gd name="T4" fmla="*/ 0 60000 65536"/>
                <a:gd name="T5" fmla="*/ 0 60000 65536"/>
                <a:gd name="T6" fmla="*/ 0 w 1"/>
                <a:gd name="T7" fmla="*/ 0 h 121"/>
                <a:gd name="T8" fmla="*/ 1 w 1"/>
                <a:gd name="T9" fmla="*/ 121 h 1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1">
                  <a:moveTo>
                    <a:pt x="1" y="0"/>
                  </a:moveTo>
                  <a:lnTo>
                    <a:pt x="0" y="121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16">
              <a:extLst>
                <a:ext uri="{FF2B5EF4-FFF2-40B4-BE49-F238E27FC236}">
                  <a16:creationId xmlns:a16="http://schemas.microsoft.com/office/drawing/2014/main" id="{BA493E9E-D827-4FCB-99EF-BB6AB36BB0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1" y="2771"/>
              <a:ext cx="21" cy="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217">
              <a:extLst>
                <a:ext uri="{FF2B5EF4-FFF2-40B4-BE49-F238E27FC236}">
                  <a16:creationId xmlns:a16="http://schemas.microsoft.com/office/drawing/2014/main" id="{A025EAAA-B8D8-415F-96A9-6C8756D86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2" y="3406"/>
              <a:ext cx="203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218">
              <a:extLst>
                <a:ext uri="{FF2B5EF4-FFF2-40B4-BE49-F238E27FC236}">
                  <a16:creationId xmlns:a16="http://schemas.microsoft.com/office/drawing/2014/main" id="{97C91781-8ABB-436A-BBA8-BF76BF76D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1" y="2794"/>
              <a:ext cx="2" cy="1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219">
              <a:extLst>
                <a:ext uri="{FF2B5EF4-FFF2-40B4-BE49-F238E27FC236}">
                  <a16:creationId xmlns:a16="http://schemas.microsoft.com/office/drawing/2014/main" id="{A48EB966-F7B5-4C62-9148-B1E94C489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1" y="2776"/>
              <a:ext cx="1" cy="1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220">
              <a:extLst>
                <a:ext uri="{FF2B5EF4-FFF2-40B4-BE49-F238E27FC236}">
                  <a16:creationId xmlns:a16="http://schemas.microsoft.com/office/drawing/2014/main" id="{95B6EC82-B53C-481B-8AD1-CFBF271DFE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86" y="3000"/>
              <a:ext cx="70" cy="7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221">
              <a:extLst>
                <a:ext uri="{FF2B5EF4-FFF2-40B4-BE49-F238E27FC236}">
                  <a16:creationId xmlns:a16="http://schemas.microsoft.com/office/drawing/2014/main" id="{574873C7-661E-4412-909A-4344803F4F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57" y="3061"/>
              <a:ext cx="69" cy="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Freeform 222">
              <a:extLst>
                <a:ext uri="{FF2B5EF4-FFF2-40B4-BE49-F238E27FC236}">
                  <a16:creationId xmlns:a16="http://schemas.microsoft.com/office/drawing/2014/main" id="{E958C892-60C9-43E8-87D7-B2AEFF6B2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3069"/>
              <a:ext cx="33" cy="24"/>
            </a:xfrm>
            <a:custGeom>
              <a:avLst/>
              <a:gdLst>
                <a:gd name="T0" fmla="*/ 0 w 33"/>
                <a:gd name="T1" fmla="*/ 24 h 24"/>
                <a:gd name="T2" fmla="*/ 15 w 33"/>
                <a:gd name="T3" fmla="*/ 18 h 24"/>
                <a:gd name="T4" fmla="*/ 33 w 33"/>
                <a:gd name="T5" fmla="*/ 0 h 24"/>
                <a:gd name="T6" fmla="*/ 0 60000 65536"/>
                <a:gd name="T7" fmla="*/ 0 60000 65536"/>
                <a:gd name="T8" fmla="*/ 0 60000 65536"/>
                <a:gd name="T9" fmla="*/ 0 w 33"/>
                <a:gd name="T10" fmla="*/ 0 h 24"/>
                <a:gd name="T11" fmla="*/ 33 w 33"/>
                <a:gd name="T12" fmla="*/ 24 h 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24">
                  <a:moveTo>
                    <a:pt x="0" y="24"/>
                  </a:moveTo>
                  <a:lnTo>
                    <a:pt x="15" y="18"/>
                  </a:lnTo>
                  <a:lnTo>
                    <a:pt x="33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223">
              <a:extLst>
                <a:ext uri="{FF2B5EF4-FFF2-40B4-BE49-F238E27FC236}">
                  <a16:creationId xmlns:a16="http://schemas.microsoft.com/office/drawing/2014/main" id="{078D204F-547B-4EFC-8911-575829D05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" y="2984"/>
              <a:ext cx="1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224">
              <a:extLst>
                <a:ext uri="{FF2B5EF4-FFF2-40B4-BE49-F238E27FC236}">
                  <a16:creationId xmlns:a16="http://schemas.microsoft.com/office/drawing/2014/main" id="{BA02D129-4E64-4A4D-A768-E8F1B5A35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1" y="2984"/>
              <a:ext cx="1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225">
              <a:extLst>
                <a:ext uri="{FF2B5EF4-FFF2-40B4-BE49-F238E27FC236}">
                  <a16:creationId xmlns:a16="http://schemas.microsoft.com/office/drawing/2014/main" id="{FCD7A4A9-3E14-487C-A05C-466AA10F7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973"/>
              <a:ext cx="32" cy="23"/>
            </a:xfrm>
            <a:custGeom>
              <a:avLst/>
              <a:gdLst>
                <a:gd name="T0" fmla="*/ 32 w 32"/>
                <a:gd name="T1" fmla="*/ 0 h 23"/>
                <a:gd name="T2" fmla="*/ 11 w 32"/>
                <a:gd name="T3" fmla="*/ 9 h 23"/>
                <a:gd name="T4" fmla="*/ 0 w 32"/>
                <a:gd name="T5" fmla="*/ 23 h 23"/>
                <a:gd name="T6" fmla="*/ 0 60000 65536"/>
                <a:gd name="T7" fmla="*/ 0 60000 65536"/>
                <a:gd name="T8" fmla="*/ 0 60000 65536"/>
                <a:gd name="T9" fmla="*/ 0 w 32"/>
                <a:gd name="T10" fmla="*/ 0 h 23"/>
                <a:gd name="T11" fmla="*/ 32 w 32"/>
                <a:gd name="T12" fmla="*/ 23 h 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" h="23">
                  <a:moveTo>
                    <a:pt x="32" y="0"/>
                  </a:moveTo>
                  <a:lnTo>
                    <a:pt x="11" y="9"/>
                  </a:lnTo>
                  <a:lnTo>
                    <a:pt x="0" y="23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Freeform 226">
              <a:extLst>
                <a:ext uri="{FF2B5EF4-FFF2-40B4-BE49-F238E27FC236}">
                  <a16:creationId xmlns:a16="http://schemas.microsoft.com/office/drawing/2014/main" id="{D0EC2ED2-FEA7-40EF-A051-BDBED53A0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9" y="2993"/>
              <a:ext cx="1" cy="124"/>
            </a:xfrm>
            <a:custGeom>
              <a:avLst/>
              <a:gdLst>
                <a:gd name="T0" fmla="*/ 1 w 1"/>
                <a:gd name="T1" fmla="*/ 0 h 124"/>
                <a:gd name="T2" fmla="*/ 0 w 1"/>
                <a:gd name="T3" fmla="*/ 124 h 124"/>
                <a:gd name="T4" fmla="*/ 0 60000 65536"/>
                <a:gd name="T5" fmla="*/ 0 60000 65536"/>
                <a:gd name="T6" fmla="*/ 0 w 1"/>
                <a:gd name="T7" fmla="*/ 0 h 124"/>
                <a:gd name="T8" fmla="*/ 1 w 1"/>
                <a:gd name="T9" fmla="*/ 124 h 1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4">
                  <a:moveTo>
                    <a:pt x="1" y="0"/>
                  </a:moveTo>
                  <a:lnTo>
                    <a:pt x="0" y="124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227">
              <a:extLst>
                <a:ext uri="{FF2B5EF4-FFF2-40B4-BE49-F238E27FC236}">
                  <a16:creationId xmlns:a16="http://schemas.microsoft.com/office/drawing/2014/main" id="{C5F9E4E4-4D23-41A9-AB5C-56F23EE31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3406"/>
              <a:ext cx="2" cy="6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228">
              <a:extLst>
                <a:ext uri="{FF2B5EF4-FFF2-40B4-BE49-F238E27FC236}">
                  <a16:creationId xmlns:a16="http://schemas.microsoft.com/office/drawing/2014/main" id="{488ED5CE-23A4-42B1-9B59-BA8F2249A9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7" y="3842"/>
              <a:ext cx="193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29">
              <a:extLst>
                <a:ext uri="{FF2B5EF4-FFF2-40B4-BE49-F238E27FC236}">
                  <a16:creationId xmlns:a16="http://schemas.microsoft.com/office/drawing/2014/main" id="{67624316-DD3D-4C5C-BB74-D1824722D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0" y="3993"/>
              <a:ext cx="40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230">
              <a:extLst>
                <a:ext uri="{FF2B5EF4-FFF2-40B4-BE49-F238E27FC236}">
                  <a16:creationId xmlns:a16="http://schemas.microsoft.com/office/drawing/2014/main" id="{1E996C2A-A710-4BF3-9FA6-3C2FF672D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18" y="2996"/>
              <a:ext cx="51" cy="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231">
              <a:extLst>
                <a:ext uri="{FF2B5EF4-FFF2-40B4-BE49-F238E27FC236}">
                  <a16:creationId xmlns:a16="http://schemas.microsoft.com/office/drawing/2014/main" id="{C7AEFA53-903F-47ED-8B65-2A82233754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8" y="3356"/>
              <a:ext cx="51" cy="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232">
              <a:extLst>
                <a:ext uri="{FF2B5EF4-FFF2-40B4-BE49-F238E27FC236}">
                  <a16:creationId xmlns:a16="http://schemas.microsoft.com/office/drawing/2014/main" id="{B08B150A-C706-4C19-98CF-447BE3A1B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9" y="3000"/>
              <a:ext cx="3" cy="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233">
              <a:extLst>
                <a:ext uri="{FF2B5EF4-FFF2-40B4-BE49-F238E27FC236}">
                  <a16:creationId xmlns:a16="http://schemas.microsoft.com/office/drawing/2014/main" id="{6F63C881-03C4-4C3E-B5BA-61605E5FD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7" y="2776"/>
              <a:ext cx="223" cy="2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234">
              <a:extLst>
                <a:ext uri="{FF2B5EF4-FFF2-40B4-BE49-F238E27FC236}">
                  <a16:creationId xmlns:a16="http://schemas.microsoft.com/office/drawing/2014/main" id="{DEE94048-0764-40BF-A98F-A174C7445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9" y="2928"/>
              <a:ext cx="71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235">
              <a:extLst>
                <a:ext uri="{FF2B5EF4-FFF2-40B4-BE49-F238E27FC236}">
                  <a16:creationId xmlns:a16="http://schemas.microsoft.com/office/drawing/2014/main" id="{1136FEE2-9120-4AAD-856B-46C8C914A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9" y="3043"/>
              <a:ext cx="1" cy="3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36">
              <a:extLst>
                <a:ext uri="{FF2B5EF4-FFF2-40B4-BE49-F238E27FC236}">
                  <a16:creationId xmlns:a16="http://schemas.microsoft.com/office/drawing/2014/main" id="{C75736EC-5D71-4B92-B409-E558F1069A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2369"/>
              <a:ext cx="165" cy="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237">
              <a:extLst>
                <a:ext uri="{FF2B5EF4-FFF2-40B4-BE49-F238E27FC236}">
                  <a16:creationId xmlns:a16="http://schemas.microsoft.com/office/drawing/2014/main" id="{9992C5A5-EA66-4620-BC5F-A52EE5248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2369"/>
              <a:ext cx="316" cy="3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Rectangle 238">
              <a:extLst>
                <a:ext uri="{FF2B5EF4-FFF2-40B4-BE49-F238E27FC236}">
                  <a16:creationId xmlns:a16="http://schemas.microsoft.com/office/drawing/2014/main" id="{DC2BC4A8-B657-4E98-A0C8-5822BF61D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2780"/>
              <a:ext cx="47" cy="6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" name="Line 239">
              <a:extLst>
                <a:ext uri="{FF2B5EF4-FFF2-40B4-BE49-F238E27FC236}">
                  <a16:creationId xmlns:a16="http://schemas.microsoft.com/office/drawing/2014/main" id="{47B6D263-B2FE-4EA0-897F-B8F9F73EB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8" y="2769"/>
              <a:ext cx="24" cy="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0" name="Group 240">
            <a:extLst>
              <a:ext uri="{FF2B5EF4-FFF2-40B4-BE49-F238E27FC236}">
                <a16:creationId xmlns:a16="http://schemas.microsoft.com/office/drawing/2014/main" id="{B87EE670-CA05-441A-A57D-A35812344502}"/>
              </a:ext>
            </a:extLst>
          </p:cNvPr>
          <p:cNvGrpSpPr>
            <a:grpSpLocks/>
          </p:cNvGrpSpPr>
          <p:nvPr/>
        </p:nvGrpSpPr>
        <p:grpSpPr bwMode="auto">
          <a:xfrm>
            <a:off x="8724292" y="4086790"/>
            <a:ext cx="1909185" cy="2475634"/>
            <a:chOff x="3024" y="2200"/>
            <a:chExt cx="1452" cy="1838"/>
          </a:xfrm>
        </p:grpSpPr>
        <p:sp>
          <p:nvSpPr>
            <p:cNvPr id="241" name="Line 241">
              <a:extLst>
                <a:ext uri="{FF2B5EF4-FFF2-40B4-BE49-F238E27FC236}">
                  <a16:creationId xmlns:a16="http://schemas.microsoft.com/office/drawing/2014/main" id="{A5A7AD7F-AC69-47E3-A918-1F44F4C88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7" y="3723"/>
              <a:ext cx="27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242">
              <a:extLst>
                <a:ext uri="{FF2B5EF4-FFF2-40B4-BE49-F238E27FC236}">
                  <a16:creationId xmlns:a16="http://schemas.microsoft.com/office/drawing/2014/main" id="{0851E9DF-ED18-4835-B50A-E930BBA5E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09" y="3568"/>
              <a:ext cx="366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Freeform 243">
              <a:extLst>
                <a:ext uri="{FF2B5EF4-FFF2-40B4-BE49-F238E27FC236}">
                  <a16:creationId xmlns:a16="http://schemas.microsoft.com/office/drawing/2014/main" id="{D5617FDF-BEDA-40C4-BC7D-013340500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3" y="3833"/>
              <a:ext cx="147" cy="151"/>
            </a:xfrm>
            <a:custGeom>
              <a:avLst/>
              <a:gdLst>
                <a:gd name="T0" fmla="*/ 147 w 147"/>
                <a:gd name="T1" fmla="*/ 151 h 151"/>
                <a:gd name="T2" fmla="*/ 0 w 147"/>
                <a:gd name="T3" fmla="*/ 0 h 151"/>
                <a:gd name="T4" fmla="*/ 0 60000 65536"/>
                <a:gd name="T5" fmla="*/ 0 60000 65536"/>
                <a:gd name="T6" fmla="*/ 0 w 147"/>
                <a:gd name="T7" fmla="*/ 0 h 151"/>
                <a:gd name="T8" fmla="*/ 147 w 147"/>
                <a:gd name="T9" fmla="*/ 151 h 1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7" h="151">
                  <a:moveTo>
                    <a:pt x="147" y="151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244">
              <a:extLst>
                <a:ext uri="{FF2B5EF4-FFF2-40B4-BE49-F238E27FC236}">
                  <a16:creationId xmlns:a16="http://schemas.microsoft.com/office/drawing/2014/main" id="{ED7F20E3-1F36-4A45-8C9A-710ED2FCE3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21" y="3491"/>
              <a:ext cx="262" cy="2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245">
              <a:extLst>
                <a:ext uri="{FF2B5EF4-FFF2-40B4-BE49-F238E27FC236}">
                  <a16:creationId xmlns:a16="http://schemas.microsoft.com/office/drawing/2014/main" id="{6B7D7D42-CCDD-4F06-ACE4-A20899DD2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7" y="3865"/>
              <a:ext cx="99" cy="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246">
              <a:extLst>
                <a:ext uri="{FF2B5EF4-FFF2-40B4-BE49-F238E27FC236}">
                  <a16:creationId xmlns:a16="http://schemas.microsoft.com/office/drawing/2014/main" id="{2CF0D346-2D0A-43CD-81CB-1A48B9E46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13" y="3491"/>
              <a:ext cx="170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247">
              <a:extLst>
                <a:ext uri="{FF2B5EF4-FFF2-40B4-BE49-F238E27FC236}">
                  <a16:creationId xmlns:a16="http://schemas.microsoft.com/office/drawing/2014/main" id="{CE78BB8A-BA08-4313-B236-A613DBDAD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4" y="3832"/>
              <a:ext cx="128" cy="1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248">
              <a:extLst>
                <a:ext uri="{FF2B5EF4-FFF2-40B4-BE49-F238E27FC236}">
                  <a16:creationId xmlns:a16="http://schemas.microsoft.com/office/drawing/2014/main" id="{353BC837-88A8-4343-8573-2D8BAB7B3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3" y="3491"/>
              <a:ext cx="80" cy="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249">
              <a:extLst>
                <a:ext uri="{FF2B5EF4-FFF2-40B4-BE49-F238E27FC236}">
                  <a16:creationId xmlns:a16="http://schemas.microsoft.com/office/drawing/2014/main" id="{54BAC656-544E-4977-860A-215AC4A5C3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02" y="3798"/>
              <a:ext cx="132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250">
              <a:extLst>
                <a:ext uri="{FF2B5EF4-FFF2-40B4-BE49-F238E27FC236}">
                  <a16:creationId xmlns:a16="http://schemas.microsoft.com/office/drawing/2014/main" id="{29F1A00A-A8B6-408C-934B-8A07F9AA78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2" y="3726"/>
              <a:ext cx="158" cy="1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251">
              <a:extLst>
                <a:ext uri="{FF2B5EF4-FFF2-40B4-BE49-F238E27FC236}">
                  <a16:creationId xmlns:a16="http://schemas.microsoft.com/office/drawing/2014/main" id="{E1BBEE41-7220-43F0-9088-3A5F8A9B7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2" y="3636"/>
              <a:ext cx="194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252">
              <a:extLst>
                <a:ext uri="{FF2B5EF4-FFF2-40B4-BE49-F238E27FC236}">
                  <a16:creationId xmlns:a16="http://schemas.microsoft.com/office/drawing/2014/main" id="{F6169D7C-63E8-4794-8D6C-67511C25C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2" y="3544"/>
              <a:ext cx="232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253">
              <a:extLst>
                <a:ext uri="{FF2B5EF4-FFF2-40B4-BE49-F238E27FC236}">
                  <a16:creationId xmlns:a16="http://schemas.microsoft.com/office/drawing/2014/main" id="{81236E18-C6B9-4DA9-AE63-5283C239D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9" y="3491"/>
              <a:ext cx="227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254">
              <a:extLst>
                <a:ext uri="{FF2B5EF4-FFF2-40B4-BE49-F238E27FC236}">
                  <a16:creationId xmlns:a16="http://schemas.microsoft.com/office/drawing/2014/main" id="{C301C506-A9B4-4BD4-BF2F-18A8F34E41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50" y="3491"/>
              <a:ext cx="166" cy="1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255">
              <a:extLst>
                <a:ext uri="{FF2B5EF4-FFF2-40B4-BE49-F238E27FC236}">
                  <a16:creationId xmlns:a16="http://schemas.microsoft.com/office/drawing/2014/main" id="{329D83BE-7C08-4E34-B69D-2DE362D7F9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2" y="3491"/>
              <a:ext cx="105" cy="1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256">
              <a:extLst>
                <a:ext uri="{FF2B5EF4-FFF2-40B4-BE49-F238E27FC236}">
                  <a16:creationId xmlns:a16="http://schemas.microsoft.com/office/drawing/2014/main" id="{ACF852BB-0527-4BF8-B9C5-C61C5F6880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32" y="3491"/>
              <a:ext cx="36" cy="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257">
              <a:extLst>
                <a:ext uri="{FF2B5EF4-FFF2-40B4-BE49-F238E27FC236}">
                  <a16:creationId xmlns:a16="http://schemas.microsoft.com/office/drawing/2014/main" id="{84731561-D0EC-4B40-A8B3-2AA5F0228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2" y="2982"/>
              <a:ext cx="141" cy="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258">
              <a:extLst>
                <a:ext uri="{FF2B5EF4-FFF2-40B4-BE49-F238E27FC236}">
                  <a16:creationId xmlns:a16="http://schemas.microsoft.com/office/drawing/2014/main" id="{50789449-E077-4722-8525-8104464658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2" y="2982"/>
              <a:ext cx="293" cy="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259">
              <a:extLst>
                <a:ext uri="{FF2B5EF4-FFF2-40B4-BE49-F238E27FC236}">
                  <a16:creationId xmlns:a16="http://schemas.microsoft.com/office/drawing/2014/main" id="{BD1E3680-C246-4140-86ED-3A3924AEA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2" y="3093"/>
              <a:ext cx="335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260">
              <a:extLst>
                <a:ext uri="{FF2B5EF4-FFF2-40B4-BE49-F238E27FC236}">
                  <a16:creationId xmlns:a16="http://schemas.microsoft.com/office/drawing/2014/main" id="{417C3BEE-8321-4E5E-91E7-8A1040EB5D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2" y="3245"/>
              <a:ext cx="245" cy="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261">
              <a:extLst>
                <a:ext uri="{FF2B5EF4-FFF2-40B4-BE49-F238E27FC236}">
                  <a16:creationId xmlns:a16="http://schemas.microsoft.com/office/drawing/2014/main" id="{28DB859D-4ED3-4B58-BF32-BD1AD6B54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4" y="3396"/>
              <a:ext cx="93" cy="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262">
              <a:extLst>
                <a:ext uri="{FF2B5EF4-FFF2-40B4-BE49-F238E27FC236}">
                  <a16:creationId xmlns:a16="http://schemas.microsoft.com/office/drawing/2014/main" id="{3249E191-DC42-4B49-86EA-6DD302BA1B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6" y="2982"/>
              <a:ext cx="57" cy="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63">
              <a:extLst>
                <a:ext uri="{FF2B5EF4-FFF2-40B4-BE49-F238E27FC236}">
                  <a16:creationId xmlns:a16="http://schemas.microsoft.com/office/drawing/2014/main" id="{3CFAFE33-A5E7-4195-BD48-4A3F6741E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6" y="2982"/>
              <a:ext cx="209" cy="2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264">
              <a:extLst>
                <a:ext uri="{FF2B5EF4-FFF2-40B4-BE49-F238E27FC236}">
                  <a16:creationId xmlns:a16="http://schemas.microsoft.com/office/drawing/2014/main" id="{4A214EC4-A256-4BFD-AF08-D4E23858B8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6" y="2982"/>
              <a:ext cx="360" cy="3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265">
              <a:extLst>
                <a:ext uri="{FF2B5EF4-FFF2-40B4-BE49-F238E27FC236}">
                  <a16:creationId xmlns:a16="http://schemas.microsoft.com/office/drawing/2014/main" id="{F7E5C1F7-B573-41FC-A560-C340246B87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1" y="3079"/>
              <a:ext cx="412" cy="4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266">
              <a:extLst>
                <a:ext uri="{FF2B5EF4-FFF2-40B4-BE49-F238E27FC236}">
                  <a16:creationId xmlns:a16="http://schemas.microsoft.com/office/drawing/2014/main" id="{0CDD48CF-F9BD-41D8-B3A4-C74BE3A91A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3" y="3198"/>
              <a:ext cx="292" cy="2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267">
              <a:extLst>
                <a:ext uri="{FF2B5EF4-FFF2-40B4-BE49-F238E27FC236}">
                  <a16:creationId xmlns:a16="http://schemas.microsoft.com/office/drawing/2014/main" id="{4A1A4E30-2E51-4BA4-9531-ED3217375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15" y="3337"/>
              <a:ext cx="153" cy="1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Rectangle 268">
              <a:extLst>
                <a:ext uri="{FF2B5EF4-FFF2-40B4-BE49-F238E27FC236}">
                  <a16:creationId xmlns:a16="http://schemas.microsoft.com/office/drawing/2014/main" id="{DDF76565-16E2-4DE0-AFB3-EF0713C72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2200"/>
              <a:ext cx="21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0">
                  <a:solidFill>
                    <a:srgbClr val="000000"/>
                  </a:solidFill>
                  <a:latin typeface="宋体" pitchFamily="2" charset="-122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宋体" pitchFamily="2" charset="-122"/>
                </a:rPr>
                <a:t>Ⅱ</a:t>
              </a:r>
              <a:endParaRPr lang="en-US" altLang="zh-CN" sz="3200"/>
            </a:p>
          </p:txBody>
        </p:sp>
        <p:sp>
          <p:nvSpPr>
            <p:cNvPr id="269" name="Line 269">
              <a:extLst>
                <a:ext uri="{FF2B5EF4-FFF2-40B4-BE49-F238E27FC236}">
                  <a16:creationId xmlns:a16="http://schemas.microsoft.com/office/drawing/2014/main" id="{FFCBEEA0-7672-4E8B-A2D7-FCCBCA127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931"/>
              <a:ext cx="414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Rectangle 270">
              <a:extLst>
                <a:ext uri="{FF2B5EF4-FFF2-40B4-BE49-F238E27FC236}">
                  <a16:creationId xmlns:a16="http://schemas.microsoft.com/office/drawing/2014/main" id="{7CAE5384-ACBD-40ED-90DC-C4CA4857E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" y="2399"/>
              <a:ext cx="25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latin typeface="ISOCPEUR" pitchFamily="34" charset="0"/>
                </a:rPr>
                <a:t>2.5:1</a:t>
              </a:r>
            </a:p>
          </p:txBody>
        </p:sp>
        <p:sp>
          <p:nvSpPr>
            <p:cNvPr id="271" name="Line 271">
              <a:extLst>
                <a:ext uri="{FF2B5EF4-FFF2-40B4-BE49-F238E27FC236}">
                  <a16:creationId xmlns:a16="http://schemas.microsoft.com/office/drawing/2014/main" id="{8CE00424-6851-4D54-BF3F-3C62E956F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" y="3448"/>
              <a:ext cx="50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272">
              <a:extLst>
                <a:ext uri="{FF2B5EF4-FFF2-40B4-BE49-F238E27FC236}">
                  <a16:creationId xmlns:a16="http://schemas.microsoft.com/office/drawing/2014/main" id="{F051FC9F-2328-4E8C-985E-2142CCC80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6" y="2414"/>
              <a:ext cx="373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73">
              <a:extLst>
                <a:ext uri="{FF2B5EF4-FFF2-40B4-BE49-F238E27FC236}">
                  <a16:creationId xmlns:a16="http://schemas.microsoft.com/office/drawing/2014/main" id="{9DAD13E6-7090-4156-8388-2C60AAD5ED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3" y="3787"/>
              <a:ext cx="169" cy="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74">
              <a:extLst>
                <a:ext uri="{FF2B5EF4-FFF2-40B4-BE49-F238E27FC236}">
                  <a16:creationId xmlns:a16="http://schemas.microsoft.com/office/drawing/2014/main" id="{0C9CF10E-97D5-40A1-AD5E-2737D278B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3" y="3787"/>
              <a:ext cx="33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275">
              <a:extLst>
                <a:ext uri="{FF2B5EF4-FFF2-40B4-BE49-F238E27FC236}">
                  <a16:creationId xmlns:a16="http://schemas.microsoft.com/office/drawing/2014/main" id="{8B3B0818-C4A9-4C8E-A362-98A2A2142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2" y="2982"/>
              <a:ext cx="1231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276">
              <a:extLst>
                <a:ext uri="{FF2B5EF4-FFF2-40B4-BE49-F238E27FC236}">
                  <a16:creationId xmlns:a16="http://schemas.microsoft.com/office/drawing/2014/main" id="{4226333C-64C8-40CB-A146-161987228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2" y="3491"/>
              <a:ext cx="42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277">
              <a:extLst>
                <a:ext uri="{FF2B5EF4-FFF2-40B4-BE49-F238E27FC236}">
                  <a16:creationId xmlns:a16="http://schemas.microsoft.com/office/drawing/2014/main" id="{6D10E48B-7CE0-4ACE-98DC-BADAD684B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2" y="2988"/>
              <a:ext cx="1" cy="768"/>
            </a:xfrm>
            <a:custGeom>
              <a:avLst/>
              <a:gdLst>
                <a:gd name="T0" fmla="*/ 0 w 1"/>
                <a:gd name="T1" fmla="*/ 0 h 768"/>
                <a:gd name="T2" fmla="*/ 0 w 1"/>
                <a:gd name="T3" fmla="*/ 768 h 768"/>
                <a:gd name="T4" fmla="*/ 0 60000 65536"/>
                <a:gd name="T5" fmla="*/ 0 60000 65536"/>
                <a:gd name="T6" fmla="*/ 0 w 1"/>
                <a:gd name="T7" fmla="*/ 0 h 768"/>
                <a:gd name="T8" fmla="*/ 1 w 1"/>
                <a:gd name="T9" fmla="*/ 768 h 7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68">
                  <a:moveTo>
                    <a:pt x="0" y="0"/>
                  </a:moveTo>
                  <a:lnTo>
                    <a:pt x="0" y="768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278">
              <a:extLst>
                <a:ext uri="{FF2B5EF4-FFF2-40B4-BE49-F238E27FC236}">
                  <a16:creationId xmlns:a16="http://schemas.microsoft.com/office/drawing/2014/main" id="{E7253DC2-2AF0-44D4-B983-CA8A56C33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2" y="3276"/>
              <a:ext cx="13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Freeform 279">
              <a:extLst>
                <a:ext uri="{FF2B5EF4-FFF2-40B4-BE49-F238E27FC236}">
                  <a16:creationId xmlns:a16="http://schemas.microsoft.com/office/drawing/2014/main" id="{FAA8712C-0BE6-4560-B4BB-D329984F4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" y="3498"/>
              <a:ext cx="1" cy="294"/>
            </a:xfrm>
            <a:custGeom>
              <a:avLst/>
              <a:gdLst>
                <a:gd name="T0" fmla="*/ 0 w 1"/>
                <a:gd name="T1" fmla="*/ 0 h 294"/>
                <a:gd name="T2" fmla="*/ 0 w 1"/>
                <a:gd name="T3" fmla="*/ 294 h 294"/>
                <a:gd name="T4" fmla="*/ 0 60000 65536"/>
                <a:gd name="T5" fmla="*/ 0 60000 65536"/>
                <a:gd name="T6" fmla="*/ 0 w 1"/>
                <a:gd name="T7" fmla="*/ 0 h 294"/>
                <a:gd name="T8" fmla="*/ 1 w 1"/>
                <a:gd name="T9" fmla="*/ 294 h 2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94">
                  <a:moveTo>
                    <a:pt x="0" y="0"/>
                  </a:moveTo>
                  <a:lnTo>
                    <a:pt x="0" y="294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280">
              <a:extLst>
                <a:ext uri="{FF2B5EF4-FFF2-40B4-BE49-F238E27FC236}">
                  <a16:creationId xmlns:a16="http://schemas.microsoft.com/office/drawing/2014/main" id="{B7E665FF-66C3-43A0-B8FE-4810B480C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3" y="3787"/>
              <a:ext cx="170" cy="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Freeform 281">
              <a:extLst>
                <a:ext uri="{FF2B5EF4-FFF2-40B4-BE49-F238E27FC236}">
                  <a16:creationId xmlns:a16="http://schemas.microsoft.com/office/drawing/2014/main" id="{D5A63EED-5BC7-461E-878B-6B78F0042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" y="3689"/>
              <a:ext cx="34" cy="34"/>
            </a:xfrm>
            <a:custGeom>
              <a:avLst/>
              <a:gdLst>
                <a:gd name="T0" fmla="*/ 0 w 82"/>
                <a:gd name="T1" fmla="*/ 0 h 80"/>
                <a:gd name="T2" fmla="*/ 0 w 82"/>
                <a:gd name="T3" fmla="*/ 0 h 80"/>
                <a:gd name="T4" fmla="*/ 0 w 82"/>
                <a:gd name="T5" fmla="*/ 0 h 80"/>
                <a:gd name="T6" fmla="*/ 0 60000 65536"/>
                <a:gd name="T7" fmla="*/ 0 60000 65536"/>
                <a:gd name="T8" fmla="*/ 0 60000 65536"/>
                <a:gd name="T9" fmla="*/ 0 w 82"/>
                <a:gd name="T10" fmla="*/ 0 h 80"/>
                <a:gd name="T11" fmla="*/ 82 w 82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" h="80">
                  <a:moveTo>
                    <a:pt x="0" y="0"/>
                  </a:moveTo>
                  <a:lnTo>
                    <a:pt x="24" y="57"/>
                  </a:lnTo>
                  <a:lnTo>
                    <a:pt x="82" y="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282">
              <a:extLst>
                <a:ext uri="{FF2B5EF4-FFF2-40B4-BE49-F238E27FC236}">
                  <a16:creationId xmlns:a16="http://schemas.microsoft.com/office/drawing/2014/main" id="{019DAADA-38F7-49C7-9A99-3DB72B97A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" y="2938"/>
              <a:ext cx="1" cy="5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283">
              <a:extLst>
                <a:ext uri="{FF2B5EF4-FFF2-40B4-BE49-F238E27FC236}">
                  <a16:creationId xmlns:a16="http://schemas.microsoft.com/office/drawing/2014/main" id="{BE315CA9-7193-4AD0-BB58-30844A2E3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" y="2982"/>
              <a:ext cx="1" cy="4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284">
              <a:extLst>
                <a:ext uri="{FF2B5EF4-FFF2-40B4-BE49-F238E27FC236}">
                  <a16:creationId xmlns:a16="http://schemas.microsoft.com/office/drawing/2014/main" id="{7007050D-EE12-463A-A373-08AA26503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" y="3448"/>
              <a:ext cx="34" cy="34"/>
            </a:xfrm>
            <a:custGeom>
              <a:avLst/>
              <a:gdLst>
                <a:gd name="T0" fmla="*/ 0 w 80"/>
                <a:gd name="T1" fmla="*/ 0 h 80"/>
                <a:gd name="T2" fmla="*/ 0 w 80"/>
                <a:gd name="T3" fmla="*/ 0 h 80"/>
                <a:gd name="T4" fmla="*/ 0 w 80"/>
                <a:gd name="T5" fmla="*/ 0 h 80"/>
                <a:gd name="T6" fmla="*/ 0 60000 65536"/>
                <a:gd name="T7" fmla="*/ 0 60000 65536"/>
                <a:gd name="T8" fmla="*/ 0 60000 65536"/>
                <a:gd name="T9" fmla="*/ 0 w 80"/>
                <a:gd name="T10" fmla="*/ 0 h 80"/>
                <a:gd name="T11" fmla="*/ 80 w 80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80">
                  <a:moveTo>
                    <a:pt x="80" y="80"/>
                  </a:moveTo>
                  <a:lnTo>
                    <a:pt x="57" y="24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285">
              <a:extLst>
                <a:ext uri="{FF2B5EF4-FFF2-40B4-BE49-F238E27FC236}">
                  <a16:creationId xmlns:a16="http://schemas.microsoft.com/office/drawing/2014/main" id="{9DD44280-FB4B-42DC-9402-D1FF02628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" y="3448"/>
              <a:ext cx="1" cy="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286">
              <a:extLst>
                <a:ext uri="{FF2B5EF4-FFF2-40B4-BE49-F238E27FC236}">
                  <a16:creationId xmlns:a16="http://schemas.microsoft.com/office/drawing/2014/main" id="{B6DBB9E6-9640-4D2D-A9C8-B6FAF94BE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" y="3448"/>
              <a:ext cx="1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287">
              <a:extLst>
                <a:ext uri="{FF2B5EF4-FFF2-40B4-BE49-F238E27FC236}">
                  <a16:creationId xmlns:a16="http://schemas.microsoft.com/office/drawing/2014/main" id="{7E8C9E98-426F-46A9-AAA6-4B509C6FB2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9" y="2933"/>
              <a:ext cx="49" cy="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88">
              <a:extLst>
                <a:ext uri="{FF2B5EF4-FFF2-40B4-BE49-F238E27FC236}">
                  <a16:creationId xmlns:a16="http://schemas.microsoft.com/office/drawing/2014/main" id="{1BC4EF3B-EC49-4971-A717-7E41DC3EC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3491"/>
              <a:ext cx="53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89">
              <a:extLst>
                <a:ext uri="{FF2B5EF4-FFF2-40B4-BE49-F238E27FC236}">
                  <a16:creationId xmlns:a16="http://schemas.microsoft.com/office/drawing/2014/main" id="{C2D29019-2270-4C7E-8EDA-A30C6A4C8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3482"/>
              <a:ext cx="1" cy="3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Freeform 290">
              <a:extLst>
                <a:ext uri="{FF2B5EF4-FFF2-40B4-BE49-F238E27FC236}">
                  <a16:creationId xmlns:a16="http://schemas.microsoft.com/office/drawing/2014/main" id="{775302CE-4C73-40DD-B003-448158A00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689"/>
              <a:ext cx="34" cy="34"/>
            </a:xfrm>
            <a:custGeom>
              <a:avLst/>
              <a:gdLst>
                <a:gd name="T0" fmla="*/ 0 w 82"/>
                <a:gd name="T1" fmla="*/ 0 h 80"/>
                <a:gd name="T2" fmla="*/ 0 w 82"/>
                <a:gd name="T3" fmla="*/ 0 h 80"/>
                <a:gd name="T4" fmla="*/ 0 w 82"/>
                <a:gd name="T5" fmla="*/ 0 h 80"/>
                <a:gd name="T6" fmla="*/ 0 60000 65536"/>
                <a:gd name="T7" fmla="*/ 0 60000 65536"/>
                <a:gd name="T8" fmla="*/ 0 60000 65536"/>
                <a:gd name="T9" fmla="*/ 0 w 82"/>
                <a:gd name="T10" fmla="*/ 0 h 80"/>
                <a:gd name="T11" fmla="*/ 82 w 82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" h="80">
                  <a:moveTo>
                    <a:pt x="0" y="80"/>
                  </a:moveTo>
                  <a:lnTo>
                    <a:pt x="58" y="57"/>
                  </a:lnTo>
                  <a:lnTo>
                    <a:pt x="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291">
              <a:extLst>
                <a:ext uri="{FF2B5EF4-FFF2-40B4-BE49-F238E27FC236}">
                  <a16:creationId xmlns:a16="http://schemas.microsoft.com/office/drawing/2014/main" id="{3DE028CA-9763-4381-B021-3A4C4C4A9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4" y="2938"/>
              <a:ext cx="1" cy="5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292">
              <a:extLst>
                <a:ext uri="{FF2B5EF4-FFF2-40B4-BE49-F238E27FC236}">
                  <a16:creationId xmlns:a16="http://schemas.microsoft.com/office/drawing/2014/main" id="{94B07BF6-5F42-4F1F-A663-561966027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6" y="2982"/>
              <a:ext cx="1" cy="4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Freeform 293">
              <a:extLst>
                <a:ext uri="{FF2B5EF4-FFF2-40B4-BE49-F238E27FC236}">
                  <a16:creationId xmlns:a16="http://schemas.microsoft.com/office/drawing/2014/main" id="{C7CFD669-8E2C-4A06-9FB6-74D05F955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3448"/>
              <a:ext cx="34" cy="34"/>
            </a:xfrm>
            <a:custGeom>
              <a:avLst/>
              <a:gdLst>
                <a:gd name="T0" fmla="*/ 0 w 80"/>
                <a:gd name="T1" fmla="*/ 0 h 80"/>
                <a:gd name="T2" fmla="*/ 0 w 80"/>
                <a:gd name="T3" fmla="*/ 0 h 80"/>
                <a:gd name="T4" fmla="*/ 0 w 80"/>
                <a:gd name="T5" fmla="*/ 0 h 80"/>
                <a:gd name="T6" fmla="*/ 0 60000 65536"/>
                <a:gd name="T7" fmla="*/ 0 60000 65536"/>
                <a:gd name="T8" fmla="*/ 0 60000 65536"/>
                <a:gd name="T9" fmla="*/ 0 w 80"/>
                <a:gd name="T10" fmla="*/ 0 h 80"/>
                <a:gd name="T11" fmla="*/ 80 w 80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80">
                  <a:moveTo>
                    <a:pt x="80" y="0"/>
                  </a:moveTo>
                  <a:lnTo>
                    <a:pt x="23" y="23"/>
                  </a:lnTo>
                  <a:lnTo>
                    <a:pt x="0" y="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294">
              <a:extLst>
                <a:ext uri="{FF2B5EF4-FFF2-40B4-BE49-F238E27FC236}">
                  <a16:creationId xmlns:a16="http://schemas.microsoft.com/office/drawing/2014/main" id="{DDCC217A-B90E-4B2F-9861-3338D8D922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6" y="3448"/>
              <a:ext cx="1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295">
              <a:extLst>
                <a:ext uri="{FF2B5EF4-FFF2-40B4-BE49-F238E27FC236}">
                  <a16:creationId xmlns:a16="http://schemas.microsoft.com/office/drawing/2014/main" id="{4F5F0380-3119-4A12-AA3D-3BBDC8C7E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4" y="3448"/>
              <a:ext cx="1" cy="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296">
              <a:extLst>
                <a:ext uri="{FF2B5EF4-FFF2-40B4-BE49-F238E27FC236}">
                  <a16:creationId xmlns:a16="http://schemas.microsoft.com/office/drawing/2014/main" id="{25D7BAC3-B653-4189-A41D-7B2F17777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" y="2933"/>
              <a:ext cx="49" cy="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Freeform 297">
              <a:extLst>
                <a:ext uri="{FF2B5EF4-FFF2-40B4-BE49-F238E27FC236}">
                  <a16:creationId xmlns:a16="http://schemas.microsoft.com/office/drawing/2014/main" id="{DEB84833-3C60-43B4-AC96-430771A9A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3486"/>
              <a:ext cx="1008" cy="492"/>
            </a:xfrm>
            <a:custGeom>
              <a:avLst/>
              <a:gdLst>
                <a:gd name="T0" fmla="*/ 0 w 1008"/>
                <a:gd name="T1" fmla="*/ 0 h 492"/>
                <a:gd name="T2" fmla="*/ 30 w 1008"/>
                <a:gd name="T3" fmla="*/ 150 h 492"/>
                <a:gd name="T4" fmla="*/ 150 w 1008"/>
                <a:gd name="T5" fmla="*/ 300 h 492"/>
                <a:gd name="T6" fmla="*/ 270 w 1008"/>
                <a:gd name="T7" fmla="*/ 408 h 492"/>
                <a:gd name="T8" fmla="*/ 486 w 1008"/>
                <a:gd name="T9" fmla="*/ 492 h 492"/>
                <a:gd name="T10" fmla="*/ 636 w 1008"/>
                <a:gd name="T11" fmla="*/ 486 h 492"/>
                <a:gd name="T12" fmla="*/ 786 w 1008"/>
                <a:gd name="T13" fmla="*/ 426 h 492"/>
                <a:gd name="T14" fmla="*/ 852 w 1008"/>
                <a:gd name="T15" fmla="*/ 318 h 492"/>
                <a:gd name="T16" fmla="*/ 936 w 1008"/>
                <a:gd name="T17" fmla="*/ 186 h 492"/>
                <a:gd name="T18" fmla="*/ 1008 w 1008"/>
                <a:gd name="T19" fmla="*/ 6 h 4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08"/>
                <a:gd name="T31" fmla="*/ 0 h 492"/>
                <a:gd name="T32" fmla="*/ 1008 w 1008"/>
                <a:gd name="T33" fmla="*/ 492 h 4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08" h="492">
                  <a:moveTo>
                    <a:pt x="0" y="0"/>
                  </a:moveTo>
                  <a:lnTo>
                    <a:pt x="30" y="150"/>
                  </a:lnTo>
                  <a:lnTo>
                    <a:pt x="150" y="300"/>
                  </a:lnTo>
                  <a:lnTo>
                    <a:pt x="270" y="408"/>
                  </a:lnTo>
                  <a:lnTo>
                    <a:pt x="486" y="492"/>
                  </a:lnTo>
                  <a:lnTo>
                    <a:pt x="636" y="486"/>
                  </a:lnTo>
                  <a:lnTo>
                    <a:pt x="786" y="426"/>
                  </a:lnTo>
                  <a:lnTo>
                    <a:pt x="852" y="318"/>
                  </a:lnTo>
                  <a:lnTo>
                    <a:pt x="936" y="186"/>
                  </a:lnTo>
                  <a:lnTo>
                    <a:pt x="1008" y="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" name="Rectangle 298">
              <a:extLst>
                <a:ext uri="{FF2B5EF4-FFF2-40B4-BE49-F238E27FC236}">
                  <a16:creationId xmlns:a16="http://schemas.microsoft.com/office/drawing/2014/main" id="{EF5876E2-384D-45C1-A120-4CD0B798E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934"/>
              <a:ext cx="102" cy="15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" name="Freeform 299">
              <a:extLst>
                <a:ext uri="{FF2B5EF4-FFF2-40B4-BE49-F238E27FC236}">
                  <a16:creationId xmlns:a16="http://schemas.microsoft.com/office/drawing/2014/main" id="{20703D3F-85FC-4DB9-A3F4-9A13187D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856"/>
              <a:ext cx="1" cy="1080"/>
            </a:xfrm>
            <a:custGeom>
              <a:avLst/>
              <a:gdLst>
                <a:gd name="T0" fmla="*/ 0 w 1"/>
                <a:gd name="T1" fmla="*/ 0 h 1080"/>
                <a:gd name="T2" fmla="*/ 0 w 1"/>
                <a:gd name="T3" fmla="*/ 1080 h 1080"/>
                <a:gd name="T4" fmla="*/ 0 60000 65536"/>
                <a:gd name="T5" fmla="*/ 0 60000 65536"/>
                <a:gd name="T6" fmla="*/ 0 w 1"/>
                <a:gd name="T7" fmla="*/ 0 h 1080"/>
                <a:gd name="T8" fmla="*/ 1 w 1"/>
                <a:gd name="T9" fmla="*/ 1080 h 10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80">
                  <a:moveTo>
                    <a:pt x="0" y="0"/>
                  </a:moveTo>
                  <a:lnTo>
                    <a:pt x="0" y="108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0" name="Oval 300">
              <a:extLst>
                <a:ext uri="{FF2B5EF4-FFF2-40B4-BE49-F238E27FC236}">
                  <a16:creationId xmlns:a16="http://schemas.microsoft.com/office/drawing/2014/main" id="{0A9D24E6-51F6-4662-AE3D-0D31364DF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628"/>
              <a:ext cx="1452" cy="1410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1" name="Text Box 301">
            <a:extLst>
              <a:ext uri="{FF2B5EF4-FFF2-40B4-BE49-F238E27FC236}">
                <a16:creationId xmlns:a16="http://schemas.microsoft.com/office/drawing/2014/main" id="{8E3EDD98-DDB1-4441-901F-862CE916A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697" y="4041937"/>
            <a:ext cx="4994600" cy="103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 dirty="0"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柱端紧定螺钉</a:t>
            </a:r>
            <a:r>
              <a:rPr lang="zh-CN" altLang="en-US" sz="2400" dirty="0">
                <a:latin typeface="宋体" pitchFamily="2" charset="-122"/>
              </a:rPr>
              <a:t>利用端部小圆柱插入机件上的小孔或环槽起定位、固定作用。</a:t>
            </a:r>
          </a:p>
        </p:txBody>
      </p:sp>
      <p:sp>
        <p:nvSpPr>
          <p:cNvPr id="302" name="Text Box 302">
            <a:extLst>
              <a:ext uri="{FF2B5EF4-FFF2-40B4-BE49-F238E27FC236}">
                <a16:creationId xmlns:a16="http://schemas.microsoft.com/office/drawing/2014/main" id="{84C202C1-9DD8-4A01-B5FA-96DE6BDE2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949" y="2404770"/>
            <a:ext cx="4842568" cy="40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sz="2400" dirty="0">
                <a:latin typeface="宋体" pitchFamily="2" charset="-122"/>
              </a:rPr>
              <a:t>紧定螺钉分</a:t>
            </a:r>
            <a:r>
              <a:rPr lang="zh-CN" altLang="en-US" sz="2400" dirty="0">
                <a:solidFill>
                  <a:srgbClr val="CC6600"/>
                </a:solidFill>
                <a:latin typeface="宋体" pitchFamily="2" charset="-122"/>
              </a:rPr>
              <a:t>锥端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zh-CN" altLang="en-US" sz="2400" dirty="0">
                <a:solidFill>
                  <a:srgbClr val="CC6600"/>
                </a:solidFill>
                <a:latin typeface="宋体" pitchFamily="2" charset="-122"/>
              </a:rPr>
              <a:t>柱端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zh-CN" altLang="en-US" sz="2400" dirty="0">
                <a:solidFill>
                  <a:srgbClr val="CC6600"/>
                </a:solidFill>
                <a:latin typeface="宋体" pitchFamily="2" charset="-122"/>
              </a:rPr>
              <a:t>平端</a:t>
            </a:r>
            <a:r>
              <a:rPr lang="zh-CN" altLang="en-US" sz="2400" dirty="0">
                <a:latin typeface="宋体" pitchFamily="2" charset="-122"/>
              </a:rPr>
              <a:t>三种。</a:t>
            </a:r>
          </a:p>
        </p:txBody>
      </p:sp>
      <p:sp>
        <p:nvSpPr>
          <p:cNvPr id="303" name="Text Box 303">
            <a:extLst>
              <a:ext uri="{FF2B5EF4-FFF2-40B4-BE49-F238E27FC236}">
                <a16:creationId xmlns:a16="http://schemas.microsoft.com/office/drawing/2014/main" id="{73751E36-59BD-47AE-A526-5DE9E355E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334" y="3069063"/>
            <a:ext cx="4927942" cy="72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 dirty="0"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锥端紧定螺钉</a:t>
            </a:r>
            <a:r>
              <a:rPr lang="zh-CN" altLang="en-US" sz="2400" dirty="0">
                <a:latin typeface="宋体" pitchFamily="2" charset="-122"/>
              </a:rPr>
              <a:t>靠端部锥面顶入机件上的小锥坑起定位、固定作用。</a:t>
            </a:r>
          </a:p>
        </p:txBody>
      </p:sp>
      <p:sp>
        <p:nvSpPr>
          <p:cNvPr id="304" name="Text Box 304">
            <a:extLst>
              <a:ext uri="{FF2B5EF4-FFF2-40B4-BE49-F238E27FC236}">
                <a16:creationId xmlns:a16="http://schemas.microsoft.com/office/drawing/2014/main" id="{3597C617-5C43-4F6C-92A8-74235C6CB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275" y="5327704"/>
            <a:ext cx="4915937" cy="72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 dirty="0"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平端紧定螺钉</a:t>
            </a:r>
            <a:r>
              <a:rPr lang="zh-CN" altLang="en-US" sz="2400" dirty="0">
                <a:latin typeface="宋体" pitchFamily="2" charset="-122"/>
              </a:rPr>
              <a:t>靠其端平面与击机件的摩擦力起定位作用。</a:t>
            </a:r>
          </a:p>
        </p:txBody>
      </p:sp>
      <p:sp>
        <p:nvSpPr>
          <p:cNvPr id="305" name="Text Box 31">
            <a:extLst>
              <a:ext uri="{FF2B5EF4-FFF2-40B4-BE49-F238E27FC236}">
                <a16:creationId xmlns:a16="http://schemas.microsoft.com/office/drawing/2014/main" id="{1A9FAF4F-2355-46C6-AD93-47FD924B3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700" y="260648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306" name="Text Box 3">
            <a:extLst>
              <a:ext uri="{FF2B5EF4-FFF2-40B4-BE49-F238E27FC236}">
                <a16:creationId xmlns:a16="http://schemas.microsoft.com/office/drawing/2014/main" id="{F6DE6531-AC4E-4B4F-BCD9-3B98359ED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191" y="101875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</p:spTree>
    <p:extLst>
      <p:ext uri="{BB962C8B-B14F-4D97-AF65-F5344CB8AC3E}">
        <p14:creationId xmlns:p14="http://schemas.microsoft.com/office/powerpoint/2010/main" val="90852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 autoUpdateAnimBg="0"/>
      <p:bldP spid="302" grpId="0" autoUpdateAnimBg="0"/>
      <p:bldP spid="303" grpId="0" autoUpdateAnimBg="0"/>
      <p:bldP spid="304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26316238-3C78-47FB-B594-45021C0DE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5416" y="576684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DBF815F-8042-42A1-BEE9-F2DE529C2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353" y="1815877"/>
            <a:ext cx="43011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 eaLnBrk="0" hangingPunct="0"/>
            <a:r>
              <a:rPr lang="en-US" altLang="zh-CN" sz="2400">
                <a:solidFill>
                  <a:srgbClr val="0070C0"/>
                </a:solidFill>
                <a:latin typeface="宋体" pitchFamily="2" charset="-122"/>
              </a:rPr>
              <a:t>1. </a:t>
            </a:r>
            <a:r>
              <a:rPr lang="zh-CN" altLang="en-US" sz="2400">
                <a:solidFill>
                  <a:srgbClr val="0070C0"/>
                </a:solidFill>
                <a:latin typeface="宋体" pitchFamily="2" charset="-122"/>
              </a:rPr>
              <a:t>键常用的联接形式与过程</a:t>
            </a:r>
            <a:endParaRPr lang="zh-CN" altLang="en-US" sz="2400">
              <a:solidFill>
                <a:srgbClr val="0070C0"/>
              </a:solidFill>
            </a:endParaRPr>
          </a:p>
        </p:txBody>
      </p:sp>
      <p:pic>
        <p:nvPicPr>
          <p:cNvPr id="5" name="Picture 2" descr="8-29">
            <a:extLst>
              <a:ext uri="{FF2B5EF4-FFF2-40B4-BE49-F238E27FC236}">
                <a16:creationId xmlns:a16="http://schemas.microsoft.com/office/drawing/2014/main" id="{A165ABA0-0C0E-4A75-99B9-28513139D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942703" y="2400722"/>
            <a:ext cx="7789863" cy="232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8E29B3E-49D7-4516-A333-055BE9C66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507" y="5122916"/>
            <a:ext cx="91431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        键联的联接过程是先</a:t>
            </a:r>
            <a:r>
              <a:rPr lang="zh-CN" altLang="en-US" sz="2400" dirty="0">
                <a:solidFill>
                  <a:srgbClr val="FF0000"/>
                </a:solidFill>
              </a:rPr>
              <a:t>将键嵌入</a:t>
            </a:r>
            <a:r>
              <a:rPr lang="zh-CN" altLang="en-US" sz="2400" dirty="0">
                <a:solidFill>
                  <a:srgbClr val="0070C0"/>
                </a:solidFill>
              </a:rPr>
              <a:t>轴上的</a:t>
            </a:r>
            <a:r>
              <a:rPr lang="zh-CN" altLang="en-US" sz="2400" dirty="0">
                <a:solidFill>
                  <a:srgbClr val="FF0000"/>
                </a:solidFill>
              </a:rPr>
              <a:t>键槽</a:t>
            </a:r>
            <a:r>
              <a:rPr lang="zh-CN" altLang="en-US" sz="2400" dirty="0">
                <a:solidFill>
                  <a:srgbClr val="0070C0"/>
                </a:solidFill>
              </a:rPr>
              <a:t>内，再对准轮毂上的键槽，将</a:t>
            </a:r>
            <a:r>
              <a:rPr lang="zh-CN" altLang="en-US" sz="2400" dirty="0">
                <a:solidFill>
                  <a:srgbClr val="FF0000"/>
                </a:solidFill>
              </a:rPr>
              <a:t>轴和键同时插入孔和槽内</a:t>
            </a:r>
            <a:r>
              <a:rPr lang="zh-CN" altLang="en-US" sz="2400" dirty="0">
                <a:solidFill>
                  <a:srgbClr val="0070C0"/>
                </a:solidFill>
              </a:rPr>
              <a:t>，这样就可以使轴和轮一起转动。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3CC4675C-5423-4408-A33D-D669A722C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6672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C4592D24-932B-4B64-BFD7-74CBEC024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428" y="1219592"/>
            <a:ext cx="4512774" cy="53469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二、键联接装配画法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214B68E-227D-4A55-A9B0-A5EAAF1E7F53}"/>
              </a:ext>
            </a:extLst>
          </p:cNvPr>
          <p:cNvCxnSpPr/>
          <p:nvPr/>
        </p:nvCxnSpPr>
        <p:spPr>
          <a:xfrm rot="5400000">
            <a:off x="2511028" y="3907259"/>
            <a:ext cx="215900" cy="1588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E729991-FC0B-43F7-9BC3-D62D3CDB4BA0}"/>
              </a:ext>
            </a:extLst>
          </p:cNvPr>
          <p:cNvCxnSpPr/>
          <p:nvPr/>
        </p:nvCxnSpPr>
        <p:spPr>
          <a:xfrm flipV="1">
            <a:off x="2971403" y="3923134"/>
            <a:ext cx="498475" cy="301626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65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08E746D-227B-4E97-A55B-317876B13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793" y="1838325"/>
            <a:ext cx="43011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 eaLnBrk="0" hangingPunct="0"/>
            <a:r>
              <a:rPr lang="en-US" altLang="zh-CN" sz="2400" dirty="0">
                <a:solidFill>
                  <a:srgbClr val="0070C0"/>
                </a:solidFill>
                <a:latin typeface="宋体" pitchFamily="2" charset="-122"/>
              </a:rPr>
              <a:t>1. </a:t>
            </a:r>
            <a:r>
              <a:rPr lang="zh-CN" altLang="en-US" sz="2400" dirty="0">
                <a:solidFill>
                  <a:srgbClr val="0070C0"/>
                </a:solidFill>
                <a:latin typeface="宋体" pitchFamily="2" charset="-122"/>
              </a:rPr>
              <a:t>键常用的联接形式与过程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3" name="Picture 3" descr="8-28">
            <a:extLst>
              <a:ext uri="{FF2B5EF4-FFF2-40B4-BE49-F238E27FC236}">
                <a16:creationId xmlns:a16="http://schemas.microsoft.com/office/drawing/2014/main" id="{3D715364-571B-4DED-97DE-BD3E649B5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099556" y="2708920"/>
            <a:ext cx="7167562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292D495-A187-4C19-A805-82D524FC8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8306" y="5590232"/>
            <a:ext cx="67706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>
                <a:solidFill>
                  <a:srgbClr val="0070C0"/>
                </a:solidFill>
              </a:rPr>
              <a:t>普通平键、半圆键、勾头楔键的连接</a:t>
            </a: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D5E21DA0-A5DE-436A-BFF3-548280749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476672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C9CAF341-0DD1-4DE9-A8C8-CF32A0C48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428" y="1219592"/>
            <a:ext cx="4512774" cy="53469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二、键联接装配画法</a:t>
            </a:r>
          </a:p>
        </p:txBody>
      </p:sp>
    </p:spTree>
    <p:extLst>
      <p:ext uri="{BB962C8B-B14F-4D97-AF65-F5344CB8AC3E}">
        <p14:creationId xmlns:p14="http://schemas.microsoft.com/office/powerpoint/2010/main" val="267931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3CD97F4E-A4A9-44A7-A8A9-DB625FB3F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39020" t="21201" r="27662" b="10839"/>
          <a:stretch>
            <a:fillRect/>
          </a:stretch>
        </p:blipFill>
        <p:spPr bwMode="auto">
          <a:xfrm>
            <a:off x="1134184" y="2452577"/>
            <a:ext cx="2646218" cy="1935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 descr="8-29">
            <a:extLst>
              <a:ext uri="{FF2B5EF4-FFF2-40B4-BE49-F238E27FC236}">
                <a16:creationId xmlns:a16="http://schemas.microsoft.com/office/drawing/2014/main" id="{4C7BC423-F4A5-4BA5-90D0-10CE278E3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69146"/>
          <a:stretch>
            <a:fillRect/>
          </a:stretch>
        </p:blipFill>
        <p:spPr bwMode="auto">
          <a:xfrm>
            <a:off x="3193163" y="4152321"/>
            <a:ext cx="2136322" cy="2062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6">
            <a:extLst>
              <a:ext uri="{FF2B5EF4-FFF2-40B4-BE49-F238E27FC236}">
                <a16:creationId xmlns:a16="http://schemas.microsoft.com/office/drawing/2014/main" id="{6685F454-A2F8-4306-8592-D1AB61DF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038" y="2921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E70A88-C2DB-4B60-8F04-75B53BEA6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263" y="1628719"/>
            <a:ext cx="33778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 eaLnBrk="0" hangingPunct="0"/>
            <a:r>
              <a:rPr lang="en-US" altLang="zh-CN" sz="2400" dirty="0">
                <a:solidFill>
                  <a:srgbClr val="0070C0"/>
                </a:solidFill>
                <a:latin typeface="宋体" pitchFamily="2" charset="-122"/>
              </a:rPr>
              <a:t>2. </a:t>
            </a:r>
            <a:r>
              <a:rPr lang="zh-CN" altLang="en-US" sz="2400" dirty="0">
                <a:solidFill>
                  <a:srgbClr val="0070C0"/>
                </a:solidFill>
              </a:rPr>
              <a:t>键联接的装配画法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7F0C8A-D38C-4362-832F-D82198398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228" y="5051859"/>
            <a:ext cx="16221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普通平键装配画法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2B5EB5-CB6D-4FFF-BB8C-1586DF331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987" y="5050271"/>
            <a:ext cx="151152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半圆键的装配画法</a:t>
            </a: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44D8CAB7-4529-451C-BCF6-CFAC53E13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8725" y="31436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BE590DA9-B8EB-4729-AFB9-13E95093A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371" y="1099238"/>
            <a:ext cx="4512774" cy="53469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二、键联接装配画法</a:t>
            </a:r>
          </a:p>
        </p:txBody>
      </p:sp>
      <p:pic>
        <p:nvPicPr>
          <p:cNvPr id="11" name="图片 10" descr="半圆键.jpg">
            <a:extLst>
              <a:ext uri="{FF2B5EF4-FFF2-40B4-BE49-F238E27FC236}">
                <a16:creationId xmlns:a16="http://schemas.microsoft.com/office/drawing/2014/main" id="{5B6F9001-DB10-458F-8FD9-28E646CBA21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67607" y="4431599"/>
            <a:ext cx="2173692" cy="1934482"/>
          </a:xfrm>
          <a:prstGeom prst="rect">
            <a:avLst/>
          </a:prstGeom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4B7E09A4-8F17-4248-931A-F4F4A6392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35603" r="65158" b="25155"/>
          <a:stretch>
            <a:fillRect/>
          </a:stretch>
        </p:blipFill>
        <p:spPr bwMode="auto">
          <a:xfrm>
            <a:off x="1052747" y="2878570"/>
            <a:ext cx="2767239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A5CD8223-870E-4168-9710-287923E42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9794" t="2285" r="77374" b="89911"/>
          <a:stretch>
            <a:fillRect/>
          </a:stretch>
        </p:blipFill>
        <p:spPr bwMode="auto">
          <a:xfrm>
            <a:off x="1831529" y="2918032"/>
            <a:ext cx="10191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2466D29C-A0C3-4A28-B711-F8D29A6E4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t="14242" b="10449"/>
          <a:stretch>
            <a:fillRect/>
          </a:stretch>
        </p:blipFill>
        <p:spPr bwMode="auto">
          <a:xfrm>
            <a:off x="1056252" y="2464007"/>
            <a:ext cx="2705100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A8BF14A9-93F6-4A7A-B1DB-7C17CDDAB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16374" y="2197741"/>
            <a:ext cx="18954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B34EC583-23AA-4EF0-B87A-DA0EBAA8E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297731" y="2887147"/>
            <a:ext cx="9334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9">
            <a:extLst>
              <a:ext uri="{FF2B5EF4-FFF2-40B4-BE49-F238E27FC236}">
                <a16:creationId xmlns:a16="http://schemas.microsoft.com/office/drawing/2014/main" id="{0A8A4718-70E0-462F-8A62-3BF008196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65254" y="2203975"/>
            <a:ext cx="36195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10">
            <a:extLst>
              <a:ext uri="{FF2B5EF4-FFF2-40B4-BE49-F238E27FC236}">
                <a16:creationId xmlns:a16="http://schemas.microsoft.com/office/drawing/2014/main" id="{A87BF7AA-C4FD-41AF-A721-8603DBF21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694018" y="2173966"/>
            <a:ext cx="4601905" cy="2407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7424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53B9C8D3-00ED-4545-881A-6644B4CF4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712" y="30380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39A403D-33A5-4C16-BE66-E89C2083F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74" y="11708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DFA6A0-CC76-42B9-A297-F7384C425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74" y="117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81A3B-937D-4ADA-B73F-712F33F48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74" y="117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" name="Picture 3" descr="7">
            <a:extLst>
              <a:ext uri="{FF2B5EF4-FFF2-40B4-BE49-F238E27FC236}">
                <a16:creationId xmlns:a16="http://schemas.microsoft.com/office/drawing/2014/main" id="{DB4C75C8-0FFE-4A08-A4FB-6C71E2896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33636" y="2615153"/>
            <a:ext cx="8621999" cy="238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D08374E-2437-47D8-BCBF-E4940477A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924" y="1615612"/>
            <a:ext cx="8450504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当剖切平面通过销的轴线时，销按不剖处理；销与销孔的接触表面属于配合表面，应画一条线</a:t>
            </a:r>
          </a:p>
        </p:txBody>
      </p:sp>
      <p:grpSp>
        <p:nvGrpSpPr>
          <p:cNvPr id="9" name="组合 18">
            <a:extLst>
              <a:ext uri="{FF2B5EF4-FFF2-40B4-BE49-F238E27FC236}">
                <a16:creationId xmlns:a16="http://schemas.microsoft.com/office/drawing/2014/main" id="{67045C7B-6D65-4AF8-8263-C84E69278662}"/>
              </a:ext>
            </a:extLst>
          </p:cNvPr>
          <p:cNvGrpSpPr>
            <a:grpSpLocks/>
          </p:cNvGrpSpPr>
          <p:nvPr/>
        </p:nvGrpSpPr>
        <p:grpSpPr bwMode="auto">
          <a:xfrm>
            <a:off x="1595500" y="4586060"/>
            <a:ext cx="8520174" cy="1677223"/>
            <a:chOff x="952959" y="4375251"/>
            <a:chExt cx="7463927" cy="1677863"/>
          </a:xfrm>
        </p:grpSpPr>
        <p:sp>
          <p:nvSpPr>
            <p:cNvPr id="10" name="矩形 16">
              <a:extLst>
                <a:ext uri="{FF2B5EF4-FFF2-40B4-BE49-F238E27FC236}">
                  <a16:creationId xmlns:a16="http://schemas.microsoft.com/office/drawing/2014/main" id="{76DBFDC6-2D17-49CB-B715-63CC30497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959" y="5222117"/>
              <a:ext cx="7463927" cy="830997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dirty="0"/>
                <a:t>为了</a:t>
              </a:r>
              <a:r>
                <a:rPr lang="zh-CN" altLang="en-US" sz="2400" dirty="0">
                  <a:solidFill>
                    <a:srgbClr val="FF0000"/>
                  </a:solidFill>
                </a:rPr>
                <a:t>保证定位精度</a:t>
              </a:r>
              <a:r>
                <a:rPr lang="zh-CN" altLang="en-US" sz="2400" dirty="0"/>
                <a:t>，在两个被连接的零件上应同时加工出销孔，在进行销孔的尺寸标注时应注明</a:t>
              </a:r>
              <a:r>
                <a:rPr lang="zh-CN" altLang="en-US" sz="2400" dirty="0">
                  <a:solidFill>
                    <a:srgbClr val="FF0000"/>
                  </a:solidFill>
                </a:rPr>
                <a:t>“配作”</a:t>
              </a:r>
            </a:p>
          </p:txBody>
        </p:sp>
        <p:sp>
          <p:nvSpPr>
            <p:cNvPr id="11" name="右箭头 17">
              <a:extLst>
                <a:ext uri="{FF2B5EF4-FFF2-40B4-BE49-F238E27FC236}">
                  <a16:creationId xmlns:a16="http://schemas.microsoft.com/office/drawing/2014/main" id="{C3B6187E-458C-4C35-B9D8-55C53E7F78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855059" y="4684565"/>
              <a:ext cx="846865" cy="228237"/>
            </a:xfrm>
            <a:prstGeom prst="rightArrow">
              <a:avLst>
                <a:gd name="adj1" fmla="val 50000"/>
                <a:gd name="adj2" fmla="val 147259"/>
              </a:avLst>
            </a:prstGeom>
            <a:solidFill>
              <a:schemeClr val="accent1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400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3BFE5D33-4128-4AB2-8928-B51D8A63E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472" y="2701699"/>
            <a:ext cx="3459163" cy="1884362"/>
          </a:xfrm>
          <a:prstGeom prst="rect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Text Box 31">
            <a:extLst>
              <a:ext uri="{FF2B5EF4-FFF2-40B4-BE49-F238E27FC236}">
                <a16:creationId xmlns:a16="http://schemas.microsoft.com/office/drawing/2014/main" id="{7CC57480-3F73-4E74-BB72-4C23CB9BC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7912" y="203796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B300F53A-549D-48EE-A7BB-041C2C65D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950" y="933753"/>
            <a:ext cx="4512774" cy="53469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三、销的联接画法</a:t>
            </a:r>
          </a:p>
        </p:txBody>
      </p:sp>
    </p:spTree>
    <p:extLst>
      <p:ext uri="{BB962C8B-B14F-4D97-AF65-F5344CB8AC3E}">
        <p14:creationId xmlns:p14="http://schemas.microsoft.com/office/powerpoint/2010/main" val="158586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C87FC992-9D9D-4715-8F51-5588FB7A7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365" y="376076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D1D13AD-5622-4068-9525-1C1A11662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462" y="1027612"/>
            <a:ext cx="651120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四、圆柱齿轮啮合装配画法</a:t>
            </a:r>
          </a:p>
        </p:txBody>
      </p:sp>
      <p:sp>
        <p:nvSpPr>
          <p:cNvPr id="4" name="Text Box 31">
            <a:extLst>
              <a:ext uri="{FF2B5EF4-FFF2-40B4-BE49-F238E27FC236}">
                <a16:creationId xmlns:a16="http://schemas.microsoft.com/office/drawing/2014/main" id="{29D434A3-7907-41DB-955F-7B0340EFF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565" y="276064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9F322-EC9A-41D6-A9FA-4A6C260D8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1861" y="2281527"/>
            <a:ext cx="466725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B9908F-B53F-48FF-AABA-83596DF11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51949"/>
          <a:stretch>
            <a:fillRect/>
          </a:stretch>
        </p:blipFill>
        <p:spPr bwMode="auto">
          <a:xfrm>
            <a:off x="4964514" y="2281980"/>
            <a:ext cx="2146527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EE06BBBB-22C4-455A-83CE-5BB4CD8C0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r="67382"/>
          <a:stretch>
            <a:fillRect/>
          </a:stretch>
        </p:blipFill>
        <p:spPr bwMode="auto">
          <a:xfrm>
            <a:off x="2651072" y="2277354"/>
            <a:ext cx="1457098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9D805E6-4B51-46FF-90EB-2D7C94E5E392}"/>
              </a:ext>
            </a:extLst>
          </p:cNvPr>
          <p:cNvCxnSpPr/>
          <p:nvPr/>
        </p:nvCxnSpPr>
        <p:spPr>
          <a:xfrm rot="10800000">
            <a:off x="3789945" y="2424402"/>
            <a:ext cx="227076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FF54F82-DFC2-4F69-A44A-FDEA1F7FBFF0}"/>
              </a:ext>
            </a:extLst>
          </p:cNvPr>
          <p:cNvCxnSpPr/>
          <p:nvPr/>
        </p:nvCxnSpPr>
        <p:spPr>
          <a:xfrm>
            <a:off x="3936631" y="2532988"/>
            <a:ext cx="21107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0BE4654-D343-4441-A737-31BEE062A75A}"/>
              </a:ext>
            </a:extLst>
          </p:cNvPr>
          <p:cNvCxnSpPr/>
          <p:nvPr/>
        </p:nvCxnSpPr>
        <p:spPr>
          <a:xfrm rot="10800000">
            <a:off x="3873765" y="2849216"/>
            <a:ext cx="217932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C86D333-2C76-417A-B347-3E226E56D1D9}"/>
              </a:ext>
            </a:extLst>
          </p:cNvPr>
          <p:cNvCxnSpPr/>
          <p:nvPr/>
        </p:nvCxnSpPr>
        <p:spPr>
          <a:xfrm rot="10800000" flipV="1">
            <a:off x="3873765" y="2955896"/>
            <a:ext cx="2072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D930ACA-ED0F-4BE1-8770-184886B44DF3}"/>
              </a:ext>
            </a:extLst>
          </p:cNvPr>
          <p:cNvCxnSpPr/>
          <p:nvPr/>
        </p:nvCxnSpPr>
        <p:spPr>
          <a:xfrm>
            <a:off x="3878528" y="3046385"/>
            <a:ext cx="206502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8">
            <a:extLst>
              <a:ext uri="{FF2B5EF4-FFF2-40B4-BE49-F238E27FC236}">
                <a16:creationId xmlns:a16="http://schemas.microsoft.com/office/drawing/2014/main" id="{09BA8F0F-F593-4FBA-B6A4-30BF0C337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78398" y="4107152"/>
            <a:ext cx="13811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9">
            <a:extLst>
              <a:ext uri="{FF2B5EF4-FFF2-40B4-BE49-F238E27FC236}">
                <a16:creationId xmlns:a16="http://schemas.microsoft.com/office/drawing/2014/main" id="{2363B9E6-D5C1-4B07-9D00-513A51765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51085" y="4088102"/>
            <a:ext cx="12001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D8CBEB4-E490-4CA9-A37A-1F257580236E}"/>
              </a:ext>
            </a:extLst>
          </p:cNvPr>
          <p:cNvCxnSpPr/>
          <p:nvPr/>
        </p:nvCxnSpPr>
        <p:spPr>
          <a:xfrm rot="10800000">
            <a:off x="2958778" y="4170201"/>
            <a:ext cx="82867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6E3D792-5673-4872-8295-3A9E2DA5A264}"/>
              </a:ext>
            </a:extLst>
          </p:cNvPr>
          <p:cNvCxnSpPr/>
          <p:nvPr/>
        </p:nvCxnSpPr>
        <p:spPr>
          <a:xfrm rot="10800000">
            <a:off x="2953999" y="4322601"/>
            <a:ext cx="82867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1">
            <a:extLst>
              <a:ext uri="{FF2B5EF4-FFF2-40B4-BE49-F238E27FC236}">
                <a16:creationId xmlns:a16="http://schemas.microsoft.com/office/drawing/2014/main" id="{8B319F69-AF13-447E-B273-754B57854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692076" y="2284250"/>
            <a:ext cx="4419601" cy="3257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38DB9210-08EE-4533-A750-AEF4F5CD0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2837" y="1587307"/>
            <a:ext cx="29638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单个齿轮的分度圆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D9D5477-EDF7-434C-9874-526F629BA3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28827" y="2014376"/>
            <a:ext cx="812803" cy="762003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/>
            <a:tailEnd type="stealth" w="med" len="lg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D009F206-C7FF-4C4B-B674-AC34249C5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7637" y="1587307"/>
            <a:ext cx="48942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啮合时称为节圆，分度线称为节线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08067A-07FB-437D-B1E9-F38F12BE6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5925" y="5835440"/>
            <a:ext cx="813599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       在垂直于圆柱齿轮轴线的投影面的视图中，两齿轮的节圆相切，啮合区内的齿顶圆用粗实线绘制或省略不画。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80CACFA-1982-4B3A-85B7-79B0F44B03B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5898827" y="4719476"/>
            <a:ext cx="1676400" cy="787400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/>
            <a:tailEnd type="stealth" w="med" len="lg"/>
          </a:ln>
        </p:spPr>
      </p:cxnSp>
      <p:pic>
        <p:nvPicPr>
          <p:cNvPr id="23" name="Picture 12">
            <a:extLst>
              <a:ext uri="{FF2B5EF4-FFF2-40B4-BE49-F238E27FC236}">
                <a16:creationId xmlns:a16="http://schemas.microsoft.com/office/drawing/2014/main" id="{0360ACEE-08D0-4C64-843E-0AC32A63B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19665" y="2319482"/>
            <a:ext cx="2189162" cy="323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椭圆 23">
            <a:extLst>
              <a:ext uri="{FF2B5EF4-FFF2-40B4-BE49-F238E27FC236}">
                <a16:creationId xmlns:a16="http://schemas.microsoft.com/office/drawing/2014/main" id="{E7233A5B-FAE8-4A22-A442-6FE10A9DEC0B}"/>
              </a:ext>
            </a:extLst>
          </p:cNvPr>
          <p:cNvSpPr/>
          <p:nvPr/>
        </p:nvSpPr>
        <p:spPr bwMode="auto">
          <a:xfrm>
            <a:off x="7943527" y="3919376"/>
            <a:ext cx="1384300" cy="647700"/>
          </a:xfrm>
          <a:prstGeom prst="ellipse">
            <a:avLst/>
          </a:prstGeom>
          <a:noFill/>
          <a:ln w="34925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940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2D4F6A9E-3C3A-46E2-B19E-9BED1F2CE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565" y="1048284"/>
            <a:ext cx="3595856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chemeClr val="accent2"/>
                </a:solidFill>
                <a:latin typeface="宋体" pitchFamily="2" charset="-122"/>
              </a:rPr>
              <a:t>一、视图选择的要求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0C1DE3C-E7B4-4C3E-B6E3-747A4E439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516" y="1592796"/>
            <a:ext cx="8964996" cy="7571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⒈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完全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 部件的功用、工作原理、装配关系及安装关系等内容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宋体" pitchFamily="2" charset="-122"/>
              </a:rPr>
              <a:t>        </a:t>
            </a:r>
            <a:r>
              <a:rPr lang="zh-CN" altLang="en-US" sz="2400" dirty="0">
                <a:solidFill>
                  <a:srgbClr val="C00000"/>
                </a:solidFill>
                <a:latin typeface="宋体" pitchFamily="2" charset="-122"/>
              </a:rPr>
              <a:t>表达要完全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2EA99F1-E72B-4BE1-9BEF-FEAD5DF8F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515" y="3231096"/>
            <a:ext cx="3898824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⒊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清楚</a:t>
            </a:r>
            <a:r>
              <a:rPr lang="zh-CN" altLang="en-US" sz="2400" dirty="0">
                <a:latin typeface="宋体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读图时清楚易懂。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DADF149F-80F1-4689-B5C4-A2973196B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6640" y="3726396"/>
            <a:ext cx="4493538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accent2"/>
                </a:solidFill>
                <a:latin typeface="宋体" pitchFamily="2" charset="-122"/>
              </a:rPr>
              <a:t>二、视图选择的步骤和方法</a:t>
            </a:r>
            <a:endParaRPr lang="zh-CN" altLang="en-US" sz="2800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82A2C43F-5679-46E8-9FF9-51F24D86C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954" y="4344478"/>
            <a:ext cx="3355406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0070C0"/>
                </a:solidFill>
              </a:rPr>
              <a:t>用途、性能、工作原理 </a:t>
            </a:r>
            <a:endParaRPr lang="zh-CN" altLang="en-US" sz="2400" b="1" dirty="0">
              <a:solidFill>
                <a:srgbClr val="0070C0"/>
              </a:solidFill>
              <a:latin typeface="宋体" pitchFamily="2" charset="-122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159EA631-583F-48D2-88F2-7733F5236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752" y="5615030"/>
            <a:ext cx="142218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结构特征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DAD5B3E8-0875-470F-A13B-4F3F76DC8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764" y="4931603"/>
            <a:ext cx="1422184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</a:rPr>
              <a:t>传动路线</a:t>
            </a:r>
            <a:endParaRPr lang="zh-CN" altLang="en-US" sz="2400" b="1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B5F1702A-0394-4AD1-A050-AEC90581A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1464" y="5769803"/>
            <a:ext cx="2040943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  <a:latin typeface="宋体" pitchFamily="2" charset="-122"/>
              </a:rPr>
              <a:t>联接固定关系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99CDD92B-E1F2-4924-910F-1675D52D1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6064" y="6180966"/>
            <a:ext cx="2040943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  <a:latin typeface="宋体" pitchFamily="2" charset="-122"/>
              </a:rPr>
              <a:t>相对位置关系</a:t>
            </a: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A0115940-B996-4A94-97C1-1B9D9B0D0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514" y="2443696"/>
            <a:ext cx="8964995" cy="7571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⒉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正确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 视图、剖视、规定画法、及装配关系等的表示方法正确，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宋体" pitchFamily="2" charset="-122"/>
              </a:rPr>
              <a:t>        </a:t>
            </a:r>
            <a:r>
              <a:rPr lang="zh-CN" altLang="en-US" sz="2400" dirty="0">
                <a:solidFill>
                  <a:srgbClr val="C00000"/>
                </a:solidFill>
                <a:latin typeface="宋体" pitchFamily="2" charset="-122"/>
              </a:rPr>
              <a:t>符合国标规定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。 </a:t>
            </a:r>
          </a:p>
        </p:txBody>
      </p:sp>
      <p:sp>
        <p:nvSpPr>
          <p:cNvPr id="12" name="AutoShape 14">
            <a:extLst>
              <a:ext uri="{FF2B5EF4-FFF2-40B4-BE49-F238E27FC236}">
                <a16:creationId xmlns:a16="http://schemas.microsoft.com/office/drawing/2014/main" id="{6F7F42BA-9619-4951-9118-0E222B678975}"/>
              </a:ext>
            </a:extLst>
          </p:cNvPr>
          <p:cNvSpPr>
            <a:spLocks/>
          </p:cNvSpPr>
          <p:nvPr/>
        </p:nvSpPr>
        <p:spPr bwMode="auto">
          <a:xfrm>
            <a:off x="4124921" y="4497683"/>
            <a:ext cx="301384" cy="1425807"/>
          </a:xfrm>
          <a:prstGeom prst="leftBrace">
            <a:avLst>
              <a:gd name="adj1" fmla="val 64870"/>
              <a:gd name="adj2" fmla="val 52708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2400"/>
          </a:p>
        </p:txBody>
      </p:sp>
      <p:sp>
        <p:nvSpPr>
          <p:cNvPr id="13" name="AutoShape 15">
            <a:extLst>
              <a:ext uri="{FF2B5EF4-FFF2-40B4-BE49-F238E27FC236}">
                <a16:creationId xmlns:a16="http://schemas.microsoft.com/office/drawing/2014/main" id="{CB5FD38B-D7E5-418E-9EA4-7251226D8ABE}"/>
              </a:ext>
            </a:extLst>
          </p:cNvPr>
          <p:cNvSpPr>
            <a:spLocks/>
          </p:cNvSpPr>
          <p:nvPr/>
        </p:nvSpPr>
        <p:spPr bwMode="auto">
          <a:xfrm>
            <a:off x="5750948" y="5157211"/>
            <a:ext cx="327816" cy="1425807"/>
          </a:xfrm>
          <a:prstGeom prst="leftBrace">
            <a:avLst>
              <a:gd name="adj1" fmla="val 68293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2400"/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B7D701D9-5D1E-435D-B845-47533D716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415" y="392646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sz="2400"/>
          </a:p>
        </p:txBody>
      </p:sp>
      <p:sp>
        <p:nvSpPr>
          <p:cNvPr id="15" name="Text Box 31">
            <a:extLst>
              <a:ext uri="{FF2B5EF4-FFF2-40B4-BE49-F238E27FC236}">
                <a16:creationId xmlns:a16="http://schemas.microsoft.com/office/drawing/2014/main" id="{65366C57-4F5C-4E54-B722-302DC5460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032" y="292336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装配图视图的选择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9BEE9-A11D-4B6F-A3C4-F00E9A5F0360}"/>
              </a:ext>
            </a:extLst>
          </p:cNvPr>
          <p:cNvSpPr/>
          <p:nvPr/>
        </p:nvSpPr>
        <p:spPr>
          <a:xfrm>
            <a:off x="6085114" y="5376956"/>
            <a:ext cx="1587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装配关系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E3A122-570F-4BA0-B0C8-FBADF6BCCA2B}"/>
              </a:ext>
            </a:extLst>
          </p:cNvPr>
          <p:cNvSpPr/>
          <p:nvPr/>
        </p:nvSpPr>
        <p:spPr>
          <a:xfrm>
            <a:off x="2337705" y="4795089"/>
            <a:ext cx="1789935" cy="830997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1. </a:t>
            </a:r>
            <a:r>
              <a:rPr lang="zh-CN" altLang="en-US" sz="2400" b="1" dirty="0">
                <a:solidFill>
                  <a:schemeClr val="tx1"/>
                </a:solidFill>
              </a:rPr>
              <a:t>分析机器（或部件）</a:t>
            </a:r>
            <a:endParaRPr lang="zh-CN" altLang="en-US" sz="2400" b="1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A18F1CC-7BDA-4519-AA86-912239DDD570}"/>
              </a:ext>
            </a:extLst>
          </p:cNvPr>
          <p:cNvGrpSpPr/>
          <p:nvPr/>
        </p:nvGrpSpPr>
        <p:grpSpPr>
          <a:xfrm>
            <a:off x="7928598" y="4330210"/>
            <a:ext cx="1639759" cy="1124435"/>
            <a:chOff x="8094591" y="5096453"/>
            <a:chExt cx="1639759" cy="1124435"/>
          </a:xfrm>
        </p:grpSpPr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B6934428-F6F8-4110-BCB3-0CE7D2C27B77}"/>
                </a:ext>
              </a:extLst>
            </p:cNvPr>
            <p:cNvSpPr/>
            <p:nvPr/>
          </p:nvSpPr>
          <p:spPr bwMode="auto">
            <a:xfrm rot="20399679">
              <a:off x="8094591" y="5096453"/>
              <a:ext cx="1639759" cy="1124435"/>
            </a:xfrm>
            <a:prstGeom prst="rightArrow">
              <a:avLst>
                <a:gd name="adj1" fmla="val 50000"/>
                <a:gd name="adj2" fmla="val 97258"/>
              </a:avLst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7745101-0741-49BF-98F6-7109EA958EB7}"/>
                </a:ext>
              </a:extLst>
            </p:cNvPr>
            <p:cNvSpPr txBox="1"/>
            <p:nvPr/>
          </p:nvSpPr>
          <p:spPr>
            <a:xfrm>
              <a:off x="8391029" y="5302920"/>
              <a:ext cx="1025013" cy="646331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algn="ctr" fontAlgn="auto">
                <a:spcAft>
                  <a:spcPts val="0"/>
                </a:spcAft>
              </a:pPr>
              <a:r>
                <a:rPr lang="zh-CN" altLang="en-US" b="1" dirty="0">
                  <a:solidFill>
                    <a:schemeClr val="bg1"/>
                  </a:solidFill>
                  <a:latin typeface="黑体" pitchFamily="2" charset="-122"/>
                  <a:ea typeface="黑体" pitchFamily="2" charset="-122"/>
                  <a:cs typeface="+mj-cs"/>
                </a:rPr>
                <a:t>找出主要零件</a:t>
              </a:r>
              <a:endParaRPr kumimoji="0" lang="zh-CN" altLang="en-US" b="1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  <a:cs typeface="+mj-cs"/>
              </a:endParaRPr>
            </a:p>
          </p:txBody>
        </p:sp>
      </p:grpSp>
      <p:sp>
        <p:nvSpPr>
          <p:cNvPr id="21" name="Text Box 10">
            <a:extLst>
              <a:ext uri="{FF2B5EF4-FFF2-40B4-BE49-F238E27FC236}">
                <a16:creationId xmlns:a16="http://schemas.microsoft.com/office/drawing/2014/main" id="{65C7EEC2-DAFA-48FF-BA02-CF01D5A34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5822" y="3826662"/>
            <a:ext cx="1476164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zh-CN" altLang="en-US" sz="2000" b="1" dirty="0">
                <a:solidFill>
                  <a:srgbClr val="0070C0"/>
                </a:solidFill>
                <a:latin typeface="宋体" pitchFamily="2" charset="-122"/>
              </a:rPr>
              <a:t>★形成装配主干线</a:t>
            </a: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5EAB6207-7BE5-4892-B39B-CA0C66EF7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5822" y="4586964"/>
            <a:ext cx="1476164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zh-CN" altLang="en-US" sz="2000" b="1" dirty="0">
                <a:solidFill>
                  <a:srgbClr val="0070C0"/>
                </a:solidFill>
                <a:latin typeface="宋体" pitchFamily="2" charset="-122"/>
              </a:rPr>
              <a:t>★合理运用表达方法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0A24FC7C-434A-4D25-B6D7-24D4A5304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1893" y="5325744"/>
            <a:ext cx="1476164" cy="10156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zh-CN" altLang="en-US" sz="2000" b="1" dirty="0">
                <a:solidFill>
                  <a:srgbClr val="0070C0"/>
                </a:solidFill>
                <a:latin typeface="宋体" pitchFamily="2" charset="-122"/>
              </a:rPr>
              <a:t>★表达工作、操作、传动系统</a:t>
            </a:r>
          </a:p>
        </p:txBody>
      </p:sp>
    </p:spTree>
    <p:extLst>
      <p:ext uri="{BB962C8B-B14F-4D97-AF65-F5344CB8AC3E}">
        <p14:creationId xmlns:p14="http://schemas.microsoft.com/office/powerpoint/2010/main" val="138087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nimBg="1"/>
      <p:bldP spid="13" grpId="0" animBg="1"/>
      <p:bldP spid="16" grpId="0"/>
      <p:bldP spid="17" grpId="0" animBg="1"/>
      <p:bldP spid="21" grpId="0" autoUpdateAnimBg="0"/>
      <p:bldP spid="22" grpId="0" autoUpdateAnimBg="0"/>
      <p:bldP spid="2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1(b)">
            <a:extLst>
              <a:ext uri="{FF2B5EF4-FFF2-40B4-BE49-F238E27FC236}">
                <a16:creationId xmlns:a16="http://schemas.microsoft.com/office/drawing/2014/main" id="{D0BE9991-BB3C-4130-92D5-E83651E9A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02413" y="3191173"/>
            <a:ext cx="2830513" cy="270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4B127044-2A6E-41AB-AD2A-8CD75E4E4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4355" y="1555171"/>
            <a:ext cx="83947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工作原理：</a:t>
            </a:r>
            <a:r>
              <a:rPr lang="zh-CN" altLang="en-US" sz="2400" b="1" dirty="0">
                <a:solidFill>
                  <a:srgbClr val="FF0000"/>
                </a:solidFill>
              </a:rPr>
              <a:t>转动板手，带动球旋转，实现阀的开启或关闭</a:t>
            </a:r>
            <a:endParaRPr lang="zh-CN" altLang="en-US" sz="24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2C206D06-D6C4-41C9-BBDB-B01930705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253" y="1575453"/>
            <a:ext cx="23391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例：</a:t>
            </a:r>
            <a:r>
              <a:rPr lang="zh-CN" altLang="en-US" sz="2400" dirty="0">
                <a:solidFill>
                  <a:schemeClr val="tx1"/>
                </a:solidFill>
              </a:rPr>
              <a:t>球阀装配图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</a:endParaRPr>
          </a:p>
        </p:txBody>
      </p:sp>
      <p:pic>
        <p:nvPicPr>
          <p:cNvPr id="5" name="Picture 2" descr="12-1">
            <a:extLst>
              <a:ext uri="{FF2B5EF4-FFF2-40B4-BE49-F238E27FC236}">
                <a16:creationId xmlns:a16="http://schemas.microsoft.com/office/drawing/2014/main" id="{9185470B-4500-4E82-9B9E-35F210ED1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27232" y="2279824"/>
            <a:ext cx="5798289" cy="4052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31">
            <a:extLst>
              <a:ext uri="{FF2B5EF4-FFF2-40B4-BE49-F238E27FC236}">
                <a16:creationId xmlns:a16="http://schemas.microsoft.com/office/drawing/2014/main" id="{43B61346-D4E8-42C3-9D94-8411C8ACD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60648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装配图视图的选择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B385E60B-CF7F-4A8E-8B4D-DE9BA73B6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251" y="89057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二、视图选择的步骤和方法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54787EA-063E-4E63-9F78-1E69535E8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79" y="2097018"/>
            <a:ext cx="451277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266700" eaLnBrk="1" hangingPunct="1"/>
            <a:r>
              <a:rPr kumimoji="0" 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装配关系：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装入阀体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后，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7</a:t>
            </a:r>
            <a:r>
              <a:rPr kumimoji="0" lang="zh-CN" altLang="en-US" sz="2400" b="0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 →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8</a:t>
            </a:r>
            <a:r>
              <a:rPr kumimoji="0" lang="zh-CN" altLang="en-US" sz="2400" b="0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 →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400" b="0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 →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，形成了主要装配干线，表达了球阀的密封、操纵系统和工作系统，即阀开通或关闭的实现过程。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B34ED40-BECA-4D10-99E0-F77505A7F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79" y="4083130"/>
            <a:ext cx="496948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266700" eaLnBrk="1" hangingPunct="1"/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次要干线：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包括润滑、密封装置和其他辅助装置，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FD01F2D-0D73-47B1-B849-FAC8D13B2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79" y="4896154"/>
            <a:ext cx="451277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联接固定关系：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螺纹压环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压紧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，螺柱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和螺母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将密封圈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和垫片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与阀体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联接并紧固。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499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8" grpId="0"/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A39E5A57-2983-4795-89F9-C090F9581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058" y="261008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装配图视图的选择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F018D2C5-E3FA-4F5D-95AD-31142129F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671" y="916555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二、视图选择的步骤和方法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6C20982-8A6A-4FDD-BBDF-A28D1ADC1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046" y="2100315"/>
            <a:ext cx="2235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主视图的选择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860B08-184D-4377-AB24-DE59864FEEA9}"/>
              </a:ext>
            </a:extLst>
          </p:cNvPr>
          <p:cNvSpPr/>
          <p:nvPr/>
        </p:nvSpPr>
        <p:spPr>
          <a:xfrm>
            <a:off x="5129556" y="1722105"/>
            <a:ext cx="3433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  <a:sym typeface="Monotype Sorts"/>
              </a:rPr>
              <a:t>★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 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符合部件的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工作状态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8C09C1D-4771-4928-BF02-AB59A4947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142" y="4005336"/>
            <a:ext cx="248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其他视图的确定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84161F-D8C6-485E-8C5F-B3EE1557A38E}"/>
              </a:ext>
            </a:extLst>
          </p:cNvPr>
          <p:cNvSpPr/>
          <p:nvPr/>
        </p:nvSpPr>
        <p:spPr>
          <a:xfrm>
            <a:off x="635047" y="3052825"/>
            <a:ext cx="1733167" cy="461665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0"/>
          </a:gradFill>
        </p:spPr>
        <p:txBody>
          <a:bodyPr wrap="none">
            <a:spAutoFit/>
          </a:bodyPr>
          <a:lstStyle/>
          <a:p>
            <a:pPr lvl="0" eaLnBrk="1" hangingPunct="1"/>
            <a:r>
              <a:rPr kumimoji="0" lang="en-US" altLang="zh-CN" sz="2400" b="1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2.</a:t>
            </a:r>
            <a:r>
              <a:rPr kumimoji="0" lang="zh-CN" altLang="en-US" sz="2400" b="1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选择视图</a:t>
            </a:r>
            <a:endParaRPr kumimoji="0" lang="zh-CN" altLang="en-US" sz="2400" b="1" dirty="0">
              <a:solidFill>
                <a:schemeClr val="tx1"/>
              </a:solidFill>
              <a:latin typeface="Arial" pitchFamily="34" charset="0"/>
              <a:cs typeface="宋体" pitchFamily="2" charset="-122"/>
            </a:endParaRPr>
          </a:p>
        </p:txBody>
      </p:sp>
      <p:sp>
        <p:nvSpPr>
          <p:cNvPr id="8" name="AutoShape 14">
            <a:extLst>
              <a:ext uri="{FF2B5EF4-FFF2-40B4-BE49-F238E27FC236}">
                <a16:creationId xmlns:a16="http://schemas.microsoft.com/office/drawing/2014/main" id="{D88C5413-A0E4-4390-83B6-76DB0C7E2AEB}"/>
              </a:ext>
            </a:extLst>
          </p:cNvPr>
          <p:cNvSpPr>
            <a:spLocks/>
          </p:cNvSpPr>
          <p:nvPr/>
        </p:nvSpPr>
        <p:spPr bwMode="auto">
          <a:xfrm>
            <a:off x="2368214" y="2318458"/>
            <a:ext cx="497932" cy="1930400"/>
          </a:xfrm>
          <a:prstGeom prst="leftBrace">
            <a:avLst>
              <a:gd name="adj1" fmla="val 56509"/>
              <a:gd name="adj2" fmla="val 52708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01D9226B-11C6-44A1-877D-2398BC8D313A}"/>
              </a:ext>
            </a:extLst>
          </p:cNvPr>
          <p:cNvSpPr>
            <a:spLocks/>
          </p:cNvSpPr>
          <p:nvPr/>
        </p:nvSpPr>
        <p:spPr bwMode="auto">
          <a:xfrm>
            <a:off x="4879394" y="1892912"/>
            <a:ext cx="183852" cy="811228"/>
          </a:xfrm>
          <a:prstGeom prst="leftBrace">
            <a:avLst>
              <a:gd name="adj1" fmla="val 65446"/>
              <a:gd name="adj2" fmla="val 52708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620AE54D-4872-4A4A-ABF4-B3423FF81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820" y="2187887"/>
            <a:ext cx="3316922" cy="18651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  <a:sym typeface="Monotype Sorts"/>
              </a:rPr>
              <a:t>★</a:t>
            </a:r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能清楚表达部件的</a:t>
            </a:r>
            <a:endParaRPr lang="en-US" altLang="zh-CN" sz="2400" dirty="0">
              <a:solidFill>
                <a:schemeClr val="accent2"/>
              </a:solidFill>
              <a:latin typeface="宋体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工作原理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、主要的</a:t>
            </a:r>
            <a:endParaRPr lang="en-US" altLang="zh-CN" sz="2400" dirty="0">
              <a:solidFill>
                <a:schemeClr val="accent2"/>
              </a:solidFill>
              <a:latin typeface="宋体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装配关系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或其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结构</a:t>
            </a:r>
            <a:endParaRPr lang="en-US" altLang="zh-CN" sz="2400" dirty="0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特征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B2878A5E-09FC-492C-9E96-814EA4052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4736" y="4009467"/>
            <a:ext cx="4141787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表达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主视图没能表达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的内容。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ED4696B-DB20-4FDB-B52A-FAA7EBC8619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740" t="10948" r="47441" b="44592"/>
          <a:stretch>
            <a:fillRect/>
          </a:stretch>
        </p:blipFill>
        <p:spPr bwMode="auto">
          <a:xfrm>
            <a:off x="8513052" y="1830326"/>
            <a:ext cx="2565400" cy="212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CF65055-92C5-4B14-85A0-41443A643A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40" t="57005" r="44175" b="1198"/>
          <a:stretch>
            <a:fillRect/>
          </a:stretch>
        </p:blipFill>
        <p:spPr bwMode="auto">
          <a:xfrm>
            <a:off x="2602520" y="4679020"/>
            <a:ext cx="2781300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Box 16">
            <a:extLst>
              <a:ext uri="{FF2B5EF4-FFF2-40B4-BE49-F238E27FC236}">
                <a16:creationId xmlns:a16="http://schemas.microsoft.com/office/drawing/2014/main" id="{B8365BF2-EEE0-4BDD-A180-1D3352C4F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3333" y="6062360"/>
            <a:ext cx="1182687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俯视图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49318E3-73A3-410C-971D-9188393D35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045" t="11481" r="10738" b="43794"/>
          <a:stretch>
            <a:fillRect/>
          </a:stretch>
        </p:blipFill>
        <p:spPr bwMode="auto">
          <a:xfrm>
            <a:off x="6487133" y="4463392"/>
            <a:ext cx="1270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B58B2FA-6428-4D49-94EF-8B68EA507C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81" t="39434" r="37065" b="41930"/>
          <a:stretch>
            <a:fillRect/>
          </a:stretch>
        </p:blipFill>
        <p:spPr bwMode="auto">
          <a:xfrm>
            <a:off x="9154402" y="4857484"/>
            <a:ext cx="1282700" cy="157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16">
            <a:extLst>
              <a:ext uri="{FF2B5EF4-FFF2-40B4-BE49-F238E27FC236}">
                <a16:creationId xmlns:a16="http://schemas.microsoft.com/office/drawing/2014/main" id="{A2813071-077D-4C21-9D08-BFC272269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37" y="6201897"/>
            <a:ext cx="1182687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左视图</a:t>
            </a:r>
          </a:p>
        </p:txBody>
      </p:sp>
    </p:spTree>
    <p:extLst>
      <p:ext uri="{BB962C8B-B14F-4D97-AF65-F5344CB8AC3E}">
        <p14:creationId xmlns:p14="http://schemas.microsoft.com/office/powerpoint/2010/main" val="2346614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 animBg="1"/>
      <p:bldP spid="9" grpId="0" animBg="1"/>
      <p:bldP spid="10" grpId="0" autoUpdateAnimBg="0"/>
      <p:bldP spid="11" grpId="0" autoUpdateAnimBg="0"/>
      <p:bldP spid="14" grpId="0" autoUpdateAnimBg="0"/>
      <p:bldP spid="1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F0A3D532-4C7B-41DE-8F7C-CE23F698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452" y="944724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宋体" pitchFamily="2" charset="-122"/>
              </a:rPr>
              <a:t>二、视图选择的步骤和方法</a:t>
            </a:r>
            <a:endParaRPr lang="zh-CN" altLang="en-US" sz="2800" b="1" dirty="0">
              <a:solidFill>
                <a:schemeClr val="tx1"/>
              </a:solidFill>
              <a:latin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04D641-14A2-4E1C-8BDD-7EEEDAC07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74233" y="1583870"/>
            <a:ext cx="6965950" cy="5028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31">
            <a:extLst>
              <a:ext uri="{FF2B5EF4-FFF2-40B4-BE49-F238E27FC236}">
                <a16:creationId xmlns:a16="http://schemas.microsoft.com/office/drawing/2014/main" id="{41166D56-07BD-414D-AC0E-FFC440DEC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058" y="261008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装配图视图的选择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6AB91EAC-1769-484A-BCDB-D2D4139C7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428" y="1581019"/>
            <a:ext cx="1926805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视图选择的最终方案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256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4C7DE2B-7922-4831-9CCF-0482DB072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00057" y="2556603"/>
            <a:ext cx="276225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8CB1F4C5-49C8-45CF-B8B5-4433B37FF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945" y="1308944"/>
            <a:ext cx="3230562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宋体" pitchFamily="2" charset="-122"/>
              </a:rPr>
              <a:t>1.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性能（规格）尺寸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88C50CE-D210-4721-A4EF-CCFFC57D7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945" y="2345889"/>
            <a:ext cx="1733167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宋体" pitchFamily="2" charset="-122"/>
              </a:rPr>
              <a:t>2.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装配尺寸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AEE6CD3-AC9B-4948-8AD3-8E9635AB2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1507" y="1383128"/>
            <a:ext cx="4515980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表示部件的性能和规格的尺寸。</a:t>
            </a:r>
          </a:p>
        </p:txBody>
      </p:sp>
      <p:sp>
        <p:nvSpPr>
          <p:cNvPr id="6" name="Text Box 8">
            <a:hlinkClick r:id="" action="ppaction://noaction"/>
            <a:extLst>
              <a:ext uri="{FF2B5EF4-FFF2-40B4-BE49-F238E27FC236}">
                <a16:creationId xmlns:a16="http://schemas.microsoft.com/office/drawing/2014/main" id="{95F7B5C4-EB49-47A4-B475-48F2144DC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6357" y="5764941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u="sng" dirty="0">
                <a:solidFill>
                  <a:schemeClr val="bg2"/>
                </a:solidFill>
              </a:rPr>
              <a:t>装配图</a:t>
            </a:r>
            <a:endParaRPr lang="zh-CN" altLang="en-US" u="sng" dirty="0">
              <a:solidFill>
                <a:schemeClr val="bg2"/>
              </a:solidFill>
              <a:hlinkClick r:id="" action="ppaction://noaction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3D66CF01-688A-4333-BF77-4BCB0C77B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3532" y="1818130"/>
            <a:ext cx="65341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例如：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球阀通孔的直径</a:t>
            </a:r>
            <a:r>
              <a:rPr lang="zh-CN" altLang="en-US" sz="2400" i="1" dirty="0">
                <a:latin typeface="宋体" pitchFamily="2" charset="-122"/>
                <a:sym typeface="Symbol" pitchFamily="18" charset="2"/>
              </a:rPr>
              <a:t></a:t>
            </a:r>
            <a:r>
              <a:rPr lang="en-US" altLang="zh-CN" sz="2400" i="1" dirty="0">
                <a:latin typeface="宋体" pitchFamily="2" charset="-122"/>
                <a:sym typeface="Symbol" pitchFamily="18" charset="2"/>
              </a:rPr>
              <a:t>25</a:t>
            </a:r>
            <a:r>
              <a:rPr lang="zh-CN" altLang="en-US" sz="2400" i="1" dirty="0">
                <a:solidFill>
                  <a:schemeClr val="accent2"/>
                </a:solidFill>
                <a:latin typeface="宋体" pitchFamily="2" charset="-122"/>
                <a:sym typeface="Symbol" pitchFamily="18" charset="2"/>
              </a:rPr>
              <a:t>，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  <a:sym typeface="Symbol" pitchFamily="18" charset="2"/>
              </a:rPr>
              <a:t>与液体流量有关。</a:t>
            </a:r>
            <a:endParaRPr lang="zh-CN" altLang="en-US" sz="2400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8" name="Group 25">
            <a:extLst>
              <a:ext uri="{FF2B5EF4-FFF2-40B4-BE49-F238E27FC236}">
                <a16:creationId xmlns:a16="http://schemas.microsoft.com/office/drawing/2014/main" id="{82DA6A43-571E-42AD-8CEC-C335ABC2F64C}"/>
              </a:ext>
            </a:extLst>
          </p:cNvPr>
          <p:cNvGrpSpPr>
            <a:grpSpLocks/>
          </p:cNvGrpSpPr>
          <p:nvPr/>
        </p:nvGrpSpPr>
        <p:grpSpPr bwMode="auto">
          <a:xfrm>
            <a:off x="1968710" y="4090571"/>
            <a:ext cx="4233106" cy="1384301"/>
            <a:chOff x="580" y="2378"/>
            <a:chExt cx="5113" cy="872"/>
          </a:xfrm>
        </p:grpSpPr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D244603C-1030-4394-92B4-867A693AF4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2378"/>
              <a:ext cx="5113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400" dirty="0">
                  <a:solidFill>
                    <a:schemeClr val="tx2"/>
                  </a:solidFill>
                  <a:latin typeface="宋体" pitchFamily="2" charset="-122"/>
                </a:rPr>
                <a:t>例如：</a:t>
              </a:r>
              <a:r>
                <a:rPr lang="zh-CN" altLang="en-US" sz="2400" dirty="0">
                  <a:solidFill>
                    <a:schemeClr val="accent2"/>
                  </a:solidFill>
                  <a:latin typeface="宋体" pitchFamily="2" charset="-122"/>
                </a:rPr>
                <a:t>球阀的阀体与阀盖的</a:t>
              </a:r>
              <a:endParaRPr lang="en-US" altLang="zh-CN" sz="2400" dirty="0">
                <a:solidFill>
                  <a:schemeClr val="accent2"/>
                </a:solidFill>
                <a:latin typeface="宋体" pitchFamily="2" charset="-122"/>
              </a:endParaRPr>
            </a:p>
            <a:p>
              <a:endParaRPr lang="en-US" altLang="zh-CN" sz="2400" dirty="0">
                <a:solidFill>
                  <a:schemeClr val="accent2"/>
                </a:solidFill>
                <a:latin typeface="宋体" pitchFamily="2" charset="-122"/>
              </a:endParaRPr>
            </a:p>
            <a:p>
              <a:r>
                <a:rPr lang="zh-CN" altLang="en-US" sz="2400" dirty="0">
                  <a:solidFill>
                    <a:schemeClr val="accent2"/>
                  </a:solidFill>
                  <a:latin typeface="宋体" pitchFamily="2" charset="-122"/>
                </a:rPr>
                <a:t>配合尺寸</a:t>
              </a:r>
              <a:r>
                <a:rPr lang="zh-CN" altLang="en-US" sz="2400" i="1" dirty="0">
                  <a:latin typeface="宋体" pitchFamily="2" charset="-122"/>
                  <a:sym typeface="Symbol" pitchFamily="18" charset="2"/>
                </a:rPr>
                <a:t></a:t>
              </a:r>
              <a:r>
                <a:rPr lang="en-US" altLang="zh-CN" sz="2400" i="1" dirty="0">
                  <a:latin typeface="宋体" pitchFamily="2" charset="-122"/>
                  <a:sym typeface="Symbol" pitchFamily="18" charset="2"/>
                </a:rPr>
                <a:t>50     </a:t>
              </a:r>
              <a:r>
                <a:rPr lang="zh-CN" altLang="en-US" sz="2400" i="1" dirty="0">
                  <a:solidFill>
                    <a:schemeClr val="accent2"/>
                  </a:solidFill>
                  <a:latin typeface="宋体" pitchFamily="2" charset="-122"/>
                  <a:sym typeface="Symbol" pitchFamily="18" charset="2"/>
                </a:rPr>
                <a:t>。</a:t>
              </a:r>
              <a:endParaRPr lang="zh-CN" altLang="en-US" sz="2400" dirty="0">
                <a:solidFill>
                  <a:schemeClr val="accent2"/>
                </a:solidFill>
                <a:latin typeface="宋体" pitchFamily="2" charset="-122"/>
                <a:sym typeface="Symbol" pitchFamily="18" charset="2"/>
              </a:endParaRPr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3CCE1EFD-AB75-46B2-8A74-33E2F8767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6" y="2729"/>
              <a:ext cx="45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i="1" dirty="0"/>
                <a:t>H11</a:t>
              </a:r>
              <a:endParaRPr lang="en-US" altLang="zh-CN" sz="2400" dirty="0"/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6DCBADEB-B58D-4D0B-BCD1-182DA3815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" y="2959"/>
              <a:ext cx="42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i="1" dirty="0"/>
                <a:t>h11</a:t>
              </a:r>
              <a:endParaRPr lang="en-US" altLang="zh-CN" sz="2400" dirty="0"/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5BF14574-6134-4339-A89C-8C89F02DD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" y="2994"/>
              <a:ext cx="65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pic>
        <p:nvPicPr>
          <p:cNvPr id="13" name="Picture 1">
            <a:extLst>
              <a:ext uri="{FF2B5EF4-FFF2-40B4-BE49-F238E27FC236}">
                <a16:creationId xmlns:a16="http://schemas.microsoft.com/office/drawing/2014/main" id="{8237F81A-71C6-4B88-9C70-AC4DC408A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7407" y="2261328"/>
            <a:ext cx="437197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 Box 6">
            <a:extLst>
              <a:ext uri="{FF2B5EF4-FFF2-40B4-BE49-F238E27FC236}">
                <a16:creationId xmlns:a16="http://schemas.microsoft.com/office/drawing/2014/main" id="{4DCF0BFD-985C-42D6-B023-3BF7E5AE1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6159" y="2882946"/>
            <a:ext cx="4216400" cy="111376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零件之间的</a:t>
            </a:r>
            <a:r>
              <a:rPr lang="zh-CN" altLang="en-US" sz="2400" dirty="0">
                <a:solidFill>
                  <a:srgbClr val="FF0066"/>
                </a:solidFill>
                <a:latin typeface="宋体" pitchFamily="2" charset="-122"/>
              </a:rPr>
              <a:t>配合尺寸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及影响其性能的重要</a:t>
            </a:r>
            <a:r>
              <a:rPr lang="zh-CN" altLang="en-US" sz="2400" dirty="0">
                <a:solidFill>
                  <a:srgbClr val="FF0066"/>
                </a:solidFill>
                <a:latin typeface="宋体" pitchFamily="2" charset="-122"/>
              </a:rPr>
              <a:t>相对位置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尺寸。</a:t>
            </a:r>
          </a:p>
        </p:txBody>
      </p:sp>
      <p:sp>
        <p:nvSpPr>
          <p:cNvPr id="16" name="Text Box 31">
            <a:extLst>
              <a:ext uri="{FF2B5EF4-FFF2-40B4-BE49-F238E27FC236}">
                <a16:creationId xmlns:a16="http://schemas.microsoft.com/office/drawing/2014/main" id="{4CE2EC44-20B2-49FB-9E69-ADC795F69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524" y="419542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装配图中的尺寸</a:t>
            </a:r>
          </a:p>
        </p:txBody>
      </p:sp>
    </p:spTree>
    <p:extLst>
      <p:ext uri="{BB962C8B-B14F-4D97-AF65-F5344CB8AC3E}">
        <p14:creationId xmlns:p14="http://schemas.microsoft.com/office/powerpoint/2010/main" val="246108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7" grpId="0" autoUpdateAnimBg="0"/>
      <p:bldP spid="14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1">
            <a:extLst>
              <a:ext uri="{FF2B5EF4-FFF2-40B4-BE49-F238E27FC236}">
                <a16:creationId xmlns:a16="http://schemas.microsoft.com/office/drawing/2014/main" id="{158C7D41-242C-4A0E-8CF0-DBD80AAF1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332656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装配图中的尺寸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2BF0387C-FD6F-4826-ABD5-9CF695E91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541" y="1453792"/>
            <a:ext cx="3230562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宋体" pitchFamily="2" charset="-122"/>
              </a:rPr>
              <a:t>1.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性能（规格）尺寸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69A3048-29B1-4344-80EF-350B3D4C3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381" y="2523835"/>
            <a:ext cx="1733167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宋体" pitchFamily="2" charset="-122"/>
              </a:rPr>
              <a:t>2.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装配尺寸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361C476D-723C-412B-BDFD-153CD11BE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0223" y="1483375"/>
            <a:ext cx="4515980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表示部件的性能和规格的尺寸。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344E68CA-5A0D-40DB-A837-940C7CB05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415" y="2998043"/>
            <a:ext cx="6338770" cy="7571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零件之间的</a:t>
            </a:r>
            <a:r>
              <a:rPr lang="zh-CN" altLang="en-US" sz="2400" dirty="0">
                <a:solidFill>
                  <a:srgbClr val="FF0066"/>
                </a:solidFill>
                <a:latin typeface="宋体" pitchFamily="2" charset="-122"/>
              </a:rPr>
              <a:t>配合尺寸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及影响其性能的重要</a:t>
            </a:r>
            <a:r>
              <a:rPr lang="zh-CN" altLang="en-US" sz="2400" dirty="0">
                <a:solidFill>
                  <a:srgbClr val="FF0066"/>
                </a:solidFill>
                <a:latin typeface="宋体" pitchFamily="2" charset="-122"/>
              </a:rPr>
              <a:t>相对位置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尺寸。</a:t>
            </a:r>
          </a:p>
        </p:txBody>
      </p:sp>
      <p:sp>
        <p:nvSpPr>
          <p:cNvPr id="8" name="Text Box 8">
            <a:hlinkClick r:id="" action="ppaction://noaction"/>
            <a:extLst>
              <a:ext uri="{FF2B5EF4-FFF2-40B4-BE49-F238E27FC236}">
                <a16:creationId xmlns:a16="http://schemas.microsoft.com/office/drawing/2014/main" id="{D6E25895-E55B-4174-829E-E2751276C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2121" y="6707907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u="sng" dirty="0">
                <a:solidFill>
                  <a:schemeClr val="bg2"/>
                </a:solidFill>
              </a:rPr>
              <a:t>装配图</a:t>
            </a:r>
            <a:endParaRPr lang="zh-CN" altLang="en-US" u="sng" dirty="0">
              <a:solidFill>
                <a:schemeClr val="bg2"/>
              </a:solidFill>
              <a:hlinkClick r:id="" action="ppaction://noaction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10B621E2-0BCE-4CAD-88A8-B70074559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632" y="1943230"/>
            <a:ext cx="65341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例如：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球阀通孔的直径</a:t>
            </a:r>
            <a:r>
              <a:rPr lang="zh-CN" altLang="en-US" sz="2400" i="1" dirty="0">
                <a:latin typeface="宋体" pitchFamily="2" charset="-122"/>
                <a:sym typeface="Symbol" pitchFamily="18" charset="2"/>
              </a:rPr>
              <a:t></a:t>
            </a:r>
            <a:r>
              <a:rPr lang="en-US" altLang="zh-CN" sz="2400" i="1" dirty="0">
                <a:latin typeface="宋体" pitchFamily="2" charset="-122"/>
                <a:sym typeface="Symbol" pitchFamily="18" charset="2"/>
              </a:rPr>
              <a:t>25</a:t>
            </a:r>
            <a:r>
              <a:rPr lang="zh-CN" altLang="en-US" sz="2400" i="1" dirty="0">
                <a:solidFill>
                  <a:schemeClr val="accent2"/>
                </a:solidFill>
                <a:latin typeface="宋体" pitchFamily="2" charset="-122"/>
                <a:sym typeface="Symbol" pitchFamily="18" charset="2"/>
              </a:rPr>
              <a:t>，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  <a:sym typeface="Symbol" pitchFamily="18" charset="2"/>
              </a:rPr>
              <a:t>与液体流量有关。</a:t>
            </a:r>
            <a:endParaRPr lang="zh-CN" altLang="en-US" sz="24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22F848D6-8D16-4A6A-815F-3C7F88CD2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316" y="4271618"/>
            <a:ext cx="2651125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宋体" pitchFamily="2" charset="-122"/>
              </a:rPr>
              <a:t>3.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安装尺寸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4E2621AF-98D0-4493-A779-961C48829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316" y="5518815"/>
            <a:ext cx="1733167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宋体" pitchFamily="2" charset="-122"/>
              </a:rPr>
              <a:t>4.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外形尺寸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68746778-FFAB-4672-885C-3D522096B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415" y="4670067"/>
            <a:ext cx="5134739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将部件安装到机座上所需要的尺寸。</a:t>
            </a: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3B7BF00A-0EC9-4D38-9602-4709ADCC2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260" y="6019401"/>
            <a:ext cx="6062877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部件在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长、宽、高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三个方向上的最大尺寸。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4E9E4405-FC7F-4B03-80F7-581ECFE54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415" y="5097756"/>
            <a:ext cx="45175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例如：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球阀两侧管接头尺寸</a:t>
            </a:r>
            <a:r>
              <a:rPr lang="en-US" altLang="zh-CN" sz="2400" i="1" dirty="0">
                <a:latin typeface="宋体" pitchFamily="2" charset="-122"/>
              </a:rPr>
              <a:t>G1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  <a:sym typeface="Symbol" pitchFamily="18" charset="2"/>
              </a:rPr>
              <a:t>。</a:t>
            </a:r>
          </a:p>
        </p:txBody>
      </p:sp>
      <p:grpSp>
        <p:nvGrpSpPr>
          <p:cNvPr id="15" name="Group 25">
            <a:extLst>
              <a:ext uri="{FF2B5EF4-FFF2-40B4-BE49-F238E27FC236}">
                <a16:creationId xmlns:a16="http://schemas.microsoft.com/office/drawing/2014/main" id="{A872569B-2809-47D5-BE57-C982CBF20BF3}"/>
              </a:ext>
            </a:extLst>
          </p:cNvPr>
          <p:cNvGrpSpPr>
            <a:grpSpLocks/>
          </p:cNvGrpSpPr>
          <p:nvPr/>
        </p:nvGrpSpPr>
        <p:grpSpPr bwMode="auto">
          <a:xfrm>
            <a:off x="1417415" y="3595104"/>
            <a:ext cx="8116888" cy="827088"/>
            <a:chOff x="494" y="2290"/>
            <a:chExt cx="5113" cy="521"/>
          </a:xfrm>
        </p:grpSpPr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D6159075-1E6A-4147-BC25-BC11B468F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" y="2389"/>
              <a:ext cx="51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400" dirty="0">
                  <a:solidFill>
                    <a:schemeClr val="tx2"/>
                  </a:solidFill>
                  <a:latin typeface="宋体" pitchFamily="2" charset="-122"/>
                </a:rPr>
                <a:t>例如：</a:t>
              </a:r>
              <a:r>
                <a:rPr lang="zh-CN" altLang="en-US" sz="2400" dirty="0">
                  <a:solidFill>
                    <a:schemeClr val="accent2"/>
                  </a:solidFill>
                  <a:latin typeface="宋体" pitchFamily="2" charset="-122"/>
                </a:rPr>
                <a:t>球阀的阀体与阀盖的配合尺寸</a:t>
              </a:r>
              <a:r>
                <a:rPr lang="zh-CN" altLang="en-US" sz="2400" i="1" dirty="0">
                  <a:latin typeface="宋体" pitchFamily="2" charset="-122"/>
                  <a:sym typeface="Symbol" pitchFamily="18" charset="2"/>
                </a:rPr>
                <a:t></a:t>
              </a:r>
              <a:r>
                <a:rPr lang="en-US" altLang="zh-CN" sz="2400" i="1" dirty="0">
                  <a:latin typeface="宋体" pitchFamily="2" charset="-122"/>
                  <a:sym typeface="Symbol" pitchFamily="18" charset="2"/>
                </a:rPr>
                <a:t>50     </a:t>
              </a:r>
              <a:r>
                <a:rPr lang="zh-CN" altLang="en-US" sz="2400" i="1" dirty="0">
                  <a:solidFill>
                    <a:schemeClr val="accent2"/>
                  </a:solidFill>
                  <a:latin typeface="宋体" pitchFamily="2" charset="-122"/>
                  <a:sym typeface="Symbol" pitchFamily="18" charset="2"/>
                </a:rPr>
                <a:t>。</a:t>
              </a:r>
              <a:endParaRPr lang="zh-CN" altLang="en-US" sz="2400" dirty="0">
                <a:solidFill>
                  <a:schemeClr val="accent2"/>
                </a:solidFill>
                <a:latin typeface="宋体" pitchFamily="2" charset="-122"/>
                <a:sym typeface="Symbol" pitchFamily="18" charset="2"/>
              </a:endParaRPr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A81C801E-4ECC-4D1D-9141-9ADABEDEC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2290"/>
              <a:ext cx="45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i="1"/>
                <a:t>H11</a:t>
              </a:r>
              <a:endParaRPr lang="en-US" altLang="zh-CN" sz="2400"/>
            </a:p>
          </p:txBody>
        </p:sp>
        <p:sp>
          <p:nvSpPr>
            <p:cNvPr id="18" name="Text Box 13">
              <a:extLst>
                <a:ext uri="{FF2B5EF4-FFF2-40B4-BE49-F238E27FC236}">
                  <a16:creationId xmlns:a16="http://schemas.microsoft.com/office/drawing/2014/main" id="{1C63D318-C999-4BFD-ADCC-04686D53D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2520"/>
              <a:ext cx="42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i="1" dirty="0"/>
                <a:t>h11</a:t>
              </a:r>
              <a:endParaRPr lang="en-US" altLang="zh-CN" sz="2400" dirty="0"/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4DBB86FD-DD78-431F-9253-58B436E933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8" y="2580"/>
              <a:ext cx="40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20" name="Text Box 26">
            <a:extLst>
              <a:ext uri="{FF2B5EF4-FFF2-40B4-BE49-F238E27FC236}">
                <a16:creationId xmlns:a16="http://schemas.microsoft.com/office/drawing/2014/main" id="{B69916DE-C79B-49E4-96BB-6FDF29FA8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759" y="980207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362A1298-B05E-4A44-B5ED-5959A794A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95176" y="2034592"/>
            <a:ext cx="3613859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A6C7AF41-1FD8-4DD0-BF42-492E0C4F1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28501" y="2104442"/>
            <a:ext cx="375285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5838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352640C-B554-4367-BB04-C8B43E9BE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818" y="1345907"/>
            <a:ext cx="910398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        </a:t>
            </a:r>
            <a:r>
              <a:rPr lang="zh-CN" altLang="zh-CN" sz="2400" dirty="0">
                <a:solidFill>
                  <a:srgbClr val="0070C0"/>
                </a:solidFill>
              </a:rPr>
              <a:t>不同性能的装配体，技术要求各不相同。拟定技术要求一般可从以下几个方面考虑</a:t>
            </a:r>
            <a:r>
              <a:rPr lang="zh-CN" altLang="en-US" sz="2400" dirty="0">
                <a:solidFill>
                  <a:srgbClr val="0070C0"/>
                </a:solidFill>
              </a:rPr>
              <a:t>。</a:t>
            </a:r>
          </a:p>
        </p:txBody>
      </p:sp>
      <p:sp>
        <p:nvSpPr>
          <p:cNvPr id="5" name="Text Box 31">
            <a:extLst>
              <a:ext uri="{FF2B5EF4-FFF2-40B4-BE49-F238E27FC236}">
                <a16:creationId xmlns:a16="http://schemas.microsoft.com/office/drawing/2014/main" id="{CD61A7F7-04B9-4204-AC35-49CCC3BC5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636" y="332656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187136-6096-4638-A90A-B6D59607FBE7}"/>
              </a:ext>
            </a:extLst>
          </p:cNvPr>
          <p:cNvSpPr/>
          <p:nvPr/>
        </p:nvSpPr>
        <p:spPr>
          <a:xfrm>
            <a:off x="1216053" y="386388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2060"/>
                </a:solidFill>
              </a:rPr>
              <a:t>技术要求</a:t>
            </a:r>
            <a:endParaRPr lang="zh-CN" altLang="en-US" sz="2400" b="1" dirty="0">
              <a:solidFill>
                <a:srgbClr val="00206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9540F9-07F7-4D8F-8E92-DFF1B18DA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445" y="2215120"/>
            <a:ext cx="16722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1.</a:t>
            </a:r>
            <a:r>
              <a:rPr lang="zh-CN" altLang="zh-CN" sz="2400" dirty="0">
                <a:solidFill>
                  <a:srgbClr val="FF0000"/>
                </a:solidFill>
              </a:rPr>
              <a:t>性能要求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B5407A-7887-4CD5-8811-4916E2760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145" y="2980295"/>
            <a:ext cx="16722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2.</a:t>
            </a:r>
            <a:r>
              <a:rPr lang="zh-CN" altLang="zh-CN" sz="2400" dirty="0">
                <a:solidFill>
                  <a:srgbClr val="FF0000"/>
                </a:solidFill>
              </a:rPr>
              <a:t>装配要求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1170F1-2F3D-428D-8088-C2F5B1A1A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145" y="3677208"/>
            <a:ext cx="16722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3.</a:t>
            </a:r>
            <a:r>
              <a:rPr lang="zh-CN" altLang="zh-CN" sz="2400" dirty="0">
                <a:solidFill>
                  <a:srgbClr val="FF0000"/>
                </a:solidFill>
              </a:rPr>
              <a:t>检验要求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F63FA5-51CD-4FC7-A31B-9427BB06C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045" y="4436033"/>
            <a:ext cx="22717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4.</a:t>
            </a:r>
            <a:r>
              <a:rPr lang="zh-CN" altLang="zh-CN" sz="2400" dirty="0">
                <a:solidFill>
                  <a:srgbClr val="FF0000"/>
                </a:solidFill>
              </a:rPr>
              <a:t>安装使用要求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161688-9F8E-4151-8C25-0BF4D9C5F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045" y="5458383"/>
            <a:ext cx="3200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5.</a:t>
            </a:r>
            <a:r>
              <a:rPr lang="zh-CN" altLang="zh-CN" sz="2400" dirty="0">
                <a:solidFill>
                  <a:srgbClr val="FF0000"/>
                </a:solidFill>
              </a:rPr>
              <a:t>修饰和包装运输要求</a:t>
            </a:r>
          </a:p>
        </p:txBody>
      </p:sp>
      <p:sp>
        <p:nvSpPr>
          <p:cNvPr id="12" name="AutoShape 14">
            <a:extLst>
              <a:ext uri="{FF2B5EF4-FFF2-40B4-BE49-F238E27FC236}">
                <a16:creationId xmlns:a16="http://schemas.microsoft.com/office/drawing/2014/main" id="{6BF39750-59FA-4180-88BA-7A4E7F5289F7}"/>
              </a:ext>
            </a:extLst>
          </p:cNvPr>
          <p:cNvSpPr>
            <a:spLocks/>
          </p:cNvSpPr>
          <p:nvPr/>
        </p:nvSpPr>
        <p:spPr bwMode="auto">
          <a:xfrm>
            <a:off x="2765345" y="2380220"/>
            <a:ext cx="355600" cy="3378200"/>
          </a:xfrm>
          <a:prstGeom prst="leftBrace">
            <a:avLst>
              <a:gd name="adj1" fmla="val 129826"/>
              <a:gd name="adj2" fmla="val 52708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2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6FD3BF-BFBC-4E70-A0FD-97570DFB0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359" y="2143357"/>
            <a:ext cx="617881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0070C0"/>
                </a:solidFill>
              </a:rPr>
              <a:t>设计过程中</a:t>
            </a:r>
            <a:r>
              <a:rPr lang="zh-CN" altLang="en-US" sz="2000" dirty="0">
                <a:solidFill>
                  <a:srgbClr val="0070C0"/>
                </a:solidFill>
              </a:rPr>
              <a:t>，</a:t>
            </a:r>
            <a:r>
              <a:rPr lang="zh-CN" altLang="zh-CN" sz="2000" dirty="0">
                <a:solidFill>
                  <a:srgbClr val="0070C0"/>
                </a:solidFill>
              </a:rPr>
              <a:t>对机器（或部件）的性能、工作环境条件需要的具体指标，装配时需要保证的性能要求等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CDA01E-49DE-4D67-9F62-88E2423D6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834" y="3002542"/>
            <a:ext cx="58192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0070C0"/>
                </a:solidFill>
              </a:rPr>
              <a:t>装配过程中注意的事项，装配后应达到的要求</a:t>
            </a:r>
            <a:r>
              <a:rPr lang="zh-CN" altLang="en-US" sz="2000" dirty="0">
                <a:solidFill>
                  <a:srgbClr val="0070C0"/>
                </a:solidFill>
              </a:rPr>
              <a:t>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21FEE5-AE04-470D-A305-F73786370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9904" y="3783481"/>
            <a:ext cx="53593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0070C0"/>
                </a:solidFill>
              </a:rPr>
              <a:t>装配好后，对检验的内容和指标提出的要求</a:t>
            </a:r>
            <a:r>
              <a:rPr lang="zh-CN" altLang="en-US" sz="2000" dirty="0">
                <a:solidFill>
                  <a:srgbClr val="0070C0"/>
                </a:solidFill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69392D-2914-403F-BD54-B4F42DDE2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879" y="4394172"/>
            <a:ext cx="566244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0070C0"/>
                </a:solidFill>
              </a:rPr>
              <a:t>对安装环境、效果、使用、维护保养中需要注意的问题等提出的要求</a:t>
            </a:r>
            <a:r>
              <a:rPr lang="zh-CN" altLang="en-US" sz="2000" dirty="0">
                <a:solidFill>
                  <a:srgbClr val="0070C0"/>
                </a:solidFill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205164-C5ED-4FD4-B811-10017A43C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670" y="5456795"/>
            <a:ext cx="476550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0070C0"/>
                </a:solidFill>
              </a:rPr>
              <a:t>如清洗、喷涂涂料等。在包装和运输过程中需注意的事项</a:t>
            </a:r>
            <a:r>
              <a:rPr lang="zh-CN" altLang="en-US" sz="2000" dirty="0">
                <a:solidFill>
                  <a:srgbClr val="0070C0"/>
                </a:solidFill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48704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2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705A32-F81B-4D66-9195-C511CA084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627" t="16467" b="6886"/>
          <a:stretch>
            <a:fillRect/>
          </a:stretch>
        </p:blipFill>
        <p:spPr bwMode="auto">
          <a:xfrm>
            <a:off x="8339992" y="3308962"/>
            <a:ext cx="1917701" cy="136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1">
            <a:extLst>
              <a:ext uri="{FF2B5EF4-FFF2-40B4-BE49-F238E27FC236}">
                <a16:creationId xmlns:a16="http://schemas.microsoft.com/office/drawing/2014/main" id="{3CC0B2A3-ABD8-49B0-BBDE-B34A9B141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4192"/>
          <a:stretch>
            <a:fillRect/>
          </a:stretch>
        </p:blipFill>
        <p:spPr bwMode="auto">
          <a:xfrm>
            <a:off x="2637634" y="3002667"/>
            <a:ext cx="1381662" cy="1804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4">
            <a:extLst>
              <a:ext uri="{FF2B5EF4-FFF2-40B4-BE49-F238E27FC236}">
                <a16:creationId xmlns:a16="http://schemas.microsoft.com/office/drawing/2014/main" id="{1F4992B1-441F-466A-B1B9-72256BF9C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061" y="1488639"/>
            <a:ext cx="1728656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配合的概念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D022C06A-2005-4804-AE09-494B9B333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9717" y="1956515"/>
            <a:ext cx="7430949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公称尺寸相同相互结合的孔和轴的公差带之间的关系。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27C4EBA-74D9-44E9-BE48-98E22C43A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9304" y="5145269"/>
            <a:ext cx="1884147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dirty="0">
                <a:latin typeface="宋体" pitchFamily="2" charset="-122"/>
              </a:rPr>
              <a:t>间隙或过盈</a:t>
            </a:r>
            <a:r>
              <a:rPr lang="en-US" altLang="zh-CN" sz="2400" dirty="0">
                <a:latin typeface="宋体" pitchFamily="2" charset="-122"/>
              </a:rPr>
              <a:t>: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C0F6766C-159A-4E18-AD47-29A1B243A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9296" y="5253848"/>
            <a:ext cx="4668564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δ=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孔的实际尺寸－轴的实际尺寸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B073D3A-E879-4CFF-8E25-DF5C4F5B4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1081" y="1949221"/>
            <a:ext cx="1109897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dirty="0">
                <a:latin typeface="宋体" pitchFamily="2" charset="-122"/>
              </a:rPr>
              <a:t>配合：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97756BBC-C110-4F59-B98A-42833C345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145" y="5915891"/>
            <a:ext cx="3589742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dirty="0">
                <a:latin typeface="宋体" pitchFamily="2" charset="-122"/>
              </a:rPr>
              <a:t>δ≥0 </a:t>
            </a:r>
            <a:r>
              <a:rPr lang="zh-CN" altLang="zh-CN" sz="2400" dirty="0">
                <a:latin typeface="宋体" pitchFamily="2" charset="-122"/>
              </a:rPr>
              <a:t>间隙  </a:t>
            </a:r>
            <a:r>
              <a:rPr lang="en-US" altLang="zh-CN" sz="2400" dirty="0">
                <a:latin typeface="宋体" pitchFamily="2" charset="-122"/>
              </a:rPr>
              <a:t>δ≤0 </a:t>
            </a:r>
            <a:r>
              <a:rPr lang="zh-CN" altLang="en-US" sz="2400" dirty="0">
                <a:latin typeface="宋体" pitchFamily="2" charset="-122"/>
              </a:rPr>
              <a:t>过盈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FB5C318-5C16-4752-AB80-350CE0A8CFB6}"/>
              </a:ext>
            </a:extLst>
          </p:cNvPr>
          <p:cNvGrpSpPr/>
          <p:nvPr/>
        </p:nvGrpSpPr>
        <p:grpSpPr>
          <a:xfrm>
            <a:off x="4527849" y="3526504"/>
            <a:ext cx="973931" cy="783431"/>
            <a:chOff x="3140869" y="3562351"/>
            <a:chExt cx="973931" cy="783431"/>
          </a:xfrm>
        </p:grpSpPr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D4EED81C-8346-4490-B9DD-53DABC226F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8050" y="3581401"/>
              <a:ext cx="6667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C6E13850-A906-4734-8A7D-78A0A1A9F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9000" y="4343401"/>
              <a:ext cx="5905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E12BF5EC-5BD4-47B3-98B1-6251EAA40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350" y="3562351"/>
              <a:ext cx="0" cy="781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Text Box 18">
              <a:extLst>
                <a:ext uri="{FF2B5EF4-FFF2-40B4-BE49-F238E27FC236}">
                  <a16:creationId xmlns:a16="http://schemas.microsoft.com/office/drawing/2014/main" id="{9D5869B5-DE48-444A-9E50-C2D4F3F47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030538" y="3773488"/>
              <a:ext cx="682625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latin typeface="ISOCP" pitchFamily="2" charset="0"/>
                </a:rPr>
                <a:t>φ</a:t>
              </a:r>
              <a:r>
                <a:rPr lang="en-US" altLang="zh-CN" i="1">
                  <a:solidFill>
                    <a:schemeClr val="tx1"/>
                  </a:solidFill>
                  <a:latin typeface="ISOCPEUR" pitchFamily="34" charset="0"/>
                </a:rPr>
                <a:t>20</a:t>
              </a:r>
              <a:endParaRPr lang="en-US" altLang="zh-CN" b="0">
                <a:solidFill>
                  <a:schemeClr val="tx1"/>
                </a:solidFill>
                <a:latin typeface="ISOCPEUR" pitchFamily="34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E8981C7-CC8D-49EA-8447-20DDF1F19043}"/>
              </a:ext>
            </a:extLst>
          </p:cNvPr>
          <p:cNvGrpSpPr/>
          <p:nvPr/>
        </p:nvGrpSpPr>
        <p:grpSpPr>
          <a:xfrm>
            <a:off x="1985966" y="3555118"/>
            <a:ext cx="973931" cy="783432"/>
            <a:chOff x="931069" y="3638550"/>
            <a:chExt cx="973931" cy="783432"/>
          </a:xfrm>
        </p:grpSpPr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A9FF7397-96C1-42A2-BA00-564DA8F02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550" y="3638550"/>
              <a:ext cx="0" cy="781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A18AC7E-B8C9-423F-A01B-E4AEC53394B8}"/>
                </a:ext>
              </a:extLst>
            </p:cNvPr>
            <p:cNvGrpSpPr/>
            <p:nvPr/>
          </p:nvGrpSpPr>
          <p:grpSpPr>
            <a:xfrm>
              <a:off x="931069" y="3657600"/>
              <a:ext cx="973931" cy="764382"/>
              <a:chOff x="931069" y="3657600"/>
              <a:chExt cx="973931" cy="764382"/>
            </a:xfrm>
          </p:grpSpPr>
          <p:sp>
            <p:nvSpPr>
              <p:cNvPr id="18" name="Line 22">
                <a:extLst>
                  <a:ext uri="{FF2B5EF4-FFF2-40B4-BE49-F238E27FC236}">
                    <a16:creationId xmlns:a16="http://schemas.microsoft.com/office/drawing/2014/main" id="{1F791204-99FA-46C2-9106-52FC65367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38250" y="3657600"/>
                <a:ext cx="6667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23">
                <a:extLst>
                  <a:ext uri="{FF2B5EF4-FFF2-40B4-BE49-F238E27FC236}">
                    <a16:creationId xmlns:a16="http://schemas.microsoft.com/office/drawing/2014/main" id="{532B1823-EAF2-41A2-AD67-BE57CCB29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4419600"/>
                <a:ext cx="6840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Text Box 25">
                <a:extLst>
                  <a:ext uri="{FF2B5EF4-FFF2-40B4-BE49-F238E27FC236}">
                    <a16:creationId xmlns:a16="http://schemas.microsoft.com/office/drawing/2014/main" id="{95BF2E19-4629-4B8A-92EF-D6C4488F8A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820738" y="3849688"/>
                <a:ext cx="682625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  <a:latin typeface="ISOCP" pitchFamily="2" charset="0"/>
                  </a:rPr>
                  <a:t>φ</a:t>
                </a:r>
                <a:r>
                  <a:rPr lang="en-US" altLang="zh-CN" i="1">
                    <a:solidFill>
                      <a:schemeClr val="tx1"/>
                    </a:solidFill>
                    <a:latin typeface="ISOCPEUR" pitchFamily="34" charset="0"/>
                  </a:rPr>
                  <a:t>20</a:t>
                </a:r>
                <a:endParaRPr lang="en-US" altLang="zh-CN" b="0">
                  <a:solidFill>
                    <a:schemeClr val="tx1"/>
                  </a:solidFill>
                  <a:latin typeface="ISOCPEUR" pitchFamily="34" charset="0"/>
                </a:endParaRPr>
              </a:p>
            </p:txBody>
          </p:sp>
        </p:grpSp>
      </p:grpSp>
      <p:sp>
        <p:nvSpPr>
          <p:cNvPr id="21" name="Text Box 26">
            <a:extLst>
              <a:ext uri="{FF2B5EF4-FFF2-40B4-BE49-F238E27FC236}">
                <a16:creationId xmlns:a16="http://schemas.microsoft.com/office/drawing/2014/main" id="{73C58D56-52FE-4342-B86A-B37C06789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4678" y="2630572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配合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  <p:sp>
        <p:nvSpPr>
          <p:cNvPr id="22" name="Rectangle 105">
            <a:extLst>
              <a:ext uri="{FF2B5EF4-FFF2-40B4-BE49-F238E27FC236}">
                <a16:creationId xmlns:a16="http://schemas.microsoft.com/office/drawing/2014/main" id="{79EF6D9F-8593-4976-8FB9-2A7A35D98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006" y="926539"/>
            <a:ext cx="1404937" cy="508000"/>
          </a:xfrm>
          <a:prstGeom prst="rect">
            <a:avLst/>
          </a:prstGeom>
          <a:noFill/>
          <a:ln w="6350">
            <a:pattFill prst="smCheck">
              <a:fgClr>
                <a:schemeClr val="bg1"/>
              </a:fgClr>
              <a:bgClr>
                <a:srgbClr val="CC00FF"/>
              </a:bgClr>
            </a:patt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配 合</a:t>
            </a:r>
          </a:p>
        </p:txBody>
      </p:sp>
      <p:sp>
        <p:nvSpPr>
          <p:cNvPr id="23" name="Text Box 31">
            <a:extLst>
              <a:ext uri="{FF2B5EF4-FFF2-40B4-BE49-F238E27FC236}">
                <a16:creationId xmlns:a16="http://schemas.microsoft.com/office/drawing/2014/main" id="{85E7ACC8-A9FE-4E56-99B7-A872EE6E0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397740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</a:p>
        </p:txBody>
      </p:sp>
      <p:pic>
        <p:nvPicPr>
          <p:cNvPr id="24" name="Picture 1">
            <a:extLst>
              <a:ext uri="{FF2B5EF4-FFF2-40B4-BE49-F238E27FC236}">
                <a16:creationId xmlns:a16="http://schemas.microsoft.com/office/drawing/2014/main" id="{ACC4AFFC-28FC-4E26-816E-38D1CBA7F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627" t="16467" b="6886"/>
          <a:stretch>
            <a:fillRect/>
          </a:stretch>
        </p:blipFill>
        <p:spPr bwMode="auto">
          <a:xfrm>
            <a:off x="5231904" y="3193417"/>
            <a:ext cx="1917701" cy="136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Picture 1">
            <a:extLst>
              <a:ext uri="{FF2B5EF4-FFF2-40B4-BE49-F238E27FC236}">
                <a16:creationId xmlns:a16="http://schemas.microsoft.com/office/drawing/2014/main" id="{675B1C7B-540C-4999-A7AE-9FB090346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4192"/>
          <a:stretch>
            <a:fillRect/>
          </a:stretch>
        </p:blipFill>
        <p:spPr bwMode="auto">
          <a:xfrm>
            <a:off x="8225259" y="3082669"/>
            <a:ext cx="1381662" cy="1804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36102957-AD0D-4B2A-BD2F-393C83636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86005" y="3177313"/>
            <a:ext cx="2017135" cy="1744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Picture 3">
            <a:extLst>
              <a:ext uri="{FF2B5EF4-FFF2-40B4-BE49-F238E27FC236}">
                <a16:creationId xmlns:a16="http://schemas.microsoft.com/office/drawing/2014/main" id="{0EBD39A5-015E-4B54-BE80-A4364DFE4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27570" y="3193417"/>
            <a:ext cx="1989425" cy="1709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9833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21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A207C7A-67E5-4C69-B5C2-9D4C530F5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272" t="27446" b="20149"/>
          <a:stretch>
            <a:fillRect/>
          </a:stretch>
        </p:blipFill>
        <p:spPr bwMode="auto">
          <a:xfrm>
            <a:off x="4933365" y="4772887"/>
            <a:ext cx="1010920" cy="1069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6C4C63-3C35-4CA7-8893-3B3ACF37A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2982"/>
          <a:stretch>
            <a:fillRect/>
          </a:stretch>
        </p:blipFill>
        <p:spPr bwMode="auto">
          <a:xfrm>
            <a:off x="2430513" y="4271888"/>
            <a:ext cx="1616392" cy="1799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1135C9D2-D88C-464F-9CE2-D192E1AC6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515" y="863484"/>
            <a:ext cx="2528554" cy="52540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配合的种类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6BFD522-2240-49D3-AFE9-DF6EE905D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467" y="1401210"/>
            <a:ext cx="2503487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①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间隙配合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D3C248C4-3948-46D4-B93A-01EF3CDA8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886" y="1521909"/>
            <a:ext cx="5752193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具有间隙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包括最小间隙等于零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的配合。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340285AF-7B43-41C4-BDCC-07826498557A}"/>
              </a:ext>
            </a:extLst>
          </p:cNvPr>
          <p:cNvGrpSpPr>
            <a:grpSpLocks/>
          </p:cNvGrpSpPr>
          <p:nvPr/>
        </p:nvGrpSpPr>
        <p:grpSpPr bwMode="auto">
          <a:xfrm>
            <a:off x="3717340" y="2041002"/>
            <a:ext cx="754063" cy="663575"/>
            <a:chOff x="4986" y="2386"/>
            <a:chExt cx="475" cy="418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D9EF8BD2-5CCA-4F51-A401-78F96F29B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6" y="2649"/>
              <a:ext cx="475" cy="155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59B88B0D-67A5-48F1-BFFB-269406DF7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5" y="2386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</a:rPr>
                <a:t>孔</a:t>
              </a: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26B70A60-C87B-49A9-898E-554908B00AD2}"/>
              </a:ext>
            </a:extLst>
          </p:cNvPr>
          <p:cNvGrpSpPr>
            <a:grpSpLocks/>
          </p:cNvGrpSpPr>
          <p:nvPr/>
        </p:nvGrpSpPr>
        <p:grpSpPr bwMode="auto">
          <a:xfrm>
            <a:off x="5049253" y="2037827"/>
            <a:ext cx="754062" cy="676275"/>
            <a:chOff x="4997" y="2804"/>
            <a:chExt cx="475" cy="426"/>
          </a:xfrm>
        </p:grpSpPr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2335FD24-3B3A-495D-AAF0-38578378C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075"/>
              <a:ext cx="475" cy="155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5FC4A512-CFC4-4DC3-890D-F89E0F6B64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1" y="2804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chemeClr val="tx1"/>
                  </a:solidFill>
                </a:rPr>
                <a:t>轴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6D0C632-6506-4903-BB42-1C93743098B1}"/>
              </a:ext>
            </a:extLst>
          </p:cNvPr>
          <p:cNvGrpSpPr/>
          <p:nvPr/>
        </p:nvGrpSpPr>
        <p:grpSpPr>
          <a:xfrm>
            <a:off x="5608499" y="2907777"/>
            <a:ext cx="896174" cy="2868767"/>
            <a:chOff x="4236214" y="3213100"/>
            <a:chExt cx="896174" cy="2868767"/>
          </a:xfrm>
        </p:grpSpPr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233F6620-EF80-4C2D-ADDD-4249B62788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698727" y="4040951"/>
              <a:ext cx="147508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下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D1D4F112-9869-4A25-AF3B-BD755268E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27352" y="4031426"/>
              <a:ext cx="147508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chemeClr val="tx1"/>
                  </a:solidFill>
                </a:rPr>
                <a:t>上</a:t>
              </a:r>
              <a:r>
                <a:rPr lang="zh-CN" altLang="zh-CN" sz="2000">
                  <a:solidFill>
                    <a:schemeClr val="tx1"/>
                  </a:solidFill>
                </a:rPr>
                <a:t>极限尺寸</a:t>
              </a: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F27C558A-0CE7-40E2-8ED9-784EE0B4B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6575" y="5294948"/>
              <a:ext cx="3365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1">
              <a:extLst>
                <a:ext uri="{FF2B5EF4-FFF2-40B4-BE49-F238E27FC236}">
                  <a16:creationId xmlns:a16="http://schemas.microsoft.com/office/drawing/2014/main" id="{5639B4B4-240A-4DD1-B58E-FC8E01066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225" y="6065838"/>
              <a:ext cx="773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22">
              <a:extLst>
                <a:ext uri="{FF2B5EF4-FFF2-40B4-BE49-F238E27FC236}">
                  <a16:creationId xmlns:a16="http://schemas.microsoft.com/office/drawing/2014/main" id="{357276A8-9007-4392-AA53-E787EEB96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150" y="5289867"/>
              <a:ext cx="1588" cy="792000"/>
            </a:xfrm>
            <a:custGeom>
              <a:avLst/>
              <a:gdLst>
                <a:gd name="T0" fmla="*/ 0 w 1"/>
                <a:gd name="T1" fmla="*/ 0 h 407"/>
                <a:gd name="T2" fmla="*/ 0 w 1"/>
                <a:gd name="T3" fmla="*/ 407 h 407"/>
                <a:gd name="T4" fmla="*/ 0 60000 65536"/>
                <a:gd name="T5" fmla="*/ 0 60000 65536"/>
                <a:gd name="T6" fmla="*/ 0 w 1"/>
                <a:gd name="T7" fmla="*/ 0 h 407"/>
                <a:gd name="T8" fmla="*/ 1 w 1"/>
                <a:gd name="T9" fmla="*/ 407 h 40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07">
                  <a:moveTo>
                    <a:pt x="0" y="0"/>
                  </a:moveTo>
                  <a:lnTo>
                    <a:pt x="0" y="40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23">
              <a:extLst>
                <a:ext uri="{FF2B5EF4-FFF2-40B4-BE49-F238E27FC236}">
                  <a16:creationId xmlns:a16="http://schemas.microsoft.com/office/drawing/2014/main" id="{F6B81F36-BEF7-40A9-9AAE-98EC046E81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41900" y="5136515"/>
              <a:ext cx="0" cy="936000"/>
            </a:xfrm>
            <a:custGeom>
              <a:avLst/>
              <a:gdLst>
                <a:gd name="T0" fmla="*/ 0 w 1"/>
                <a:gd name="T1" fmla="*/ 6067 h 494"/>
                <a:gd name="T2" fmla="*/ 0 w 1"/>
                <a:gd name="T3" fmla="*/ 0 h 494"/>
                <a:gd name="T4" fmla="*/ 0 60000 65536"/>
                <a:gd name="T5" fmla="*/ 0 60000 65536"/>
                <a:gd name="T6" fmla="*/ 0 w 1"/>
                <a:gd name="T7" fmla="*/ 0 h 494"/>
                <a:gd name="T8" fmla="*/ 1 w 1"/>
                <a:gd name="T9" fmla="*/ 494 h 4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94">
                  <a:moveTo>
                    <a:pt x="0" y="494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63A10BC5-3A85-4D33-9009-3E38AC93E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225" y="5143500"/>
              <a:ext cx="792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1FF17D76-1342-4484-B1E5-27709B682B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9150" y="3213100"/>
              <a:ext cx="0" cy="2082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ACC1F38A-508A-46F7-8C65-A2AD944591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1900" y="3242945"/>
              <a:ext cx="0" cy="19097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27">
            <a:extLst>
              <a:ext uri="{FF2B5EF4-FFF2-40B4-BE49-F238E27FC236}">
                <a16:creationId xmlns:a16="http://schemas.microsoft.com/office/drawing/2014/main" id="{86776485-4CFE-48EE-AABC-99D3393D0106}"/>
              </a:ext>
            </a:extLst>
          </p:cNvPr>
          <p:cNvGrpSpPr>
            <a:grpSpLocks/>
          </p:cNvGrpSpPr>
          <p:nvPr/>
        </p:nvGrpSpPr>
        <p:grpSpPr bwMode="auto">
          <a:xfrm>
            <a:off x="4014201" y="2966516"/>
            <a:ext cx="1006475" cy="2035175"/>
            <a:chOff x="1597" y="1761"/>
            <a:chExt cx="634" cy="1282"/>
          </a:xfrm>
        </p:grpSpPr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87E60B7B-C0AE-4A84-BEC9-2BB9406696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19" y="2019"/>
              <a:ext cx="76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/>
                <a:t>最大间隙</a:t>
              </a:r>
            </a:p>
          </p:txBody>
        </p:sp>
        <p:grpSp>
          <p:nvGrpSpPr>
            <p:cNvPr id="25" name="Group 29">
              <a:extLst>
                <a:ext uri="{FF2B5EF4-FFF2-40B4-BE49-F238E27FC236}">
                  <a16:creationId xmlns:a16="http://schemas.microsoft.com/office/drawing/2014/main" id="{1108EE6A-C79B-468A-B4E2-B62788612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7" y="1780"/>
              <a:ext cx="634" cy="1263"/>
              <a:chOff x="1597" y="1780"/>
              <a:chExt cx="634" cy="1263"/>
            </a:xfrm>
          </p:grpSpPr>
          <p:sp>
            <p:nvSpPr>
              <p:cNvPr id="26" name="Freeform 30">
                <a:extLst>
                  <a:ext uri="{FF2B5EF4-FFF2-40B4-BE49-F238E27FC236}">
                    <a16:creationId xmlns:a16="http://schemas.microsoft.com/office/drawing/2014/main" id="{275C3140-2686-44A4-91EB-147408FA8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9" y="3040"/>
                <a:ext cx="362" cy="3"/>
              </a:xfrm>
              <a:custGeom>
                <a:avLst/>
                <a:gdLst>
                  <a:gd name="T0" fmla="*/ 362 w 362"/>
                  <a:gd name="T1" fmla="*/ 3 h 3"/>
                  <a:gd name="T2" fmla="*/ 0 w 362"/>
                  <a:gd name="T3" fmla="*/ 0 h 3"/>
                  <a:gd name="T4" fmla="*/ 0 60000 65536"/>
                  <a:gd name="T5" fmla="*/ 0 60000 65536"/>
                  <a:gd name="T6" fmla="*/ 0 w 362"/>
                  <a:gd name="T7" fmla="*/ 0 h 3"/>
                  <a:gd name="T8" fmla="*/ 362 w 362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2" h="3">
                    <a:moveTo>
                      <a:pt x="362" y="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27" name="Line 31">
                <a:extLst>
                  <a:ext uri="{FF2B5EF4-FFF2-40B4-BE49-F238E27FC236}">
                    <a16:creationId xmlns:a16="http://schemas.microsoft.com/office/drawing/2014/main" id="{5B07367B-E071-4CAF-BB4C-08D80D774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7" y="2767"/>
                <a:ext cx="40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28" name="Freeform 32">
                <a:extLst>
                  <a:ext uri="{FF2B5EF4-FFF2-40B4-BE49-F238E27FC236}">
                    <a16:creationId xmlns:a16="http://schemas.microsoft.com/office/drawing/2014/main" id="{4E08ED9F-F105-4E54-B0C6-240490113FC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922" y="2770"/>
                <a:ext cx="0" cy="272"/>
              </a:xfrm>
              <a:custGeom>
                <a:avLst/>
                <a:gdLst>
                  <a:gd name="T0" fmla="*/ 0 w 1"/>
                  <a:gd name="T1" fmla="*/ 0 h 250"/>
                  <a:gd name="T2" fmla="*/ 0 w 1"/>
                  <a:gd name="T3" fmla="*/ 4069225 h 250"/>
                  <a:gd name="T4" fmla="*/ 0 60000 65536"/>
                  <a:gd name="T5" fmla="*/ 0 60000 65536"/>
                  <a:gd name="T6" fmla="*/ 0 w 1"/>
                  <a:gd name="T7" fmla="*/ 0 h 250"/>
                  <a:gd name="T8" fmla="*/ 1 w 1"/>
                  <a:gd name="T9" fmla="*/ 250 h 25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50">
                    <a:moveTo>
                      <a:pt x="0" y="0"/>
                    </a:moveTo>
                    <a:lnTo>
                      <a:pt x="0" y="250"/>
                    </a:lnTo>
                  </a:path>
                </a:pathLst>
              </a:custGeom>
              <a:noFill/>
              <a:ln w="19050">
                <a:solidFill>
                  <a:srgbClr val="000099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29" name="Line 33">
                <a:extLst>
                  <a:ext uri="{FF2B5EF4-FFF2-40B4-BE49-F238E27FC236}">
                    <a16:creationId xmlns:a16="http://schemas.microsoft.com/office/drawing/2014/main" id="{EF70D936-FD67-4363-97A7-A4BB5EB15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1" y="1780"/>
                <a:ext cx="1" cy="104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</p:grpSp>
      <p:grpSp>
        <p:nvGrpSpPr>
          <p:cNvPr id="30" name="Group 34">
            <a:extLst>
              <a:ext uri="{FF2B5EF4-FFF2-40B4-BE49-F238E27FC236}">
                <a16:creationId xmlns:a16="http://schemas.microsoft.com/office/drawing/2014/main" id="{E42680BA-0632-4FFB-9FF9-11013E8EF2D2}"/>
              </a:ext>
            </a:extLst>
          </p:cNvPr>
          <p:cNvGrpSpPr>
            <a:grpSpLocks/>
          </p:cNvGrpSpPr>
          <p:nvPr/>
        </p:nvGrpSpPr>
        <p:grpSpPr bwMode="auto">
          <a:xfrm>
            <a:off x="4015798" y="3218927"/>
            <a:ext cx="971552" cy="1828800"/>
            <a:chOff x="1598" y="1920"/>
            <a:chExt cx="612" cy="1152"/>
          </a:xfrm>
        </p:grpSpPr>
        <p:sp>
          <p:nvSpPr>
            <p:cNvPr id="31" name="Text Box 35">
              <a:extLst>
                <a:ext uri="{FF2B5EF4-FFF2-40B4-BE49-F238E27FC236}">
                  <a16:creationId xmlns:a16="http://schemas.microsoft.com/office/drawing/2014/main" id="{A53F8602-530A-4BAA-8D6A-CE5F54D41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648" y="2216"/>
              <a:ext cx="76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/>
                <a:t>最小间隙</a:t>
              </a:r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1DA33A49-538B-431B-9214-5CE30B689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2945"/>
              <a:ext cx="1" cy="127"/>
            </a:xfrm>
            <a:custGeom>
              <a:avLst/>
              <a:gdLst>
                <a:gd name="T0" fmla="*/ 0 w 1"/>
                <a:gd name="T1" fmla="*/ 0 h 127"/>
                <a:gd name="T2" fmla="*/ 0 w 1"/>
                <a:gd name="T3" fmla="*/ 127 h 127"/>
                <a:gd name="T4" fmla="*/ 0 60000 65536"/>
                <a:gd name="T5" fmla="*/ 0 60000 65536"/>
                <a:gd name="T6" fmla="*/ 0 w 1"/>
                <a:gd name="T7" fmla="*/ 0 h 127"/>
                <a:gd name="T8" fmla="*/ 1 w 1"/>
                <a:gd name="T9" fmla="*/ 127 h 1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7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AC538766-3C63-4CD7-A079-C62632791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2847"/>
              <a:ext cx="612" cy="1"/>
            </a:xfrm>
            <a:custGeom>
              <a:avLst/>
              <a:gdLst>
                <a:gd name="T0" fmla="*/ 0 w 384"/>
                <a:gd name="T1" fmla="*/ 0 h 1"/>
                <a:gd name="T2" fmla="*/ 384 w 384"/>
                <a:gd name="T3" fmla="*/ 0 h 1"/>
                <a:gd name="T4" fmla="*/ 0 60000 65536"/>
                <a:gd name="T5" fmla="*/ 0 60000 65536"/>
                <a:gd name="T6" fmla="*/ 0 w 384"/>
                <a:gd name="T7" fmla="*/ 0 h 1"/>
                <a:gd name="T8" fmla="*/ 384 w 38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4" h="1">
                  <a:moveTo>
                    <a:pt x="0" y="0"/>
                  </a:moveTo>
                  <a:lnTo>
                    <a:pt x="384" y="0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F8759AC2-6BB1-4566-B5C5-93116542F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2942"/>
              <a:ext cx="150" cy="0"/>
            </a:xfrm>
            <a:custGeom>
              <a:avLst/>
              <a:gdLst>
                <a:gd name="T0" fmla="*/ 150 w 150"/>
                <a:gd name="T1" fmla="*/ 1 h 1"/>
                <a:gd name="T2" fmla="*/ 0 w 150"/>
                <a:gd name="T3" fmla="*/ 0 h 1"/>
                <a:gd name="T4" fmla="*/ 0 60000 65536"/>
                <a:gd name="T5" fmla="*/ 0 60000 65536"/>
                <a:gd name="T6" fmla="*/ 0 w 150"/>
                <a:gd name="T7" fmla="*/ 0 h 1"/>
                <a:gd name="T8" fmla="*/ 150 w 15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" h="1">
                  <a:moveTo>
                    <a:pt x="150" y="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5" name="Line 39">
              <a:extLst>
                <a:ext uri="{FF2B5EF4-FFF2-40B4-BE49-F238E27FC236}">
                  <a16:creationId xmlns:a16="http://schemas.microsoft.com/office/drawing/2014/main" id="{4319B474-EB56-4499-BFE9-A2B95BCF89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2" y="2835"/>
              <a:ext cx="0" cy="11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6" name="Line 40">
              <a:extLst>
                <a:ext uri="{FF2B5EF4-FFF2-40B4-BE49-F238E27FC236}">
                  <a16:creationId xmlns:a16="http://schemas.microsoft.com/office/drawing/2014/main" id="{A2FA4561-440D-4C26-9F32-DEE1C5C5C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4" y="1920"/>
              <a:ext cx="0" cy="93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D5DA6D1-BA12-4254-B328-E328DA8F1E73}"/>
              </a:ext>
            </a:extLst>
          </p:cNvPr>
          <p:cNvGrpSpPr/>
          <p:nvPr/>
        </p:nvGrpSpPr>
        <p:grpSpPr>
          <a:xfrm>
            <a:off x="1850324" y="2810940"/>
            <a:ext cx="1392487" cy="2849563"/>
            <a:chOff x="371359" y="3116263"/>
            <a:chExt cx="1392487" cy="2849563"/>
          </a:xfrm>
        </p:grpSpPr>
        <p:sp>
          <p:nvSpPr>
            <p:cNvPr id="38" name="Freeform 55">
              <a:extLst>
                <a:ext uri="{FF2B5EF4-FFF2-40B4-BE49-F238E27FC236}">
                  <a16:creationId xmlns:a16="http://schemas.microsoft.com/office/drawing/2014/main" id="{E26903D2-0FDD-472F-A605-72DEF689B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846" y="5000625"/>
              <a:ext cx="273050" cy="1588"/>
            </a:xfrm>
            <a:custGeom>
              <a:avLst/>
              <a:gdLst>
                <a:gd name="T0" fmla="*/ 172 w 172"/>
                <a:gd name="T1" fmla="*/ 0 h 1"/>
                <a:gd name="T2" fmla="*/ 0 w 172"/>
                <a:gd name="T3" fmla="*/ 0 h 1"/>
                <a:gd name="T4" fmla="*/ 0 60000 65536"/>
                <a:gd name="T5" fmla="*/ 0 60000 65536"/>
                <a:gd name="T6" fmla="*/ 0 w 172"/>
                <a:gd name="T7" fmla="*/ 0 h 1"/>
                <a:gd name="T8" fmla="*/ 172 w 1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2" h="1">
                  <a:moveTo>
                    <a:pt x="172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Freeform 56">
              <a:extLst>
                <a:ext uri="{FF2B5EF4-FFF2-40B4-BE49-F238E27FC236}">
                  <a16:creationId xmlns:a16="http://schemas.microsoft.com/office/drawing/2014/main" id="{732A085E-60E7-4932-BC2B-4BFDAC272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71" y="5945188"/>
              <a:ext cx="669925" cy="1588"/>
            </a:xfrm>
            <a:custGeom>
              <a:avLst/>
              <a:gdLst>
                <a:gd name="T0" fmla="*/ 422 w 422"/>
                <a:gd name="T1" fmla="*/ 0 h 1"/>
                <a:gd name="T2" fmla="*/ 0 w 422"/>
                <a:gd name="T3" fmla="*/ 0 h 1"/>
                <a:gd name="T4" fmla="*/ 0 60000 65536"/>
                <a:gd name="T5" fmla="*/ 0 60000 65536"/>
                <a:gd name="T6" fmla="*/ 0 w 422"/>
                <a:gd name="T7" fmla="*/ 0 h 1"/>
                <a:gd name="T8" fmla="*/ 422 w 42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22" h="1">
                  <a:moveTo>
                    <a:pt x="422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Freeform 57">
              <a:extLst>
                <a:ext uri="{FF2B5EF4-FFF2-40B4-BE49-F238E27FC236}">
                  <a16:creationId xmlns:a16="http://schemas.microsoft.com/office/drawing/2014/main" id="{1C22300E-4BFF-410C-BE0E-C364F0364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846" y="4862513"/>
              <a:ext cx="1044000" cy="1588"/>
            </a:xfrm>
            <a:custGeom>
              <a:avLst/>
              <a:gdLst>
                <a:gd name="T0" fmla="*/ 412 w 412"/>
                <a:gd name="T1" fmla="*/ 1 h 1"/>
                <a:gd name="T2" fmla="*/ 0 w 412"/>
                <a:gd name="T3" fmla="*/ 0 h 1"/>
                <a:gd name="T4" fmla="*/ 0 60000 65536"/>
                <a:gd name="T5" fmla="*/ 0 60000 65536"/>
                <a:gd name="T6" fmla="*/ 0 w 412"/>
                <a:gd name="T7" fmla="*/ 0 h 1"/>
                <a:gd name="T8" fmla="*/ 412 w 41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12" h="1">
                  <a:moveTo>
                    <a:pt x="412" y="1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Freeform 58">
              <a:extLst>
                <a:ext uri="{FF2B5EF4-FFF2-40B4-BE49-F238E27FC236}">
                  <a16:creationId xmlns:a16="http://schemas.microsoft.com/office/drawing/2014/main" id="{E1B7C995-15D0-4B0C-86CC-6FF080A54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533" y="4985702"/>
              <a:ext cx="1588" cy="972000"/>
            </a:xfrm>
            <a:custGeom>
              <a:avLst/>
              <a:gdLst>
                <a:gd name="T0" fmla="*/ 0 w 1"/>
                <a:gd name="T1" fmla="*/ 0 h 555"/>
                <a:gd name="T2" fmla="*/ 0 w 1"/>
                <a:gd name="T3" fmla="*/ 555 h 555"/>
                <a:gd name="T4" fmla="*/ 0 60000 65536"/>
                <a:gd name="T5" fmla="*/ 0 60000 65536"/>
                <a:gd name="T6" fmla="*/ 0 w 1"/>
                <a:gd name="T7" fmla="*/ 0 h 555"/>
                <a:gd name="T8" fmla="*/ 1 w 1"/>
                <a:gd name="T9" fmla="*/ 555 h 5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55">
                  <a:moveTo>
                    <a:pt x="0" y="0"/>
                  </a:moveTo>
                  <a:lnTo>
                    <a:pt x="0" y="5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Freeform 59">
              <a:extLst>
                <a:ext uri="{FF2B5EF4-FFF2-40B4-BE49-F238E27FC236}">
                  <a16:creationId xmlns:a16="http://schemas.microsoft.com/office/drawing/2014/main" id="{63C3E308-7835-4EA5-9475-0B7C88ABE0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08733" y="4856163"/>
              <a:ext cx="74613" cy="1109663"/>
            </a:xfrm>
            <a:custGeom>
              <a:avLst/>
              <a:gdLst>
                <a:gd name="T0" fmla="*/ 0 w 1"/>
                <a:gd name="T1" fmla="*/ 0 h 645"/>
                <a:gd name="T2" fmla="*/ 0 w 1"/>
                <a:gd name="T3" fmla="*/ 3227 h 645"/>
                <a:gd name="T4" fmla="*/ 0 60000 65536"/>
                <a:gd name="T5" fmla="*/ 0 60000 65536"/>
                <a:gd name="T6" fmla="*/ 0 w 1"/>
                <a:gd name="T7" fmla="*/ 0 h 645"/>
                <a:gd name="T8" fmla="*/ 1 w 1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45">
                  <a:moveTo>
                    <a:pt x="0" y="0"/>
                  </a:moveTo>
                  <a:lnTo>
                    <a:pt x="0" y="64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Text Box 60">
              <a:extLst>
                <a:ext uri="{FF2B5EF4-FFF2-40B4-BE49-F238E27FC236}">
                  <a16:creationId xmlns:a16="http://schemas.microsoft.com/office/drawing/2014/main" id="{231A8ACA-4DAD-4181-A11B-FAC047D9B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166128" y="3726626"/>
              <a:ext cx="147508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上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4" name="Freeform 61">
              <a:extLst>
                <a:ext uri="{FF2B5EF4-FFF2-40B4-BE49-F238E27FC236}">
                  <a16:creationId xmlns:a16="http://schemas.microsoft.com/office/drawing/2014/main" id="{5EA23998-9CF3-4F4C-976D-372BBE3D6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533" y="3151188"/>
              <a:ext cx="1588" cy="1976438"/>
            </a:xfrm>
            <a:custGeom>
              <a:avLst/>
              <a:gdLst>
                <a:gd name="T0" fmla="*/ 0 w 1"/>
                <a:gd name="T1" fmla="*/ 1245 h 1245"/>
                <a:gd name="T2" fmla="*/ 0 w 1"/>
                <a:gd name="T3" fmla="*/ 0 h 1245"/>
                <a:gd name="T4" fmla="*/ 0 60000 65536"/>
                <a:gd name="T5" fmla="*/ 0 60000 65536"/>
                <a:gd name="T6" fmla="*/ 0 w 1"/>
                <a:gd name="T7" fmla="*/ 0 h 1245"/>
                <a:gd name="T8" fmla="*/ 1 w 1"/>
                <a:gd name="T9" fmla="*/ 1245 h 12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45">
                  <a:moveTo>
                    <a:pt x="0" y="124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66">
              <a:extLst>
                <a:ext uri="{FF2B5EF4-FFF2-40B4-BE49-F238E27FC236}">
                  <a16:creationId xmlns:a16="http://schemas.microsoft.com/office/drawing/2014/main" id="{0AE49320-78DC-44FB-AACD-E3E82F99F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97410" y="3744089"/>
              <a:ext cx="147508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下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6" name="Freeform 67">
              <a:extLst>
                <a:ext uri="{FF2B5EF4-FFF2-40B4-BE49-F238E27FC236}">
                  <a16:creationId xmlns:a16="http://schemas.microsoft.com/office/drawing/2014/main" id="{125F14D6-FB63-49EF-BB70-C74E16DA4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346" y="3116263"/>
              <a:ext cx="1588" cy="1868488"/>
            </a:xfrm>
            <a:custGeom>
              <a:avLst/>
              <a:gdLst>
                <a:gd name="T0" fmla="*/ 0 w 1"/>
                <a:gd name="T1" fmla="*/ 1177 h 1177"/>
                <a:gd name="T2" fmla="*/ 0 w 1"/>
                <a:gd name="T3" fmla="*/ 0 h 1177"/>
                <a:gd name="T4" fmla="*/ 0 60000 65536"/>
                <a:gd name="T5" fmla="*/ 0 60000 65536"/>
                <a:gd name="T6" fmla="*/ 0 w 1"/>
                <a:gd name="T7" fmla="*/ 0 h 1177"/>
                <a:gd name="T8" fmla="*/ 1 w 1"/>
                <a:gd name="T9" fmla="*/ 1177 h 11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77">
                  <a:moveTo>
                    <a:pt x="0" y="1177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" name="Group 69">
            <a:extLst>
              <a:ext uri="{FF2B5EF4-FFF2-40B4-BE49-F238E27FC236}">
                <a16:creationId xmlns:a16="http://schemas.microsoft.com/office/drawing/2014/main" id="{11856AE7-676D-4E69-9372-FACDD0A25148}"/>
              </a:ext>
            </a:extLst>
          </p:cNvPr>
          <p:cNvGrpSpPr>
            <a:grpSpLocks/>
          </p:cNvGrpSpPr>
          <p:nvPr/>
        </p:nvGrpSpPr>
        <p:grpSpPr bwMode="auto">
          <a:xfrm>
            <a:off x="6924092" y="3703115"/>
            <a:ext cx="1993900" cy="1998662"/>
            <a:chOff x="3430" y="2125"/>
            <a:chExt cx="1256" cy="1259"/>
          </a:xfrm>
        </p:grpSpPr>
        <p:sp>
          <p:nvSpPr>
            <p:cNvPr id="48" name="Rectangle 70">
              <a:extLst>
                <a:ext uri="{FF2B5EF4-FFF2-40B4-BE49-F238E27FC236}">
                  <a16:creationId xmlns:a16="http://schemas.microsoft.com/office/drawing/2014/main" id="{40CD2801-DA0F-4C88-AC47-ED39678BB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" y="2893"/>
              <a:ext cx="523" cy="17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9" name="Rectangle 71">
              <a:extLst>
                <a:ext uri="{FF2B5EF4-FFF2-40B4-BE49-F238E27FC236}">
                  <a16:creationId xmlns:a16="http://schemas.microsoft.com/office/drawing/2014/main" id="{152D46EE-9114-4B0E-8DEB-4B6913CE3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" y="3197"/>
              <a:ext cx="523" cy="176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0" name="Line 72">
              <a:extLst>
                <a:ext uri="{FF2B5EF4-FFF2-40B4-BE49-F238E27FC236}">
                  <a16:creationId xmlns:a16="http://schemas.microsoft.com/office/drawing/2014/main" id="{C44EE35E-B1A9-49C1-AA7A-8CCCE311DC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42" y="2899"/>
              <a:ext cx="211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1" name="Line 73">
              <a:extLst>
                <a:ext uri="{FF2B5EF4-FFF2-40B4-BE49-F238E27FC236}">
                  <a16:creationId xmlns:a16="http://schemas.microsoft.com/office/drawing/2014/main" id="{0F6365EC-DBB6-4313-91D8-835468F5C7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2" y="3373"/>
              <a:ext cx="211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2" name="Freeform 74">
              <a:extLst>
                <a:ext uri="{FF2B5EF4-FFF2-40B4-BE49-F238E27FC236}">
                  <a16:creationId xmlns:a16="http://schemas.microsoft.com/office/drawing/2014/main" id="{DEEB4675-3E38-444A-849F-1E81E4CBD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886"/>
              <a:ext cx="1" cy="498"/>
            </a:xfrm>
            <a:custGeom>
              <a:avLst/>
              <a:gdLst>
                <a:gd name="T0" fmla="*/ 0 w 1"/>
                <a:gd name="T1" fmla="*/ 498 h 498"/>
                <a:gd name="T2" fmla="*/ 0 w 1"/>
                <a:gd name="T3" fmla="*/ 0 h 498"/>
                <a:gd name="T4" fmla="*/ 0 60000 65536"/>
                <a:gd name="T5" fmla="*/ 0 60000 65536"/>
                <a:gd name="T6" fmla="*/ 0 w 1"/>
                <a:gd name="T7" fmla="*/ 0 h 498"/>
                <a:gd name="T8" fmla="*/ 1 w 1"/>
                <a:gd name="T9" fmla="*/ 498 h 4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98">
                  <a:moveTo>
                    <a:pt x="0" y="49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3" name="Text Box 75">
              <a:extLst>
                <a:ext uri="{FF2B5EF4-FFF2-40B4-BE49-F238E27FC236}">
                  <a16:creationId xmlns:a16="http://schemas.microsoft.com/office/drawing/2014/main" id="{0E7CA990-B0F0-4035-85F6-98BB2F4D2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172" y="2383"/>
              <a:ext cx="76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/>
                <a:t>最大间隙</a:t>
              </a:r>
            </a:p>
          </p:txBody>
        </p:sp>
        <p:sp>
          <p:nvSpPr>
            <p:cNvPr id="54" name="Line 76">
              <a:extLst>
                <a:ext uri="{FF2B5EF4-FFF2-40B4-BE49-F238E27FC236}">
                  <a16:creationId xmlns:a16="http://schemas.microsoft.com/office/drawing/2014/main" id="{97042D03-4949-4295-B81A-F55EC086C3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1" y="2176"/>
              <a:ext cx="0" cy="80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5" name="Text Box 77">
              <a:extLst>
                <a:ext uri="{FF2B5EF4-FFF2-40B4-BE49-F238E27FC236}">
                  <a16:creationId xmlns:a16="http://schemas.microsoft.com/office/drawing/2014/main" id="{38EF3373-FDF3-4AB6-969C-408454F9D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138" y="2501"/>
              <a:ext cx="76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/>
                <a:t>最小间隙</a:t>
              </a:r>
            </a:p>
          </p:txBody>
        </p:sp>
        <p:sp>
          <p:nvSpPr>
            <p:cNvPr id="56" name="Line 78">
              <a:extLst>
                <a:ext uri="{FF2B5EF4-FFF2-40B4-BE49-F238E27FC236}">
                  <a16:creationId xmlns:a16="http://schemas.microsoft.com/office/drawing/2014/main" id="{88AAC082-3620-4E26-A1EB-F680A7F55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6" y="3197"/>
              <a:ext cx="30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7" name="Line 79">
              <a:extLst>
                <a:ext uri="{FF2B5EF4-FFF2-40B4-BE49-F238E27FC236}">
                  <a16:creationId xmlns:a16="http://schemas.microsoft.com/office/drawing/2014/main" id="{C78A6F26-A00D-478F-A6CF-A30A8CD0B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3075"/>
              <a:ext cx="0" cy="12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8" name="Line 80">
              <a:extLst>
                <a:ext uri="{FF2B5EF4-FFF2-40B4-BE49-F238E27FC236}">
                  <a16:creationId xmlns:a16="http://schemas.microsoft.com/office/drawing/2014/main" id="{9E90937E-3C6C-4E5C-AF42-5E9ABCB7A0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3183"/>
              <a:ext cx="0" cy="15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9" name="Line 81">
              <a:extLst>
                <a:ext uri="{FF2B5EF4-FFF2-40B4-BE49-F238E27FC236}">
                  <a16:creationId xmlns:a16="http://schemas.microsoft.com/office/drawing/2014/main" id="{6DCD2624-D61E-4AB0-84DD-0C3428FC2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0" y="2201"/>
              <a:ext cx="0" cy="88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60" name="Line 82">
              <a:extLst>
                <a:ext uri="{FF2B5EF4-FFF2-40B4-BE49-F238E27FC236}">
                  <a16:creationId xmlns:a16="http://schemas.microsoft.com/office/drawing/2014/main" id="{DF5727F4-17F8-42D9-8234-B5847AE0C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072"/>
              <a:ext cx="318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61" name="Text Box 85">
            <a:extLst>
              <a:ext uri="{FF2B5EF4-FFF2-40B4-BE49-F238E27FC236}">
                <a16:creationId xmlns:a16="http://schemas.microsoft.com/office/drawing/2014/main" id="{63EDFB2B-DEED-400E-BDCC-8ED5E9672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949" y="2150989"/>
            <a:ext cx="2397125" cy="830997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孔的公差带在轴的公差带之上</a:t>
            </a:r>
            <a:endParaRPr lang="zh-CN" altLang="en-US" sz="2400" b="0" dirty="0"/>
          </a:p>
        </p:txBody>
      </p:sp>
      <p:sp>
        <p:nvSpPr>
          <p:cNvPr id="62" name="Text Box 86">
            <a:extLst>
              <a:ext uri="{FF2B5EF4-FFF2-40B4-BE49-F238E27FC236}">
                <a16:creationId xmlns:a16="http://schemas.microsoft.com/office/drawing/2014/main" id="{84D2115E-A6B6-444C-A062-4451385B2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123" y="6141675"/>
            <a:ext cx="23503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6600"/>
                </a:solidFill>
              </a:rPr>
              <a:t>间隙配合示意图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  <p:sp>
        <p:nvSpPr>
          <p:cNvPr id="63" name="Text Box 31">
            <a:extLst>
              <a:ext uri="{FF2B5EF4-FFF2-40B4-BE49-F238E27FC236}">
                <a16:creationId xmlns:a16="http://schemas.microsoft.com/office/drawing/2014/main" id="{F9AD53F5-81A3-4CFA-9671-6BB300C4B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684" y="291099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AE5CC459-F67A-4744-8ED8-F7F4195E70A6}"/>
              </a:ext>
            </a:extLst>
          </p:cNvPr>
          <p:cNvGrpSpPr/>
          <p:nvPr/>
        </p:nvGrpSpPr>
        <p:grpSpPr>
          <a:xfrm>
            <a:off x="9100547" y="3344339"/>
            <a:ext cx="1128711" cy="2320925"/>
            <a:chOff x="7621582" y="3649662"/>
            <a:chExt cx="1128711" cy="2320925"/>
          </a:xfrm>
        </p:grpSpPr>
        <p:grpSp>
          <p:nvGrpSpPr>
            <p:cNvPr id="65" name="Group 87">
              <a:extLst>
                <a:ext uri="{FF2B5EF4-FFF2-40B4-BE49-F238E27FC236}">
                  <a16:creationId xmlns:a16="http://schemas.microsoft.com/office/drawing/2014/main" id="{B96EBE74-3B7F-4448-8E3C-609717EB5F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1582" y="3649662"/>
              <a:ext cx="1128711" cy="2320925"/>
              <a:chOff x="4801" y="1899"/>
              <a:chExt cx="711" cy="1462"/>
            </a:xfrm>
          </p:grpSpPr>
          <p:sp>
            <p:nvSpPr>
              <p:cNvPr id="67" name="Rectangle 88">
                <a:extLst>
                  <a:ext uri="{FF2B5EF4-FFF2-40B4-BE49-F238E27FC236}">
                    <a16:creationId xmlns:a16="http://schemas.microsoft.com/office/drawing/2014/main" id="{1CBFDB29-357B-4FBA-ADAD-862710F926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1" y="3013"/>
                <a:ext cx="523" cy="176"/>
              </a:xfrm>
              <a:prstGeom prst="rect">
                <a:avLst/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8" name="Rectangle 89">
                <a:extLst>
                  <a:ext uri="{FF2B5EF4-FFF2-40B4-BE49-F238E27FC236}">
                    <a16:creationId xmlns:a16="http://schemas.microsoft.com/office/drawing/2014/main" id="{03F28862-04A8-4DDB-815A-5E12818DC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1" y="3185"/>
                <a:ext cx="523" cy="17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9" name="Text Box 90">
                <a:extLst>
                  <a:ext uri="{FF2B5EF4-FFF2-40B4-BE49-F238E27FC236}">
                    <a16:creationId xmlns:a16="http://schemas.microsoft.com/office/drawing/2014/main" id="{E1450A63-0087-42ED-8BD4-949FF11E90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840" y="2319"/>
                <a:ext cx="1092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/>
                  <a:t>最小间隙是零</a:t>
                </a:r>
              </a:p>
            </p:txBody>
          </p:sp>
          <p:sp>
            <p:nvSpPr>
              <p:cNvPr id="70" name="Line 91">
                <a:extLst>
                  <a:ext uri="{FF2B5EF4-FFF2-40B4-BE49-F238E27FC236}">
                    <a16:creationId xmlns:a16="http://schemas.microsoft.com/office/drawing/2014/main" id="{7452DAC5-D722-4697-9837-5FE146E20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424" y="2922"/>
                <a:ext cx="0" cy="268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0371AE39-17FA-4C95-AE70-A70D8CAAF18A}"/>
                </a:ext>
              </a:extLst>
            </p:cNvPr>
            <p:cNvCxnSpPr/>
            <p:nvPr/>
          </p:nvCxnSpPr>
          <p:spPr>
            <a:xfrm>
              <a:off x="8461375" y="5692775"/>
              <a:ext cx="144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037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61" grpId="0" animBg="1"/>
      <p:bldP spid="62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63553AB-26EA-499E-8846-B2988CE6C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272" t="27446" b="20149"/>
          <a:stretch>
            <a:fillRect/>
          </a:stretch>
        </p:blipFill>
        <p:spPr bwMode="auto">
          <a:xfrm>
            <a:off x="4295800" y="3789040"/>
            <a:ext cx="1311301" cy="143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E5EAA-1426-4C85-8289-220E8F143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474" r="42982"/>
          <a:stretch>
            <a:fillRect/>
          </a:stretch>
        </p:blipFill>
        <p:spPr bwMode="auto">
          <a:xfrm>
            <a:off x="2816723" y="3876444"/>
            <a:ext cx="843212" cy="1874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4C70DE89-6A88-48F6-B601-E77B348D6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9693" y="1387596"/>
            <a:ext cx="2713038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②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过盈配合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677CA2C-4FBD-4BA4-9716-12226C62C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899" y="1412843"/>
            <a:ext cx="5752193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具有过盈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包括最小过盈等于零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的配合。</a:t>
            </a:r>
          </a:p>
        </p:txBody>
      </p:sp>
      <p:grpSp>
        <p:nvGrpSpPr>
          <p:cNvPr id="6" name="Group 24">
            <a:extLst>
              <a:ext uri="{FF2B5EF4-FFF2-40B4-BE49-F238E27FC236}">
                <a16:creationId xmlns:a16="http://schemas.microsoft.com/office/drawing/2014/main" id="{55B6625C-C4F7-4823-AC4C-86E9D9199E30}"/>
              </a:ext>
            </a:extLst>
          </p:cNvPr>
          <p:cNvGrpSpPr>
            <a:grpSpLocks/>
          </p:cNvGrpSpPr>
          <p:nvPr/>
        </p:nvGrpSpPr>
        <p:grpSpPr bwMode="auto">
          <a:xfrm>
            <a:off x="1813423" y="2289292"/>
            <a:ext cx="1022350" cy="3021013"/>
            <a:chOff x="256" y="1193"/>
            <a:chExt cx="644" cy="1903"/>
          </a:xfrm>
        </p:grpSpPr>
        <p:sp>
          <p:nvSpPr>
            <p:cNvPr id="7" name="Text Box 25">
              <a:extLst>
                <a:ext uri="{FF2B5EF4-FFF2-40B4-BE49-F238E27FC236}">
                  <a16:creationId xmlns:a16="http://schemas.microsoft.com/office/drawing/2014/main" id="{ECEB3F5F-D909-4367-86C6-2350406E6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68" y="1655"/>
              <a:ext cx="92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下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Text Box 26">
              <a:extLst>
                <a:ext uri="{FF2B5EF4-FFF2-40B4-BE49-F238E27FC236}">
                  <a16:creationId xmlns:a16="http://schemas.microsoft.com/office/drawing/2014/main" id="{2B06534D-10D9-4C03-BE74-B25EEC028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83" y="1640"/>
              <a:ext cx="92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上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6F90868-D227-4236-8EA4-0BA564C47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" y="1193"/>
              <a:ext cx="0" cy="1185"/>
            </a:xfrm>
            <a:custGeom>
              <a:avLst/>
              <a:gdLst>
                <a:gd name="T0" fmla="*/ 0 w 1"/>
                <a:gd name="T1" fmla="*/ 1185 h 1185"/>
                <a:gd name="T2" fmla="*/ 1 w 1"/>
                <a:gd name="T3" fmla="*/ 0 h 1185"/>
                <a:gd name="T4" fmla="*/ 0 60000 65536"/>
                <a:gd name="T5" fmla="*/ 0 60000 65536"/>
                <a:gd name="T6" fmla="*/ 0 w 1"/>
                <a:gd name="T7" fmla="*/ 0 h 1185"/>
                <a:gd name="T8" fmla="*/ 1 w 1"/>
                <a:gd name="T9" fmla="*/ 1185 h 118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85">
                  <a:moveTo>
                    <a:pt x="0" y="1185"/>
                  </a:move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" name="Line 28">
              <a:extLst>
                <a:ext uri="{FF2B5EF4-FFF2-40B4-BE49-F238E27FC236}">
                  <a16:creationId xmlns:a16="http://schemas.microsoft.com/office/drawing/2014/main" id="{B7FBB592-601B-4B14-9F8C-F5AE62B3D5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3084"/>
              <a:ext cx="4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1" name="Line 29">
              <a:extLst>
                <a:ext uri="{FF2B5EF4-FFF2-40B4-BE49-F238E27FC236}">
                  <a16:creationId xmlns:a16="http://schemas.microsoft.com/office/drawing/2014/main" id="{A79F2C65-FDFA-40E2-BC22-048ED8C35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0" y="247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2" name="Line 30">
              <a:extLst>
                <a:ext uri="{FF2B5EF4-FFF2-40B4-BE49-F238E27FC236}">
                  <a16:creationId xmlns:a16="http://schemas.microsoft.com/office/drawing/2014/main" id="{B32BBBE1-759D-4741-9759-89B008D694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0" y="237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3" name="Line 31">
              <a:extLst>
                <a:ext uri="{FF2B5EF4-FFF2-40B4-BE49-F238E27FC236}">
                  <a16:creationId xmlns:a16="http://schemas.microsoft.com/office/drawing/2014/main" id="{7A7AF883-0F6D-417D-B3C4-CE64D0D86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2472"/>
              <a:ext cx="0" cy="6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4" name="Line 32">
              <a:extLst>
                <a:ext uri="{FF2B5EF4-FFF2-40B4-BE49-F238E27FC236}">
                  <a16:creationId xmlns:a16="http://schemas.microsoft.com/office/drawing/2014/main" id="{D26587F2-0CD3-493B-B24E-37D0C84AA5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6" y="1212"/>
              <a:ext cx="0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5" name="Line 33">
              <a:extLst>
                <a:ext uri="{FF2B5EF4-FFF2-40B4-BE49-F238E27FC236}">
                  <a16:creationId xmlns:a16="http://schemas.microsoft.com/office/drawing/2014/main" id="{33BB2646-069F-47D2-B1DF-4A3047E18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" y="2376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grpSp>
        <p:nvGrpSpPr>
          <p:cNvPr id="16" name="Group 34">
            <a:extLst>
              <a:ext uri="{FF2B5EF4-FFF2-40B4-BE49-F238E27FC236}">
                <a16:creationId xmlns:a16="http://schemas.microsoft.com/office/drawing/2014/main" id="{C4EBE1C0-AE67-44D6-8A6E-9867CA5A2AF5}"/>
              </a:ext>
            </a:extLst>
          </p:cNvPr>
          <p:cNvGrpSpPr>
            <a:grpSpLocks/>
          </p:cNvGrpSpPr>
          <p:nvPr/>
        </p:nvGrpSpPr>
        <p:grpSpPr bwMode="auto">
          <a:xfrm>
            <a:off x="5231312" y="1668579"/>
            <a:ext cx="947738" cy="3457575"/>
            <a:chOff x="2445" y="822"/>
            <a:chExt cx="597" cy="2178"/>
          </a:xfrm>
        </p:grpSpPr>
        <p:sp>
          <p:nvSpPr>
            <p:cNvPr id="17" name="Text Box 35">
              <a:extLst>
                <a:ext uri="{FF2B5EF4-FFF2-40B4-BE49-F238E27FC236}">
                  <a16:creationId xmlns:a16="http://schemas.microsoft.com/office/drawing/2014/main" id="{E6685516-EE0D-4D99-AB4F-ECBB9BB6D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05" y="1346"/>
              <a:ext cx="129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上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8" name="Text Box 36">
              <a:extLst>
                <a:ext uri="{FF2B5EF4-FFF2-40B4-BE49-F238E27FC236}">
                  <a16:creationId xmlns:a16="http://schemas.microsoft.com/office/drawing/2014/main" id="{1654C159-A8C0-41CC-BA55-4C52294E4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106" y="1543"/>
              <a:ext cx="92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下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Group 37">
              <a:extLst>
                <a:ext uri="{FF2B5EF4-FFF2-40B4-BE49-F238E27FC236}">
                  <a16:creationId xmlns:a16="http://schemas.microsoft.com/office/drawing/2014/main" id="{CEB7FAEC-7C87-4D50-8962-073BA5933C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3" y="1017"/>
              <a:ext cx="579" cy="1983"/>
              <a:chOff x="2463" y="1017"/>
              <a:chExt cx="579" cy="1983"/>
            </a:xfrm>
          </p:grpSpPr>
          <p:sp>
            <p:nvSpPr>
              <p:cNvPr id="20" name="Line 38">
                <a:extLst>
                  <a:ext uri="{FF2B5EF4-FFF2-40B4-BE49-F238E27FC236}">
                    <a16:creationId xmlns:a16="http://schemas.microsoft.com/office/drawing/2014/main" id="{794AB206-A67C-47D8-946F-8E32E752C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5" y="2992"/>
                <a:ext cx="5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39">
                <a:extLst>
                  <a:ext uri="{FF2B5EF4-FFF2-40B4-BE49-F238E27FC236}">
                    <a16:creationId xmlns:a16="http://schemas.microsoft.com/office/drawing/2014/main" id="{15CB00E0-E5E1-4FCA-A632-4A9B1E94E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6" y="1017"/>
                <a:ext cx="0" cy="1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40">
                <a:extLst>
                  <a:ext uri="{FF2B5EF4-FFF2-40B4-BE49-F238E27FC236}">
                    <a16:creationId xmlns:a16="http://schemas.microsoft.com/office/drawing/2014/main" id="{D465B1E7-4703-4758-8E53-2FCF172C2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3" y="2344"/>
                <a:ext cx="2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41">
                <a:extLst>
                  <a:ext uri="{FF2B5EF4-FFF2-40B4-BE49-F238E27FC236}">
                    <a16:creationId xmlns:a16="http://schemas.microsoft.com/office/drawing/2014/main" id="{FD9C93B2-06A3-4CC7-852E-D4D6AD14B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3" y="2217"/>
                <a:ext cx="56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42">
                <a:extLst>
                  <a:ext uri="{FF2B5EF4-FFF2-40B4-BE49-F238E27FC236}">
                    <a16:creationId xmlns:a16="http://schemas.microsoft.com/office/drawing/2014/main" id="{7C6857E0-D317-43D7-A107-12BDB31FF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5" y="1047"/>
                <a:ext cx="0" cy="117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49">
                <a:extLst>
                  <a:ext uri="{FF2B5EF4-FFF2-40B4-BE49-F238E27FC236}">
                    <a16:creationId xmlns:a16="http://schemas.microsoft.com/office/drawing/2014/main" id="{DA033DA5-B9E1-4C35-924B-D7DFCDAEC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6" y="2316"/>
                <a:ext cx="0" cy="6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50">
                <a:extLst>
                  <a:ext uri="{FF2B5EF4-FFF2-40B4-BE49-F238E27FC236}">
                    <a16:creationId xmlns:a16="http://schemas.microsoft.com/office/drawing/2014/main" id="{B81516BD-A5ED-40AE-B602-6889D54B51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4" y="2220"/>
                <a:ext cx="0" cy="7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7" name="Group 51">
            <a:extLst>
              <a:ext uri="{FF2B5EF4-FFF2-40B4-BE49-F238E27FC236}">
                <a16:creationId xmlns:a16="http://schemas.microsoft.com/office/drawing/2014/main" id="{586D06D3-BB8E-488D-B2E1-F37CA747956C}"/>
              </a:ext>
            </a:extLst>
          </p:cNvPr>
          <p:cNvGrpSpPr>
            <a:grpSpLocks/>
          </p:cNvGrpSpPr>
          <p:nvPr/>
        </p:nvGrpSpPr>
        <p:grpSpPr bwMode="auto">
          <a:xfrm>
            <a:off x="3616823" y="2230554"/>
            <a:ext cx="800100" cy="2127250"/>
            <a:chOff x="1500" y="1156"/>
            <a:chExt cx="504" cy="1340"/>
          </a:xfrm>
        </p:grpSpPr>
        <p:sp>
          <p:nvSpPr>
            <p:cNvPr id="28" name="Text Box 52">
              <a:extLst>
                <a:ext uri="{FF2B5EF4-FFF2-40B4-BE49-F238E27FC236}">
                  <a16:creationId xmlns:a16="http://schemas.microsoft.com/office/drawing/2014/main" id="{00A1DFB3-911D-460A-8E2F-CA2C9941A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298" y="1530"/>
              <a:ext cx="100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dirty="0"/>
                <a:t>最小过盈</a:t>
              </a:r>
            </a:p>
          </p:txBody>
        </p:sp>
        <p:grpSp>
          <p:nvGrpSpPr>
            <p:cNvPr id="29" name="Group 53">
              <a:extLst>
                <a:ext uri="{FF2B5EF4-FFF2-40B4-BE49-F238E27FC236}">
                  <a16:creationId xmlns:a16="http://schemas.microsoft.com/office/drawing/2014/main" id="{E7F1DAC0-6E05-4ACD-A582-27B588A79E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0" y="1389"/>
              <a:ext cx="504" cy="1107"/>
              <a:chOff x="1500" y="1389"/>
              <a:chExt cx="504" cy="1107"/>
            </a:xfrm>
          </p:grpSpPr>
          <p:sp>
            <p:nvSpPr>
              <p:cNvPr id="30" name="Freeform 54">
                <a:extLst>
                  <a:ext uri="{FF2B5EF4-FFF2-40B4-BE49-F238E27FC236}">
                    <a16:creationId xmlns:a16="http://schemas.microsoft.com/office/drawing/2014/main" id="{F6FB2F27-330C-450F-8CE5-BC4F3A9AB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8" y="2369"/>
                <a:ext cx="1" cy="127"/>
              </a:xfrm>
              <a:custGeom>
                <a:avLst/>
                <a:gdLst>
                  <a:gd name="T0" fmla="*/ 0 w 1"/>
                  <a:gd name="T1" fmla="*/ 0 h 127"/>
                  <a:gd name="T2" fmla="*/ 0 w 1"/>
                  <a:gd name="T3" fmla="*/ 127 h 127"/>
                  <a:gd name="T4" fmla="*/ 0 60000 65536"/>
                  <a:gd name="T5" fmla="*/ 0 60000 65536"/>
                  <a:gd name="T6" fmla="*/ 0 w 1"/>
                  <a:gd name="T7" fmla="*/ 0 h 127"/>
                  <a:gd name="T8" fmla="*/ 1 w 1"/>
                  <a:gd name="T9" fmla="*/ 127 h 12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27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31" name="Freeform 55">
                <a:extLst>
                  <a:ext uri="{FF2B5EF4-FFF2-40B4-BE49-F238E27FC236}">
                    <a16:creationId xmlns:a16="http://schemas.microsoft.com/office/drawing/2014/main" id="{370DC7C0-7E35-49A7-A013-571D49E1A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8" y="1389"/>
                <a:ext cx="1" cy="943"/>
              </a:xfrm>
              <a:custGeom>
                <a:avLst/>
                <a:gdLst>
                  <a:gd name="T0" fmla="*/ 0 w 1"/>
                  <a:gd name="T1" fmla="*/ 943 h 943"/>
                  <a:gd name="T2" fmla="*/ 0 w 1"/>
                  <a:gd name="T3" fmla="*/ 0 h 943"/>
                  <a:gd name="T4" fmla="*/ 0 60000 65536"/>
                  <a:gd name="T5" fmla="*/ 0 60000 65536"/>
                  <a:gd name="T6" fmla="*/ 0 w 1"/>
                  <a:gd name="T7" fmla="*/ 0 h 943"/>
                  <a:gd name="T8" fmla="*/ 1 w 1"/>
                  <a:gd name="T9" fmla="*/ 943 h 94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43">
                    <a:moveTo>
                      <a:pt x="0" y="94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32" name="Line 56">
                <a:extLst>
                  <a:ext uri="{FF2B5EF4-FFF2-40B4-BE49-F238E27FC236}">
                    <a16:creationId xmlns:a16="http://schemas.microsoft.com/office/drawing/2014/main" id="{2BCCF6E8-1843-4A81-9E2C-B26BEF3EEB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0" y="2380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33" name="Line 57">
                <a:extLst>
                  <a:ext uri="{FF2B5EF4-FFF2-40B4-BE49-F238E27FC236}">
                    <a16:creationId xmlns:a16="http://schemas.microsoft.com/office/drawing/2014/main" id="{785F8B48-CE32-4464-A204-1D179CB7D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6" y="2324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</p:grpSp>
      <p:grpSp>
        <p:nvGrpSpPr>
          <p:cNvPr id="34" name="Group 58">
            <a:extLst>
              <a:ext uri="{FF2B5EF4-FFF2-40B4-BE49-F238E27FC236}">
                <a16:creationId xmlns:a16="http://schemas.microsoft.com/office/drawing/2014/main" id="{3BB5FDD2-7283-43F5-8858-E83475DF791C}"/>
              </a:ext>
            </a:extLst>
          </p:cNvPr>
          <p:cNvGrpSpPr>
            <a:grpSpLocks/>
          </p:cNvGrpSpPr>
          <p:nvPr/>
        </p:nvGrpSpPr>
        <p:grpSpPr bwMode="auto">
          <a:xfrm>
            <a:off x="3437436" y="2340092"/>
            <a:ext cx="927100" cy="1997075"/>
            <a:chOff x="1415" y="1337"/>
            <a:chExt cx="584" cy="1258"/>
          </a:xfrm>
        </p:grpSpPr>
        <p:sp>
          <p:nvSpPr>
            <p:cNvPr id="35" name="Text Box 59">
              <a:extLst>
                <a:ext uri="{FF2B5EF4-FFF2-40B4-BE49-F238E27FC236}">
                  <a16:creationId xmlns:a16="http://schemas.microsoft.com/office/drawing/2014/main" id="{FAD33F24-2203-4ED2-828B-0F175D53A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73" y="1679"/>
              <a:ext cx="93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dirty="0"/>
                <a:t>最大过盈</a:t>
              </a:r>
            </a:p>
          </p:txBody>
        </p:sp>
        <p:sp>
          <p:nvSpPr>
            <p:cNvPr id="36" name="Freeform 60">
              <a:extLst>
                <a:ext uri="{FF2B5EF4-FFF2-40B4-BE49-F238E27FC236}">
                  <a16:creationId xmlns:a16="http://schemas.microsoft.com/office/drawing/2014/main" id="{359A9088-A4ED-4FAE-BB2C-0FDAF2E5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1529"/>
              <a:ext cx="1" cy="775"/>
            </a:xfrm>
            <a:custGeom>
              <a:avLst/>
              <a:gdLst>
                <a:gd name="T0" fmla="*/ 0 w 1"/>
                <a:gd name="T1" fmla="*/ 775 h 775"/>
                <a:gd name="T2" fmla="*/ 1 w 1"/>
                <a:gd name="T3" fmla="*/ 0 h 775"/>
                <a:gd name="T4" fmla="*/ 0 60000 65536"/>
                <a:gd name="T5" fmla="*/ 0 60000 65536"/>
                <a:gd name="T6" fmla="*/ 0 w 1"/>
                <a:gd name="T7" fmla="*/ 0 h 775"/>
                <a:gd name="T8" fmla="*/ 1 w 1"/>
                <a:gd name="T9" fmla="*/ 775 h 7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75">
                  <a:moveTo>
                    <a:pt x="0" y="775"/>
                  </a:move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7" name="Line 61">
              <a:extLst>
                <a:ext uri="{FF2B5EF4-FFF2-40B4-BE49-F238E27FC236}">
                  <a16:creationId xmlns:a16="http://schemas.microsoft.com/office/drawing/2014/main" id="{9D38601E-2281-4B70-BA4B-70707A6FB7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7" y="2307"/>
              <a:ext cx="37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8" name="Line 62">
              <a:extLst>
                <a:ext uri="{FF2B5EF4-FFF2-40B4-BE49-F238E27FC236}">
                  <a16:creationId xmlns:a16="http://schemas.microsoft.com/office/drawing/2014/main" id="{05D139CD-D790-402C-9FC3-60B14D6B8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3" y="2587"/>
              <a:ext cx="181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9" name="Line 63">
              <a:extLst>
                <a:ext uri="{FF2B5EF4-FFF2-40B4-BE49-F238E27FC236}">
                  <a16:creationId xmlns:a16="http://schemas.microsoft.com/office/drawing/2014/main" id="{6CFB660D-BFC6-4A87-8A4A-2A6A6760A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2300"/>
              <a:ext cx="0" cy="2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grpSp>
        <p:nvGrpSpPr>
          <p:cNvPr id="40" name="Group 64">
            <a:extLst>
              <a:ext uri="{FF2B5EF4-FFF2-40B4-BE49-F238E27FC236}">
                <a16:creationId xmlns:a16="http://schemas.microsoft.com/office/drawing/2014/main" id="{D6C6AE4C-7CA1-4537-96D8-51825A078DCA}"/>
              </a:ext>
            </a:extLst>
          </p:cNvPr>
          <p:cNvGrpSpPr>
            <a:grpSpLocks/>
          </p:cNvGrpSpPr>
          <p:nvPr/>
        </p:nvGrpSpPr>
        <p:grpSpPr bwMode="auto">
          <a:xfrm>
            <a:off x="6919821" y="2963419"/>
            <a:ext cx="1949450" cy="2120900"/>
            <a:chOff x="3175" y="1388"/>
            <a:chExt cx="1228" cy="1336"/>
          </a:xfrm>
        </p:grpSpPr>
        <p:sp>
          <p:nvSpPr>
            <p:cNvPr id="41" name="Rectangle 65">
              <a:extLst>
                <a:ext uri="{FF2B5EF4-FFF2-40B4-BE49-F238E27FC236}">
                  <a16:creationId xmlns:a16="http://schemas.microsoft.com/office/drawing/2014/main" id="{57435DBF-DDF6-46D3-9305-70CBFE25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4" y="2222"/>
              <a:ext cx="523" cy="194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" name="Rectangle 66">
              <a:extLst>
                <a:ext uri="{FF2B5EF4-FFF2-40B4-BE49-F238E27FC236}">
                  <a16:creationId xmlns:a16="http://schemas.microsoft.com/office/drawing/2014/main" id="{F9CFF749-0697-4535-9CDC-F666E2684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4" y="2508"/>
              <a:ext cx="523" cy="20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grpSp>
          <p:nvGrpSpPr>
            <p:cNvPr id="43" name="Group 67">
              <a:extLst>
                <a:ext uri="{FF2B5EF4-FFF2-40B4-BE49-F238E27FC236}">
                  <a16:creationId xmlns:a16="http://schemas.microsoft.com/office/drawing/2014/main" id="{6F113C23-CF94-4446-A871-67EEB84368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9" y="1467"/>
              <a:ext cx="284" cy="1149"/>
              <a:chOff x="4119" y="1467"/>
              <a:chExt cx="284" cy="1149"/>
            </a:xfrm>
          </p:grpSpPr>
          <p:sp>
            <p:nvSpPr>
              <p:cNvPr id="50" name="Text Box 68">
                <a:extLst>
                  <a:ext uri="{FF2B5EF4-FFF2-40B4-BE49-F238E27FC236}">
                    <a16:creationId xmlns:a16="http://schemas.microsoft.com/office/drawing/2014/main" id="{78CBC67C-E690-4735-86DE-BE9936FC55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3881" y="1783"/>
                <a:ext cx="76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000"/>
                  <a:t>最小过盈</a:t>
                </a:r>
              </a:p>
            </p:txBody>
          </p:sp>
          <p:sp>
            <p:nvSpPr>
              <p:cNvPr id="51" name="Line 69">
                <a:extLst>
                  <a:ext uri="{FF2B5EF4-FFF2-40B4-BE49-F238E27FC236}">
                    <a16:creationId xmlns:a16="http://schemas.microsoft.com/office/drawing/2014/main" id="{BF72C9A0-D4BE-4F66-A18F-1E39AFFDE8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416"/>
                <a:ext cx="28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52" name="Line 70">
                <a:extLst>
                  <a:ext uri="{FF2B5EF4-FFF2-40B4-BE49-F238E27FC236}">
                    <a16:creationId xmlns:a16="http://schemas.microsoft.com/office/drawing/2014/main" id="{8F673A08-3DDB-44D1-AC23-87969D88E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7" y="2508"/>
                <a:ext cx="266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53" name="Line 71">
                <a:extLst>
                  <a:ext uri="{FF2B5EF4-FFF2-40B4-BE49-F238E27FC236}">
                    <a16:creationId xmlns:a16="http://schemas.microsoft.com/office/drawing/2014/main" id="{C08F126F-6CFF-4C3E-9BA9-B2930D3166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5" y="2416"/>
                <a:ext cx="0" cy="9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54" name="Line 72">
                <a:extLst>
                  <a:ext uri="{FF2B5EF4-FFF2-40B4-BE49-F238E27FC236}">
                    <a16:creationId xmlns:a16="http://schemas.microsoft.com/office/drawing/2014/main" id="{B4F860FC-AAD8-46EA-A2BA-F6FA06E14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5" y="2494"/>
                <a:ext cx="0" cy="12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55" name="Line 73">
                <a:extLst>
                  <a:ext uri="{FF2B5EF4-FFF2-40B4-BE49-F238E27FC236}">
                    <a16:creationId xmlns:a16="http://schemas.microsoft.com/office/drawing/2014/main" id="{EDB82FA7-52B0-4AB8-A42A-3FB296206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5" y="1467"/>
                <a:ext cx="0" cy="97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  <p:grpSp>
          <p:nvGrpSpPr>
            <p:cNvPr id="44" name="Group 74">
              <a:extLst>
                <a:ext uri="{FF2B5EF4-FFF2-40B4-BE49-F238E27FC236}">
                  <a16:creationId xmlns:a16="http://schemas.microsoft.com/office/drawing/2014/main" id="{18E36900-AFA0-4920-82F6-58BE36E590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" y="1388"/>
              <a:ext cx="439" cy="1336"/>
              <a:chOff x="3175" y="1388"/>
              <a:chExt cx="439" cy="1336"/>
            </a:xfrm>
          </p:grpSpPr>
          <p:sp>
            <p:nvSpPr>
              <p:cNvPr id="45" name="Text Box 75">
                <a:extLst>
                  <a:ext uri="{FF2B5EF4-FFF2-40B4-BE49-F238E27FC236}">
                    <a16:creationId xmlns:a16="http://schemas.microsoft.com/office/drawing/2014/main" id="{3823A32F-F413-4416-915C-F9C67BF21C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2917" y="1681"/>
                <a:ext cx="76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000"/>
                  <a:t>最大过盈</a:t>
                </a:r>
              </a:p>
            </p:txBody>
          </p:sp>
          <p:sp>
            <p:nvSpPr>
              <p:cNvPr id="46" name="Line 76">
                <a:extLst>
                  <a:ext uri="{FF2B5EF4-FFF2-40B4-BE49-F238E27FC236}">
                    <a16:creationId xmlns:a16="http://schemas.microsoft.com/office/drawing/2014/main" id="{EAE08E4A-DF08-4C06-A7BA-84F299AD5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43" y="2222"/>
                <a:ext cx="271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7" name="Line 77">
                <a:extLst>
                  <a:ext uri="{FF2B5EF4-FFF2-40B4-BE49-F238E27FC236}">
                    <a16:creationId xmlns:a16="http://schemas.microsoft.com/office/drawing/2014/main" id="{AF5F3A9F-8D33-4C0C-B6C2-76418056E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1" y="2714"/>
                <a:ext cx="283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8" name="Line 78">
                <a:extLst>
                  <a:ext uri="{FF2B5EF4-FFF2-40B4-BE49-F238E27FC236}">
                    <a16:creationId xmlns:a16="http://schemas.microsoft.com/office/drawing/2014/main" id="{50FD0078-E459-4735-9597-78566615E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35" y="1388"/>
                <a:ext cx="0" cy="822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9" name="Line 79">
                <a:extLst>
                  <a:ext uri="{FF2B5EF4-FFF2-40B4-BE49-F238E27FC236}">
                    <a16:creationId xmlns:a16="http://schemas.microsoft.com/office/drawing/2014/main" id="{796A1656-07C0-42AA-B71A-D2AB1A9AE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2" y="2208"/>
                <a:ext cx="0" cy="5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</p:grpSp>
      <p:sp>
        <p:nvSpPr>
          <p:cNvPr id="56" name="Text Box 86">
            <a:extLst>
              <a:ext uri="{FF2B5EF4-FFF2-40B4-BE49-F238E27FC236}">
                <a16:creationId xmlns:a16="http://schemas.microsoft.com/office/drawing/2014/main" id="{6C8D6CFC-04AC-427E-A6ED-B316D9CAC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498" y="5837354"/>
            <a:ext cx="28019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6600"/>
                </a:solidFill>
              </a:rPr>
              <a:t>过盈配合示意图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  <p:sp>
        <p:nvSpPr>
          <p:cNvPr id="57" name="Text Box 2">
            <a:extLst>
              <a:ext uri="{FF2B5EF4-FFF2-40B4-BE49-F238E27FC236}">
                <a16:creationId xmlns:a16="http://schemas.microsoft.com/office/drawing/2014/main" id="{DC6EC4FB-E01B-4FDA-ACFF-5692A8E4B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079" y="863281"/>
            <a:ext cx="2182305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配合的种类</a:t>
            </a:r>
          </a:p>
        </p:txBody>
      </p:sp>
      <p:sp>
        <p:nvSpPr>
          <p:cNvPr id="58" name="Text Box 31">
            <a:extLst>
              <a:ext uri="{FF2B5EF4-FFF2-40B4-BE49-F238E27FC236}">
                <a16:creationId xmlns:a16="http://schemas.microsoft.com/office/drawing/2014/main" id="{176E4316-C9C1-4E36-9705-FC7E4110E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260648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1AEE78E-B559-418B-93B7-85467616B0BD}"/>
              </a:ext>
            </a:extLst>
          </p:cNvPr>
          <p:cNvGrpSpPr/>
          <p:nvPr/>
        </p:nvGrpSpPr>
        <p:grpSpPr>
          <a:xfrm>
            <a:off x="9285184" y="2767716"/>
            <a:ext cx="1128710" cy="2320925"/>
            <a:chOff x="7621575" y="3649662"/>
            <a:chExt cx="1128710" cy="2320925"/>
          </a:xfrm>
        </p:grpSpPr>
        <p:grpSp>
          <p:nvGrpSpPr>
            <p:cNvPr id="60" name="Group 87">
              <a:extLst>
                <a:ext uri="{FF2B5EF4-FFF2-40B4-BE49-F238E27FC236}">
                  <a16:creationId xmlns:a16="http://schemas.microsoft.com/office/drawing/2014/main" id="{B6AE8240-D320-41A9-8699-D5F116423D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1575" y="3649662"/>
              <a:ext cx="1128710" cy="2320925"/>
              <a:chOff x="4801" y="1899"/>
              <a:chExt cx="711" cy="1462"/>
            </a:xfrm>
          </p:grpSpPr>
          <p:sp>
            <p:nvSpPr>
              <p:cNvPr id="62" name="Rectangle 88">
                <a:extLst>
                  <a:ext uri="{FF2B5EF4-FFF2-40B4-BE49-F238E27FC236}">
                    <a16:creationId xmlns:a16="http://schemas.microsoft.com/office/drawing/2014/main" id="{7C5604EC-C01D-4F6D-BD4D-6CA4DC6AC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1" y="3013"/>
                <a:ext cx="523" cy="176"/>
              </a:xfrm>
              <a:prstGeom prst="rect">
                <a:avLst/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3" name="Rectangle 89">
                <a:extLst>
                  <a:ext uri="{FF2B5EF4-FFF2-40B4-BE49-F238E27FC236}">
                    <a16:creationId xmlns:a16="http://schemas.microsoft.com/office/drawing/2014/main" id="{CAC6115C-F201-4722-9416-97AFC80D4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1" y="3185"/>
                <a:ext cx="523" cy="176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4" name="Text Box 90">
                <a:extLst>
                  <a:ext uri="{FF2B5EF4-FFF2-40B4-BE49-F238E27FC236}">
                    <a16:creationId xmlns:a16="http://schemas.microsoft.com/office/drawing/2014/main" id="{A3DD6FA7-FAA2-40B5-A473-A3B135879E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840" y="2319"/>
                <a:ext cx="1092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/>
                  <a:t>最小过盈是零</a:t>
                </a:r>
              </a:p>
            </p:txBody>
          </p:sp>
          <p:sp>
            <p:nvSpPr>
              <p:cNvPr id="65" name="Line 91">
                <a:extLst>
                  <a:ext uri="{FF2B5EF4-FFF2-40B4-BE49-F238E27FC236}">
                    <a16:creationId xmlns:a16="http://schemas.microsoft.com/office/drawing/2014/main" id="{001CF73C-3CE3-4F75-96C6-949C9B3AB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424" y="2922"/>
                <a:ext cx="0" cy="268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AF6A723-63B1-4D8B-8AD7-C85EEA67262E}"/>
                </a:ext>
              </a:extLst>
            </p:cNvPr>
            <p:cNvCxnSpPr/>
            <p:nvPr/>
          </p:nvCxnSpPr>
          <p:spPr>
            <a:xfrm>
              <a:off x="8461375" y="5692775"/>
              <a:ext cx="144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矩形 65">
            <a:extLst>
              <a:ext uri="{FF2B5EF4-FFF2-40B4-BE49-F238E27FC236}">
                <a16:creationId xmlns:a16="http://schemas.microsoft.com/office/drawing/2014/main" id="{423A81B6-B166-42AF-BD55-4445EFE58778}"/>
              </a:ext>
            </a:extLst>
          </p:cNvPr>
          <p:cNvSpPr/>
          <p:nvPr/>
        </p:nvSpPr>
        <p:spPr>
          <a:xfrm>
            <a:off x="6441414" y="1999720"/>
            <a:ext cx="4206601" cy="461665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孔的公差带在轴的公差带之下</a:t>
            </a:r>
          </a:p>
        </p:txBody>
      </p:sp>
    </p:spTree>
    <p:extLst>
      <p:ext uri="{BB962C8B-B14F-4D97-AF65-F5344CB8AC3E}">
        <p14:creationId xmlns:p14="http://schemas.microsoft.com/office/powerpoint/2010/main" val="31092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80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80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56" grpId="0" autoUpdateAnimBg="0"/>
      <p:bldP spid="6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4136867-5DD8-4FB1-A5B7-0D932D40B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272" t="27446" b="20149"/>
          <a:stretch>
            <a:fillRect/>
          </a:stretch>
        </p:blipFill>
        <p:spPr bwMode="auto">
          <a:xfrm>
            <a:off x="4653126" y="4111407"/>
            <a:ext cx="1143472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EB994A-C9FB-43A6-9D32-CFDFDC749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474" r="42982"/>
          <a:stretch>
            <a:fillRect/>
          </a:stretch>
        </p:blipFill>
        <p:spPr bwMode="auto">
          <a:xfrm>
            <a:off x="2827337" y="3835789"/>
            <a:ext cx="843212" cy="1874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7206826B-B123-4364-8AA7-F4336ABAF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357" y="1445774"/>
            <a:ext cx="2713037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③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过渡配合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9A96EC3-D4AB-4DF5-8E2E-0F1D35696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943" y="1465047"/>
            <a:ext cx="4203693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可能具有间隙或过盈的配合。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8F779A-F9E1-43BD-9661-FCEEB7E96B77}"/>
              </a:ext>
            </a:extLst>
          </p:cNvPr>
          <p:cNvGrpSpPr>
            <a:grpSpLocks/>
          </p:cNvGrpSpPr>
          <p:nvPr/>
        </p:nvGrpSpPr>
        <p:grpSpPr bwMode="auto">
          <a:xfrm>
            <a:off x="3632239" y="2508548"/>
            <a:ext cx="1071581" cy="2024063"/>
            <a:chOff x="1399" y="1057"/>
            <a:chExt cx="675" cy="1275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1A3E603C-1364-4A21-9984-AF9181B4C3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6" y="2115"/>
              <a:ext cx="16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24FF46D6-04AD-42F5-85B3-22A003D0D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373" y="1428"/>
              <a:ext cx="99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dirty="0"/>
                <a:t>最大过盈</a:t>
              </a: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BABA266B-044D-4091-9057-546CBB1FF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176"/>
              <a:ext cx="0" cy="156"/>
            </a:xfrm>
            <a:custGeom>
              <a:avLst/>
              <a:gdLst>
                <a:gd name="T0" fmla="*/ 0 w 1"/>
                <a:gd name="T1" fmla="*/ 0 h 127"/>
                <a:gd name="T2" fmla="*/ 0 w 1"/>
                <a:gd name="T3" fmla="*/ 7782 h 127"/>
                <a:gd name="T4" fmla="*/ 0 60000 65536"/>
                <a:gd name="T5" fmla="*/ 0 60000 65536"/>
                <a:gd name="T6" fmla="*/ 0 w 1"/>
                <a:gd name="T7" fmla="*/ 0 h 127"/>
                <a:gd name="T8" fmla="*/ 1 w 1"/>
                <a:gd name="T9" fmla="*/ 127 h 1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7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7AC154BC-CF4E-405F-BD92-7B2F90327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6" y="1128"/>
              <a:ext cx="0" cy="99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A8F7FFE6-9F8B-4815-B8F6-EFE6039C19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7" y="2113"/>
              <a:ext cx="0" cy="12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FE456392-086C-4EA9-B25B-78111B40F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9" y="2170"/>
              <a:ext cx="61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9C2939-99E6-4E2B-85B0-78C2490484F6}"/>
              </a:ext>
            </a:extLst>
          </p:cNvPr>
          <p:cNvGrpSpPr>
            <a:grpSpLocks/>
          </p:cNvGrpSpPr>
          <p:nvPr/>
        </p:nvGrpSpPr>
        <p:grpSpPr bwMode="auto">
          <a:xfrm>
            <a:off x="6489701" y="2775248"/>
            <a:ext cx="1878013" cy="2378075"/>
            <a:chOff x="3199" y="1225"/>
            <a:chExt cx="1183" cy="149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74BB5C-99EB-4B43-8515-79BC531B0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" y="2327"/>
              <a:ext cx="523" cy="182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D3CE6AEF-ED50-4D22-828C-D6FA56165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941" y="1845"/>
              <a:ext cx="76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/>
                <a:t>最大过盈</a:t>
              </a: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A260D7CE-F270-4D7F-8629-E17703CD9B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9" y="2440"/>
              <a:ext cx="24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CC34A768-58FA-412F-98A1-BD67E5E4D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9" y="2508"/>
              <a:ext cx="173" cy="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CB710F6-CC85-40C2-9FB7-0EAA5844E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" y="2488"/>
              <a:ext cx="4" cy="166"/>
            </a:xfrm>
            <a:custGeom>
              <a:avLst/>
              <a:gdLst>
                <a:gd name="T0" fmla="*/ 0 w 4"/>
                <a:gd name="T1" fmla="*/ 166 h 166"/>
                <a:gd name="T2" fmla="*/ 4 w 4"/>
                <a:gd name="T3" fmla="*/ 0 h 166"/>
                <a:gd name="T4" fmla="*/ 0 60000 65536"/>
                <a:gd name="T5" fmla="*/ 0 60000 65536"/>
                <a:gd name="T6" fmla="*/ 0 w 4"/>
                <a:gd name="T7" fmla="*/ 0 h 166"/>
                <a:gd name="T8" fmla="*/ 4 w 4"/>
                <a:gd name="T9" fmla="*/ 166 h 1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166">
                  <a:moveTo>
                    <a:pt x="0" y="166"/>
                  </a:moveTo>
                  <a:lnTo>
                    <a:pt x="4" y="0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DD1AE7D-6FF6-4BB2-980A-80C5BBEC7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" y="1600"/>
              <a:ext cx="3" cy="862"/>
            </a:xfrm>
            <a:custGeom>
              <a:avLst/>
              <a:gdLst>
                <a:gd name="T0" fmla="*/ 3 w 3"/>
                <a:gd name="T1" fmla="*/ 862 h 862"/>
                <a:gd name="T2" fmla="*/ 0 w 3"/>
                <a:gd name="T3" fmla="*/ 0 h 862"/>
                <a:gd name="T4" fmla="*/ 0 60000 65536"/>
                <a:gd name="T5" fmla="*/ 0 60000 65536"/>
                <a:gd name="T6" fmla="*/ 0 w 3"/>
                <a:gd name="T7" fmla="*/ 0 h 862"/>
                <a:gd name="T8" fmla="*/ 3 w 3"/>
                <a:gd name="T9" fmla="*/ 862 h 86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862">
                  <a:moveTo>
                    <a:pt x="3" y="86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6DD814B-E8AF-446F-92EC-97048801A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" y="2439"/>
              <a:ext cx="523" cy="182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28F9A4FA-277B-4EAA-B416-A4403CD53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657" y="1654"/>
              <a:ext cx="111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dirty="0"/>
                <a:t>最大间隙</a:t>
              </a: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F9154282-90E9-4B1A-A7F8-A92D63C30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2327"/>
              <a:ext cx="32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EE9503B5-F24A-44E8-B1A8-E60C4F70E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" y="2620"/>
              <a:ext cx="23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5A99A4A1-D547-4D41-AB5F-9CD283786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" y="2334"/>
              <a:ext cx="0" cy="299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40CBDD2B-2E61-4B28-9993-93E44968B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" y="2601"/>
              <a:ext cx="0" cy="12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AE5FDBCF-5A6E-4E1E-84FB-9F3121742A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2" y="1492"/>
              <a:ext cx="0" cy="86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D3AEA0AC-B0C8-4E52-844F-5D06CFBE0C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3" y="2431"/>
              <a:ext cx="0" cy="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B8BE71-982C-4BC7-A3E0-CF6FC7C11ACF}"/>
              </a:ext>
            </a:extLst>
          </p:cNvPr>
          <p:cNvGrpSpPr>
            <a:grpSpLocks/>
          </p:cNvGrpSpPr>
          <p:nvPr/>
        </p:nvGrpSpPr>
        <p:grpSpPr bwMode="auto">
          <a:xfrm>
            <a:off x="3629037" y="2533948"/>
            <a:ext cx="1092206" cy="2168527"/>
            <a:chOff x="1397" y="1073"/>
            <a:chExt cx="688" cy="1366"/>
          </a:xfrm>
        </p:grpSpPr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3E8F01B8-0F60-4280-9015-AF591B81A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164" y="1411"/>
              <a:ext cx="92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dirty="0"/>
                <a:t>最大间隙</a:t>
              </a: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1F771E8-3981-4521-A5D1-A7A103D04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2227"/>
              <a:ext cx="0" cy="212"/>
            </a:xfrm>
            <a:custGeom>
              <a:avLst/>
              <a:gdLst>
                <a:gd name="T0" fmla="*/ 4 w 4"/>
                <a:gd name="T1" fmla="*/ 0 h 212"/>
                <a:gd name="T2" fmla="*/ 0 w 4"/>
                <a:gd name="T3" fmla="*/ 212 h 212"/>
                <a:gd name="T4" fmla="*/ 3 w 4"/>
                <a:gd name="T5" fmla="*/ 128 h 212"/>
                <a:gd name="T6" fmla="*/ 0 60000 65536"/>
                <a:gd name="T7" fmla="*/ 0 60000 65536"/>
                <a:gd name="T8" fmla="*/ 0 60000 65536"/>
                <a:gd name="T9" fmla="*/ 0 w 4"/>
                <a:gd name="T10" fmla="*/ 0 h 212"/>
                <a:gd name="T11" fmla="*/ 4 w 4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212">
                  <a:moveTo>
                    <a:pt x="4" y="0"/>
                  </a:moveTo>
                  <a:lnTo>
                    <a:pt x="0" y="212"/>
                  </a:lnTo>
                  <a:lnTo>
                    <a:pt x="3" y="128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A62988AC-9AAF-4A7C-A369-6EC06E7536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6" y="1130"/>
              <a:ext cx="1" cy="9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3BEF1691-0B5D-4DDB-8D01-407AE5269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7" y="2087"/>
              <a:ext cx="431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4B0204BA-2310-4798-AA7B-DDB77AEA41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5" y="2078"/>
              <a:ext cx="0" cy="159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4CC7647F-0173-4D06-B9BD-CFBDCFD49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7" y="2232"/>
              <a:ext cx="40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0CD568-11D8-465A-A67E-90873C7BFA88}"/>
              </a:ext>
            </a:extLst>
          </p:cNvPr>
          <p:cNvGrpSpPr>
            <a:grpSpLocks/>
          </p:cNvGrpSpPr>
          <p:nvPr/>
        </p:nvGrpSpPr>
        <p:grpSpPr bwMode="auto">
          <a:xfrm>
            <a:off x="8861425" y="4523085"/>
            <a:ext cx="923925" cy="447675"/>
            <a:chOff x="4693" y="2326"/>
            <a:chExt cx="582" cy="28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5809E01-9A3E-4F7D-924D-043FC0BC7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2428"/>
              <a:ext cx="475" cy="180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48E6209-D6AA-4B0D-B66E-AE38EFBB4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326"/>
              <a:ext cx="475" cy="192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" name="Text Box 37">
            <a:extLst>
              <a:ext uri="{FF2B5EF4-FFF2-40B4-BE49-F238E27FC236}">
                <a16:creationId xmlns:a16="http://schemas.microsoft.com/office/drawing/2014/main" id="{7B2C9AD0-653D-4616-AD84-1324C34D9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819" y="6007877"/>
            <a:ext cx="2781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过渡配合示意图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  <p:grpSp>
        <p:nvGrpSpPr>
          <p:cNvPr id="39" name="Group 50">
            <a:extLst>
              <a:ext uri="{FF2B5EF4-FFF2-40B4-BE49-F238E27FC236}">
                <a16:creationId xmlns:a16="http://schemas.microsoft.com/office/drawing/2014/main" id="{5C7C29E5-BE2D-4DB0-9D37-BDC886752A49}"/>
              </a:ext>
            </a:extLst>
          </p:cNvPr>
          <p:cNvGrpSpPr>
            <a:grpSpLocks/>
          </p:cNvGrpSpPr>
          <p:nvPr/>
        </p:nvGrpSpPr>
        <p:grpSpPr bwMode="auto">
          <a:xfrm>
            <a:off x="1868170" y="2298045"/>
            <a:ext cx="998538" cy="2976839"/>
            <a:chOff x="283" y="934"/>
            <a:chExt cx="629" cy="1867"/>
          </a:xfrm>
        </p:grpSpPr>
        <p:sp>
          <p:nvSpPr>
            <p:cNvPr id="40" name="Text Box 51">
              <a:extLst>
                <a:ext uri="{FF2B5EF4-FFF2-40B4-BE49-F238E27FC236}">
                  <a16:creationId xmlns:a16="http://schemas.microsoft.com/office/drawing/2014/main" id="{D7B8E189-1CE5-4286-BAEB-993195DCC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56" y="1337"/>
              <a:ext cx="92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上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 Box 52">
              <a:extLst>
                <a:ext uri="{FF2B5EF4-FFF2-40B4-BE49-F238E27FC236}">
                  <a16:creationId xmlns:a16="http://schemas.microsoft.com/office/drawing/2014/main" id="{A6A51B43-09EB-41DF-8354-D430549F5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76" y="1375"/>
              <a:ext cx="92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下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2" name="Freeform 53">
              <a:extLst>
                <a:ext uri="{FF2B5EF4-FFF2-40B4-BE49-F238E27FC236}">
                  <a16:creationId xmlns:a16="http://schemas.microsoft.com/office/drawing/2014/main" id="{D92B63A4-59A5-4D09-9CD4-057B9F66E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" y="2143"/>
              <a:ext cx="2" cy="655"/>
            </a:xfrm>
            <a:custGeom>
              <a:avLst/>
              <a:gdLst>
                <a:gd name="T0" fmla="*/ 2 w 2"/>
                <a:gd name="T1" fmla="*/ 0 h 540"/>
                <a:gd name="T2" fmla="*/ 0 w 2"/>
                <a:gd name="T3" fmla="*/ 540 h 540"/>
                <a:gd name="T4" fmla="*/ 0 60000 65536"/>
                <a:gd name="T5" fmla="*/ 0 60000 65536"/>
                <a:gd name="T6" fmla="*/ 0 w 2"/>
                <a:gd name="T7" fmla="*/ 0 h 540"/>
                <a:gd name="T8" fmla="*/ 2 w 2"/>
                <a:gd name="T9" fmla="*/ 540 h 5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540">
                  <a:moveTo>
                    <a:pt x="2" y="0"/>
                  </a:moveTo>
                  <a:lnTo>
                    <a:pt x="0" y="5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Freeform 54">
              <a:extLst>
                <a:ext uri="{FF2B5EF4-FFF2-40B4-BE49-F238E27FC236}">
                  <a16:creationId xmlns:a16="http://schemas.microsoft.com/office/drawing/2014/main" id="{659886A8-EDEF-43B4-93E8-0557C1278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934"/>
              <a:ext cx="1" cy="1166"/>
            </a:xfrm>
            <a:custGeom>
              <a:avLst/>
              <a:gdLst>
                <a:gd name="T0" fmla="*/ 0 w 1"/>
                <a:gd name="T1" fmla="*/ 1166 h 1166"/>
                <a:gd name="T2" fmla="*/ 0 w 1"/>
                <a:gd name="T3" fmla="*/ 0 h 1166"/>
                <a:gd name="T4" fmla="*/ 0 60000 65536"/>
                <a:gd name="T5" fmla="*/ 0 60000 65536"/>
                <a:gd name="T6" fmla="*/ 0 w 1"/>
                <a:gd name="T7" fmla="*/ 0 h 1166"/>
                <a:gd name="T8" fmla="*/ 1 w 1"/>
                <a:gd name="T9" fmla="*/ 1166 h 11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66">
                  <a:moveTo>
                    <a:pt x="0" y="1166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Freeform 55">
              <a:extLst>
                <a:ext uri="{FF2B5EF4-FFF2-40B4-BE49-F238E27FC236}">
                  <a16:creationId xmlns:a16="http://schemas.microsoft.com/office/drawing/2014/main" id="{59D6BD0D-E627-4DA7-8970-81AE972CB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" y="1039"/>
              <a:ext cx="1" cy="1234"/>
            </a:xfrm>
            <a:custGeom>
              <a:avLst/>
              <a:gdLst>
                <a:gd name="T0" fmla="*/ 1 w 1"/>
                <a:gd name="T1" fmla="*/ 1234 h 1234"/>
                <a:gd name="T2" fmla="*/ 0 w 1"/>
                <a:gd name="T3" fmla="*/ 0 h 1234"/>
                <a:gd name="T4" fmla="*/ 0 60000 65536"/>
                <a:gd name="T5" fmla="*/ 0 60000 65536"/>
                <a:gd name="T6" fmla="*/ 0 w 1"/>
                <a:gd name="T7" fmla="*/ 0 h 1234"/>
                <a:gd name="T8" fmla="*/ 1 w 1"/>
                <a:gd name="T9" fmla="*/ 1234 h 12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34">
                  <a:moveTo>
                    <a:pt x="1" y="1234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62">
              <a:extLst>
                <a:ext uri="{FF2B5EF4-FFF2-40B4-BE49-F238E27FC236}">
                  <a16:creationId xmlns:a16="http://schemas.microsoft.com/office/drawing/2014/main" id="{35E93F7E-5A48-4179-828F-A780407D3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17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63">
              <a:extLst>
                <a:ext uri="{FF2B5EF4-FFF2-40B4-BE49-F238E27FC236}">
                  <a16:creationId xmlns:a16="http://schemas.microsoft.com/office/drawing/2014/main" id="{C155FCD5-F3F3-49D6-B24A-4D6740B882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2078"/>
              <a:ext cx="0" cy="7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64">
              <a:extLst>
                <a:ext uri="{FF2B5EF4-FFF2-40B4-BE49-F238E27FC236}">
                  <a16:creationId xmlns:a16="http://schemas.microsoft.com/office/drawing/2014/main" id="{078414F1-13B3-4EB7-B727-C831A58225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" y="2784"/>
              <a:ext cx="4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65">
              <a:extLst>
                <a:ext uri="{FF2B5EF4-FFF2-40B4-BE49-F238E27FC236}">
                  <a16:creationId xmlns:a16="http://schemas.microsoft.com/office/drawing/2014/main" id="{DD3BE35C-3FF3-4AE3-B088-B6AF73E8D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" y="2088"/>
              <a:ext cx="4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9" name="Group 66">
            <a:extLst>
              <a:ext uri="{FF2B5EF4-FFF2-40B4-BE49-F238E27FC236}">
                <a16:creationId xmlns:a16="http://schemas.microsoft.com/office/drawing/2014/main" id="{D4706B1F-92D3-4E76-8B65-069BB491B491}"/>
              </a:ext>
            </a:extLst>
          </p:cNvPr>
          <p:cNvGrpSpPr>
            <a:grpSpLocks/>
          </p:cNvGrpSpPr>
          <p:nvPr/>
        </p:nvGrpSpPr>
        <p:grpSpPr bwMode="auto">
          <a:xfrm>
            <a:off x="5398454" y="1864013"/>
            <a:ext cx="889000" cy="3402001"/>
            <a:chOff x="2526" y="699"/>
            <a:chExt cx="560" cy="2143"/>
          </a:xfrm>
        </p:grpSpPr>
        <p:sp>
          <p:nvSpPr>
            <p:cNvPr id="50" name="Text Box 67">
              <a:extLst>
                <a:ext uri="{FF2B5EF4-FFF2-40B4-BE49-F238E27FC236}">
                  <a16:creationId xmlns:a16="http://schemas.microsoft.com/office/drawing/2014/main" id="{15A62C21-0A1B-4F30-A744-485219BD1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187" y="1447"/>
              <a:ext cx="92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下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1" name="Text Box 68">
              <a:extLst>
                <a:ext uri="{FF2B5EF4-FFF2-40B4-BE49-F238E27FC236}">
                  <a16:creationId xmlns:a16="http://schemas.microsoft.com/office/drawing/2014/main" id="{2CF6461E-E2FC-4F3A-B33F-6F890DCA3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237" y="1244"/>
              <a:ext cx="134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上</a:t>
              </a:r>
              <a:r>
                <a:rPr lang="zh-CN" altLang="zh-CN" sz="2000" dirty="0">
                  <a:solidFill>
                    <a:schemeClr val="tx1"/>
                  </a:solidFill>
                </a:rPr>
                <a:t>极限尺寸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52" name="Group 69">
              <a:extLst>
                <a:ext uri="{FF2B5EF4-FFF2-40B4-BE49-F238E27FC236}">
                  <a16:creationId xmlns:a16="http://schemas.microsoft.com/office/drawing/2014/main" id="{70EF0A1C-094A-4A05-931E-EA5C30693A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7" y="987"/>
              <a:ext cx="489" cy="1847"/>
              <a:chOff x="2597" y="987"/>
              <a:chExt cx="489" cy="1847"/>
            </a:xfrm>
          </p:grpSpPr>
          <p:sp>
            <p:nvSpPr>
              <p:cNvPr id="55" name="Line 70">
                <a:extLst>
                  <a:ext uri="{FF2B5EF4-FFF2-40B4-BE49-F238E27FC236}">
                    <a16:creationId xmlns:a16="http://schemas.microsoft.com/office/drawing/2014/main" id="{708CA7FD-1ED9-451A-B210-427E81AB1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8" y="2834"/>
                <a:ext cx="4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71">
                <a:extLst>
                  <a:ext uri="{FF2B5EF4-FFF2-40B4-BE49-F238E27FC236}">
                    <a16:creationId xmlns:a16="http://schemas.microsoft.com/office/drawing/2014/main" id="{818A6E74-8539-4F7D-A14C-BBF40CEFB7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9" y="987"/>
                <a:ext cx="0" cy="128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Line 72">
                <a:extLst>
                  <a:ext uri="{FF2B5EF4-FFF2-40B4-BE49-F238E27FC236}">
                    <a16:creationId xmlns:a16="http://schemas.microsoft.com/office/drawing/2014/main" id="{45C68710-959A-45E7-A633-678A75B5F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1" y="2272"/>
                <a:ext cx="2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73">
                <a:extLst>
                  <a:ext uri="{FF2B5EF4-FFF2-40B4-BE49-F238E27FC236}">
                    <a16:creationId xmlns:a16="http://schemas.microsoft.com/office/drawing/2014/main" id="{32185562-7867-4A52-B719-A693FE374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7" y="2170"/>
                <a:ext cx="4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74">
                <a:extLst>
                  <a:ext uri="{FF2B5EF4-FFF2-40B4-BE49-F238E27FC236}">
                    <a16:creationId xmlns:a16="http://schemas.microsoft.com/office/drawing/2014/main" id="{9200A519-277B-4ED9-AE4D-5F5A2C8F1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28" y="1012"/>
                <a:ext cx="0" cy="115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3" name="Line 81">
              <a:extLst>
                <a:ext uri="{FF2B5EF4-FFF2-40B4-BE49-F238E27FC236}">
                  <a16:creationId xmlns:a16="http://schemas.microsoft.com/office/drawing/2014/main" id="{8548FB88-3535-4FD4-AD05-C8E7E4F17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2158"/>
              <a:ext cx="0" cy="6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82">
              <a:extLst>
                <a:ext uri="{FF2B5EF4-FFF2-40B4-BE49-F238E27FC236}">
                  <a16:creationId xmlns:a16="http://schemas.microsoft.com/office/drawing/2014/main" id="{B4D8599C-8614-406A-AF2B-98A67741B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2263"/>
              <a:ext cx="0" cy="5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" name="Text Box 2">
            <a:extLst>
              <a:ext uri="{FF2B5EF4-FFF2-40B4-BE49-F238E27FC236}">
                <a16:creationId xmlns:a16="http://schemas.microsoft.com/office/drawing/2014/main" id="{07A39BAE-BEE7-432C-8E10-3EFF88CE5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248" y="832713"/>
            <a:ext cx="2528554" cy="52540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配合的种类</a:t>
            </a:r>
          </a:p>
        </p:txBody>
      </p:sp>
      <p:sp>
        <p:nvSpPr>
          <p:cNvPr id="61" name="Text Box 31">
            <a:extLst>
              <a:ext uri="{FF2B5EF4-FFF2-40B4-BE49-F238E27FC236}">
                <a16:creationId xmlns:a16="http://schemas.microsoft.com/office/drawing/2014/main" id="{A777FEDF-8302-4574-99CC-75AE0B997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260648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2433055-E267-4CD4-9F36-E69995E4CB8A}"/>
              </a:ext>
            </a:extLst>
          </p:cNvPr>
          <p:cNvSpPr/>
          <p:nvPr/>
        </p:nvSpPr>
        <p:spPr>
          <a:xfrm>
            <a:off x="7471653" y="1870066"/>
            <a:ext cx="2714625" cy="830997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孔的公差带与轴的公差带相互交叠</a:t>
            </a:r>
          </a:p>
        </p:txBody>
      </p:sp>
    </p:spTree>
    <p:extLst>
      <p:ext uri="{BB962C8B-B14F-4D97-AF65-F5344CB8AC3E}">
        <p14:creationId xmlns:p14="http://schemas.microsoft.com/office/powerpoint/2010/main" val="290395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80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80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38" grpId="0" autoUpdateAnimBg="0"/>
      <p:bldP spid="6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B94B99E-1F5B-4476-99E2-72C4E2A35EC2}"/>
              </a:ext>
            </a:extLst>
          </p:cNvPr>
          <p:cNvGrpSpPr>
            <a:grpSpLocks/>
          </p:cNvGrpSpPr>
          <p:nvPr/>
        </p:nvGrpSpPr>
        <p:grpSpPr bwMode="auto">
          <a:xfrm>
            <a:off x="3208351" y="2942264"/>
            <a:ext cx="6767529" cy="1362075"/>
            <a:chOff x="1132" y="1499"/>
            <a:chExt cx="4263" cy="858"/>
          </a:xfrm>
        </p:grpSpPr>
        <p:sp>
          <p:nvSpPr>
            <p:cNvPr id="3" name="Line 3">
              <a:extLst>
                <a:ext uri="{FF2B5EF4-FFF2-40B4-BE49-F238E27FC236}">
                  <a16:creationId xmlns:a16="http://schemas.microsoft.com/office/drawing/2014/main" id="{09A06451-24E5-4DE5-934A-296CC31C6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499"/>
              <a:ext cx="419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CC691EF8-2EF3-4838-8E41-B44B742AD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" y="1607"/>
              <a:ext cx="419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BFC83BD6-41D2-4D57-AEA7-8731E4B06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" y="2357"/>
              <a:ext cx="426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" name="Text Box 20">
            <a:extLst>
              <a:ext uri="{FF2B5EF4-FFF2-40B4-BE49-F238E27FC236}">
                <a16:creationId xmlns:a16="http://schemas.microsoft.com/office/drawing/2014/main" id="{3870885C-FC77-40EF-B9EA-F82E417BC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266" y="1346410"/>
            <a:ext cx="6538273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在生产中为了减少刀具、量具的规格、数量。</a:t>
            </a:r>
            <a:r>
              <a:rPr lang="zh-CN" altLang="en-US" sz="2400" b="0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3B38B6D4-3E41-4B10-ADF7-A5E36C074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387" y="1310839"/>
            <a:ext cx="2193527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①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基孔制配合</a:t>
            </a:r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F38CE275-AAF6-4D39-B322-37D8138A8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635" y="1728069"/>
            <a:ext cx="9573629" cy="833178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基本偏差为</a:t>
            </a:r>
            <a:r>
              <a:rPr lang="zh-CN" altLang="en-US" sz="2400" dirty="0">
                <a:solidFill>
                  <a:srgbClr val="FF6600"/>
                </a:solidFill>
                <a:latin typeface="宋体" pitchFamily="2" charset="-122"/>
              </a:rPr>
              <a:t>一定的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孔的公差带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，与</a:t>
            </a:r>
            <a:r>
              <a:rPr lang="zh-CN" altLang="en-US" sz="2400" dirty="0">
                <a:solidFill>
                  <a:srgbClr val="FF6600"/>
                </a:solidFill>
                <a:latin typeface="宋体" pitchFamily="2" charset="-122"/>
              </a:rPr>
              <a:t>不同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基本偏差的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轴的公差带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形成各种配合的制度。</a:t>
            </a:r>
          </a:p>
        </p:txBody>
      </p:sp>
      <p:sp>
        <p:nvSpPr>
          <p:cNvPr id="9" name="Text Box 23">
            <a:extLst>
              <a:ext uri="{FF2B5EF4-FFF2-40B4-BE49-F238E27FC236}">
                <a16:creationId xmlns:a16="http://schemas.microsoft.com/office/drawing/2014/main" id="{6262C7FE-783D-4D5A-8DE3-2E3D64073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980" y="4962173"/>
            <a:ext cx="951199" cy="40229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基准孔</a:t>
            </a:r>
          </a:p>
        </p:txBody>
      </p:sp>
      <p:sp>
        <p:nvSpPr>
          <p:cNvPr id="10" name="Text Box 24">
            <a:extLst>
              <a:ext uri="{FF2B5EF4-FFF2-40B4-BE49-F238E27FC236}">
                <a16:creationId xmlns:a16="http://schemas.microsoft.com/office/drawing/2014/main" id="{B2839C1E-BFCC-416B-A3DF-6B27B8048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216" y="4969427"/>
            <a:ext cx="1207680" cy="40229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间隙配合</a:t>
            </a:r>
          </a:p>
        </p:txBody>
      </p:sp>
      <p:sp>
        <p:nvSpPr>
          <p:cNvPr id="11" name="Text Box 25">
            <a:extLst>
              <a:ext uri="{FF2B5EF4-FFF2-40B4-BE49-F238E27FC236}">
                <a16:creationId xmlns:a16="http://schemas.microsoft.com/office/drawing/2014/main" id="{4F2FFE60-EE0A-4F8A-BEA1-F6799E3FA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4578" y="4948790"/>
            <a:ext cx="1207680" cy="40229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过渡配合</a:t>
            </a:r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228FC8DE-D24D-47C5-8710-7D5928649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8549" y="4948790"/>
            <a:ext cx="1207680" cy="40229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过盈配合</a:t>
            </a:r>
          </a:p>
        </p:txBody>
      </p:sp>
      <p:sp>
        <p:nvSpPr>
          <p:cNvPr id="13" name="Text Box 27">
            <a:extLst>
              <a:ext uri="{FF2B5EF4-FFF2-40B4-BE49-F238E27FC236}">
                <a16:creationId xmlns:a16="http://schemas.microsoft.com/office/drawing/2014/main" id="{DECFAF4F-F85F-4CEA-9DC8-65CD1BB59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8174" y="5390800"/>
            <a:ext cx="1464160" cy="40229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</a:rPr>
              <a:t>公差带图：</a:t>
            </a:r>
          </a:p>
        </p:txBody>
      </p:sp>
      <p:sp>
        <p:nvSpPr>
          <p:cNvPr id="14" name="Rectangle 28">
            <a:extLst>
              <a:ext uri="{FF2B5EF4-FFF2-40B4-BE49-F238E27FC236}">
                <a16:creationId xmlns:a16="http://schemas.microsoft.com/office/drawing/2014/main" id="{F22FFD32-DD0E-4482-AFAC-EDF571146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644" y="6322048"/>
            <a:ext cx="831607" cy="347663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9406919A-8F76-47A8-915C-1A51D8C59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23" y="5417173"/>
            <a:ext cx="976312" cy="361950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Group 30">
            <a:extLst>
              <a:ext uri="{FF2B5EF4-FFF2-40B4-BE49-F238E27FC236}">
                <a16:creationId xmlns:a16="http://schemas.microsoft.com/office/drawing/2014/main" id="{1545529C-D8C6-431F-B350-7305BD00B196}"/>
              </a:ext>
            </a:extLst>
          </p:cNvPr>
          <p:cNvGrpSpPr>
            <a:grpSpLocks/>
          </p:cNvGrpSpPr>
          <p:nvPr/>
        </p:nvGrpSpPr>
        <p:grpSpPr bwMode="auto">
          <a:xfrm>
            <a:off x="1595437" y="5855323"/>
            <a:ext cx="8771164" cy="801688"/>
            <a:chOff x="116" y="3334"/>
            <a:chExt cx="5282" cy="505"/>
          </a:xfrm>
        </p:grpSpPr>
        <p:sp>
          <p:nvSpPr>
            <p:cNvPr id="17" name="Text Box 31">
              <a:extLst>
                <a:ext uri="{FF2B5EF4-FFF2-40B4-BE49-F238E27FC236}">
                  <a16:creationId xmlns:a16="http://schemas.microsoft.com/office/drawing/2014/main" id="{D98B96DC-4FBE-43A0-A3BF-E8E1B07B9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" y="3430"/>
              <a:ext cx="250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latin typeface="ISOCTEUR" pitchFamily="49" charset="0"/>
                </a:rPr>
                <a:t>0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8" name="Line 32">
              <a:extLst>
                <a:ext uri="{FF2B5EF4-FFF2-40B4-BE49-F238E27FC236}">
                  <a16:creationId xmlns:a16="http://schemas.microsoft.com/office/drawing/2014/main" id="{2C8C20D6-F88E-4AEA-A7DD-168235504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" y="3568"/>
              <a:ext cx="48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33">
              <a:extLst>
                <a:ext uri="{FF2B5EF4-FFF2-40B4-BE49-F238E27FC236}">
                  <a16:creationId xmlns:a16="http://schemas.microsoft.com/office/drawing/2014/main" id="{B50078F1-06EC-456F-B9E5-4A23A5CF1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3363"/>
              <a:ext cx="4451" cy="205"/>
            </a:xfrm>
            <a:prstGeom prst="rect">
              <a:avLst/>
            </a:prstGeom>
            <a:solidFill>
              <a:srgbClr val="FF6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34">
              <a:extLst>
                <a:ext uri="{FF2B5EF4-FFF2-40B4-BE49-F238E27FC236}">
                  <a16:creationId xmlns:a16="http://schemas.microsoft.com/office/drawing/2014/main" id="{5A0225D5-C392-414E-AD15-F23B6F6C8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3359"/>
              <a:ext cx="231" cy="48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 sz="4400">
                  <a:solidFill>
                    <a:schemeClr val="tx1"/>
                  </a:solidFill>
                </a:rPr>
                <a:t>-</a:t>
              </a:r>
            </a:p>
          </p:txBody>
        </p:sp>
        <p:sp>
          <p:nvSpPr>
            <p:cNvPr id="21" name="Text Box 35">
              <a:extLst>
                <a:ext uri="{FF2B5EF4-FFF2-40B4-BE49-F238E27FC236}">
                  <a16:creationId xmlns:a16="http://schemas.microsoft.com/office/drawing/2014/main" id="{FB87BA48-45EA-4AB9-8327-F8740704F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" y="3409"/>
              <a:ext cx="250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latin typeface="ISOCTEUR" pitchFamily="49" charset="0"/>
                </a:rPr>
                <a:t>0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22" name="Text Box 36">
              <a:extLst>
                <a:ext uri="{FF2B5EF4-FFF2-40B4-BE49-F238E27FC236}">
                  <a16:creationId xmlns:a16="http://schemas.microsoft.com/office/drawing/2014/main" id="{64C50FCC-8116-452E-B403-A50094A58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" y="3334"/>
              <a:ext cx="223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+</a:t>
              </a:r>
            </a:p>
          </p:txBody>
        </p:sp>
      </p:grpSp>
      <p:sp>
        <p:nvSpPr>
          <p:cNvPr id="23" name="Rectangle 56">
            <a:extLst>
              <a:ext uri="{FF2B5EF4-FFF2-40B4-BE49-F238E27FC236}">
                <a16:creationId xmlns:a16="http://schemas.microsoft.com/office/drawing/2014/main" id="{8EA06818-1D97-4C85-94B8-039E455C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905" y="6060111"/>
            <a:ext cx="2854037" cy="366712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60B5B1D7-354D-4578-BFDF-42C299E6F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635" y="814932"/>
            <a:ext cx="2167879" cy="52540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配合制度 </a:t>
            </a:r>
          </a:p>
        </p:txBody>
      </p:sp>
      <p:sp>
        <p:nvSpPr>
          <p:cNvPr id="25" name="Text Box 31">
            <a:extLst>
              <a:ext uri="{FF2B5EF4-FFF2-40B4-BE49-F238E27FC236}">
                <a16:creationId xmlns:a16="http://schemas.microsoft.com/office/drawing/2014/main" id="{0083C1DD-D6DD-41D3-A852-3043DB638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188640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</a:p>
        </p:txBody>
      </p:sp>
      <p:pic>
        <p:nvPicPr>
          <p:cNvPr id="26" name="Picture 1">
            <a:extLst>
              <a:ext uri="{FF2B5EF4-FFF2-40B4-BE49-F238E27FC236}">
                <a16:creationId xmlns:a16="http://schemas.microsoft.com/office/drawing/2014/main" id="{82A1FE81-82ED-43F2-AF8C-4717552A9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58030" y="2552229"/>
            <a:ext cx="1607501" cy="233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79DCC1FB-04CA-437E-8230-233AF0E34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69619" y="3166110"/>
            <a:ext cx="1163410" cy="1163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D6EFCBF0-F60D-4992-A8FB-1E8E9B3DC032}"/>
              </a:ext>
            </a:extLst>
          </p:cNvPr>
          <p:cNvGrpSpPr/>
          <p:nvPr/>
        </p:nvGrpSpPr>
        <p:grpSpPr>
          <a:xfrm>
            <a:off x="4773755" y="2739752"/>
            <a:ext cx="3230539" cy="1615794"/>
            <a:chOff x="3362468" y="2743200"/>
            <a:chExt cx="3230539" cy="1615794"/>
          </a:xfrm>
        </p:grpSpPr>
        <p:pic>
          <p:nvPicPr>
            <p:cNvPr id="29" name="Picture 3">
              <a:extLst>
                <a:ext uri="{FF2B5EF4-FFF2-40B4-BE49-F238E27FC236}">
                  <a16:creationId xmlns:a16="http://schemas.microsoft.com/office/drawing/2014/main" id="{E493994D-8C6D-4ED9-8AB9-7CCD6D4C6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3124" r="68680"/>
            <a:stretch>
              <a:fillRect/>
            </a:stretch>
          </p:blipFill>
          <p:spPr bwMode="auto">
            <a:xfrm>
              <a:off x="3362468" y="2971800"/>
              <a:ext cx="1047607" cy="1387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" name="Picture 3">
              <a:extLst>
                <a:ext uri="{FF2B5EF4-FFF2-40B4-BE49-F238E27FC236}">
                  <a16:creationId xmlns:a16="http://schemas.microsoft.com/office/drawing/2014/main" id="{27172C21-EBAD-41B0-AC76-7D9A62AF75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2459" r="36501"/>
            <a:stretch>
              <a:fillRect/>
            </a:stretch>
          </p:blipFill>
          <p:spPr bwMode="auto">
            <a:xfrm>
              <a:off x="4419600" y="2743200"/>
              <a:ext cx="1038225" cy="15967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1" name="Picture 3">
              <a:extLst>
                <a:ext uri="{FF2B5EF4-FFF2-40B4-BE49-F238E27FC236}">
                  <a16:creationId xmlns:a16="http://schemas.microsoft.com/office/drawing/2014/main" id="{05958B93-A6ED-41E8-A634-D4D2DFA3AB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7770"/>
            <a:stretch>
              <a:fillRect/>
            </a:stretch>
          </p:blipFill>
          <p:spPr bwMode="auto">
            <a:xfrm>
              <a:off x="5514975" y="2743200"/>
              <a:ext cx="1078032" cy="15967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32" name="Picture 4">
            <a:extLst>
              <a:ext uri="{FF2B5EF4-FFF2-40B4-BE49-F238E27FC236}">
                <a16:creationId xmlns:a16="http://schemas.microsoft.com/office/drawing/2014/main" id="{50BF1CEE-43CF-404A-82AA-613D3B141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15367" y="2587352"/>
            <a:ext cx="1121899" cy="1741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4872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"/>
                            </p:stCondLst>
                            <p:childTnLst>
                              <p:par>
                                <p:cTn id="5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"/>
                            </p:stCondLst>
                            <p:childTnLst>
                              <p:par>
                                <p:cTn id="6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 autoUpdateAnimBg="0"/>
      <p:bldP spid="8" grpId="0" autoUpdateAnimBg="0"/>
      <p:bldP spid="9" grpId="0" build="p" autoUpdateAnimBg="0" advAuto="0"/>
      <p:bldP spid="10" grpId="0" build="p" autoUpdateAnimBg="0"/>
      <p:bldP spid="11" grpId="0" build="p" autoUpdateAnimBg="0"/>
      <p:bldP spid="12" grpId="0" build="p" autoUpdateAnimBg="0"/>
      <p:bldP spid="13" grpId="0" build="p" autoUpdateAnimBg="0"/>
      <p:bldP spid="14" grpId="0" animBg="1"/>
      <p:bldP spid="15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6">
            <a:extLst>
              <a:ext uri="{FF2B5EF4-FFF2-40B4-BE49-F238E27FC236}">
                <a16:creationId xmlns:a16="http://schemas.microsoft.com/office/drawing/2014/main" id="{4F7A2757-1F16-4A0D-B78C-1CD728099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8882" y="1343987"/>
            <a:ext cx="2193527" cy="463846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②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基轴制配合</a:t>
            </a:r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81730316-434D-4DAC-8046-59A0E0F04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72" y="1746912"/>
            <a:ext cx="9630739" cy="833178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基本偏差为</a:t>
            </a:r>
            <a:r>
              <a:rPr lang="zh-CN" altLang="en-US" sz="2400" dirty="0">
                <a:solidFill>
                  <a:srgbClr val="FF6600"/>
                </a:solidFill>
                <a:latin typeface="宋体" pitchFamily="2" charset="-122"/>
              </a:rPr>
              <a:t>一定的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轴的公差带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与</a:t>
            </a:r>
            <a:r>
              <a:rPr lang="zh-CN" altLang="en-US" sz="2400" dirty="0">
                <a:solidFill>
                  <a:srgbClr val="FF6600"/>
                </a:solidFill>
                <a:latin typeface="宋体" pitchFamily="2" charset="-122"/>
              </a:rPr>
              <a:t>不同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基本偏差的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孔的公差带</a:t>
            </a:r>
            <a:r>
              <a:rPr lang="zh-CN" altLang="en-US" sz="2400" dirty="0">
                <a:latin typeface="宋体" pitchFamily="2" charset="-122"/>
              </a:rPr>
              <a:t>形成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各种配合的制度。</a:t>
            </a:r>
          </a:p>
        </p:txBody>
      </p:sp>
      <p:sp>
        <p:nvSpPr>
          <p:cNvPr id="4" name="Text Box 38">
            <a:extLst>
              <a:ext uri="{FF2B5EF4-FFF2-40B4-BE49-F238E27FC236}">
                <a16:creationId xmlns:a16="http://schemas.microsoft.com/office/drawing/2014/main" id="{B6AFCF4D-547F-44E4-9327-0748B8E12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17" y="5980363"/>
            <a:ext cx="951199" cy="40229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基准轴</a:t>
            </a:r>
          </a:p>
        </p:txBody>
      </p:sp>
      <p:sp>
        <p:nvSpPr>
          <p:cNvPr id="5" name="Text Box 39">
            <a:extLst>
              <a:ext uri="{FF2B5EF4-FFF2-40B4-BE49-F238E27FC236}">
                <a16:creationId xmlns:a16="http://schemas.microsoft.com/office/drawing/2014/main" id="{FF2D4D2E-2B5F-462C-978F-6E82ACA42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4090" y="5942718"/>
            <a:ext cx="1207680" cy="40229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间隙配合</a:t>
            </a:r>
          </a:p>
        </p:txBody>
      </p:sp>
      <p:sp>
        <p:nvSpPr>
          <p:cNvPr id="6" name="Text Box 40">
            <a:extLst>
              <a:ext uri="{FF2B5EF4-FFF2-40B4-BE49-F238E27FC236}">
                <a16:creationId xmlns:a16="http://schemas.microsoft.com/office/drawing/2014/main" id="{8D2CA67B-6711-43C1-8BE6-BEF5DEE0D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632" y="5913689"/>
            <a:ext cx="1207680" cy="40229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过渡配合</a:t>
            </a:r>
          </a:p>
        </p:txBody>
      </p:sp>
      <p:sp>
        <p:nvSpPr>
          <p:cNvPr id="7" name="Text Box 41">
            <a:extLst>
              <a:ext uri="{FF2B5EF4-FFF2-40B4-BE49-F238E27FC236}">
                <a16:creationId xmlns:a16="http://schemas.microsoft.com/office/drawing/2014/main" id="{896B066A-279D-44D6-A1C4-DCB2EFFCE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7833" y="5913687"/>
            <a:ext cx="1207680" cy="40229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过盈配合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1D0E9161-6DCA-43F4-A6A5-DB361A175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436" y="796457"/>
            <a:ext cx="2167879" cy="525401"/>
          </a:xfrm>
          <a:prstGeom prst="rect">
            <a:avLst/>
          </a:prstGeom>
          <a:noFill/>
          <a:ln w="12700">
            <a:noFill/>
            <a:miter lim="800000"/>
            <a:headEnd type="none" w="sm" len="lg"/>
            <a:tailEnd type="none" w="sm" len="lg"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配合制度 </a:t>
            </a: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4D63A0EE-6166-441D-B43D-D6E8AA390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028" y="175888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  <a:endParaRPr lang="zh-CN" altLang="en-US" sz="320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AE64A8D-90D5-4D6B-8BB9-E8634885C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35718" y="2470253"/>
            <a:ext cx="7572554" cy="3046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C28CD9D-BE88-4BC9-8597-1E389595B2E8}"/>
              </a:ext>
            </a:extLst>
          </p:cNvPr>
          <p:cNvCxnSpPr/>
          <p:nvPr/>
        </p:nvCxnSpPr>
        <p:spPr>
          <a:xfrm rot="16200000" flipH="1">
            <a:off x="3531248" y="5027514"/>
            <a:ext cx="2612571" cy="1451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EB5B30E-2B03-4C99-8C07-196A48A96F73}"/>
              </a:ext>
            </a:extLst>
          </p:cNvPr>
          <p:cNvCxnSpPr/>
          <p:nvPr/>
        </p:nvCxnSpPr>
        <p:spPr>
          <a:xfrm rot="16200000" flipH="1">
            <a:off x="7137098" y="5651631"/>
            <a:ext cx="1632862" cy="72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38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D54EA210-5123-499C-8BF2-5EDEC918F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r="14645"/>
          <a:stretch>
            <a:fillRect/>
          </a:stretch>
        </p:blipFill>
        <p:spPr bwMode="auto">
          <a:xfrm>
            <a:off x="2315580" y="1916832"/>
            <a:ext cx="6735762" cy="2357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258D6CDB-404C-487E-A1E3-4AF669D36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r="13969"/>
          <a:stretch>
            <a:fillRect/>
          </a:stretch>
        </p:blipFill>
        <p:spPr bwMode="auto">
          <a:xfrm>
            <a:off x="2301292" y="4225284"/>
            <a:ext cx="6804025" cy="230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00">
            <a:extLst>
              <a:ext uri="{FF2B5EF4-FFF2-40B4-BE49-F238E27FC236}">
                <a16:creationId xmlns:a16="http://schemas.microsoft.com/office/drawing/2014/main" id="{BBE820C9-52BE-4798-970D-28E0976D0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1948" y="2127460"/>
            <a:ext cx="121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宋体" pitchFamily="2" charset="-122"/>
              </a:rPr>
              <a:t>基轴制：</a:t>
            </a:r>
          </a:p>
        </p:txBody>
      </p:sp>
      <p:sp>
        <p:nvSpPr>
          <p:cNvPr id="5" name="Text Box 101">
            <a:extLst>
              <a:ext uri="{FF2B5EF4-FFF2-40B4-BE49-F238E27FC236}">
                <a16:creationId xmlns:a16="http://schemas.microsoft.com/office/drawing/2014/main" id="{B2BEFE17-C9AB-4F78-9C63-75AB25168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948" y="1771227"/>
            <a:ext cx="23807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000" b="1">
                <a:solidFill>
                  <a:schemeClr val="tx1"/>
                </a:solidFill>
                <a:latin typeface="宋体" pitchFamily="2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宋体" pitchFamily="2" charset="-122"/>
              </a:rPr>
              <a:t>～</a:t>
            </a:r>
            <a:r>
              <a:rPr lang="en-US" altLang="zh-CN" sz="2000" b="1">
                <a:solidFill>
                  <a:schemeClr val="tx1"/>
                </a:solidFill>
                <a:latin typeface="宋体" pitchFamily="2" charset="-122"/>
              </a:rPr>
              <a:t>H </a:t>
            </a:r>
            <a:r>
              <a:rPr lang="zh-CN" altLang="zh-CN" sz="2000" b="1">
                <a:solidFill>
                  <a:schemeClr val="tx1"/>
                </a:solidFill>
                <a:latin typeface="宋体" pitchFamily="2" charset="-122"/>
              </a:rPr>
              <a:t>形成间隙配合</a:t>
            </a:r>
            <a:endParaRPr lang="zh-CN" altLang="en-US" sz="2000" b="1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6" name="Text Box 102">
            <a:extLst>
              <a:ext uri="{FF2B5EF4-FFF2-40B4-BE49-F238E27FC236}">
                <a16:creationId xmlns:a16="http://schemas.microsoft.com/office/drawing/2014/main" id="{6D8AFE5B-9E00-4F1E-A48D-37059252B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948" y="2098707"/>
            <a:ext cx="23807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J</a:t>
            </a:r>
            <a:r>
              <a:rPr lang="zh-CN" altLang="en-US" sz="2000" b="1" dirty="0">
                <a:solidFill>
                  <a:schemeClr val="tx1"/>
                </a:solidFill>
                <a:latin typeface="宋体" pitchFamily="2" charset="-122"/>
              </a:rPr>
              <a:t>～</a:t>
            </a:r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N </a:t>
            </a:r>
            <a:r>
              <a:rPr lang="zh-CN" altLang="zh-CN" sz="2000" b="1" dirty="0">
                <a:solidFill>
                  <a:schemeClr val="tx1"/>
                </a:solidFill>
                <a:latin typeface="宋体" pitchFamily="2" charset="-122"/>
              </a:rPr>
              <a:t>形成过渡配合</a:t>
            </a:r>
            <a:endParaRPr lang="zh-CN" altLang="en-US" sz="2000" b="1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7" name="Text Box 103">
            <a:extLst>
              <a:ext uri="{FF2B5EF4-FFF2-40B4-BE49-F238E27FC236}">
                <a16:creationId xmlns:a16="http://schemas.microsoft.com/office/drawing/2014/main" id="{919DF1EB-AACE-4B9B-84D6-1A45BA25F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948" y="2465874"/>
            <a:ext cx="25106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P</a:t>
            </a:r>
            <a:r>
              <a:rPr lang="zh-CN" altLang="en-US" sz="2000" b="1" dirty="0">
                <a:solidFill>
                  <a:schemeClr val="tx1"/>
                </a:solidFill>
                <a:latin typeface="宋体" pitchFamily="2" charset="-122"/>
              </a:rPr>
              <a:t>～</a:t>
            </a:r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ZC </a:t>
            </a:r>
            <a:r>
              <a:rPr lang="zh-CN" altLang="zh-CN" sz="2000" b="1" dirty="0">
                <a:solidFill>
                  <a:schemeClr val="tx1"/>
                </a:solidFill>
                <a:latin typeface="宋体" pitchFamily="2" charset="-122"/>
              </a:rPr>
              <a:t>形成过盈配合</a:t>
            </a:r>
            <a:endParaRPr lang="zh-CN" altLang="en-US" sz="2000" b="1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8" name="Text Box 106">
            <a:extLst>
              <a:ext uri="{FF2B5EF4-FFF2-40B4-BE49-F238E27FC236}">
                <a16:creationId xmlns:a16="http://schemas.microsoft.com/office/drawing/2014/main" id="{55AD013F-A4A5-4986-A6ED-1E0824E1D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080" y="5656671"/>
            <a:ext cx="121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宋体" pitchFamily="2" charset="-122"/>
              </a:rPr>
              <a:t>基孔制：</a:t>
            </a:r>
          </a:p>
        </p:txBody>
      </p:sp>
      <p:sp>
        <p:nvSpPr>
          <p:cNvPr id="9" name="Text Box 107">
            <a:extLst>
              <a:ext uri="{FF2B5EF4-FFF2-40B4-BE49-F238E27FC236}">
                <a16:creationId xmlns:a16="http://schemas.microsoft.com/office/drawing/2014/main" id="{0407D481-4DC2-45E5-AE1F-D33F88210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952" y="5405893"/>
            <a:ext cx="2380780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宋体" pitchFamily="2" charset="-122"/>
              </a:rPr>
              <a:t>～</a:t>
            </a:r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h </a:t>
            </a:r>
            <a:r>
              <a:rPr lang="zh-CN" altLang="zh-CN" sz="2000" b="1" dirty="0">
                <a:solidFill>
                  <a:schemeClr val="tx1"/>
                </a:solidFill>
                <a:latin typeface="宋体" pitchFamily="2" charset="-122"/>
              </a:rPr>
              <a:t>形成间隙配合</a:t>
            </a:r>
            <a:endParaRPr lang="zh-CN" altLang="en-US" sz="2000" b="1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10" name="Text Box 108">
            <a:extLst>
              <a:ext uri="{FF2B5EF4-FFF2-40B4-BE49-F238E27FC236}">
                <a16:creationId xmlns:a16="http://schemas.microsoft.com/office/drawing/2014/main" id="{8CD16CA9-24C8-4036-BD4B-C87896757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952" y="5772155"/>
            <a:ext cx="23807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j</a:t>
            </a:r>
            <a:r>
              <a:rPr lang="zh-CN" altLang="en-US" sz="2000" b="1" dirty="0">
                <a:solidFill>
                  <a:schemeClr val="tx1"/>
                </a:solidFill>
                <a:latin typeface="宋体" pitchFamily="2" charset="-122"/>
              </a:rPr>
              <a:t>～</a:t>
            </a:r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n </a:t>
            </a:r>
            <a:r>
              <a:rPr lang="zh-CN" altLang="zh-CN" sz="2000" b="1" dirty="0">
                <a:solidFill>
                  <a:schemeClr val="tx1"/>
                </a:solidFill>
                <a:latin typeface="宋体" pitchFamily="2" charset="-122"/>
              </a:rPr>
              <a:t>形成过渡配合</a:t>
            </a:r>
            <a:endParaRPr lang="zh-CN" altLang="en-US" sz="2000" b="1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11" name="Text Box 109">
            <a:extLst>
              <a:ext uri="{FF2B5EF4-FFF2-40B4-BE49-F238E27FC236}">
                <a16:creationId xmlns:a16="http://schemas.microsoft.com/office/drawing/2014/main" id="{B7AABEC3-0D2A-4BC2-A660-A6C58D865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952" y="6115057"/>
            <a:ext cx="25106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p</a:t>
            </a:r>
            <a:r>
              <a:rPr lang="zh-CN" altLang="en-US" sz="2000" b="1" dirty="0">
                <a:solidFill>
                  <a:schemeClr val="tx1"/>
                </a:solidFill>
                <a:latin typeface="宋体" pitchFamily="2" charset="-122"/>
              </a:rPr>
              <a:t>～</a:t>
            </a:r>
            <a:r>
              <a:rPr lang="en-US" altLang="zh-CN" sz="2000" b="1" dirty="0" err="1">
                <a:solidFill>
                  <a:schemeClr val="tx1"/>
                </a:solidFill>
                <a:latin typeface="宋体" pitchFamily="2" charset="-122"/>
              </a:rPr>
              <a:t>zc</a:t>
            </a:r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</a:rPr>
              <a:t> </a:t>
            </a:r>
            <a:r>
              <a:rPr lang="zh-CN" altLang="zh-CN" sz="2000" b="1" dirty="0">
                <a:solidFill>
                  <a:schemeClr val="tx1"/>
                </a:solidFill>
                <a:latin typeface="宋体" pitchFamily="2" charset="-122"/>
              </a:rPr>
              <a:t>形成过盈配合</a:t>
            </a:r>
            <a:endParaRPr lang="zh-CN" altLang="en-US" sz="2000" b="1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12" name="Text Box 113">
            <a:extLst>
              <a:ext uri="{FF2B5EF4-FFF2-40B4-BE49-F238E27FC236}">
                <a16:creationId xmlns:a16="http://schemas.microsoft.com/office/drawing/2014/main" id="{6735E50D-0F0B-4E9C-AAB5-1998FEF1C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3251" y="1201329"/>
            <a:ext cx="5234125" cy="523220"/>
          </a:xfrm>
          <a:prstGeom prst="rect">
            <a:avLst/>
          </a:prstGeom>
          <a:gradFill rotWithShape="0">
            <a:gsLst>
              <a:gs pos="0">
                <a:srgbClr val="33CCCC"/>
              </a:gs>
              <a:gs pos="50000">
                <a:srgbClr val="FFFFFF"/>
              </a:gs>
              <a:gs pos="100000">
                <a:srgbClr val="33CCCC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根据基本偏差代号确定配合种类</a:t>
            </a:r>
            <a:endParaRPr lang="zh-CN" altLang="en-US" sz="2800" dirty="0">
              <a:solidFill>
                <a:srgbClr val="FF6600"/>
              </a:solidFill>
              <a:latin typeface="宋体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92124E1-6BAF-4282-A4EA-8AB6E56D50E4}"/>
              </a:ext>
            </a:extLst>
          </p:cNvPr>
          <p:cNvGrpSpPr/>
          <p:nvPr/>
        </p:nvGrpSpPr>
        <p:grpSpPr>
          <a:xfrm>
            <a:off x="2853953" y="3314717"/>
            <a:ext cx="1730259" cy="748357"/>
            <a:chOff x="1625811" y="3313771"/>
            <a:chExt cx="1730259" cy="748357"/>
          </a:xfrm>
        </p:grpSpPr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8865E177-F28A-46F7-A3A8-FCD266DC9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811" y="3659837"/>
              <a:ext cx="1730259" cy="40229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2000" dirty="0">
                  <a:solidFill>
                    <a:srgbClr val="333399"/>
                  </a:solidFill>
                </a:rPr>
                <a:t>基准轴公差带</a:t>
              </a:r>
            </a:p>
          </p:txBody>
        </p:sp>
        <p:sp>
          <p:nvSpPr>
            <p:cNvPr id="15" name="Rectangle 110">
              <a:extLst>
                <a:ext uri="{FF2B5EF4-FFF2-40B4-BE49-F238E27FC236}">
                  <a16:creationId xmlns:a16="http://schemas.microsoft.com/office/drawing/2014/main" id="{E4C83EF2-A2F2-4A98-A7F8-EB275626B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6652" y="3313771"/>
              <a:ext cx="577862" cy="155143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6" name="Line 112">
              <a:extLst>
                <a:ext uri="{FF2B5EF4-FFF2-40B4-BE49-F238E27FC236}">
                  <a16:creationId xmlns:a16="http://schemas.microsoft.com/office/drawing/2014/main" id="{64DEC718-587D-4D6A-A328-1BBDC940D2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54232" flipH="1">
              <a:off x="2230519" y="3439218"/>
              <a:ext cx="148972" cy="270191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triangle" w="sm" len="lg"/>
              <a:tailEnd type="none" w="sm" len="lg"/>
            </a:ln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 sz="200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73755CB-D7A2-4E9B-93B3-48FBD959364D}"/>
              </a:ext>
            </a:extLst>
          </p:cNvPr>
          <p:cNvGrpSpPr/>
          <p:nvPr/>
        </p:nvGrpSpPr>
        <p:grpSpPr>
          <a:xfrm>
            <a:off x="2834693" y="4412855"/>
            <a:ext cx="1751012" cy="750641"/>
            <a:chOff x="1606551" y="4411909"/>
            <a:chExt cx="1751012" cy="750641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1A8E8814-4D9A-4076-A8B6-EA07DC11A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551" y="4411909"/>
              <a:ext cx="1751012" cy="40229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square" lIns="90000" tIns="46800" rIns="90000" bIns="46800" anchor="ctr">
              <a:spAutoFit/>
            </a:bodyPr>
            <a:lstStyle/>
            <a:p>
              <a:r>
                <a:rPr lang="zh-CN" altLang="en-US" sz="2000" dirty="0">
                  <a:solidFill>
                    <a:srgbClr val="333399"/>
                  </a:solidFill>
                </a:rPr>
                <a:t>基准孔公差带</a:t>
              </a:r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68C3AD18-F105-4B19-9A14-30004426D1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7318948" flipH="1">
              <a:off x="2156433" y="4753860"/>
              <a:ext cx="126684" cy="311879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triangle" w="sm" len="lg"/>
              <a:tailEnd type="none" w="sm" len="lg"/>
            </a:ln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 sz="2000"/>
            </a:p>
          </p:txBody>
        </p:sp>
        <p:sp>
          <p:nvSpPr>
            <p:cNvPr id="20" name="Rectangle 111">
              <a:extLst>
                <a:ext uri="{FF2B5EF4-FFF2-40B4-BE49-F238E27FC236}">
                  <a16:creationId xmlns:a16="http://schemas.microsoft.com/office/drawing/2014/main" id="{EDBEF523-F6F0-4848-9D11-3CF68A300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550" y="5029199"/>
              <a:ext cx="565150" cy="13335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21" name="Text Box 31">
            <a:extLst>
              <a:ext uri="{FF2B5EF4-FFF2-40B4-BE49-F238E27FC236}">
                <a16:creationId xmlns:a16="http://schemas.microsoft.com/office/drawing/2014/main" id="{09A64340-FA1F-49B1-A0C7-2E6CA1E65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380" y="193034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  <a:endParaRPr lang="zh-CN" altLang="en-US" sz="320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063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autoUpdateAnimBg="0"/>
      <p:bldP spid="6" grpId="0" autoUpdateAnimBg="0"/>
      <p:bldP spid="7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5AA5C0-A2E7-492D-94D5-A115CBFFA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810479" y="1795760"/>
            <a:ext cx="2469998" cy="3107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61002925-1A60-4474-B2A2-543BC1D1DEF3}"/>
              </a:ext>
            </a:extLst>
          </p:cNvPr>
          <p:cNvSpPr>
            <a:spLocks/>
          </p:cNvSpPr>
          <p:nvPr/>
        </p:nvSpPr>
        <p:spPr bwMode="auto">
          <a:xfrm>
            <a:off x="7904451" y="2592523"/>
            <a:ext cx="1587" cy="1524000"/>
          </a:xfrm>
          <a:custGeom>
            <a:avLst/>
            <a:gdLst>
              <a:gd name="T0" fmla="*/ 0 w 1"/>
              <a:gd name="T1" fmla="*/ 0 h 960"/>
              <a:gd name="T2" fmla="*/ 0 w 1"/>
              <a:gd name="T3" fmla="*/ 2147483647 h 960"/>
              <a:gd name="T4" fmla="*/ 0 60000 65536"/>
              <a:gd name="T5" fmla="*/ 0 60000 65536"/>
              <a:gd name="T6" fmla="*/ 0 w 1"/>
              <a:gd name="T7" fmla="*/ 0 h 960"/>
              <a:gd name="T8" fmla="*/ 1 w 1"/>
              <a:gd name="T9" fmla="*/ 960 h 9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60">
                <a:moveTo>
                  <a:pt x="0" y="0"/>
                </a:moveTo>
                <a:lnTo>
                  <a:pt x="0" y="960"/>
                </a:lnTo>
              </a:path>
            </a:pathLst>
          </a:custGeom>
          <a:noFill/>
          <a:ln w="19050">
            <a:solidFill>
              <a:srgbClr val="FF3300"/>
            </a:solidFill>
            <a:round/>
            <a:headEnd type="triangle" w="sm" len="lg"/>
            <a:tailEnd type="triangle" w="sm" len="lg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D0FB020-71A1-4EBB-8DBB-1AFB81BC9EE6}"/>
              </a:ext>
            </a:extLst>
          </p:cNvPr>
          <p:cNvSpPr>
            <a:spLocks/>
          </p:cNvSpPr>
          <p:nvPr/>
        </p:nvSpPr>
        <p:spPr bwMode="auto">
          <a:xfrm>
            <a:off x="8292118" y="2871619"/>
            <a:ext cx="3175" cy="972000"/>
          </a:xfrm>
          <a:custGeom>
            <a:avLst/>
            <a:gdLst>
              <a:gd name="T0" fmla="*/ 2147483647 w 2"/>
              <a:gd name="T1" fmla="*/ 0 h 634"/>
              <a:gd name="T2" fmla="*/ 0 w 2"/>
              <a:gd name="T3" fmla="*/ 2147483647 h 634"/>
              <a:gd name="T4" fmla="*/ 0 60000 65536"/>
              <a:gd name="T5" fmla="*/ 0 60000 65536"/>
              <a:gd name="T6" fmla="*/ 0 w 2"/>
              <a:gd name="T7" fmla="*/ 0 h 634"/>
              <a:gd name="T8" fmla="*/ 2 w 2"/>
              <a:gd name="T9" fmla="*/ 634 h 63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634">
                <a:moveTo>
                  <a:pt x="2" y="0"/>
                </a:moveTo>
                <a:lnTo>
                  <a:pt x="0" y="634"/>
                </a:lnTo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sm" len="lg"/>
            <a:tailEnd type="triangle" w="sm" len="lg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0590FF9-A7FC-4334-9CFE-73AD6586E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202" y="906826"/>
            <a:ext cx="43348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3.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在装配图上的配合标注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F4D5AC4-18FC-4ECF-8057-DB0DE5040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576" y="1496817"/>
            <a:ext cx="39004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(1)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在装配图中配合的标注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D31EE06F-3FB7-4244-80D3-E5316B33E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476" y="1968409"/>
            <a:ext cx="30003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标注形式为：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67C2EDCB-3F88-4C88-8FD2-0C7728CDE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576" y="3480039"/>
            <a:ext cx="52183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rgbClr val="0070C0"/>
                </a:solidFill>
                <a:latin typeface="宋体" pitchFamily="2" charset="-122"/>
              </a:rPr>
              <a:t>采用基孔制配合时，分子为基准孔的公差带代号。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A3F61F4D-23C2-4FA7-856A-1F3958981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012" y="4467825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例如：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6E4F0ABF-F4BC-447D-9046-924165E74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6518" y="5424868"/>
            <a:ext cx="23503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宋体" pitchFamily="2" charset="-122"/>
              </a:rPr>
              <a:t>基孔制间隙配合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8100355E-784F-46A8-80DD-DF7D695E6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2676" y="5373176"/>
            <a:ext cx="26360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基孔制过渡配合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219995-4031-40F1-BA29-6E4AF92FE7E3}"/>
              </a:ext>
            </a:extLst>
          </p:cNvPr>
          <p:cNvGrpSpPr>
            <a:grpSpLocks/>
          </p:cNvGrpSpPr>
          <p:nvPr/>
        </p:nvGrpSpPr>
        <p:grpSpPr bwMode="auto">
          <a:xfrm>
            <a:off x="7859848" y="3051135"/>
            <a:ext cx="485859" cy="732501"/>
            <a:chOff x="3966" y="2558"/>
            <a:chExt cx="334" cy="565"/>
          </a:xfrm>
        </p:grpSpPr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13F5800B-1B7B-4EBD-B442-03D70E561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959" y="2866"/>
              <a:ext cx="325" cy="190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200" i="1">
                  <a:solidFill>
                    <a:srgbClr val="FF0000"/>
                  </a:solidFill>
                  <a:sym typeface="Symbol" pitchFamily="18" charset="2"/>
                </a:rPr>
                <a:t></a:t>
              </a:r>
              <a:r>
                <a:rPr lang="en-US" altLang="zh-CN" sz="1200" i="1">
                  <a:solidFill>
                    <a:srgbClr val="FF0000"/>
                  </a:solidFill>
                  <a:latin typeface="ISOCPEUR" pitchFamily="34" charset="0"/>
                  <a:sym typeface="Symbol" pitchFamily="18" charset="2"/>
                </a:rPr>
                <a:t>30</a:t>
              </a:r>
              <a:endParaRPr lang="en-US" altLang="zh-CN" sz="1200">
                <a:solidFill>
                  <a:srgbClr val="FF0000"/>
                </a:solidFill>
                <a:latin typeface="ISOCPEUR" pitchFamily="34" charset="0"/>
              </a:endParaRP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42681575-23DD-41F2-A8BA-75BB10856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922" y="2602"/>
              <a:ext cx="277" cy="190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200" i="1">
                  <a:solidFill>
                    <a:srgbClr val="FF0000"/>
                  </a:solidFill>
                  <a:latin typeface="ISOCPEUR" pitchFamily="34" charset="0"/>
                </a:rPr>
                <a:t>H8</a:t>
              </a:r>
              <a:endParaRPr lang="en-US" altLang="zh-CN" sz="1200">
                <a:solidFill>
                  <a:srgbClr val="FF0000"/>
                </a:solidFill>
                <a:latin typeface="ISOCPEUR" pitchFamily="34" charset="0"/>
              </a:endParaRP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F0FC8F52-37C7-4181-A578-D2546F562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066" y="2610"/>
              <a:ext cx="278" cy="190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anchor="ctr">
              <a:spAutoFit/>
            </a:bodyPr>
            <a:lstStyle/>
            <a:p>
              <a:r>
                <a:rPr lang="en-US" altLang="zh-CN" sz="1200" i="1">
                  <a:solidFill>
                    <a:srgbClr val="FF0000"/>
                  </a:solidFill>
                  <a:latin typeface="ISOCPEUR" pitchFamily="34" charset="0"/>
                </a:rPr>
                <a:t>f</a:t>
              </a:r>
              <a:r>
                <a:rPr lang="en-US" altLang="zh-CN" sz="1200" b="0" i="1">
                  <a:solidFill>
                    <a:srgbClr val="FF0000"/>
                  </a:solidFill>
                  <a:latin typeface="Arial" charset="0"/>
                </a:rPr>
                <a:t>7</a:t>
              </a:r>
              <a:endParaRPr lang="en-US" altLang="zh-CN" sz="1200" b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0F90374B-A60F-4714-9E0F-A45549A62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2" y="2583"/>
              <a:ext cx="0" cy="2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20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813C0F-9E5B-40C1-A3F7-68851981D7BD}"/>
              </a:ext>
            </a:extLst>
          </p:cNvPr>
          <p:cNvGrpSpPr>
            <a:grpSpLocks/>
          </p:cNvGrpSpPr>
          <p:nvPr/>
        </p:nvGrpSpPr>
        <p:grpSpPr bwMode="auto">
          <a:xfrm>
            <a:off x="7440583" y="2970989"/>
            <a:ext cx="538163" cy="766764"/>
            <a:chOff x="3610" y="2634"/>
            <a:chExt cx="339" cy="483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D3FD2B6B-B17B-45DA-9844-667865A34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635" y="2876"/>
              <a:ext cx="288" cy="19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400" i="1" dirty="0">
                  <a:solidFill>
                    <a:srgbClr val="FF0000"/>
                  </a:solidFill>
                  <a:sym typeface="Symbol" pitchFamily="18" charset="2"/>
                </a:rPr>
                <a:t></a:t>
              </a:r>
              <a:r>
                <a:rPr lang="en-US" altLang="zh-CN" sz="1400" i="1" dirty="0">
                  <a:solidFill>
                    <a:srgbClr val="FF0000"/>
                  </a:solidFill>
                  <a:latin typeface="ISOCPEUR" pitchFamily="34" charset="0"/>
                  <a:sym typeface="Symbol" pitchFamily="18" charset="2"/>
                </a:rPr>
                <a:t>40</a:t>
              </a:r>
              <a:endParaRPr lang="en-US" altLang="zh-CN" sz="1400" dirty="0">
                <a:solidFill>
                  <a:srgbClr val="FF0000"/>
                </a:solidFill>
                <a:latin typeface="ISOCPEUR" pitchFamily="34" charset="0"/>
              </a:endParaRP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CEA47724-38B3-44FE-BA2A-E50599F4A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582" y="2674"/>
              <a:ext cx="250" cy="19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400" i="1" dirty="0">
                  <a:solidFill>
                    <a:srgbClr val="FF0000"/>
                  </a:solidFill>
                  <a:latin typeface="ISOCPEUR" pitchFamily="34" charset="0"/>
                </a:rPr>
                <a:t>H</a:t>
              </a:r>
              <a:r>
                <a:rPr lang="en-US" altLang="zh-CN" sz="1400" b="0" i="1" dirty="0">
                  <a:solidFill>
                    <a:srgbClr val="FF0000"/>
                  </a:solidFill>
                  <a:latin typeface="Arial" charset="0"/>
                </a:rPr>
                <a:t>7</a:t>
              </a:r>
              <a:endParaRPr lang="en-US" altLang="zh-CN" sz="1400" b="0" dirty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BAFC13E3-BC0C-40BE-B0CF-9432B68BB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721" y="2668"/>
              <a:ext cx="261" cy="19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square" anchor="ctr">
              <a:spAutoFit/>
            </a:bodyPr>
            <a:lstStyle/>
            <a:p>
              <a:r>
                <a:rPr lang="en-US" altLang="zh-CN" sz="1400" i="1" dirty="0">
                  <a:solidFill>
                    <a:srgbClr val="FF0000"/>
                  </a:solidFill>
                  <a:latin typeface="ISOCPEUR" pitchFamily="34" charset="0"/>
                </a:rPr>
                <a:t>n6</a:t>
              </a:r>
              <a:endParaRPr lang="en-US" altLang="zh-CN" sz="1400" dirty="0">
                <a:solidFill>
                  <a:srgbClr val="FF0000"/>
                </a:solidFill>
                <a:latin typeface="ISOCPEUR" pitchFamily="34" charset="0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1CBF9D4C-1D31-4464-90D3-B32148EA2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645"/>
              <a:ext cx="0" cy="21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46F474-F4A2-410F-BF17-7EC4A0F1CA05}"/>
              </a:ext>
            </a:extLst>
          </p:cNvPr>
          <p:cNvGrpSpPr>
            <a:grpSpLocks/>
          </p:cNvGrpSpPr>
          <p:nvPr/>
        </p:nvGrpSpPr>
        <p:grpSpPr bwMode="auto">
          <a:xfrm>
            <a:off x="8326409" y="1669233"/>
            <a:ext cx="1570038" cy="1895475"/>
            <a:chOff x="4228" y="1640"/>
            <a:chExt cx="989" cy="1194"/>
          </a:xfrm>
        </p:grpSpPr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3C85283D-514F-41DE-AB9A-C463EE75A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204"/>
              <a:ext cx="279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solidFill>
                    <a:srgbClr val="00B0F0"/>
                  </a:solidFill>
                </a:rPr>
                <a:t>轴</a:t>
              </a:r>
            </a:p>
          </p:txBody>
        </p:sp>
        <p:sp>
          <p:nvSpPr>
            <p:cNvPr id="24" name="Line 26">
              <a:extLst>
                <a:ext uri="{FF2B5EF4-FFF2-40B4-BE49-F238E27FC236}">
                  <a16:creationId xmlns:a16="http://schemas.microsoft.com/office/drawing/2014/main" id="{06BFEB01-E647-48EB-BAED-84D2A8DF64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4" y="2456"/>
              <a:ext cx="570" cy="37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oval" w="sm" len="sm"/>
              <a:tailEnd type="none" w="sm" len="lg"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F0D69F0B-2FFD-42FF-8FB4-236BCC749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8" y="2460"/>
              <a:ext cx="305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D238B580-9C18-4310-A976-6F915E48A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9" y="1951"/>
              <a:ext cx="441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solidFill>
                    <a:srgbClr val="00B0F0"/>
                  </a:solidFill>
                </a:rPr>
                <a:t>轴套</a:t>
              </a:r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AFFB1F3D-FAFD-40F0-AE41-D2E9EB539D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8" y="2206"/>
              <a:ext cx="559" cy="12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oval" w="sm" len="sm"/>
              <a:tailEnd type="none" w="sm" len="lg"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30">
              <a:extLst>
                <a:ext uri="{FF2B5EF4-FFF2-40B4-BE49-F238E27FC236}">
                  <a16:creationId xmlns:a16="http://schemas.microsoft.com/office/drawing/2014/main" id="{530845BA-9274-4CEC-96B5-630FD590F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206"/>
              <a:ext cx="42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lg"/>
              <a:tailEnd type="non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Text Box 31">
              <a:extLst>
                <a:ext uri="{FF2B5EF4-FFF2-40B4-BE49-F238E27FC236}">
                  <a16:creationId xmlns:a16="http://schemas.microsoft.com/office/drawing/2014/main" id="{5FD91C4F-0CC1-4922-BDF1-BF78634A9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640"/>
              <a:ext cx="441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000" dirty="0">
                  <a:solidFill>
                    <a:srgbClr val="00B0F0"/>
                  </a:solidFill>
                </a:rPr>
                <a:t>箱体</a:t>
              </a:r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88DBB911-3099-4D5C-8201-6A8B4AA03D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3" y="1900"/>
              <a:ext cx="324" cy="18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oval" w="sm" len="sm"/>
              <a:tailEnd type="non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825EB935-C961-4AA5-832B-96A756FAB5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2" y="1900"/>
              <a:ext cx="425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2" name="Group 82">
            <a:extLst>
              <a:ext uri="{FF2B5EF4-FFF2-40B4-BE49-F238E27FC236}">
                <a16:creationId xmlns:a16="http://schemas.microsoft.com/office/drawing/2014/main" id="{F1185097-4F5A-4890-8B4D-0AC2D0250197}"/>
              </a:ext>
            </a:extLst>
          </p:cNvPr>
          <p:cNvGrpSpPr>
            <a:grpSpLocks/>
          </p:cNvGrpSpPr>
          <p:nvPr/>
        </p:nvGrpSpPr>
        <p:grpSpPr bwMode="auto">
          <a:xfrm>
            <a:off x="2113493" y="5335968"/>
            <a:ext cx="1712913" cy="822325"/>
            <a:chOff x="1281" y="2490"/>
            <a:chExt cx="1079" cy="518"/>
          </a:xfrm>
        </p:grpSpPr>
        <p:sp>
          <p:nvSpPr>
            <p:cNvPr id="33" name="Text Box 83">
              <a:extLst>
                <a:ext uri="{FF2B5EF4-FFF2-40B4-BE49-F238E27FC236}">
                  <a16:creationId xmlns:a16="http://schemas.microsoft.com/office/drawing/2014/main" id="{97DE4066-0BD5-442C-83DD-27BEFB386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2559"/>
              <a:ext cx="433" cy="29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solidFill>
                    <a:srgbClr val="333399"/>
                  </a:solidFill>
                  <a:sym typeface="Symbol" pitchFamily="18" charset="2"/>
                </a:rPr>
                <a:t>30</a:t>
              </a:r>
              <a:endParaRPr lang="en-US" altLang="zh-CN" sz="2400">
                <a:solidFill>
                  <a:srgbClr val="333399"/>
                </a:solidFill>
              </a:endParaRPr>
            </a:p>
          </p:txBody>
        </p:sp>
        <p:sp>
          <p:nvSpPr>
            <p:cNvPr id="34" name="Text Box 84">
              <a:extLst>
                <a:ext uri="{FF2B5EF4-FFF2-40B4-BE49-F238E27FC236}">
                  <a16:creationId xmlns:a16="http://schemas.microsoft.com/office/drawing/2014/main" id="{5E64AD31-8A55-42F5-8D17-7ACDCDD4B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2" y="2490"/>
              <a:ext cx="364" cy="29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solidFill>
                    <a:srgbClr val="333399"/>
                  </a:solidFill>
                </a:rPr>
                <a:t>H8</a:t>
              </a:r>
            </a:p>
          </p:txBody>
        </p:sp>
        <p:sp>
          <p:nvSpPr>
            <p:cNvPr id="35" name="Text Box 85">
              <a:extLst>
                <a:ext uri="{FF2B5EF4-FFF2-40B4-BE49-F238E27FC236}">
                  <a16:creationId xmlns:a16="http://schemas.microsoft.com/office/drawing/2014/main" id="{D8BE9047-504B-4827-A75D-A0F7F0FA0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" y="2717"/>
              <a:ext cx="629" cy="29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anchor="ctr">
              <a:spAutoFit/>
            </a:bodyPr>
            <a:lstStyle/>
            <a:p>
              <a:r>
                <a:rPr lang="en-US" altLang="zh-CN" sz="2400">
                  <a:solidFill>
                    <a:srgbClr val="333399"/>
                  </a:solidFill>
                </a:rPr>
                <a:t>f7</a:t>
              </a:r>
            </a:p>
          </p:txBody>
        </p:sp>
        <p:sp>
          <p:nvSpPr>
            <p:cNvPr id="36" name="Line 86">
              <a:extLst>
                <a:ext uri="{FF2B5EF4-FFF2-40B4-BE49-F238E27FC236}">
                  <a16:creationId xmlns:a16="http://schemas.microsoft.com/office/drawing/2014/main" id="{CB033CD5-4128-4D3A-8354-71D18D50C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6" y="2764"/>
              <a:ext cx="363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37" name="Group 87">
            <a:extLst>
              <a:ext uri="{FF2B5EF4-FFF2-40B4-BE49-F238E27FC236}">
                <a16:creationId xmlns:a16="http://schemas.microsoft.com/office/drawing/2014/main" id="{3ABCE916-8026-4920-BD79-7998F32A510C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5279513"/>
            <a:ext cx="1343025" cy="817563"/>
            <a:chOff x="624" y="3380"/>
            <a:chExt cx="846" cy="515"/>
          </a:xfrm>
        </p:grpSpPr>
        <p:sp>
          <p:nvSpPr>
            <p:cNvPr id="38" name="Text Box 88">
              <a:extLst>
                <a:ext uri="{FF2B5EF4-FFF2-40B4-BE49-F238E27FC236}">
                  <a16:creationId xmlns:a16="http://schemas.microsoft.com/office/drawing/2014/main" id="{BEBF34C0-EE1A-48A9-9F90-D370C4701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514"/>
              <a:ext cx="433" cy="29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sym typeface="Symbol" pitchFamily="18" charset="2"/>
                </a:rPr>
                <a:t>40</a:t>
              </a:r>
              <a:endParaRPr lang="en-US" altLang="zh-CN" sz="2400"/>
            </a:p>
          </p:txBody>
        </p:sp>
        <p:sp>
          <p:nvSpPr>
            <p:cNvPr id="39" name="Text Box 89">
              <a:extLst>
                <a:ext uri="{FF2B5EF4-FFF2-40B4-BE49-F238E27FC236}">
                  <a16:creationId xmlns:a16="http://schemas.microsoft.com/office/drawing/2014/main" id="{0C42761D-B04B-410E-9E31-1FDFF7FE4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" y="3380"/>
              <a:ext cx="364" cy="29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dirty="0"/>
                <a:t>H7</a:t>
              </a:r>
            </a:p>
          </p:txBody>
        </p:sp>
        <p:sp>
          <p:nvSpPr>
            <p:cNvPr id="40" name="Text Box 90">
              <a:extLst>
                <a:ext uri="{FF2B5EF4-FFF2-40B4-BE49-F238E27FC236}">
                  <a16:creationId xmlns:a16="http://schemas.microsoft.com/office/drawing/2014/main" id="{3E0E5AEF-747A-4666-B7BA-770BBA682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8" y="3604"/>
              <a:ext cx="432" cy="29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anchor="ctr">
              <a:spAutoFit/>
            </a:bodyPr>
            <a:lstStyle/>
            <a:p>
              <a:r>
                <a:rPr lang="en-US" altLang="zh-CN" sz="2400"/>
                <a:t>n6</a:t>
              </a:r>
            </a:p>
          </p:txBody>
        </p:sp>
        <p:sp>
          <p:nvSpPr>
            <p:cNvPr id="41" name="Line 91">
              <a:extLst>
                <a:ext uri="{FF2B5EF4-FFF2-40B4-BE49-F238E27FC236}">
                  <a16:creationId xmlns:a16="http://schemas.microsoft.com/office/drawing/2014/main" id="{896FEAB4-3ABE-4130-B3BE-5E9D4F3DC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7" y="3685"/>
              <a:ext cx="3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42" name="Group 92">
            <a:extLst>
              <a:ext uri="{FF2B5EF4-FFF2-40B4-BE49-F238E27FC236}">
                <a16:creationId xmlns:a16="http://schemas.microsoft.com/office/drawing/2014/main" id="{0B31D4EE-CF7C-4BAA-975D-3BBD6BF6EBB3}"/>
              </a:ext>
            </a:extLst>
          </p:cNvPr>
          <p:cNvGrpSpPr>
            <a:grpSpLocks/>
          </p:cNvGrpSpPr>
          <p:nvPr/>
        </p:nvGrpSpPr>
        <p:grpSpPr bwMode="auto">
          <a:xfrm>
            <a:off x="2399300" y="2378846"/>
            <a:ext cx="3990808" cy="897540"/>
            <a:chOff x="558" y="905"/>
            <a:chExt cx="2846" cy="686"/>
          </a:xfrm>
        </p:grpSpPr>
        <p:sp>
          <p:nvSpPr>
            <p:cNvPr id="43" name="Text Box 93">
              <a:extLst>
                <a:ext uri="{FF2B5EF4-FFF2-40B4-BE49-F238E27FC236}">
                  <a16:creationId xmlns:a16="http://schemas.microsoft.com/office/drawing/2014/main" id="{31BB9BAA-82FC-4340-A507-788CCE476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" y="1062"/>
              <a:ext cx="1260" cy="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400">
                  <a:solidFill>
                    <a:srgbClr val="FF0000"/>
                  </a:solidFill>
                </a:rPr>
                <a:t>基本尺寸</a:t>
              </a:r>
            </a:p>
          </p:txBody>
        </p:sp>
        <p:sp>
          <p:nvSpPr>
            <p:cNvPr id="44" name="Text Box 94">
              <a:extLst>
                <a:ext uri="{FF2B5EF4-FFF2-40B4-BE49-F238E27FC236}">
                  <a16:creationId xmlns:a16="http://schemas.microsoft.com/office/drawing/2014/main" id="{6962E552-BF42-4EBD-ADF4-85CB0C1C1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" y="905"/>
              <a:ext cx="1668" cy="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>
                  <a:solidFill>
                    <a:srgbClr val="FF0000"/>
                  </a:solidFill>
                </a:rPr>
                <a:t>孔的公差带代号</a:t>
              </a:r>
            </a:p>
          </p:txBody>
        </p:sp>
        <p:sp>
          <p:nvSpPr>
            <p:cNvPr id="45" name="Text Box 95">
              <a:extLst>
                <a:ext uri="{FF2B5EF4-FFF2-40B4-BE49-F238E27FC236}">
                  <a16:creationId xmlns:a16="http://schemas.microsoft.com/office/drawing/2014/main" id="{B5E0549B-48E7-47D7-9EA3-A4BE6C2E6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" y="1238"/>
              <a:ext cx="1668" cy="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轴的公差带代号</a:t>
              </a:r>
            </a:p>
          </p:txBody>
        </p:sp>
        <p:sp>
          <p:nvSpPr>
            <p:cNvPr id="46" name="Line 96">
              <a:extLst>
                <a:ext uri="{FF2B5EF4-FFF2-40B4-BE49-F238E27FC236}">
                  <a16:creationId xmlns:a16="http://schemas.microsoft.com/office/drawing/2014/main" id="{E15D2265-83D4-4C45-8136-67D0DC375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8" y="1264"/>
              <a:ext cx="18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solidFill>
                  <a:srgbClr val="FF0000"/>
                </a:solidFill>
              </a:endParaRPr>
            </a:p>
          </p:txBody>
        </p:sp>
      </p:grpSp>
      <p:sp>
        <p:nvSpPr>
          <p:cNvPr id="47" name="Text Box 31">
            <a:extLst>
              <a:ext uri="{FF2B5EF4-FFF2-40B4-BE49-F238E27FC236}">
                <a16:creationId xmlns:a16="http://schemas.microsoft.com/office/drawing/2014/main" id="{DB7660C9-1C33-4D1B-BE37-476E30836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672" y="260648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</a:p>
        </p:txBody>
      </p:sp>
    </p:spTree>
    <p:extLst>
      <p:ext uri="{BB962C8B-B14F-4D97-AF65-F5344CB8AC3E}">
        <p14:creationId xmlns:p14="http://schemas.microsoft.com/office/powerpoint/2010/main" val="229474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build="p" autoUpdateAnimBg="0"/>
      <p:bldP spid="7" grpId="0" build="p" autoUpdateAnimBg="0"/>
      <p:bldP spid="8" grpId="0" build="p" autoUpdateAnimBg="0"/>
      <p:bldP spid="9" grpId="0" build="p" autoUpdateAnimBg="0"/>
      <p:bldP spid="10" grpId="0" build="p" autoUpdateAnimBg="0"/>
      <p:bldP spid="11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34">
            <a:extLst>
              <a:ext uri="{FF2B5EF4-FFF2-40B4-BE49-F238E27FC236}">
                <a16:creationId xmlns:a16="http://schemas.microsoft.com/office/drawing/2014/main" id="{58A2B89E-037C-49F2-B711-48A4826F1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1847444"/>
            <a:ext cx="7753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采用基轴制配合时，分母为基准轴的公差带代号。</a:t>
            </a:r>
          </a:p>
        </p:txBody>
      </p:sp>
      <p:sp>
        <p:nvSpPr>
          <p:cNvPr id="3" name="Text Box 1135">
            <a:extLst>
              <a:ext uri="{FF2B5EF4-FFF2-40B4-BE49-F238E27FC236}">
                <a16:creationId xmlns:a16="http://schemas.microsoft.com/office/drawing/2014/main" id="{8B27A3F3-69D3-49EE-943E-08BA310DD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482" y="2492381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例如：</a:t>
            </a:r>
          </a:p>
        </p:txBody>
      </p:sp>
      <p:sp>
        <p:nvSpPr>
          <p:cNvPr id="4" name="Text Box 1136">
            <a:extLst>
              <a:ext uri="{FF2B5EF4-FFF2-40B4-BE49-F238E27FC236}">
                <a16:creationId xmlns:a16="http://schemas.microsoft.com/office/drawing/2014/main" id="{45DD71AB-B34C-4AE5-ADE7-6A8003DB4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6692" y="2590758"/>
            <a:ext cx="23503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基轴制间隙配合</a:t>
            </a:r>
          </a:p>
        </p:txBody>
      </p:sp>
      <p:grpSp>
        <p:nvGrpSpPr>
          <p:cNvPr id="5" name="Group 1153">
            <a:extLst>
              <a:ext uri="{FF2B5EF4-FFF2-40B4-BE49-F238E27FC236}">
                <a16:creationId xmlns:a16="http://schemas.microsoft.com/office/drawing/2014/main" id="{CE13FA63-E60E-4AD1-9170-94099ECB859F}"/>
              </a:ext>
            </a:extLst>
          </p:cNvPr>
          <p:cNvGrpSpPr>
            <a:grpSpLocks/>
          </p:cNvGrpSpPr>
          <p:nvPr/>
        </p:nvGrpSpPr>
        <p:grpSpPr bwMode="auto">
          <a:xfrm>
            <a:off x="3294552" y="2467776"/>
            <a:ext cx="1192213" cy="841375"/>
            <a:chOff x="1159" y="961"/>
            <a:chExt cx="751" cy="530"/>
          </a:xfrm>
        </p:grpSpPr>
        <p:sp>
          <p:nvSpPr>
            <p:cNvPr id="6" name="Text Box 1154">
              <a:extLst>
                <a:ext uri="{FF2B5EF4-FFF2-40B4-BE49-F238E27FC236}">
                  <a16:creationId xmlns:a16="http://schemas.microsoft.com/office/drawing/2014/main" id="{7A88EAD2-A716-4564-B8A6-D779A35EE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" y="1036"/>
              <a:ext cx="461" cy="3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>
                  <a:sym typeface="Symbol" pitchFamily="18" charset="2"/>
                </a:rPr>
                <a:t>30</a:t>
              </a:r>
              <a:endParaRPr lang="en-US" altLang="zh-CN" sz="2800"/>
            </a:p>
          </p:txBody>
        </p:sp>
        <p:sp>
          <p:nvSpPr>
            <p:cNvPr id="7" name="Text Box 1155">
              <a:extLst>
                <a:ext uri="{FF2B5EF4-FFF2-40B4-BE49-F238E27FC236}">
                  <a16:creationId xmlns:a16="http://schemas.microsoft.com/office/drawing/2014/main" id="{B54EF26C-C950-440F-8D66-91A6C29E0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4" y="961"/>
              <a:ext cx="365" cy="32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/>
                <a:t>F8</a:t>
              </a:r>
            </a:p>
          </p:txBody>
        </p:sp>
        <p:sp>
          <p:nvSpPr>
            <p:cNvPr id="8" name="Text Box 1156">
              <a:extLst>
                <a:ext uri="{FF2B5EF4-FFF2-40B4-BE49-F238E27FC236}">
                  <a16:creationId xmlns:a16="http://schemas.microsoft.com/office/drawing/2014/main" id="{67D2AFA4-18D4-4342-8701-0DF4FBCA8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7" y="1164"/>
              <a:ext cx="353" cy="32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/>
                <a:t>h7</a:t>
              </a:r>
            </a:p>
          </p:txBody>
        </p:sp>
        <p:sp>
          <p:nvSpPr>
            <p:cNvPr id="9" name="Line 1157">
              <a:extLst>
                <a:ext uri="{FF2B5EF4-FFF2-40B4-BE49-F238E27FC236}">
                  <a16:creationId xmlns:a16="http://schemas.microsoft.com/office/drawing/2014/main" id="{8F7EA6C2-4331-4303-8F97-D9BD90030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3" y="1229"/>
              <a:ext cx="26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" name="Text Box 4">
            <a:extLst>
              <a:ext uri="{FF2B5EF4-FFF2-40B4-BE49-F238E27FC236}">
                <a16:creationId xmlns:a16="http://schemas.microsoft.com/office/drawing/2014/main" id="{D8503EBE-080B-4196-8E22-C466C9CDE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748" y="863691"/>
            <a:ext cx="43348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3.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在装配图上的配合标注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56ED128B-E054-4458-AE50-F48FC1F4A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682" y="1389400"/>
            <a:ext cx="28167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(1)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采用基轴制配合</a:t>
            </a: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D5A92011-E5FD-4845-B5A3-B802EC3FA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296652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4937526A-1BF3-440D-9D62-1130C0F4C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62631" y="2954046"/>
            <a:ext cx="2708404" cy="1709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82075264-05C2-4760-A50F-1E0814A9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14628" y="2389598"/>
            <a:ext cx="1658125" cy="904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C4FA50E4-41BA-4ED2-A729-FE5CA2A5E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23598" y="5071734"/>
            <a:ext cx="2005584" cy="1607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 Box 29">
            <a:extLst>
              <a:ext uri="{FF2B5EF4-FFF2-40B4-BE49-F238E27FC236}">
                <a16:creationId xmlns:a16="http://schemas.microsoft.com/office/drawing/2014/main" id="{DD9F68E0-B4BB-400C-B49F-3D322BC9D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3382101"/>
            <a:ext cx="5436604" cy="830997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 wrap="square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</a:rPr>
              <a:t>除基本标注形式外，还可采用下面的一些标注形式。</a:t>
            </a:r>
          </a:p>
        </p:txBody>
      </p:sp>
      <p:sp>
        <p:nvSpPr>
          <p:cNvPr id="17" name="Text Box 31">
            <a:extLst>
              <a:ext uri="{FF2B5EF4-FFF2-40B4-BE49-F238E27FC236}">
                <a16:creationId xmlns:a16="http://schemas.microsoft.com/office/drawing/2014/main" id="{51DF6C66-A0FA-4A50-B814-84E2FF97A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5958" y="4394285"/>
            <a:ext cx="1432791" cy="830997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宋体" pitchFamily="2" charset="-122"/>
              </a:rPr>
              <a:t>用斜线做分数线</a:t>
            </a:r>
          </a:p>
        </p:txBody>
      </p:sp>
      <p:sp>
        <p:nvSpPr>
          <p:cNvPr id="18" name="Text Box 32">
            <a:extLst>
              <a:ext uri="{FF2B5EF4-FFF2-40B4-BE49-F238E27FC236}">
                <a16:creationId xmlns:a16="http://schemas.microsoft.com/office/drawing/2014/main" id="{11D976B9-DB8B-42EB-99D2-C303A3012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0425" y="4455093"/>
            <a:ext cx="1754644" cy="830997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宋体" pitchFamily="2" charset="-122"/>
              </a:rPr>
              <a:t>标注上、下偏差值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A9FF134-0A37-406C-95E0-ABD626046A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9546" y="4663448"/>
            <a:ext cx="2005584" cy="201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7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/>
      <p:bldP spid="4" grpId="0" build="p" autoUpdateAnimBg="0"/>
      <p:bldP spid="11" grpId="0" build="p" autoUpdateAnimBg="0"/>
      <p:bldP spid="16" grpId="0"/>
      <p:bldP spid="17" grpId="0" autoUpdateAnimBg="0"/>
      <p:bldP spid="18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BA2DBE4-762E-461A-A50B-C0BA8A86E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154" y="1390022"/>
            <a:ext cx="4176464" cy="5311245"/>
          </a:xfrm>
          <a:prstGeom prst="rect">
            <a:avLst/>
          </a:prstGeom>
        </p:spPr>
      </p:pic>
      <p:sp>
        <p:nvSpPr>
          <p:cNvPr id="2" name="Text Box 4">
            <a:extLst>
              <a:ext uri="{FF2B5EF4-FFF2-40B4-BE49-F238E27FC236}">
                <a16:creationId xmlns:a16="http://schemas.microsoft.com/office/drawing/2014/main" id="{FCED4B09-9458-4493-9E8F-47EE0038A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44" y="885329"/>
            <a:ext cx="43348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3.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在装配图上的配合标注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ED9EA03C-8602-459A-BE34-6D7C0758A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0805" y="1699612"/>
            <a:ext cx="539121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宋体" pitchFamily="2" charset="-122"/>
              </a:rPr>
              <a:t>(2)</a:t>
            </a:r>
            <a:r>
              <a:rPr lang="zh-CN" altLang="en-US" sz="2800" dirty="0">
                <a:solidFill>
                  <a:schemeClr val="tx1"/>
                </a:solidFill>
              </a:rPr>
              <a:t>标注与标准件配合的配合尺寸</a:t>
            </a:r>
            <a:endParaRPr lang="zh-CN" altLang="en-US" sz="2800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4" name="Text Box 31">
            <a:extLst>
              <a:ext uri="{FF2B5EF4-FFF2-40B4-BE49-F238E27FC236}">
                <a16:creationId xmlns:a16="http://schemas.microsoft.com/office/drawing/2014/main" id="{26A6AC28-DBF1-4197-92A1-C77FBF92C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332656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装配图的技术要求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8EDD8C-F685-4514-A70F-38F2D5DDF958}"/>
              </a:ext>
            </a:extLst>
          </p:cNvPr>
          <p:cNvSpPr/>
          <p:nvPr/>
        </p:nvSpPr>
        <p:spPr>
          <a:xfrm>
            <a:off x="1812915" y="2304500"/>
            <a:ext cx="4356484" cy="3886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        由于</a:t>
            </a:r>
            <a:r>
              <a:rPr lang="zh-CN" altLang="en-US" sz="2800" dirty="0">
                <a:solidFill>
                  <a:srgbClr val="FF0000"/>
                </a:solidFill>
              </a:rPr>
              <a:t>标准件</a:t>
            </a:r>
            <a:r>
              <a:rPr lang="zh-CN" altLang="en-US" sz="2800" dirty="0">
                <a:solidFill>
                  <a:schemeClr val="tx1"/>
                </a:solidFill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公差</a:t>
            </a:r>
            <a:r>
              <a:rPr lang="zh-CN" altLang="en-US" sz="2800" dirty="0">
                <a:solidFill>
                  <a:schemeClr val="tx1"/>
                </a:solidFill>
              </a:rPr>
              <a:t>已由有关的</a:t>
            </a:r>
            <a:r>
              <a:rPr lang="zh-CN" altLang="en-US" sz="2800" dirty="0">
                <a:solidFill>
                  <a:srgbClr val="FF0000"/>
                </a:solidFill>
              </a:rPr>
              <a:t>标准所规定</a:t>
            </a:r>
            <a:r>
              <a:rPr lang="zh-CN" altLang="en-US" sz="2800" dirty="0">
                <a:solidFill>
                  <a:schemeClr val="tx1"/>
                </a:solidFill>
              </a:rPr>
              <a:t>，因此在装配图中标注其配合时，</a:t>
            </a:r>
            <a:r>
              <a:rPr lang="zh-CN" altLang="en-US" sz="2800" dirty="0">
                <a:solidFill>
                  <a:srgbClr val="FF0000"/>
                </a:solidFill>
              </a:rPr>
              <a:t>仅标注自制的相配件的公差</a:t>
            </a:r>
            <a:r>
              <a:rPr lang="zh-CN" altLang="en-US" sz="2800" dirty="0">
                <a:solidFill>
                  <a:schemeClr val="tx1"/>
                </a:solidFill>
              </a:rPr>
              <a:t>，而不标注标准件的公差。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FD0722B6-4DC1-433C-ACF7-327F7B3EA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83665" y="3047671"/>
            <a:ext cx="1853763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8826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fc21f6aaf577c8a4ddee6fc22ae1b309e19e34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4619</TotalTime>
  <Words>3068</Words>
  <Application>Microsoft Office PowerPoint</Application>
  <PresentationFormat>宽屏</PresentationFormat>
  <Paragraphs>475</Paragraphs>
  <Slides>51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4" baseType="lpstr">
      <vt:lpstr>黑体</vt:lpstr>
      <vt:lpstr>华文行楷</vt:lpstr>
      <vt:lpstr>宋体</vt:lpstr>
      <vt:lpstr>Microsoft Yahei</vt:lpstr>
      <vt:lpstr>Arial</vt:lpstr>
      <vt:lpstr>Calibri</vt:lpstr>
      <vt:lpstr>ISOCP</vt:lpstr>
      <vt:lpstr>ISOCPEUR</vt:lpstr>
      <vt:lpstr>ISOCTEUR</vt:lpstr>
      <vt:lpstr>Italic</vt:lpstr>
      <vt:lpstr>Times New Roman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机件的表达 1</dc:title>
  <dc:creator>穆浩志</dc:creator>
  <cp:keywords>天津理工大学</cp:keywords>
  <cp:lastModifiedBy>Lenovo</cp:lastModifiedBy>
  <cp:revision>452</cp:revision>
  <dcterms:created xsi:type="dcterms:W3CDTF">2014-03-20T09:34:50Z</dcterms:created>
  <dcterms:modified xsi:type="dcterms:W3CDTF">2021-03-09T05:39:30Z</dcterms:modified>
</cp:coreProperties>
</file>
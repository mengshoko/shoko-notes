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79" r:id="rId1"/>
  </p:sldMasterIdLst>
  <p:notesMasterIdLst>
    <p:notesMasterId r:id="rId28"/>
  </p:notesMasterIdLst>
  <p:sldIdLst>
    <p:sldId id="588" r:id="rId2"/>
    <p:sldId id="557" r:id="rId3"/>
    <p:sldId id="558" r:id="rId4"/>
    <p:sldId id="559" r:id="rId5"/>
    <p:sldId id="560" r:id="rId6"/>
    <p:sldId id="561" r:id="rId7"/>
    <p:sldId id="562" r:id="rId8"/>
    <p:sldId id="563" r:id="rId9"/>
    <p:sldId id="564" r:id="rId10"/>
    <p:sldId id="565" r:id="rId11"/>
    <p:sldId id="566" r:id="rId12"/>
    <p:sldId id="567" r:id="rId13"/>
    <p:sldId id="569" r:id="rId14"/>
    <p:sldId id="577" r:id="rId15"/>
    <p:sldId id="585" r:id="rId16"/>
    <p:sldId id="573" r:id="rId17"/>
    <p:sldId id="575" r:id="rId18"/>
    <p:sldId id="576" r:id="rId19"/>
    <p:sldId id="587" r:id="rId20"/>
    <p:sldId id="578" r:id="rId21"/>
    <p:sldId id="579" r:id="rId22"/>
    <p:sldId id="580" r:id="rId23"/>
    <p:sldId id="581" r:id="rId24"/>
    <p:sldId id="582" r:id="rId25"/>
    <p:sldId id="583" r:id="rId26"/>
    <p:sldId id="584" r:id="rId27"/>
  </p:sldIdLst>
  <p:sldSz cx="12192000" cy="6858000"/>
  <p:notesSz cx="6858000" cy="9144000"/>
  <p:custDataLst>
    <p:tags r:id="rId29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9pPr>
  </p:defaultTextStyle>
  <p:modifyVerifier cryptProviderType="rsaFull" cryptAlgorithmClass="hash" cryptAlgorithmType="typeAny" cryptAlgorithmSid="4" spinCount="50000" saltData="mO70nCLIcukbO/AWMqOVBA==" hashData="3UCDgBbuXkPhh88f0aBJLmsLrss="/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78" autoAdjust="0"/>
    <p:restoredTop sz="93902" autoAdjust="0"/>
  </p:normalViewPr>
  <p:slideViewPr>
    <p:cSldViewPr>
      <p:cViewPr varScale="1">
        <p:scale>
          <a:sx n="100" d="100"/>
          <a:sy n="100" d="100"/>
        </p:scale>
        <p:origin x="90" y="246"/>
      </p:cViewPr>
      <p:guideLst>
        <p:guide orient="horz" pos="2160"/>
        <p:guide pos="3840"/>
      </p:guideLst>
    </p:cSldViewPr>
  </p:slideViewPr>
  <p:notesTextViewPr>
    <p:cViewPr>
      <p:scale>
        <a:sx n="50" d="100"/>
        <a:sy n="5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8" d="100"/>
          <a:sy n="68" d="100"/>
        </p:scale>
        <p:origin x="-2808" y="-96"/>
      </p:cViewPr>
      <p:guideLst>
        <p:guide orient="horz" pos="2880"/>
        <p:guide pos="2160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D994F821-7148-4155-8A4B-3568DDD25123}" type="datetimeFigureOut">
              <a:rPr lang="zh-CN" altLang="en-US"/>
              <a:pPr>
                <a:defRPr/>
              </a:pPr>
              <a:t>2021/3/9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350BB752-86F0-4A2B-B1F4-3D725A534A0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49088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05882894-31D0-4353-8FC4-53FD4467D42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51325CCF-3893-4AF4-9378-6503525C1C9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1528D238-9626-4573-9B0E-3A01311DAB9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7BC39A87-C04B-44B8-8492-59308235E3A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91C292D2-F234-45FE-9C8F-D7CD6A71BCD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EB59C782-E5B5-4D1E-84E8-00EB87A66F4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23F1626B-87FC-4106-99C3-08CD08C6CED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3D8AFA40-474E-4131-9465-1772CE74A12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44624BEE-B42A-4D24-A6A0-A13054AF2E7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ED04EAC3-810B-4186-9CDC-14BAD137250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83A06682-6D3C-44FE-A8FD-CF179FE872D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B73827A9-F015-4526-A947-A7D0641A672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7730E9EB-F9AD-4188-B464-117A56F21EC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37FC85D4-21D3-4B1F-9919-8F298A4744B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B4B1C4B7-372D-48C2-8DDA-B810BF3CD4B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44E84D88-8CA2-4D77-8F92-4C576078AA8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AE7EA432-7B9C-4122-898F-523AEF872E2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0623D218-3769-4A9E-A4E2-A5A466000D8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647700" y="14287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09600" y="197485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2" name="Rectangle 2"/>
          <p:cNvSpPr>
            <a:spLocks noChangeArrowheads="1"/>
          </p:cNvSpPr>
          <p:nvPr userDrawn="1"/>
        </p:nvSpPr>
        <p:spPr bwMode="ltGray">
          <a:xfrm>
            <a:off x="556684" y="679451"/>
            <a:ext cx="584200" cy="473075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>
              <a:ea typeface="宋体" pitchFamily="2" charset="-122"/>
            </a:endParaRPr>
          </a:p>
        </p:txBody>
      </p:sp>
      <p:sp>
        <p:nvSpPr>
          <p:cNvPr id="23" name="Rectangle 3"/>
          <p:cNvSpPr>
            <a:spLocks noChangeArrowheads="1"/>
          </p:cNvSpPr>
          <p:nvPr userDrawn="1"/>
        </p:nvSpPr>
        <p:spPr bwMode="ltGray">
          <a:xfrm>
            <a:off x="1066801" y="679450"/>
            <a:ext cx="438151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>
              <a:ea typeface="宋体" pitchFamily="2" charset="-122"/>
            </a:endParaRPr>
          </a:p>
        </p:txBody>
      </p:sp>
      <p:sp>
        <p:nvSpPr>
          <p:cNvPr id="24" name="Rectangle 4"/>
          <p:cNvSpPr>
            <a:spLocks noChangeArrowheads="1"/>
          </p:cNvSpPr>
          <p:nvPr userDrawn="1"/>
        </p:nvSpPr>
        <p:spPr bwMode="ltGray">
          <a:xfrm>
            <a:off x="721785" y="1101726"/>
            <a:ext cx="563033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>
              <a:ea typeface="宋体" pitchFamily="2" charset="-122"/>
            </a:endParaRPr>
          </a:p>
        </p:txBody>
      </p:sp>
      <p:sp>
        <p:nvSpPr>
          <p:cNvPr id="25" name="Rectangle 5"/>
          <p:cNvSpPr>
            <a:spLocks noChangeArrowheads="1"/>
          </p:cNvSpPr>
          <p:nvPr userDrawn="1"/>
        </p:nvSpPr>
        <p:spPr bwMode="ltGray">
          <a:xfrm>
            <a:off x="1214967" y="1101726"/>
            <a:ext cx="491067" cy="473075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>
              <a:ea typeface="宋体" pitchFamily="2" charset="-122"/>
            </a:endParaRPr>
          </a:p>
        </p:txBody>
      </p:sp>
      <p:sp>
        <p:nvSpPr>
          <p:cNvPr id="26" name="Rectangle 6"/>
          <p:cNvSpPr>
            <a:spLocks noChangeArrowheads="1"/>
          </p:cNvSpPr>
          <p:nvPr userDrawn="1"/>
        </p:nvSpPr>
        <p:spPr bwMode="ltGray">
          <a:xfrm>
            <a:off x="169333" y="1028700"/>
            <a:ext cx="747184" cy="420688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>
              <a:ea typeface="宋体" pitchFamily="2" charset="-122"/>
            </a:endParaRPr>
          </a:p>
        </p:txBody>
      </p:sp>
      <p:sp>
        <p:nvSpPr>
          <p:cNvPr id="27" name="Rectangle 7"/>
          <p:cNvSpPr>
            <a:spLocks noChangeArrowheads="1"/>
          </p:cNvSpPr>
          <p:nvPr userDrawn="1"/>
        </p:nvSpPr>
        <p:spPr bwMode="gray">
          <a:xfrm>
            <a:off x="1016000" y="571500"/>
            <a:ext cx="42333" cy="1049338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>
              <a:ea typeface="宋体" pitchFamily="2" charset="-122"/>
            </a:endParaRPr>
          </a:p>
        </p:txBody>
      </p:sp>
      <p:sp>
        <p:nvSpPr>
          <p:cNvPr id="28" name="Rectangle 8"/>
          <p:cNvSpPr>
            <a:spLocks noChangeArrowheads="1"/>
          </p:cNvSpPr>
          <p:nvPr userDrawn="1"/>
        </p:nvSpPr>
        <p:spPr bwMode="gray">
          <a:xfrm>
            <a:off x="590551" y="1362075"/>
            <a:ext cx="10968567" cy="46038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>
              <a:ea typeface="宋体" pitchFamily="2" charset="-122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10136772" y="1128681"/>
            <a:ext cx="1849992" cy="292104"/>
          </a:xfrm>
          <a:prstGeom prst="rect">
            <a:avLst/>
          </a:prstGeom>
          <a:noFill/>
        </p:spPr>
        <p:txBody>
          <a:bodyPr wrap="none">
            <a:prstTxWarp prst="textPlain">
              <a:avLst/>
            </a:prstTxWarp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>
              <a:defRPr/>
            </a:pPr>
            <a:r>
              <a:rPr lang="zh-CN" altLang="en-US" sz="5400" dirty="0">
                <a:ln w="11430"/>
                <a:solidFill>
                  <a:srgbClr val="C00000"/>
                </a:solidFill>
                <a:latin typeface="华文行楷" pitchFamily="2" charset="-122"/>
                <a:ea typeface="华文行楷" pitchFamily="2" charset="-122"/>
              </a:rPr>
              <a:t>主讲：穆浩志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3B1F5A3-3DFD-4C7C-8C35-1487C83B4C63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8865" y="51119"/>
            <a:ext cx="1085850" cy="104775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728" r:id="rId1"/>
    <p:sldLayoutId id="2147484729" r:id="rId2"/>
    <p:sldLayoutId id="2147484730" r:id="rId3"/>
    <p:sldLayoutId id="2147484731" r:id="rId4"/>
    <p:sldLayoutId id="2147484732" r:id="rId5"/>
    <p:sldLayoutId id="2147484733" r:id="rId6"/>
    <p:sldLayoutId id="2147484734" r:id="rId7"/>
    <p:sldLayoutId id="2147484735" r:id="rId8"/>
    <p:sldLayoutId id="2147484736" r:id="rId9"/>
    <p:sldLayoutId id="2147484737" r:id="rId10"/>
    <p:sldLayoutId id="2147484738" r:id="rId11"/>
    <p:sldLayoutId id="2147484739" r:id="rId12"/>
    <p:sldLayoutId id="2147484740" r:id="rId13"/>
    <p:sldLayoutId id="2147484741" r:id="rId14"/>
    <p:sldLayoutId id="2147484742" r:id="rId15"/>
    <p:sldLayoutId id="2147484743" r:id="rId16"/>
    <p:sldLayoutId id="2147484744" r:id="rId17"/>
    <p:sldLayoutId id="2147484745" r:id="rId18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18" Type="http://schemas.openxmlformats.org/officeDocument/2006/relationships/tags" Target="../tags/tag19.xml"/><Relationship Id="rId3" Type="http://schemas.openxmlformats.org/officeDocument/2006/relationships/tags" Target="../tags/tag4.xml"/><Relationship Id="rId21" Type="http://schemas.openxmlformats.org/officeDocument/2006/relationships/image" Target="../media/image2.png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tags" Target="../tags/tag18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20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10" Type="http://schemas.openxmlformats.org/officeDocument/2006/relationships/tags" Target="../tags/tag11.xml"/><Relationship Id="rId19" Type="http://schemas.openxmlformats.org/officeDocument/2006/relationships/tags" Target="../tags/tag20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Relationship Id="rId22" Type="http://schemas.openxmlformats.org/officeDocument/2006/relationships/image" Target="../media/image3.tm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" Target="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28.xml"/><Relationship Id="rId13" Type="http://schemas.openxmlformats.org/officeDocument/2006/relationships/tags" Target="../tags/tag33.xml"/><Relationship Id="rId18" Type="http://schemas.openxmlformats.org/officeDocument/2006/relationships/slideLayout" Target="../slideLayouts/slideLayout2.xml"/><Relationship Id="rId3" Type="http://schemas.openxmlformats.org/officeDocument/2006/relationships/tags" Target="../tags/tag23.xml"/><Relationship Id="rId7" Type="http://schemas.openxmlformats.org/officeDocument/2006/relationships/tags" Target="../tags/tag27.xml"/><Relationship Id="rId12" Type="http://schemas.openxmlformats.org/officeDocument/2006/relationships/tags" Target="../tags/tag32.xml"/><Relationship Id="rId17" Type="http://schemas.openxmlformats.org/officeDocument/2006/relationships/tags" Target="../tags/tag37.xml"/><Relationship Id="rId2" Type="http://schemas.openxmlformats.org/officeDocument/2006/relationships/tags" Target="../tags/tag22.xml"/><Relationship Id="rId16" Type="http://schemas.openxmlformats.org/officeDocument/2006/relationships/tags" Target="../tags/tag36.xml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11" Type="http://schemas.openxmlformats.org/officeDocument/2006/relationships/tags" Target="../tags/tag31.xml"/><Relationship Id="rId5" Type="http://schemas.openxmlformats.org/officeDocument/2006/relationships/tags" Target="../tags/tag25.xml"/><Relationship Id="rId15" Type="http://schemas.openxmlformats.org/officeDocument/2006/relationships/tags" Target="../tags/tag35.xml"/><Relationship Id="rId10" Type="http://schemas.openxmlformats.org/officeDocument/2006/relationships/tags" Target="../tags/tag30.xml"/><Relationship Id="rId19" Type="http://schemas.openxmlformats.org/officeDocument/2006/relationships/image" Target="../media/image3.tmp"/><Relationship Id="rId4" Type="http://schemas.openxmlformats.org/officeDocument/2006/relationships/tags" Target="../tags/tag24.xml"/><Relationship Id="rId9" Type="http://schemas.openxmlformats.org/officeDocument/2006/relationships/tags" Target="../tags/tag29.xml"/><Relationship Id="rId14" Type="http://schemas.openxmlformats.org/officeDocument/2006/relationships/tags" Target="../tags/tag3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45.xml"/><Relationship Id="rId13" Type="http://schemas.openxmlformats.org/officeDocument/2006/relationships/tags" Target="../tags/tag50.xml"/><Relationship Id="rId3" Type="http://schemas.openxmlformats.org/officeDocument/2006/relationships/tags" Target="../tags/tag40.xml"/><Relationship Id="rId7" Type="http://schemas.openxmlformats.org/officeDocument/2006/relationships/tags" Target="../tags/tag44.xml"/><Relationship Id="rId12" Type="http://schemas.openxmlformats.org/officeDocument/2006/relationships/tags" Target="../tags/tag49.xml"/><Relationship Id="rId17" Type="http://schemas.openxmlformats.org/officeDocument/2006/relationships/image" Target="../media/image3.tmp"/><Relationship Id="rId2" Type="http://schemas.openxmlformats.org/officeDocument/2006/relationships/tags" Target="../tags/tag39.xml"/><Relationship Id="rId16" Type="http://schemas.openxmlformats.org/officeDocument/2006/relationships/slideLayout" Target="../slideLayouts/slideLayout2.xml"/><Relationship Id="rId1" Type="http://schemas.openxmlformats.org/officeDocument/2006/relationships/tags" Target="../tags/tag38.xml"/><Relationship Id="rId6" Type="http://schemas.openxmlformats.org/officeDocument/2006/relationships/tags" Target="../tags/tag43.xml"/><Relationship Id="rId11" Type="http://schemas.openxmlformats.org/officeDocument/2006/relationships/tags" Target="../tags/tag48.xml"/><Relationship Id="rId5" Type="http://schemas.openxmlformats.org/officeDocument/2006/relationships/tags" Target="../tags/tag42.xml"/><Relationship Id="rId15" Type="http://schemas.openxmlformats.org/officeDocument/2006/relationships/tags" Target="../tags/tag52.xml"/><Relationship Id="rId10" Type="http://schemas.openxmlformats.org/officeDocument/2006/relationships/tags" Target="../tags/tag47.xml"/><Relationship Id="rId4" Type="http://schemas.openxmlformats.org/officeDocument/2006/relationships/tags" Target="../tags/tag41.xml"/><Relationship Id="rId9" Type="http://schemas.openxmlformats.org/officeDocument/2006/relationships/tags" Target="../tags/tag46.xml"/><Relationship Id="rId14" Type="http://schemas.openxmlformats.org/officeDocument/2006/relationships/tags" Target="../tags/tag5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60.xml"/><Relationship Id="rId13" Type="http://schemas.openxmlformats.org/officeDocument/2006/relationships/tags" Target="../tags/tag65.xml"/><Relationship Id="rId18" Type="http://schemas.openxmlformats.org/officeDocument/2006/relationships/slideLayout" Target="../slideLayouts/slideLayout2.xml"/><Relationship Id="rId3" Type="http://schemas.openxmlformats.org/officeDocument/2006/relationships/tags" Target="../tags/tag55.xml"/><Relationship Id="rId7" Type="http://schemas.openxmlformats.org/officeDocument/2006/relationships/tags" Target="../tags/tag59.xml"/><Relationship Id="rId12" Type="http://schemas.openxmlformats.org/officeDocument/2006/relationships/tags" Target="../tags/tag64.xml"/><Relationship Id="rId17" Type="http://schemas.openxmlformats.org/officeDocument/2006/relationships/tags" Target="../tags/tag69.xml"/><Relationship Id="rId2" Type="http://schemas.openxmlformats.org/officeDocument/2006/relationships/tags" Target="../tags/tag54.xml"/><Relationship Id="rId16" Type="http://schemas.openxmlformats.org/officeDocument/2006/relationships/tags" Target="../tags/tag68.xml"/><Relationship Id="rId1" Type="http://schemas.openxmlformats.org/officeDocument/2006/relationships/tags" Target="../tags/tag53.xml"/><Relationship Id="rId6" Type="http://schemas.openxmlformats.org/officeDocument/2006/relationships/tags" Target="../tags/tag58.xml"/><Relationship Id="rId11" Type="http://schemas.openxmlformats.org/officeDocument/2006/relationships/tags" Target="../tags/tag63.xml"/><Relationship Id="rId5" Type="http://schemas.openxmlformats.org/officeDocument/2006/relationships/tags" Target="../tags/tag57.xml"/><Relationship Id="rId15" Type="http://schemas.openxmlformats.org/officeDocument/2006/relationships/tags" Target="../tags/tag67.xml"/><Relationship Id="rId10" Type="http://schemas.openxmlformats.org/officeDocument/2006/relationships/tags" Target="../tags/tag62.xml"/><Relationship Id="rId19" Type="http://schemas.openxmlformats.org/officeDocument/2006/relationships/image" Target="../media/image3.tmp"/><Relationship Id="rId4" Type="http://schemas.openxmlformats.org/officeDocument/2006/relationships/tags" Target="../tags/tag56.xml"/><Relationship Id="rId9" Type="http://schemas.openxmlformats.org/officeDocument/2006/relationships/tags" Target="../tags/tag61.xml"/><Relationship Id="rId14" Type="http://schemas.openxmlformats.org/officeDocument/2006/relationships/tags" Target="../tags/tag6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tags" Target="../tags/tag77.xml"/><Relationship Id="rId13" Type="http://schemas.openxmlformats.org/officeDocument/2006/relationships/tags" Target="../tags/tag82.xml"/><Relationship Id="rId18" Type="http://schemas.openxmlformats.org/officeDocument/2006/relationships/tags" Target="../tags/tag87.xml"/><Relationship Id="rId3" Type="http://schemas.openxmlformats.org/officeDocument/2006/relationships/tags" Target="../tags/tag72.xml"/><Relationship Id="rId21" Type="http://schemas.openxmlformats.org/officeDocument/2006/relationships/image" Target="../media/image29.png"/><Relationship Id="rId7" Type="http://schemas.openxmlformats.org/officeDocument/2006/relationships/tags" Target="../tags/tag76.xml"/><Relationship Id="rId12" Type="http://schemas.openxmlformats.org/officeDocument/2006/relationships/tags" Target="../tags/tag81.xml"/><Relationship Id="rId17" Type="http://schemas.openxmlformats.org/officeDocument/2006/relationships/tags" Target="../tags/tag86.xml"/><Relationship Id="rId2" Type="http://schemas.openxmlformats.org/officeDocument/2006/relationships/tags" Target="../tags/tag71.xml"/><Relationship Id="rId16" Type="http://schemas.openxmlformats.org/officeDocument/2006/relationships/tags" Target="../tags/tag85.xml"/><Relationship Id="rId20" Type="http://schemas.openxmlformats.org/officeDocument/2006/relationships/slideLayout" Target="../slideLayouts/slideLayout2.xml"/><Relationship Id="rId1" Type="http://schemas.openxmlformats.org/officeDocument/2006/relationships/tags" Target="../tags/tag70.xml"/><Relationship Id="rId6" Type="http://schemas.openxmlformats.org/officeDocument/2006/relationships/tags" Target="../tags/tag75.xml"/><Relationship Id="rId11" Type="http://schemas.openxmlformats.org/officeDocument/2006/relationships/tags" Target="../tags/tag80.xml"/><Relationship Id="rId5" Type="http://schemas.openxmlformats.org/officeDocument/2006/relationships/tags" Target="../tags/tag74.xml"/><Relationship Id="rId15" Type="http://schemas.openxmlformats.org/officeDocument/2006/relationships/tags" Target="../tags/tag84.xml"/><Relationship Id="rId10" Type="http://schemas.openxmlformats.org/officeDocument/2006/relationships/tags" Target="../tags/tag79.xml"/><Relationship Id="rId19" Type="http://schemas.openxmlformats.org/officeDocument/2006/relationships/tags" Target="../tags/tag88.xml"/><Relationship Id="rId4" Type="http://schemas.openxmlformats.org/officeDocument/2006/relationships/tags" Target="../tags/tag73.xml"/><Relationship Id="rId9" Type="http://schemas.openxmlformats.org/officeDocument/2006/relationships/tags" Target="../tags/tag78.xml"/><Relationship Id="rId14" Type="http://schemas.openxmlformats.org/officeDocument/2006/relationships/tags" Target="../tags/tag83.xml"/><Relationship Id="rId22" Type="http://schemas.openxmlformats.org/officeDocument/2006/relationships/image" Target="../media/image3.tmp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1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Relationship Id="rId14" Type="http://schemas.openxmlformats.org/officeDocument/2006/relationships/image" Target="../media/image4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EC8A40F-7A62-4BEA-8E8A-37127B93678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</p:spPr>
        <p:txBody>
          <a:bodyPr vert="horz" wrap="square" rtlCol="0" anchor="ctr" anchorCtr="0">
            <a:noAutofit/>
          </a:bodyPr>
          <a:lstStyle/>
          <a:p>
            <a:pPr fontAlgn="auto">
              <a:spcAft>
                <a:spcPts val="0"/>
              </a:spcAft>
            </a:pPr>
            <a:r>
              <a:rPr lang="zh-CN" altLang="en-US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图中标出的地方，哪一处是画错的？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3B98C75-8539-49AB-AF57-4FC5307BAC6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</p:spPr>
        <p:txBody>
          <a:bodyPr vert="horz" rtlCol="0" anchor="ctr" anchorCtr="0">
            <a:noAutofit/>
          </a:bodyPr>
          <a:lstStyle/>
          <a:p>
            <a:pPr fontAlgn="auto">
              <a:spcAft>
                <a:spcPts val="0"/>
              </a:spcAft>
            </a:pPr>
            <a:r>
              <a:rPr kumimoji="0" lang="en-US" altLang="zh-CN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rPr>
              <a:t>A</a:t>
            </a:r>
            <a:endParaRPr kumimoji="0" lang="zh-CN" altLang="en-US" sz="260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j-cs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18C28C9-9830-4C7A-A646-2B1614F15655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438400" y="3471863"/>
            <a:ext cx="8534400" cy="642938"/>
          </a:xfrm>
          <a:prstGeom prst="rect">
            <a:avLst/>
          </a:prstGeom>
        </p:spPr>
        <p:txBody>
          <a:bodyPr vert="horz" rtlCol="0" anchor="ctr" anchorCtr="0">
            <a:noAutofit/>
          </a:bodyPr>
          <a:lstStyle/>
          <a:p>
            <a:pPr fontAlgn="auto">
              <a:spcAft>
                <a:spcPts val="0"/>
              </a:spcAft>
            </a:pPr>
            <a:r>
              <a:rPr kumimoji="0" lang="en-US" altLang="zh-CN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rPr>
              <a:t>B</a:t>
            </a:r>
            <a:endParaRPr kumimoji="0" lang="zh-CN" altLang="en-US" sz="260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j-cs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568A6FA-610C-42E9-BBED-D2BDEC1EF532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438400" y="4157663"/>
            <a:ext cx="8534400" cy="642938"/>
          </a:xfrm>
          <a:prstGeom prst="rect">
            <a:avLst/>
          </a:prstGeom>
        </p:spPr>
        <p:txBody>
          <a:bodyPr vert="horz" rtlCol="0" anchor="ctr" anchorCtr="0">
            <a:noAutofit/>
          </a:bodyPr>
          <a:lstStyle/>
          <a:p>
            <a:pPr fontAlgn="auto">
              <a:spcAft>
                <a:spcPts val="0"/>
              </a:spcAft>
            </a:pPr>
            <a:r>
              <a:rPr kumimoji="0" lang="en-US" altLang="zh-CN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rPr>
              <a:t>C</a:t>
            </a:r>
            <a:endParaRPr kumimoji="0" lang="zh-CN" altLang="en-US" sz="260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j-cs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4E1C0E7-9F72-4E09-BEC1-1AF16F2E7534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438400" y="4843463"/>
            <a:ext cx="8534400" cy="642938"/>
          </a:xfrm>
          <a:prstGeom prst="rect">
            <a:avLst/>
          </a:prstGeom>
        </p:spPr>
        <p:txBody>
          <a:bodyPr vert="horz" rtlCol="0" anchor="ctr" anchorCtr="0">
            <a:noAutofit/>
          </a:bodyPr>
          <a:lstStyle/>
          <a:p>
            <a:pPr fontAlgn="auto">
              <a:spcAft>
                <a:spcPts val="0"/>
              </a:spcAft>
            </a:pPr>
            <a:r>
              <a:rPr kumimoji="0" lang="en-US" altLang="zh-CN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rPr>
              <a:t>D</a:t>
            </a:r>
            <a:endParaRPr kumimoji="0" lang="zh-CN" altLang="en-US" sz="260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j-cs"/>
              <a:sym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F0EEF92-C4A4-4E74-8AA4-182D1230B8A5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571625" y="28503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89B78FA-44B5-4ACB-BCE3-45CA8A039D14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571625" y="35361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8C36F27-295F-4917-A613-681A284FD13A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571625" y="42219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2E951A3-ED36-4A38-9E44-67591ABC6DEA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571625" y="49077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A55934FD-9404-4109-ADF3-E276AB7B30FB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7C7AB17C-621E-4C97-BAEC-B0B223DC0B2C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223792" y="2024844"/>
            <a:ext cx="7302265" cy="2970558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21CFA4B1-22A8-453D-95C1-C3603E35319D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2438400" y="5529263"/>
            <a:ext cx="8534400" cy="642938"/>
          </a:xfrm>
          <a:prstGeom prst="rect">
            <a:avLst/>
          </a:prstGeom>
        </p:spPr>
        <p:txBody>
          <a:bodyPr vert="horz" rtlCol="0" anchor="ctr" anchorCtr="0">
            <a:noAutofit/>
          </a:bodyPr>
          <a:lstStyle/>
          <a:p>
            <a:pPr fontAlgn="auto">
              <a:spcAft>
                <a:spcPts val="0"/>
              </a:spcAft>
            </a:pPr>
            <a:r>
              <a:rPr kumimoji="0" lang="en-US" altLang="zh-CN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rPr>
              <a:t>E</a:t>
            </a:r>
            <a:endParaRPr kumimoji="0" lang="zh-CN" altLang="en-US" sz="260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j-cs"/>
              <a:sym typeface="Microsoft Yahei" panose="020B0503020204020204" pitchFamily="34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8713B1D-6136-484F-93D1-67B0A1E718A8}"/>
              </a:ext>
            </a:extLst>
          </p:cNvPr>
          <p:cNvSpPr>
            <a:spLocks noChangeAspect="1"/>
          </p:cNvSpPr>
          <p:nvPr>
            <p:custDataLst>
              <p:tags r:id="rId13"/>
            </p:custDataLst>
          </p:nvPr>
        </p:nvSpPr>
        <p:spPr bwMode="auto">
          <a:xfrm>
            <a:off x="1571625" y="559355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E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EAC43208-BDB7-4DD2-B8B0-7E8A6D20CAE3}"/>
              </a:ext>
            </a:extLst>
          </p:cNvPr>
          <p:cNvGrpSpPr/>
          <p:nvPr>
            <p:custDataLst>
              <p:tags r:id="rId1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B5715135-91A5-473F-926C-7A1D0EC9B7E2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 bwMode="auto"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9525">
              <a:noFill/>
              <a:miter lim="800000"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CN" altLang="en-US" sz="3600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1A022547-0F88-4C7C-96AE-7C4D0C6A89A1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>
              <a:noFill/>
              <a:miter lim="800000"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CN" altLang="en-US" sz="3600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087D1870-5DC5-4802-9CDB-D321A5BB0EC4}"/>
                </a:ext>
              </a:extLst>
            </p:cNvPr>
            <p:cNvSpPr txBox="1"/>
            <p:nvPr>
              <p:custDataLst>
                <p:tags r:id="rId1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</p:spPr>
          <p:txBody>
            <a:bodyPr vert="horz" wrap="none" rtlCol="0" anchor="ctr" anchorCtr="0">
              <a:noAutofit/>
            </a:bodyPr>
            <a:lstStyle/>
            <a:p>
              <a:pPr fontAlgn="auto">
                <a:spcAft>
                  <a:spcPts val="0"/>
                </a:spcAft>
              </a:pPr>
              <a:r>
                <a:rPr kumimoji="0" lang="zh-CN" altLang="en-US" sz="2600" b="1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j-cs"/>
                  <a:sym typeface="Microsoft Yahei" panose="020B0503020204020204" pitchFamily="34" charset="-122"/>
                </a:rPr>
                <a:t>多选题</a:t>
              </a:r>
              <a:endParaRPr kumimoji="0" lang="zh-CN" altLang="en-US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endParaRP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32DB081F-229E-45AC-9866-044C5B8A9C3F}"/>
                </a:ext>
              </a:extLst>
            </p:cNvPr>
            <p:cNvSpPr txBox="1"/>
            <p:nvPr>
              <p:custDataLst>
                <p:tags r:id="rId1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</p:spPr>
          <p:txBody>
            <a:bodyPr vert="horz" wrap="none" rtlCol="0" anchor="ctr" anchorCtr="0">
              <a:noAutofit/>
            </a:bodyPr>
            <a:lstStyle/>
            <a:p>
              <a:pPr fontAlgn="auto">
                <a:spcAft>
                  <a:spcPts val="0"/>
                </a:spcAft>
              </a:pPr>
              <a:r>
                <a:rPr kumimoji="0" lang="en-US" altLang="zh-CN" sz="2000" b="1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j-cs"/>
                  <a:sym typeface="Microsoft Yahei" panose="020B0503020204020204" pitchFamily="34" charset="-122"/>
                </a:rPr>
                <a:t>2</a:t>
              </a:r>
              <a:r>
                <a:rPr kumimoji="0" lang="zh-CN" altLang="en-US" sz="2000" b="1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j-cs"/>
                  <a:sym typeface="Microsoft Yahei" panose="020B0503020204020204" pitchFamily="34" charset="-122"/>
                </a:rPr>
                <a:t>分</a:t>
              </a:r>
              <a:endParaRPr kumimoji="0" lang="zh-CN" altLang="en-US" sz="2000" b="1" dirty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endParaRP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FE420D13-B806-4D64-8930-CE019089BDBC}"/>
              </a:ext>
            </a:extLst>
          </p:cNvPr>
          <p:cNvPicPr>
            <a:picLocks/>
          </p:cNvPicPr>
          <p:nvPr>
            <p:custDataLst>
              <p:tags r:id="rId15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00464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12-2">
            <a:extLst>
              <a:ext uri="{FF2B5EF4-FFF2-40B4-BE49-F238E27FC236}">
                <a16:creationId xmlns:a16="http://schemas.microsoft.com/office/drawing/2014/main" id="{A3D0B785-6147-4F96-8B8F-C7FD8D7D34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33875" y="1289624"/>
            <a:ext cx="4845458" cy="34958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5" descr="12-1">
            <a:extLst>
              <a:ext uri="{FF2B5EF4-FFF2-40B4-BE49-F238E27FC236}">
                <a16:creationId xmlns:a16="http://schemas.microsoft.com/office/drawing/2014/main" id="{14F129E6-9471-4C7F-ABA1-E8DFAEA91C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17924" y="1428004"/>
            <a:ext cx="4921659" cy="33115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4" descr="12-1(b)">
            <a:extLst>
              <a:ext uri="{FF2B5EF4-FFF2-40B4-BE49-F238E27FC236}">
                <a16:creationId xmlns:a16="http://schemas.microsoft.com/office/drawing/2014/main" id="{4D7E2A6A-F712-40C8-B54E-726B1B1BA7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871901" y="1995105"/>
            <a:ext cx="2262187" cy="2160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8">
            <a:extLst>
              <a:ext uri="{FF2B5EF4-FFF2-40B4-BE49-F238E27FC236}">
                <a16:creationId xmlns:a16="http://schemas.microsoft.com/office/drawing/2014/main" id="{22B0DD14-CC6B-4830-B032-092BC0A01E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8174" y="4026312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zh-CN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A795F86-34BF-4657-B09E-B10C64B4D1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5420" y="738336"/>
            <a:ext cx="3062287" cy="52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indent="298450" eaLnBrk="1" hangingPunct="1">
              <a:tabLst>
                <a:tab pos="2636838" algn="ctr"/>
                <a:tab pos="5273675" algn="r"/>
              </a:tabLst>
            </a:pPr>
            <a:r>
              <a:rPr lang="zh-CN" altLang="en-US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零件与部件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C68F58B9-E2AC-4D05-B65E-E30D4DE3C0E8}"/>
              </a:ext>
            </a:extLst>
          </p:cNvPr>
          <p:cNvCxnSpPr/>
          <p:nvPr/>
        </p:nvCxnSpPr>
        <p:spPr bwMode="auto">
          <a:xfrm>
            <a:off x="6633170" y="3420753"/>
            <a:ext cx="2203450" cy="1587"/>
          </a:xfrm>
          <a:prstGeom prst="straightConnector1">
            <a:avLst/>
          </a:prstGeom>
          <a:solidFill>
            <a:schemeClr val="accent1"/>
          </a:solidFill>
          <a:ln w="82550" cap="flat" cmpd="sng" algn="ctr">
            <a:solidFill>
              <a:schemeClr val="accent5">
                <a:lumMod val="75000"/>
              </a:schemeClr>
            </a:solidFill>
            <a:prstDash val="solid"/>
            <a:round/>
            <a:headEnd type="triangle" w="med" len="lg"/>
            <a:tailEnd type="triangle" w="med" len="lg"/>
          </a:ln>
          <a:effectLst/>
        </p:spPr>
      </p:cxnSp>
      <p:sp>
        <p:nvSpPr>
          <p:cNvPr id="10" name="Text Box 31">
            <a:extLst>
              <a:ext uri="{FF2B5EF4-FFF2-40B4-BE49-F238E27FC236}">
                <a16:creationId xmlns:a16="http://schemas.microsoft.com/office/drawing/2014/main" id="{CEFF110A-7C45-4388-B8D2-DDCACD95D2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6987" y="317912"/>
            <a:ext cx="5381625" cy="584200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zh-CN" altLang="en-US" sz="3200" dirty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装 配 图 概 述      </a:t>
            </a:r>
            <a:endParaRPr lang="en-US" altLang="zh-CN" sz="3200" dirty="0">
              <a:solidFill>
                <a:schemeClr val="tx2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CC84351-4E47-4383-A890-ACBDA7B378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1444" y="4785447"/>
            <a:ext cx="10247143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chemeClr val="tx1"/>
                </a:solidFill>
                <a:latin typeface="宋体" pitchFamily="2" charset="-122"/>
                <a:cs typeface="Times New Roman" pitchFamily="18" charset="0"/>
              </a:rPr>
              <a:t>★</a:t>
            </a:r>
            <a:r>
              <a:rPr lang="zh-CN" altLang="zh-CN" sz="2400" dirty="0">
                <a:solidFill>
                  <a:schemeClr val="tx1"/>
                </a:solidFill>
                <a:cs typeface="Times New Roman" pitchFamily="18" charset="0"/>
              </a:rPr>
              <a:t>设计时，一般先根据设计要求确定机器（或部件）的</a:t>
            </a:r>
            <a:r>
              <a:rPr lang="zh-CN" altLang="zh-CN" sz="2400" dirty="0">
                <a:solidFill>
                  <a:srgbClr val="FF0000"/>
                </a:solidFill>
                <a:cs typeface="Times New Roman" pitchFamily="18" charset="0"/>
              </a:rPr>
              <a:t>工作原理、传动路线、</a:t>
            </a:r>
            <a:endParaRPr lang="en-US" altLang="zh-CN" sz="2400" dirty="0">
              <a:solidFill>
                <a:srgbClr val="FF0000"/>
              </a:solidFill>
              <a:cs typeface="Times New Roman" pitchFamily="18" charset="0"/>
            </a:endParaRPr>
          </a:p>
          <a:p>
            <a:r>
              <a:rPr lang="en-US" altLang="zh-CN" sz="2400" dirty="0">
                <a:solidFill>
                  <a:srgbClr val="FF0000"/>
                </a:solidFill>
                <a:cs typeface="Times New Roman" pitchFamily="18" charset="0"/>
              </a:rPr>
              <a:t>   </a:t>
            </a:r>
            <a:r>
              <a:rPr lang="zh-CN" altLang="zh-CN" sz="2400" dirty="0">
                <a:solidFill>
                  <a:srgbClr val="FF0000"/>
                </a:solidFill>
                <a:cs typeface="Times New Roman" pitchFamily="18" charset="0"/>
              </a:rPr>
              <a:t>零件的装配关系、润滑、密封</a:t>
            </a:r>
            <a:r>
              <a:rPr lang="zh-CN" altLang="zh-CN" sz="2400" dirty="0">
                <a:solidFill>
                  <a:schemeClr val="tx1"/>
                </a:solidFill>
                <a:cs typeface="Times New Roman" pitchFamily="18" charset="0"/>
              </a:rPr>
              <a:t>等要求，绘制出装配图。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AE5B10C-5BB1-44AB-B472-B0410C907F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6602" y="5708238"/>
            <a:ext cx="10247143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chemeClr val="tx1"/>
                </a:solidFill>
                <a:latin typeface="宋体" pitchFamily="2" charset="-122"/>
                <a:cs typeface="Times New Roman" pitchFamily="18" charset="0"/>
              </a:rPr>
              <a:t>★</a:t>
            </a:r>
            <a:r>
              <a:rPr lang="zh-CN" altLang="zh-CN" sz="2400" dirty="0">
                <a:solidFill>
                  <a:schemeClr val="tx1"/>
                </a:solidFill>
                <a:cs typeface="Times New Roman" pitchFamily="18" charset="0"/>
              </a:rPr>
              <a:t>根据装配图</a:t>
            </a:r>
            <a:r>
              <a:rPr lang="zh-CN" altLang="zh-CN" sz="2400" dirty="0">
                <a:solidFill>
                  <a:srgbClr val="FF0000"/>
                </a:solidFill>
                <a:cs typeface="Times New Roman" pitchFamily="18" charset="0"/>
              </a:rPr>
              <a:t>分别设计、绘制出各零件的零件工作图</a:t>
            </a:r>
            <a:r>
              <a:rPr lang="zh-CN" altLang="zh-CN" sz="2400" dirty="0">
                <a:solidFill>
                  <a:schemeClr val="tx1"/>
                </a:solidFill>
                <a:cs typeface="Times New Roman" pitchFamily="18" charset="0"/>
              </a:rPr>
              <a:t>。最后依据零件工作图</a:t>
            </a:r>
            <a:endParaRPr lang="en-US" altLang="zh-CN" sz="2400" dirty="0">
              <a:solidFill>
                <a:schemeClr val="tx1"/>
              </a:solidFill>
              <a:cs typeface="Times New Roman" pitchFamily="18" charset="0"/>
            </a:endParaRPr>
          </a:p>
          <a:p>
            <a:r>
              <a:rPr lang="en-US" altLang="zh-CN" sz="2400" dirty="0">
                <a:cs typeface="Times New Roman" pitchFamily="18" charset="0"/>
              </a:rPr>
              <a:t>    </a:t>
            </a:r>
            <a:r>
              <a:rPr lang="zh-CN" altLang="zh-CN" sz="2400" dirty="0">
                <a:solidFill>
                  <a:schemeClr val="tx1"/>
                </a:solidFill>
                <a:cs typeface="Times New Roman" pitchFamily="18" charset="0"/>
              </a:rPr>
              <a:t>加工出零件</a:t>
            </a:r>
            <a:r>
              <a:rPr lang="zh-CN" altLang="en-US" sz="2400" dirty="0">
                <a:solidFill>
                  <a:schemeClr val="tx1"/>
                </a:solidFill>
                <a:cs typeface="Times New Roman" pitchFamily="18" charset="0"/>
              </a:rPr>
              <a:t>。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3F29B24-E6EE-4FB6-A8FD-2461B14620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9683" y="2888940"/>
            <a:ext cx="224313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zh-CN" sz="2000" dirty="0">
                <a:solidFill>
                  <a:schemeClr val="tx1"/>
                </a:solidFill>
                <a:cs typeface="Times New Roman" pitchFamily="18" charset="0"/>
              </a:rPr>
              <a:t>按装配图</a:t>
            </a:r>
            <a:r>
              <a:rPr lang="zh-CN" altLang="en-US" sz="2000" dirty="0">
                <a:solidFill>
                  <a:schemeClr val="tx1"/>
                </a:solidFill>
                <a:cs typeface="Times New Roman" pitchFamily="18" charset="0"/>
              </a:rPr>
              <a:t>设计</a:t>
            </a:r>
            <a:r>
              <a:rPr lang="zh-CN" altLang="zh-CN" sz="2000" dirty="0">
                <a:solidFill>
                  <a:schemeClr val="tx1"/>
                </a:solidFill>
                <a:cs typeface="Times New Roman" pitchFamily="18" charset="0"/>
              </a:rPr>
              <a:t>零件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7D2C24B-8125-4FEF-AB39-A7E3C22DDB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3183" y="3600140"/>
            <a:ext cx="2243137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zh-CN" sz="2000" dirty="0">
                <a:solidFill>
                  <a:schemeClr val="tx1"/>
                </a:solidFill>
                <a:cs typeface="Times New Roman" pitchFamily="18" charset="0"/>
              </a:rPr>
              <a:t>将零件按照装配图组装成机器或部件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0717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2" grpId="0"/>
      <p:bldP spid="13" grpId="0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2">
            <a:extLst>
              <a:ext uri="{FF2B5EF4-FFF2-40B4-BE49-F238E27FC236}">
                <a16:creationId xmlns:a16="http://schemas.microsoft.com/office/drawing/2014/main" id="{74132A8F-7EEB-4C4F-BC56-2DD087C17864}"/>
              </a:ext>
            </a:extLst>
          </p:cNvPr>
          <p:cNvGrpSpPr>
            <a:grpSpLocks/>
          </p:cNvGrpSpPr>
          <p:nvPr/>
        </p:nvGrpSpPr>
        <p:grpSpPr bwMode="auto">
          <a:xfrm>
            <a:off x="3395700" y="1556792"/>
            <a:ext cx="6648450" cy="4740275"/>
            <a:chOff x="1634953" y="1597158"/>
            <a:chExt cx="6648450" cy="4740275"/>
          </a:xfrm>
        </p:grpSpPr>
        <p:pic>
          <p:nvPicPr>
            <p:cNvPr id="3" name="图片 3">
              <a:extLst>
                <a:ext uri="{FF2B5EF4-FFF2-40B4-BE49-F238E27FC236}">
                  <a16:creationId xmlns:a16="http://schemas.microsoft.com/office/drawing/2014/main" id="{28A588A6-4D76-458B-B9E0-F2F187EED11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2260428" y="1597158"/>
              <a:ext cx="6022975" cy="46974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4" name="Group 14">
              <a:extLst>
                <a:ext uri="{FF2B5EF4-FFF2-40B4-BE49-F238E27FC236}">
                  <a16:creationId xmlns:a16="http://schemas.microsoft.com/office/drawing/2014/main" id="{11FBFA4D-4B1C-43FC-B09F-BA070F4ED67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87528" y="3897445"/>
              <a:ext cx="803275" cy="727075"/>
              <a:chOff x="2784" y="3593"/>
              <a:chExt cx="506" cy="582"/>
            </a:xfrm>
          </p:grpSpPr>
          <p:sp>
            <p:nvSpPr>
              <p:cNvPr id="40" name="Text Box 15">
                <a:extLst>
                  <a:ext uri="{FF2B5EF4-FFF2-40B4-BE49-F238E27FC236}">
                    <a16:creationId xmlns:a16="http://schemas.microsoft.com/office/drawing/2014/main" id="{30CD5396-0C9F-4B61-8914-EB59F9676EE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84" y="3593"/>
                <a:ext cx="506" cy="36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zh-CN" altLang="en-US"/>
                  <a:t>端盖</a:t>
                </a:r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Line 16">
                <a:extLst>
                  <a:ext uri="{FF2B5EF4-FFF2-40B4-BE49-F238E27FC236}">
                    <a16:creationId xmlns:a16="http://schemas.microsoft.com/office/drawing/2014/main" id="{84FCC85B-5DF9-4368-A6F0-E803B078F1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1" y="3911"/>
                <a:ext cx="90" cy="264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5" name="Group 2">
              <a:extLst>
                <a:ext uri="{FF2B5EF4-FFF2-40B4-BE49-F238E27FC236}">
                  <a16:creationId xmlns:a16="http://schemas.microsoft.com/office/drawing/2014/main" id="{06B0323E-7F31-44E7-BF25-D34876804DE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05128" y="2843345"/>
              <a:ext cx="1270000" cy="461963"/>
              <a:chOff x="3134" y="2047"/>
              <a:chExt cx="800" cy="291"/>
            </a:xfrm>
          </p:grpSpPr>
          <p:sp>
            <p:nvSpPr>
              <p:cNvPr id="38" name="Text Box 3">
                <a:extLst>
                  <a:ext uri="{FF2B5EF4-FFF2-40B4-BE49-F238E27FC236}">
                    <a16:creationId xmlns:a16="http://schemas.microsoft.com/office/drawing/2014/main" id="{7E2F779D-8F62-47D3-A5DB-0C4ADBB7F8A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34" y="2047"/>
                <a:ext cx="576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zh-CN" altLang="en-US"/>
                  <a:t>阀杆</a:t>
                </a:r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9" name="Line 4">
                <a:extLst>
                  <a:ext uri="{FF2B5EF4-FFF2-40B4-BE49-F238E27FC236}">
                    <a16:creationId xmlns:a16="http://schemas.microsoft.com/office/drawing/2014/main" id="{CE34CED6-3C84-4AC3-BD42-511E2D4D9A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19" y="2205"/>
                <a:ext cx="315" cy="105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6" name="Group 8">
              <a:extLst>
                <a:ext uri="{FF2B5EF4-FFF2-40B4-BE49-F238E27FC236}">
                  <a16:creationId xmlns:a16="http://schemas.microsoft.com/office/drawing/2014/main" id="{6B105B84-59DE-49C3-92C5-751217CAFC1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94278" y="2181358"/>
              <a:ext cx="1100137" cy="585787"/>
              <a:chOff x="5026" y="1950"/>
              <a:chExt cx="693" cy="369"/>
            </a:xfrm>
          </p:grpSpPr>
          <p:sp>
            <p:nvSpPr>
              <p:cNvPr id="36" name="Text Box 9">
                <a:extLst>
                  <a:ext uri="{FF2B5EF4-FFF2-40B4-BE49-F238E27FC236}">
                    <a16:creationId xmlns:a16="http://schemas.microsoft.com/office/drawing/2014/main" id="{18BA8C33-00F5-45FD-BC6A-08BA7FF9FB0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13" y="2028"/>
                <a:ext cx="506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zh-CN" altLang="en-US"/>
                  <a:t>扳手</a:t>
                </a:r>
              </a:p>
            </p:txBody>
          </p:sp>
          <p:sp>
            <p:nvSpPr>
              <p:cNvPr id="37" name="Line 10">
                <a:extLst>
                  <a:ext uri="{FF2B5EF4-FFF2-40B4-BE49-F238E27FC236}">
                    <a16:creationId xmlns:a16="http://schemas.microsoft.com/office/drawing/2014/main" id="{E74D21AB-3C19-48C4-8798-D724E3CEFB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26" y="1950"/>
                <a:ext cx="241" cy="195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7" name="Group 11">
              <a:extLst>
                <a:ext uri="{FF2B5EF4-FFF2-40B4-BE49-F238E27FC236}">
                  <a16:creationId xmlns:a16="http://schemas.microsoft.com/office/drawing/2014/main" id="{45914CC6-F1C7-4D15-842C-4264C89F360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389640" y="5175383"/>
              <a:ext cx="803275" cy="723900"/>
              <a:chOff x="3288" y="3503"/>
              <a:chExt cx="506" cy="456"/>
            </a:xfrm>
          </p:grpSpPr>
          <p:sp>
            <p:nvSpPr>
              <p:cNvPr id="34" name="Line 12">
                <a:extLst>
                  <a:ext uri="{FF2B5EF4-FFF2-40B4-BE49-F238E27FC236}">
                    <a16:creationId xmlns:a16="http://schemas.microsoft.com/office/drawing/2014/main" id="{196420A6-512F-44FB-A7F5-22167CE125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88" y="3503"/>
                <a:ext cx="124" cy="197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5" name="Text Box 13">
                <a:extLst>
                  <a:ext uri="{FF2B5EF4-FFF2-40B4-BE49-F238E27FC236}">
                    <a16:creationId xmlns:a16="http://schemas.microsoft.com/office/drawing/2014/main" id="{4E7B79E7-2E56-4DEE-8188-72B992D05A6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88" y="3668"/>
                <a:ext cx="506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zh-CN" altLang="en-US"/>
                  <a:t>阀体</a:t>
                </a:r>
              </a:p>
            </p:txBody>
          </p:sp>
        </p:grpSp>
        <p:grpSp>
          <p:nvGrpSpPr>
            <p:cNvPr id="8" name="Group 17">
              <a:extLst>
                <a:ext uri="{FF2B5EF4-FFF2-40B4-BE49-F238E27FC236}">
                  <a16:creationId xmlns:a16="http://schemas.microsoft.com/office/drawing/2014/main" id="{AFB610AB-DDC5-47AA-A999-37DE8226E4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46140" y="3811720"/>
              <a:ext cx="803275" cy="1076325"/>
              <a:chOff x="5220" y="2250"/>
              <a:chExt cx="506" cy="678"/>
            </a:xfrm>
          </p:grpSpPr>
          <p:sp>
            <p:nvSpPr>
              <p:cNvPr id="32" name="Text Box 18">
                <a:extLst>
                  <a:ext uri="{FF2B5EF4-FFF2-40B4-BE49-F238E27FC236}">
                    <a16:creationId xmlns:a16="http://schemas.microsoft.com/office/drawing/2014/main" id="{A1913A1D-43A8-4E3B-AB8C-519DA05D302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20" y="2250"/>
                <a:ext cx="506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zh-CN" altLang="en-US"/>
                  <a:t>螺柱</a:t>
                </a:r>
              </a:p>
            </p:txBody>
          </p:sp>
          <p:sp>
            <p:nvSpPr>
              <p:cNvPr id="33" name="Line 19">
                <a:extLst>
                  <a:ext uri="{FF2B5EF4-FFF2-40B4-BE49-F238E27FC236}">
                    <a16:creationId xmlns:a16="http://schemas.microsoft.com/office/drawing/2014/main" id="{73490C76-2AE0-4751-B9CE-B17F7A8AC4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454" y="2523"/>
                <a:ext cx="150" cy="405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9" name="Group 23">
              <a:extLst>
                <a:ext uri="{FF2B5EF4-FFF2-40B4-BE49-F238E27FC236}">
                  <a16:creationId xmlns:a16="http://schemas.microsoft.com/office/drawing/2014/main" id="{23D876C3-91C0-48D3-A860-F36CEBA5DA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60728" y="5415095"/>
              <a:ext cx="803275" cy="882650"/>
              <a:chOff x="4672" y="3002"/>
              <a:chExt cx="506" cy="556"/>
            </a:xfrm>
          </p:grpSpPr>
          <p:sp>
            <p:nvSpPr>
              <p:cNvPr id="30" name="Text Box 24">
                <a:extLst>
                  <a:ext uri="{FF2B5EF4-FFF2-40B4-BE49-F238E27FC236}">
                    <a16:creationId xmlns:a16="http://schemas.microsoft.com/office/drawing/2014/main" id="{5E52C006-92CC-4580-9F44-3A8492AF929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72" y="3267"/>
                <a:ext cx="506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zh-CN" altLang="en-US"/>
                  <a:t>垫片</a:t>
                </a:r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1" name="Line 25">
                <a:extLst>
                  <a:ext uri="{FF2B5EF4-FFF2-40B4-BE49-F238E27FC236}">
                    <a16:creationId xmlns:a16="http://schemas.microsoft.com/office/drawing/2014/main" id="{9534B2CD-CF4E-4170-BF6E-5B0BB915A7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45" y="3002"/>
                <a:ext cx="142" cy="305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0" name="Group 26">
              <a:extLst>
                <a:ext uri="{FF2B5EF4-FFF2-40B4-BE49-F238E27FC236}">
                  <a16:creationId xmlns:a16="http://schemas.microsoft.com/office/drawing/2014/main" id="{580C23E6-99F7-454F-9E43-66FDE97848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845003" y="2887795"/>
              <a:ext cx="1778000" cy="461963"/>
              <a:chOff x="4797" y="2783"/>
              <a:chExt cx="1120" cy="291"/>
            </a:xfrm>
          </p:grpSpPr>
          <p:sp>
            <p:nvSpPr>
              <p:cNvPr id="28" name="Text Box 27">
                <a:extLst>
                  <a:ext uri="{FF2B5EF4-FFF2-40B4-BE49-F238E27FC236}">
                    <a16:creationId xmlns:a16="http://schemas.microsoft.com/office/drawing/2014/main" id="{AF95A557-E615-48D8-9AB0-4C5F2CEDFF1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21" y="2783"/>
                <a:ext cx="896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zh-CN" altLang="en-US"/>
                  <a:t>螺纹压环</a:t>
                </a:r>
              </a:p>
            </p:txBody>
          </p:sp>
          <p:sp>
            <p:nvSpPr>
              <p:cNvPr id="29" name="Line 28">
                <a:extLst>
                  <a:ext uri="{FF2B5EF4-FFF2-40B4-BE49-F238E27FC236}">
                    <a16:creationId xmlns:a16="http://schemas.microsoft.com/office/drawing/2014/main" id="{6C1E73BC-0AFF-4D3E-A24A-404E04387B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97" y="2823"/>
                <a:ext cx="260" cy="78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1" name="Group 26">
              <a:extLst>
                <a:ext uri="{FF2B5EF4-FFF2-40B4-BE49-F238E27FC236}">
                  <a16:creationId xmlns:a16="http://schemas.microsoft.com/office/drawing/2014/main" id="{57F49E7D-3D72-41B5-AF36-E654553E95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4953" y="5586545"/>
              <a:ext cx="868362" cy="750888"/>
              <a:chOff x="4989" y="2553"/>
              <a:chExt cx="547" cy="473"/>
            </a:xfrm>
          </p:grpSpPr>
          <p:sp>
            <p:nvSpPr>
              <p:cNvPr id="26" name="Text Box 27">
                <a:extLst>
                  <a:ext uri="{FF2B5EF4-FFF2-40B4-BE49-F238E27FC236}">
                    <a16:creationId xmlns:a16="http://schemas.microsoft.com/office/drawing/2014/main" id="{FC3E0F48-C20F-43E4-9CF1-B3C5F2C3C0F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89" y="2735"/>
                <a:ext cx="506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zh-CN" altLang="en-US"/>
                  <a:t>螺母</a:t>
                </a:r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Line 28">
                <a:extLst>
                  <a:ext uri="{FF2B5EF4-FFF2-40B4-BE49-F238E27FC236}">
                    <a16:creationId xmlns:a16="http://schemas.microsoft.com/office/drawing/2014/main" id="{2C973D00-BC21-4813-AB94-739818CEDA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309" y="2553"/>
                <a:ext cx="227" cy="218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2" name="组合 28">
              <a:extLst>
                <a:ext uri="{FF2B5EF4-FFF2-40B4-BE49-F238E27FC236}">
                  <a16:creationId xmlns:a16="http://schemas.microsoft.com/office/drawing/2014/main" id="{6B06066F-45AD-4790-82AE-EF1CC46736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08415" y="5110295"/>
              <a:ext cx="1377950" cy="847725"/>
              <a:chOff x="6067424" y="5470421"/>
              <a:chExt cx="1377950" cy="847831"/>
            </a:xfrm>
          </p:grpSpPr>
          <p:grpSp>
            <p:nvGrpSpPr>
              <p:cNvPr id="22" name="Group 20">
                <a:extLst>
                  <a:ext uri="{FF2B5EF4-FFF2-40B4-BE49-F238E27FC236}">
                    <a16:creationId xmlns:a16="http://schemas.microsoft.com/office/drawing/2014/main" id="{009B809B-9896-4A23-A885-93357D94AF6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067429" y="5576889"/>
                <a:ext cx="1377951" cy="741363"/>
                <a:chOff x="4279" y="3784"/>
                <a:chExt cx="868" cy="467"/>
              </a:xfrm>
            </p:grpSpPr>
            <p:sp>
              <p:nvSpPr>
                <p:cNvPr id="24" name="Text Box 21">
                  <a:extLst>
                    <a:ext uri="{FF2B5EF4-FFF2-40B4-BE49-F238E27FC236}">
                      <a16:creationId xmlns:a16="http://schemas.microsoft.com/office/drawing/2014/main" id="{E4D25B83-9BC4-45F9-8C8F-A57BD3F256A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446" y="3960"/>
                  <a:ext cx="701" cy="29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zh-CN" altLang="en-US"/>
                    <a:t>密封圈</a:t>
                  </a:r>
                </a:p>
              </p:txBody>
            </p:sp>
            <p:sp>
              <p:nvSpPr>
                <p:cNvPr id="25" name="Line 22">
                  <a:extLst>
                    <a:ext uri="{FF2B5EF4-FFF2-40B4-BE49-F238E27FC236}">
                      <a16:creationId xmlns:a16="http://schemas.microsoft.com/office/drawing/2014/main" id="{0D20917B-49DD-4AB2-9350-E8B1C4E52F0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279" y="3784"/>
                  <a:ext cx="604" cy="17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3" name="Line 22">
                <a:extLst>
                  <a:ext uri="{FF2B5EF4-FFF2-40B4-BE49-F238E27FC236}">
                    <a16:creationId xmlns:a16="http://schemas.microsoft.com/office/drawing/2014/main" id="{3DEEA8EA-6828-475F-91B7-C38C86E8C5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026275" y="5470421"/>
                <a:ext cx="193675" cy="385867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3" name="Group 2">
              <a:extLst>
                <a:ext uri="{FF2B5EF4-FFF2-40B4-BE49-F238E27FC236}">
                  <a16:creationId xmlns:a16="http://schemas.microsoft.com/office/drawing/2014/main" id="{32D1BC19-171F-40AB-B6F3-9E5D0EF5D8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03528" y="3503745"/>
              <a:ext cx="1441450" cy="552450"/>
              <a:chOff x="3134" y="2047"/>
              <a:chExt cx="908" cy="348"/>
            </a:xfrm>
          </p:grpSpPr>
          <p:sp>
            <p:nvSpPr>
              <p:cNvPr id="20" name="Text Box 3">
                <a:extLst>
                  <a:ext uri="{FF2B5EF4-FFF2-40B4-BE49-F238E27FC236}">
                    <a16:creationId xmlns:a16="http://schemas.microsoft.com/office/drawing/2014/main" id="{038D462E-01D2-43D2-A89B-F55C8329889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34" y="2047"/>
                <a:ext cx="741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zh-CN" altLang="en-US"/>
                  <a:t>密封环</a:t>
                </a:r>
              </a:p>
            </p:txBody>
          </p:sp>
          <p:sp>
            <p:nvSpPr>
              <p:cNvPr id="21" name="Line 4">
                <a:extLst>
                  <a:ext uri="{FF2B5EF4-FFF2-40B4-BE49-F238E27FC236}">
                    <a16:creationId xmlns:a16="http://schemas.microsoft.com/office/drawing/2014/main" id="{CFBB7E1B-5E43-414F-A44B-7986DB4FAC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27" y="2290"/>
                <a:ext cx="315" cy="105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4" name="Group 26">
              <a:extLst>
                <a:ext uri="{FF2B5EF4-FFF2-40B4-BE49-F238E27FC236}">
                  <a16:creationId xmlns:a16="http://schemas.microsoft.com/office/drawing/2014/main" id="{5BB64E02-5566-4013-8C72-803223CD6ED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59303" y="3435483"/>
              <a:ext cx="803275" cy="925512"/>
              <a:chOff x="5021" y="2783"/>
              <a:chExt cx="506" cy="583"/>
            </a:xfrm>
          </p:grpSpPr>
          <p:sp>
            <p:nvSpPr>
              <p:cNvPr id="18" name="Text Box 27">
                <a:extLst>
                  <a:ext uri="{FF2B5EF4-FFF2-40B4-BE49-F238E27FC236}">
                    <a16:creationId xmlns:a16="http://schemas.microsoft.com/office/drawing/2014/main" id="{AEF02B55-CBA5-4F6E-901E-C679D96328A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21" y="2783"/>
                <a:ext cx="506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zh-CN" altLang="en-US"/>
                  <a:t>垫圈</a:t>
                </a:r>
              </a:p>
            </p:txBody>
          </p:sp>
          <p:sp>
            <p:nvSpPr>
              <p:cNvPr id="19" name="Line 28">
                <a:extLst>
                  <a:ext uri="{FF2B5EF4-FFF2-40B4-BE49-F238E27FC236}">
                    <a16:creationId xmlns:a16="http://schemas.microsoft.com/office/drawing/2014/main" id="{BFE1E69B-2390-47DD-BA9C-68ED3790BE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34" y="3017"/>
                <a:ext cx="225" cy="349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5" name="Group 2">
              <a:extLst>
                <a:ext uri="{FF2B5EF4-FFF2-40B4-BE49-F238E27FC236}">
                  <a16:creationId xmlns:a16="http://schemas.microsoft.com/office/drawing/2014/main" id="{8BFCD6CF-61C6-4217-B7AE-25B5C170443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08303" y="4087945"/>
              <a:ext cx="1216025" cy="514350"/>
              <a:chOff x="3276" y="2071"/>
              <a:chExt cx="766" cy="324"/>
            </a:xfrm>
          </p:grpSpPr>
          <p:sp>
            <p:nvSpPr>
              <p:cNvPr id="16" name="Text Box 3">
                <a:extLst>
                  <a:ext uri="{FF2B5EF4-FFF2-40B4-BE49-F238E27FC236}">
                    <a16:creationId xmlns:a16="http://schemas.microsoft.com/office/drawing/2014/main" id="{DB9B3CE4-42B6-4EB1-9944-5B2B381F51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76" y="2071"/>
                <a:ext cx="535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zh-CN" altLang="en-US"/>
                  <a:t>阀芯</a:t>
                </a:r>
              </a:p>
            </p:txBody>
          </p:sp>
          <p:sp>
            <p:nvSpPr>
              <p:cNvPr id="17" name="Line 4">
                <a:extLst>
                  <a:ext uri="{FF2B5EF4-FFF2-40B4-BE49-F238E27FC236}">
                    <a16:creationId xmlns:a16="http://schemas.microsoft.com/office/drawing/2014/main" id="{413C4173-6351-4D9F-A577-81C12D1E8D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27" y="2290"/>
                <a:ext cx="315" cy="105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42" name="矩形 41">
            <a:extLst>
              <a:ext uri="{FF2B5EF4-FFF2-40B4-BE49-F238E27FC236}">
                <a16:creationId xmlns:a16="http://schemas.microsoft.com/office/drawing/2014/main" id="{42AAA067-2C5D-4CF1-B068-9C4386F29D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5420" y="738336"/>
            <a:ext cx="3062287" cy="52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indent="298450" eaLnBrk="1" hangingPunct="1">
              <a:tabLst>
                <a:tab pos="2636838" algn="ctr"/>
                <a:tab pos="5273675" algn="r"/>
              </a:tabLst>
            </a:pPr>
            <a:r>
              <a:rPr lang="zh-CN" altLang="en-US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零件与部件</a:t>
            </a:r>
          </a:p>
        </p:txBody>
      </p:sp>
      <p:sp>
        <p:nvSpPr>
          <p:cNvPr id="43" name="Text Box 31">
            <a:extLst>
              <a:ext uri="{FF2B5EF4-FFF2-40B4-BE49-F238E27FC236}">
                <a16:creationId xmlns:a16="http://schemas.microsoft.com/office/drawing/2014/main" id="{2E1FC098-9E05-47A2-B063-96016AA3FD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6987" y="317912"/>
            <a:ext cx="5381625" cy="584200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zh-CN" altLang="en-US" sz="3200" dirty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装 配 图 概 述      </a:t>
            </a:r>
            <a:endParaRPr lang="en-US" altLang="zh-CN" sz="3200" dirty="0">
              <a:solidFill>
                <a:schemeClr val="tx2"/>
              </a:solidFill>
              <a:latin typeface="黑体" pitchFamily="49" charset="-122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165890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>
            <a:extLst>
              <a:ext uri="{FF2B5EF4-FFF2-40B4-BE49-F238E27FC236}">
                <a16:creationId xmlns:a16="http://schemas.microsoft.com/office/drawing/2014/main" id="{45C8582B-46E3-402A-9477-1FC69531F9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4" y="3816201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indent="266700"/>
            <a:r>
              <a:rPr lang="en-US" altLang="zh-CN" sz="1000">
                <a:latin typeface="宋体" pitchFamily="2" charset="-122"/>
              </a:rPr>
              <a:t>  </a:t>
            </a:r>
            <a:endParaRPr lang="en-US" altLang="zh-CN"/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6F57CBFD-81FC-4504-809F-A6C3E20B09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4" y="5754539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zh-CN"/>
          </a:p>
        </p:txBody>
      </p:sp>
      <p:sp>
        <p:nvSpPr>
          <p:cNvPr id="5" name="矩形 8">
            <a:extLst>
              <a:ext uri="{FF2B5EF4-FFF2-40B4-BE49-F238E27FC236}">
                <a16:creationId xmlns:a16="http://schemas.microsoft.com/office/drawing/2014/main" id="{60F03384-59DD-43E7-8014-9733EFD4B9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8386" y="932508"/>
            <a:ext cx="36179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indent="298450" eaLnBrk="1" hangingPunct="1">
              <a:tabLst>
                <a:tab pos="2636838" algn="ctr"/>
                <a:tab pos="5273675" algn="r"/>
              </a:tabLst>
            </a:pPr>
            <a:r>
              <a:rPr lang="zh-CN" altLang="en-US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装配图与部件图</a:t>
            </a:r>
          </a:p>
        </p:txBody>
      </p:sp>
      <p:pic>
        <p:nvPicPr>
          <p:cNvPr id="6" name="图片 5" descr="sk.jpg">
            <a:extLst>
              <a:ext uri="{FF2B5EF4-FFF2-40B4-BE49-F238E27FC236}">
                <a16:creationId xmlns:a16="http://schemas.microsoft.com/office/drawing/2014/main" id="{3A22D08A-6B99-4A65-8542-F9AD0B584F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4719" b="6676"/>
          <a:stretch>
            <a:fillRect/>
          </a:stretch>
        </p:blipFill>
        <p:spPr bwMode="auto">
          <a:xfrm>
            <a:off x="1476374" y="1627115"/>
            <a:ext cx="1855788" cy="20183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图片 6" descr="skt.jpg">
            <a:extLst>
              <a:ext uri="{FF2B5EF4-FFF2-40B4-BE49-F238E27FC236}">
                <a16:creationId xmlns:a16="http://schemas.microsoft.com/office/drawing/2014/main" id="{820FAD2A-4A7E-4396-8776-049A7DB7FFF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30440" y="1640367"/>
            <a:ext cx="2867005" cy="20643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4" descr="12-1(b)">
            <a:extLst>
              <a:ext uri="{FF2B5EF4-FFF2-40B4-BE49-F238E27FC236}">
                <a16:creationId xmlns:a16="http://schemas.microsoft.com/office/drawing/2014/main" id="{D953C74F-9B22-433E-9EC4-9077592272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483312" y="1678199"/>
            <a:ext cx="1987842" cy="18954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2" descr="12-2">
            <a:extLst>
              <a:ext uri="{FF2B5EF4-FFF2-40B4-BE49-F238E27FC236}">
                <a16:creationId xmlns:a16="http://schemas.microsoft.com/office/drawing/2014/main" id="{2971E233-62FF-4899-BA6F-189A21E608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8439527" y="1679723"/>
            <a:ext cx="2778678" cy="20047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04F57FC4-1DEB-4A06-AEE1-4E3B9A3E6E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3363" y="3715318"/>
            <a:ext cx="111918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tabLst>
                <a:tab pos="2636838" algn="ctr"/>
                <a:tab pos="5273675" algn="r"/>
              </a:tabLst>
            </a:pPr>
            <a:r>
              <a:rPr lang="zh-CN" altLang="en-US" sz="2400" dirty="0">
                <a:solidFill>
                  <a:schemeClr val="tx1"/>
                </a:solidFill>
              </a:rPr>
              <a:t>机器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A1EE044-7B95-4ED4-8F80-79C9E9172C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6723" y="3701433"/>
            <a:ext cx="1660525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tabLst>
                <a:tab pos="2636838" algn="ctr"/>
                <a:tab pos="5273675" algn="r"/>
              </a:tabLst>
            </a:pPr>
            <a:r>
              <a:rPr lang="zh-CN" altLang="en-US" sz="2400" dirty="0">
                <a:solidFill>
                  <a:schemeClr val="tx1"/>
                </a:solidFill>
              </a:rPr>
              <a:t>总装配图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2F4E334-005E-4D50-B935-E7B652DCBE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1229" y="3690708"/>
            <a:ext cx="1120775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tabLst>
                <a:tab pos="2636838" algn="ctr"/>
                <a:tab pos="5273675" algn="r"/>
              </a:tabLst>
            </a:pPr>
            <a:r>
              <a:rPr lang="zh-CN" altLang="en-US" sz="2400" dirty="0">
                <a:solidFill>
                  <a:schemeClr val="tx1"/>
                </a:solidFill>
              </a:rPr>
              <a:t>部件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58C1CF8-37C4-4C47-A2A9-30DBB8B2D1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1687" y="3701433"/>
            <a:ext cx="19939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tabLst>
                <a:tab pos="2636838" algn="ctr"/>
                <a:tab pos="5273675" algn="r"/>
              </a:tabLst>
            </a:pPr>
            <a:r>
              <a:rPr lang="zh-CN" altLang="en-US" sz="2400" dirty="0">
                <a:solidFill>
                  <a:schemeClr val="tx1"/>
                </a:solidFill>
              </a:rPr>
              <a:t>部件装配图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F9180D4-6041-4CA0-883A-0BB59470A1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6781" y="4216855"/>
            <a:ext cx="15652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tabLst>
                <a:tab pos="2636838" algn="ctr"/>
                <a:tab pos="5273675" algn="r"/>
              </a:tabLst>
            </a:pPr>
            <a:r>
              <a:rPr lang="zh-CN" altLang="en-US" sz="2400" dirty="0">
                <a:solidFill>
                  <a:srgbClr val="FF0000"/>
                </a:solidFill>
              </a:rPr>
              <a:t>装配图</a:t>
            </a:r>
          </a:p>
        </p:txBody>
      </p:sp>
      <p:sp>
        <p:nvSpPr>
          <p:cNvPr id="15" name="Text Box 31">
            <a:extLst>
              <a:ext uri="{FF2B5EF4-FFF2-40B4-BE49-F238E27FC236}">
                <a16:creationId xmlns:a16="http://schemas.microsoft.com/office/drawing/2014/main" id="{00FA9E1C-2311-4B8D-BFFF-CFD61D82EE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5187" y="404664"/>
            <a:ext cx="5381625" cy="584200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zh-CN" altLang="en-US" sz="320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装 配 图 概 述      </a:t>
            </a:r>
            <a:endParaRPr lang="en-US" altLang="zh-CN" sz="3200">
              <a:solidFill>
                <a:schemeClr val="tx2"/>
              </a:solidFill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16" name="组合 29">
            <a:extLst>
              <a:ext uri="{FF2B5EF4-FFF2-40B4-BE49-F238E27FC236}">
                <a16:creationId xmlns:a16="http://schemas.microsoft.com/office/drawing/2014/main" id="{29887687-A500-457F-91ED-F26223B513B8}"/>
              </a:ext>
            </a:extLst>
          </p:cNvPr>
          <p:cNvGrpSpPr>
            <a:grpSpLocks/>
          </p:cNvGrpSpPr>
          <p:nvPr/>
        </p:nvGrpSpPr>
        <p:grpSpPr bwMode="auto">
          <a:xfrm>
            <a:off x="4799855" y="4092426"/>
            <a:ext cx="4932550" cy="456734"/>
            <a:chOff x="3629891" y="4364180"/>
            <a:chExt cx="3560621" cy="456737"/>
          </a:xfrm>
        </p:grpSpPr>
        <p:sp>
          <p:nvSpPr>
            <p:cNvPr id="17" name="直角上箭头 27">
              <a:extLst>
                <a:ext uri="{FF2B5EF4-FFF2-40B4-BE49-F238E27FC236}">
                  <a16:creationId xmlns:a16="http://schemas.microsoft.com/office/drawing/2014/main" id="{CF620D69-5694-4116-B7F5-AE6FFF427138}"/>
                </a:ext>
              </a:extLst>
            </p:cNvPr>
            <p:cNvSpPr/>
            <p:nvPr/>
          </p:nvSpPr>
          <p:spPr bwMode="auto">
            <a:xfrm rot="5400000">
              <a:off x="3954423" y="4095213"/>
              <a:ext cx="401172" cy="1050235"/>
            </a:xfrm>
            <a:prstGeom prst="bentUpArrow">
              <a:avLst>
                <a:gd name="adj1" fmla="val 25000"/>
                <a:gd name="adj2" fmla="val 25000"/>
                <a:gd name="adj3" fmla="val 50000"/>
              </a:avLst>
            </a:prstGeom>
            <a:gradFill rotWithShape="0"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5400000"/>
            </a:gra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>
                <a:defRPr/>
              </a:pPr>
              <a:endParaRPr lang="zh-CN" altLang="en-US" sz="3600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18" name="直角上箭头 28">
              <a:extLst>
                <a:ext uri="{FF2B5EF4-FFF2-40B4-BE49-F238E27FC236}">
                  <a16:creationId xmlns:a16="http://schemas.microsoft.com/office/drawing/2014/main" id="{75E71313-0793-4A13-B4CD-444282F11A05}"/>
                </a:ext>
              </a:extLst>
            </p:cNvPr>
            <p:cNvSpPr/>
            <p:nvPr/>
          </p:nvSpPr>
          <p:spPr bwMode="auto">
            <a:xfrm rot="16200000" flipH="1">
              <a:off x="6323165" y="3953542"/>
              <a:ext cx="456709" cy="1277985"/>
            </a:xfrm>
            <a:prstGeom prst="bentUpArrow">
              <a:avLst>
                <a:gd name="adj1" fmla="val 25000"/>
                <a:gd name="adj2" fmla="val 25000"/>
                <a:gd name="adj3" fmla="val 50000"/>
              </a:avLst>
            </a:prstGeom>
            <a:gradFill rotWithShape="0"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5400000"/>
            </a:gra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>
                <a:defRPr/>
              </a:pPr>
              <a:endParaRPr lang="zh-CN" altLang="en-US" sz="3600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</p:grpSp>
      <p:sp>
        <p:nvSpPr>
          <p:cNvPr id="19" name="Text Box 1029">
            <a:extLst>
              <a:ext uri="{FF2B5EF4-FFF2-40B4-BE49-F238E27FC236}">
                <a16:creationId xmlns:a16="http://schemas.microsoft.com/office/drawing/2014/main" id="{BD10980A-5539-40ED-B415-3474BB97C7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2799" y="4735364"/>
            <a:ext cx="8162925" cy="461665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zh-CN" altLang="en-US" sz="2400" dirty="0">
                <a:latin typeface="+mn-ea"/>
                <a:ea typeface="+mn-ea"/>
              </a:rPr>
              <a:t>装配图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是表示产品及其组成部分的连接装配关系的图样。</a:t>
            </a:r>
          </a:p>
        </p:txBody>
      </p:sp>
      <p:sp>
        <p:nvSpPr>
          <p:cNvPr id="20" name="Text Box 2050" descr="点式菱形">
            <a:extLst>
              <a:ext uri="{FF2B5EF4-FFF2-40B4-BE49-F238E27FC236}">
                <a16:creationId xmlns:a16="http://schemas.microsoft.com/office/drawing/2014/main" id="{41FD439E-C3A4-42B8-AAB7-CD64D99F19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0049" y="5268764"/>
            <a:ext cx="1112838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400" dirty="0">
                <a:latin typeface="宋体" pitchFamily="2" charset="-122"/>
              </a:rPr>
              <a:t>功用：</a:t>
            </a:r>
            <a:endParaRPr lang="zh-CN" altLang="en-US" sz="2400" b="0" dirty="0">
              <a:latin typeface="宋体" pitchFamily="2" charset="-122"/>
            </a:endParaRPr>
          </a:p>
        </p:txBody>
      </p:sp>
      <p:sp>
        <p:nvSpPr>
          <p:cNvPr id="21" name="Text Box 2057">
            <a:extLst>
              <a:ext uri="{FF2B5EF4-FFF2-40B4-BE49-F238E27FC236}">
                <a16:creationId xmlns:a16="http://schemas.microsoft.com/office/drawing/2014/main" id="{0C8B11C2-AB6E-4153-A0B4-061EA6B994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9200" y="6131380"/>
            <a:ext cx="870902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1" hangingPunct="1"/>
            <a:r>
              <a:rPr lang="zh-CN" altLang="en-US" sz="2400" dirty="0">
                <a:solidFill>
                  <a:schemeClr val="tx2"/>
                </a:solidFill>
                <a:latin typeface="+mn-ea"/>
                <a:ea typeface="+mn-ea"/>
              </a:rPr>
              <a:t>是</a:t>
            </a:r>
            <a:r>
              <a:rPr lang="zh-CN" altLang="en-US" sz="2400" dirty="0">
                <a:solidFill>
                  <a:schemeClr val="accent2"/>
                </a:solidFill>
                <a:latin typeface="+mn-ea"/>
                <a:ea typeface="+mn-ea"/>
              </a:rPr>
              <a:t>制定装配工艺规程</a:t>
            </a:r>
            <a:r>
              <a:rPr lang="zh-CN" altLang="en-US" sz="2400" dirty="0">
                <a:solidFill>
                  <a:schemeClr val="tx2"/>
                </a:solidFill>
                <a:latin typeface="+mn-ea"/>
                <a:ea typeface="+mn-ea"/>
              </a:rPr>
              <a:t>，</a:t>
            </a:r>
            <a:r>
              <a:rPr lang="zh-CN" altLang="en-US" sz="2400" dirty="0">
                <a:solidFill>
                  <a:schemeClr val="accent2"/>
                </a:solidFill>
                <a:latin typeface="+mn-ea"/>
                <a:ea typeface="+mn-ea"/>
              </a:rPr>
              <a:t>装配</a:t>
            </a:r>
            <a:r>
              <a:rPr lang="zh-CN" altLang="en-US" sz="2400" dirty="0">
                <a:solidFill>
                  <a:schemeClr val="tx2"/>
                </a:solidFill>
                <a:latin typeface="+mn-ea"/>
                <a:ea typeface="+mn-ea"/>
              </a:rPr>
              <a:t>、</a:t>
            </a:r>
            <a:r>
              <a:rPr lang="zh-CN" altLang="en-US" sz="2400" dirty="0">
                <a:solidFill>
                  <a:schemeClr val="accent2"/>
                </a:solidFill>
                <a:latin typeface="+mn-ea"/>
                <a:ea typeface="+mn-ea"/>
              </a:rPr>
              <a:t>检验</a:t>
            </a:r>
            <a:r>
              <a:rPr lang="zh-CN" altLang="en-US" sz="2400" dirty="0">
                <a:solidFill>
                  <a:schemeClr val="tx2"/>
                </a:solidFill>
                <a:latin typeface="+mn-ea"/>
                <a:ea typeface="+mn-ea"/>
              </a:rPr>
              <a:t>、</a:t>
            </a:r>
            <a:r>
              <a:rPr lang="zh-CN" altLang="en-US" sz="2400" dirty="0">
                <a:solidFill>
                  <a:schemeClr val="accent2"/>
                </a:solidFill>
                <a:latin typeface="+mn-ea"/>
                <a:ea typeface="+mn-ea"/>
              </a:rPr>
              <a:t>安装</a:t>
            </a:r>
            <a:r>
              <a:rPr lang="zh-CN" altLang="en-US" sz="2400" dirty="0">
                <a:solidFill>
                  <a:schemeClr val="tx2"/>
                </a:solidFill>
                <a:latin typeface="+mn-ea"/>
                <a:ea typeface="+mn-ea"/>
              </a:rPr>
              <a:t>及</a:t>
            </a:r>
            <a:r>
              <a:rPr lang="zh-CN" altLang="en-US" sz="2400" dirty="0">
                <a:solidFill>
                  <a:schemeClr val="accent2"/>
                </a:solidFill>
                <a:latin typeface="+mn-ea"/>
                <a:ea typeface="+mn-ea"/>
              </a:rPr>
              <a:t>维修</a:t>
            </a:r>
            <a:r>
              <a:rPr lang="zh-CN" altLang="en-US" sz="2400" dirty="0">
                <a:solidFill>
                  <a:schemeClr val="tx2"/>
                </a:solidFill>
                <a:latin typeface="+mn-ea"/>
                <a:ea typeface="+mn-ea"/>
              </a:rPr>
              <a:t>的技术文件。</a:t>
            </a:r>
          </a:p>
        </p:txBody>
      </p:sp>
      <p:sp>
        <p:nvSpPr>
          <p:cNvPr id="22" name="Text Box 2086">
            <a:extLst>
              <a:ext uri="{FF2B5EF4-FFF2-40B4-BE49-F238E27FC236}">
                <a16:creationId xmlns:a16="http://schemas.microsoft.com/office/drawing/2014/main" id="{D7C80233-0DB6-460D-A3B0-15320A2019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5100" y="5284994"/>
            <a:ext cx="8493125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400" dirty="0">
                <a:solidFill>
                  <a:schemeClr val="tx1"/>
                </a:solidFill>
                <a:latin typeface="+mn-ea"/>
                <a:ea typeface="+mn-ea"/>
              </a:rPr>
              <a:t>    </a:t>
            </a:r>
            <a:r>
              <a:rPr lang="zh-CN" altLang="zh-CN" sz="2400" dirty="0">
                <a:solidFill>
                  <a:schemeClr val="tx1"/>
                </a:solidFill>
                <a:latin typeface="+mn-ea"/>
                <a:ea typeface="+mn-ea"/>
              </a:rPr>
              <a:t>表达部件或机器</a:t>
            </a:r>
            <a:r>
              <a:rPr lang="zh-CN" altLang="zh-CN" sz="2400" dirty="0">
                <a:solidFill>
                  <a:srgbClr val="FF0000"/>
                </a:solidFill>
                <a:latin typeface="+mn-ea"/>
                <a:ea typeface="+mn-ea"/>
              </a:rPr>
              <a:t>工作原理</a:t>
            </a:r>
            <a:r>
              <a:rPr lang="zh-CN" altLang="zh-CN" sz="2400" dirty="0">
                <a:solidFill>
                  <a:schemeClr val="tx1"/>
                </a:solidFill>
                <a:latin typeface="+mn-ea"/>
                <a:ea typeface="+mn-ea"/>
              </a:rPr>
              <a:t>、零件间的</a:t>
            </a:r>
            <a:r>
              <a:rPr lang="zh-CN" altLang="zh-CN" sz="2400" dirty="0">
                <a:solidFill>
                  <a:srgbClr val="FF0000"/>
                </a:solidFill>
                <a:latin typeface="+mn-ea"/>
                <a:ea typeface="+mn-ea"/>
              </a:rPr>
              <a:t>相对位置</a:t>
            </a:r>
            <a:r>
              <a:rPr lang="zh-CN" altLang="zh-CN" sz="2400" dirty="0">
                <a:solidFill>
                  <a:schemeClr val="tx1"/>
                </a:solidFill>
                <a:latin typeface="+mn-ea"/>
                <a:ea typeface="+mn-ea"/>
              </a:rPr>
              <a:t>、</a:t>
            </a:r>
            <a:r>
              <a:rPr lang="zh-CN" altLang="zh-CN" sz="2400" dirty="0">
                <a:solidFill>
                  <a:srgbClr val="FF0000"/>
                </a:solidFill>
                <a:latin typeface="+mn-ea"/>
                <a:ea typeface="+mn-ea"/>
              </a:rPr>
              <a:t>连接和装配</a:t>
            </a:r>
            <a:r>
              <a:rPr lang="zh-CN" altLang="zh-CN" sz="2400" dirty="0">
                <a:solidFill>
                  <a:schemeClr val="tx1"/>
                </a:solidFill>
                <a:latin typeface="+mn-ea"/>
                <a:ea typeface="+mn-ea"/>
              </a:rPr>
              <a:t>关系</a:t>
            </a:r>
            <a:r>
              <a:rPr lang="zh-CN" altLang="en-US" sz="2400" dirty="0">
                <a:solidFill>
                  <a:schemeClr val="tx1"/>
                </a:solidFill>
                <a:latin typeface="+mn-ea"/>
                <a:ea typeface="+mn-ea"/>
              </a:rPr>
              <a:t>，</a:t>
            </a:r>
            <a:r>
              <a:rPr lang="zh-CN" altLang="zh-CN" sz="2400" dirty="0">
                <a:solidFill>
                  <a:schemeClr val="tx1"/>
                </a:solidFill>
                <a:latin typeface="+mn-ea"/>
                <a:ea typeface="+mn-ea"/>
              </a:rPr>
              <a:t>主要</a:t>
            </a:r>
            <a:r>
              <a:rPr lang="zh-CN" altLang="zh-CN" sz="2400" dirty="0">
                <a:solidFill>
                  <a:srgbClr val="FF0000"/>
                </a:solidFill>
                <a:latin typeface="+mn-ea"/>
                <a:ea typeface="+mn-ea"/>
              </a:rPr>
              <a:t>零件的结构</a:t>
            </a:r>
            <a:r>
              <a:rPr lang="zh-CN" altLang="zh-CN" sz="2400" dirty="0">
                <a:solidFill>
                  <a:schemeClr val="tx1"/>
                </a:solidFill>
                <a:latin typeface="+mn-ea"/>
                <a:ea typeface="+mn-ea"/>
              </a:rPr>
              <a:t>及</a:t>
            </a:r>
            <a:r>
              <a:rPr lang="zh-CN" altLang="zh-CN" sz="2400" dirty="0">
                <a:solidFill>
                  <a:srgbClr val="FF0000"/>
                </a:solidFill>
                <a:latin typeface="+mn-ea"/>
                <a:ea typeface="+mn-ea"/>
              </a:rPr>
              <a:t>装配</a:t>
            </a:r>
            <a:r>
              <a:rPr lang="zh-CN" altLang="zh-CN" sz="2400" dirty="0">
                <a:solidFill>
                  <a:schemeClr val="tx1"/>
                </a:solidFill>
                <a:latin typeface="+mn-ea"/>
                <a:ea typeface="+mn-ea"/>
              </a:rPr>
              <a:t>需要的尺寸和技术要求。</a:t>
            </a:r>
            <a:endParaRPr lang="zh-CN" altLang="en-US" sz="24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94004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19" grpId="0" animBg="1" autoUpdateAnimBg="0"/>
      <p:bldP spid="20" grpId="0"/>
      <p:bldP spid="21" grpId="0" autoUpdateAnimBg="0"/>
      <p:bldP spid="22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051" descr="点式菱形">
            <a:extLst>
              <a:ext uri="{FF2B5EF4-FFF2-40B4-BE49-F238E27FC236}">
                <a16:creationId xmlns:a16="http://schemas.microsoft.com/office/drawing/2014/main" id="{15570044-AC69-4215-9E9F-C67F1F7224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9676" y="1367703"/>
            <a:ext cx="345281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2800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● </a:t>
            </a:r>
            <a:r>
              <a:rPr lang="zh-CN" altLang="en-US" sz="2800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装配图的内容</a:t>
            </a:r>
            <a:r>
              <a:rPr lang="en-US" altLang="zh-CN" sz="2800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:</a:t>
            </a:r>
            <a:endParaRPr lang="en-US" altLang="zh-CN" sz="2800" b="0" dirty="0">
              <a:solidFill>
                <a:srgbClr val="0070C0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" name="Text Box 2052">
            <a:extLst>
              <a:ext uri="{FF2B5EF4-FFF2-40B4-BE49-F238E27FC236}">
                <a16:creationId xmlns:a16="http://schemas.microsoft.com/office/drawing/2014/main" id="{B03F4DFA-880A-408F-8440-D2F91D19A0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1020" y="2234361"/>
            <a:ext cx="215956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 dirty="0">
                <a:solidFill>
                  <a:schemeClr val="tx1"/>
                </a:solidFill>
                <a:latin typeface="宋体" pitchFamily="2" charset="-122"/>
              </a:rPr>
              <a:t>★ 一组视图</a:t>
            </a:r>
          </a:p>
        </p:txBody>
      </p:sp>
      <p:sp>
        <p:nvSpPr>
          <p:cNvPr id="4" name="Text Box 2053">
            <a:extLst>
              <a:ext uri="{FF2B5EF4-FFF2-40B4-BE49-F238E27FC236}">
                <a16:creationId xmlns:a16="http://schemas.microsoft.com/office/drawing/2014/main" id="{B657DC92-1805-4296-A90A-720505A0AD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1020" y="2758236"/>
            <a:ext cx="251863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>
                <a:solidFill>
                  <a:schemeClr val="tx1"/>
                </a:solidFill>
                <a:latin typeface="宋体" pitchFamily="2" charset="-122"/>
              </a:rPr>
              <a:t>★ 必要的尺寸</a:t>
            </a:r>
          </a:p>
        </p:txBody>
      </p:sp>
      <p:sp>
        <p:nvSpPr>
          <p:cNvPr id="5" name="Text Box 2054">
            <a:extLst>
              <a:ext uri="{FF2B5EF4-FFF2-40B4-BE49-F238E27FC236}">
                <a16:creationId xmlns:a16="http://schemas.microsoft.com/office/drawing/2014/main" id="{7A5787D7-DB95-44B1-961C-021487E699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4195" y="3399586"/>
            <a:ext cx="215956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>
                <a:solidFill>
                  <a:schemeClr val="tx1"/>
                </a:solidFill>
                <a:latin typeface="宋体" pitchFamily="2" charset="-122"/>
              </a:rPr>
              <a:t>★ 技术要求</a:t>
            </a:r>
          </a:p>
        </p:txBody>
      </p:sp>
      <p:sp>
        <p:nvSpPr>
          <p:cNvPr id="6" name="Text Box 2055">
            <a:extLst>
              <a:ext uri="{FF2B5EF4-FFF2-40B4-BE49-F238E27FC236}">
                <a16:creationId xmlns:a16="http://schemas.microsoft.com/office/drawing/2014/main" id="{79418EC6-D19E-4CCF-AD19-B90278C465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4195" y="4094911"/>
            <a:ext cx="2271712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800">
                <a:solidFill>
                  <a:schemeClr val="tx1"/>
                </a:solidFill>
                <a:latin typeface="宋体" pitchFamily="2" charset="-122"/>
              </a:rPr>
              <a:t>★ 标题栏、</a:t>
            </a:r>
            <a:endParaRPr lang="en-US" altLang="zh-CN" sz="2800">
              <a:solidFill>
                <a:schemeClr val="tx1"/>
              </a:solidFill>
              <a:latin typeface="宋体" pitchFamily="2" charset="-122"/>
            </a:endParaRPr>
          </a:p>
          <a:p>
            <a:pPr eaLnBrk="1" hangingPunct="1"/>
            <a:r>
              <a:rPr lang="en-US" altLang="zh-CN" sz="2800">
                <a:solidFill>
                  <a:schemeClr val="tx1"/>
                </a:solidFill>
                <a:latin typeface="宋体" pitchFamily="2" charset="-122"/>
              </a:rPr>
              <a:t>   </a:t>
            </a:r>
            <a:r>
              <a:rPr lang="zh-CN" altLang="en-US" sz="2800">
                <a:solidFill>
                  <a:schemeClr val="tx1"/>
                </a:solidFill>
                <a:latin typeface="宋体" pitchFamily="2" charset="-122"/>
              </a:rPr>
              <a:t>零件序号</a:t>
            </a:r>
            <a:endParaRPr lang="en-US" altLang="zh-CN" sz="2800">
              <a:solidFill>
                <a:schemeClr val="tx1"/>
              </a:solidFill>
              <a:latin typeface="宋体" pitchFamily="2" charset="-122"/>
            </a:endParaRPr>
          </a:p>
          <a:p>
            <a:pPr eaLnBrk="1" hangingPunct="1"/>
            <a:r>
              <a:rPr lang="en-US" altLang="zh-CN" sz="2800">
                <a:solidFill>
                  <a:schemeClr val="tx1"/>
                </a:solidFill>
                <a:latin typeface="宋体" pitchFamily="2" charset="-122"/>
              </a:rPr>
              <a:t>   </a:t>
            </a:r>
            <a:r>
              <a:rPr lang="zh-CN" altLang="en-US" sz="2800">
                <a:solidFill>
                  <a:schemeClr val="tx1"/>
                </a:solidFill>
                <a:latin typeface="宋体" pitchFamily="2" charset="-122"/>
              </a:rPr>
              <a:t>及明细栏</a:t>
            </a:r>
          </a:p>
        </p:txBody>
      </p:sp>
      <p:sp>
        <p:nvSpPr>
          <p:cNvPr id="7" name="Text Box 2056">
            <a:hlinkClick r:id="" action="ppaction://noaction"/>
            <a:extLst>
              <a:ext uri="{FF2B5EF4-FFF2-40B4-BE49-F238E27FC236}">
                <a16:creationId xmlns:a16="http://schemas.microsoft.com/office/drawing/2014/main" id="{47201EB9-3B54-4E15-8B3E-E1C8CADF75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48428" y="6239024"/>
            <a:ext cx="1404937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r>
              <a:rPr lang="zh-CN" altLang="en-US" sz="3200" u="sng" dirty="0">
                <a:solidFill>
                  <a:schemeClr val="bg2"/>
                </a:solidFill>
              </a:rPr>
              <a:t>装配图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EAA9D71-E243-4D35-A2FD-02D9748E2E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97351" y="1517192"/>
            <a:ext cx="6664325" cy="478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 Box 31">
            <a:extLst>
              <a:ext uri="{FF2B5EF4-FFF2-40B4-BE49-F238E27FC236}">
                <a16:creationId xmlns:a16="http://schemas.microsoft.com/office/drawing/2014/main" id="{54665587-CE92-4C4C-8CA2-40DCA12D1C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5187" y="404664"/>
            <a:ext cx="5381625" cy="584200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zh-CN" altLang="en-US" sz="3200" dirty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装 配 图 概 述      </a:t>
            </a:r>
            <a:endParaRPr lang="en-US" altLang="zh-CN" sz="3200" dirty="0">
              <a:solidFill>
                <a:schemeClr val="tx2"/>
              </a:solidFill>
              <a:latin typeface="黑体" pitchFamily="49" charset="-122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28552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/>
      <p:bldP spid="4" grpId="0"/>
      <p:bldP spid="5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052">
            <a:extLst>
              <a:ext uri="{FF2B5EF4-FFF2-40B4-BE49-F238E27FC236}">
                <a16:creationId xmlns:a16="http://schemas.microsoft.com/office/drawing/2014/main" id="{D8C8EA43-2AD1-4DE1-8B07-9B721AF06A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3061" y="2052947"/>
            <a:ext cx="2159566" cy="52322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>
                <a:solidFill>
                  <a:srgbClr val="0070C0"/>
                </a:solidFill>
                <a:latin typeface="宋体" pitchFamily="2" charset="-122"/>
              </a:rPr>
              <a:t>★ 一组视图</a:t>
            </a:r>
          </a:p>
        </p:txBody>
      </p:sp>
      <p:sp>
        <p:nvSpPr>
          <p:cNvPr id="3" name="Text Box 2053">
            <a:extLst>
              <a:ext uri="{FF2B5EF4-FFF2-40B4-BE49-F238E27FC236}">
                <a16:creationId xmlns:a16="http://schemas.microsoft.com/office/drawing/2014/main" id="{55F50BBB-02EE-49C3-BB52-196AF4BBFD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3061" y="2727307"/>
            <a:ext cx="251863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 dirty="0">
                <a:solidFill>
                  <a:schemeClr val="tx1"/>
                </a:solidFill>
                <a:latin typeface="宋体" pitchFamily="2" charset="-122"/>
              </a:rPr>
              <a:t>★ 必要的尺寸</a:t>
            </a:r>
          </a:p>
        </p:txBody>
      </p:sp>
      <p:sp>
        <p:nvSpPr>
          <p:cNvPr id="4" name="Text Box 2054">
            <a:extLst>
              <a:ext uri="{FF2B5EF4-FFF2-40B4-BE49-F238E27FC236}">
                <a16:creationId xmlns:a16="http://schemas.microsoft.com/office/drawing/2014/main" id="{6BF92FE4-9790-442F-94F2-1E2B6DA1E3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6236" y="3273735"/>
            <a:ext cx="215956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>
                <a:solidFill>
                  <a:schemeClr val="tx1"/>
                </a:solidFill>
                <a:latin typeface="宋体" pitchFamily="2" charset="-122"/>
              </a:rPr>
              <a:t>★ 技术要求</a:t>
            </a:r>
          </a:p>
        </p:txBody>
      </p:sp>
      <p:sp>
        <p:nvSpPr>
          <p:cNvPr id="5" name="Text Box 2055">
            <a:extLst>
              <a:ext uri="{FF2B5EF4-FFF2-40B4-BE49-F238E27FC236}">
                <a16:creationId xmlns:a16="http://schemas.microsoft.com/office/drawing/2014/main" id="{D761A6FA-83E5-459C-8D1A-3CA68D7414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6236" y="3969060"/>
            <a:ext cx="2271713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800">
                <a:solidFill>
                  <a:schemeClr val="tx1"/>
                </a:solidFill>
                <a:latin typeface="宋体" pitchFamily="2" charset="-122"/>
              </a:rPr>
              <a:t>★ 标题栏、</a:t>
            </a:r>
            <a:endParaRPr lang="en-US" altLang="zh-CN" sz="2800">
              <a:solidFill>
                <a:schemeClr val="tx1"/>
              </a:solidFill>
              <a:latin typeface="宋体" pitchFamily="2" charset="-122"/>
            </a:endParaRPr>
          </a:p>
          <a:p>
            <a:pPr eaLnBrk="1" hangingPunct="1"/>
            <a:r>
              <a:rPr lang="en-US" altLang="zh-CN" sz="2800">
                <a:solidFill>
                  <a:schemeClr val="tx1"/>
                </a:solidFill>
                <a:latin typeface="宋体" pitchFamily="2" charset="-122"/>
              </a:rPr>
              <a:t>   </a:t>
            </a:r>
            <a:r>
              <a:rPr lang="zh-CN" altLang="en-US" sz="2800">
                <a:solidFill>
                  <a:schemeClr val="tx1"/>
                </a:solidFill>
                <a:latin typeface="宋体" pitchFamily="2" charset="-122"/>
              </a:rPr>
              <a:t>零件序号</a:t>
            </a:r>
            <a:endParaRPr lang="en-US" altLang="zh-CN" sz="2800">
              <a:solidFill>
                <a:schemeClr val="tx1"/>
              </a:solidFill>
              <a:latin typeface="宋体" pitchFamily="2" charset="-122"/>
            </a:endParaRPr>
          </a:p>
          <a:p>
            <a:pPr eaLnBrk="1" hangingPunct="1"/>
            <a:r>
              <a:rPr lang="en-US" altLang="zh-CN" sz="2800">
                <a:solidFill>
                  <a:schemeClr val="tx1"/>
                </a:solidFill>
                <a:latin typeface="宋体" pitchFamily="2" charset="-122"/>
              </a:rPr>
              <a:t>   </a:t>
            </a:r>
            <a:r>
              <a:rPr lang="zh-CN" altLang="en-US" sz="2800">
                <a:solidFill>
                  <a:schemeClr val="tx1"/>
                </a:solidFill>
                <a:latin typeface="宋体" pitchFamily="2" charset="-122"/>
              </a:rPr>
              <a:t>及明细栏</a:t>
            </a:r>
          </a:p>
        </p:txBody>
      </p:sp>
      <p:sp>
        <p:nvSpPr>
          <p:cNvPr id="6" name="Text Box 2056">
            <a:hlinkClick r:id="" action="ppaction://noaction"/>
            <a:extLst>
              <a:ext uri="{FF2B5EF4-FFF2-40B4-BE49-F238E27FC236}">
                <a16:creationId xmlns:a16="http://schemas.microsoft.com/office/drawing/2014/main" id="{DC7BBEB9-08B6-4B90-897C-B31DC291AC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82391" y="6255654"/>
            <a:ext cx="1404937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r>
              <a:rPr lang="zh-CN" altLang="en-US" sz="3200" u="sng" dirty="0">
                <a:solidFill>
                  <a:schemeClr val="bg2"/>
                </a:solidFill>
              </a:rPr>
              <a:t>装配图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9CD3B7C-EE4E-4848-990B-26F90E0D0F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78565" y="1499505"/>
            <a:ext cx="6608763" cy="4770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A7447590-E03D-47D4-9506-909133B4CC52}"/>
              </a:ext>
            </a:extLst>
          </p:cNvPr>
          <p:cNvSpPr/>
          <p:nvPr/>
        </p:nvSpPr>
        <p:spPr>
          <a:xfrm>
            <a:off x="7824193" y="4560474"/>
            <a:ext cx="2941572" cy="1754326"/>
          </a:xfrm>
          <a:prstGeom prst="rect">
            <a:avLst/>
          </a:prstGeom>
          <a:effectLst>
            <a:glow>
              <a:schemeClr val="accent1"/>
            </a:glow>
          </a:effectLst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00B0F0"/>
                </a:solidFill>
              </a:rPr>
              <a:t>可正确、</a:t>
            </a:r>
            <a:r>
              <a:rPr lang="zh-CN" altLang="en-US" b="1" dirty="0">
                <a:solidFill>
                  <a:srgbClr val="FF0000"/>
                </a:solidFill>
              </a:rPr>
              <a:t>清晰地表达</a:t>
            </a:r>
            <a:r>
              <a:rPr lang="zh-CN" altLang="en-US" b="1" dirty="0">
                <a:solidFill>
                  <a:srgbClr val="00B0F0"/>
                </a:solidFill>
              </a:rPr>
              <a:t>机器（或部件）的</a:t>
            </a:r>
            <a:r>
              <a:rPr lang="zh-CN" altLang="en-US" b="1" dirty="0">
                <a:solidFill>
                  <a:srgbClr val="FF0000"/>
                </a:solidFill>
              </a:rPr>
              <a:t>工作原理、传动路线</a:t>
            </a:r>
            <a:r>
              <a:rPr lang="zh-CN" altLang="en-US" b="1" dirty="0">
                <a:solidFill>
                  <a:srgbClr val="00B0F0"/>
                </a:solidFill>
              </a:rPr>
              <a:t>、各组成</a:t>
            </a:r>
            <a:r>
              <a:rPr lang="zh-CN" altLang="en-US" b="1" dirty="0">
                <a:solidFill>
                  <a:srgbClr val="FF0000"/>
                </a:solidFill>
              </a:rPr>
              <a:t>零件之间</a:t>
            </a:r>
            <a:r>
              <a:rPr lang="zh-CN" altLang="en-US" b="1" dirty="0">
                <a:solidFill>
                  <a:srgbClr val="00B0F0"/>
                </a:solidFill>
              </a:rPr>
              <a:t>的</a:t>
            </a:r>
            <a:r>
              <a:rPr lang="zh-CN" altLang="en-US" b="1" dirty="0">
                <a:solidFill>
                  <a:srgbClr val="FF0000"/>
                </a:solidFill>
              </a:rPr>
              <a:t>装配</a:t>
            </a:r>
            <a:r>
              <a:rPr lang="zh-CN" altLang="en-US" b="1" dirty="0">
                <a:solidFill>
                  <a:srgbClr val="00B0F0"/>
                </a:solidFill>
              </a:rPr>
              <a:t>和</a:t>
            </a:r>
            <a:r>
              <a:rPr lang="zh-CN" altLang="en-US" b="1" dirty="0">
                <a:solidFill>
                  <a:srgbClr val="FF0000"/>
                </a:solidFill>
              </a:rPr>
              <a:t>连接关系</a:t>
            </a:r>
            <a:r>
              <a:rPr lang="zh-CN" altLang="en-US" b="1" dirty="0">
                <a:solidFill>
                  <a:srgbClr val="00B0F0"/>
                </a:solidFill>
              </a:rPr>
              <a:t>及</a:t>
            </a:r>
            <a:r>
              <a:rPr lang="zh-CN" altLang="en-US" b="1" dirty="0">
                <a:solidFill>
                  <a:srgbClr val="FF0000"/>
                </a:solidFill>
              </a:rPr>
              <a:t>主要零件的结构形状</a:t>
            </a:r>
            <a:r>
              <a:rPr lang="zh-CN" altLang="en-US" b="1" dirty="0">
                <a:solidFill>
                  <a:srgbClr val="00B0F0"/>
                </a:solidFill>
              </a:rPr>
              <a:t>，并详细表达机器的</a:t>
            </a:r>
            <a:r>
              <a:rPr lang="zh-CN" altLang="en-US" b="1" dirty="0">
                <a:solidFill>
                  <a:srgbClr val="FF0000"/>
                </a:solidFill>
              </a:rPr>
              <a:t>密封方式</a:t>
            </a:r>
            <a:r>
              <a:rPr lang="zh-CN" altLang="en-US" b="1" dirty="0">
                <a:solidFill>
                  <a:srgbClr val="00B0F0"/>
                </a:solidFill>
              </a:rPr>
              <a:t>等</a:t>
            </a:r>
          </a:p>
        </p:txBody>
      </p:sp>
      <p:sp>
        <p:nvSpPr>
          <p:cNvPr id="9" name="Text Box 2051" descr="点式菱形">
            <a:extLst>
              <a:ext uri="{FF2B5EF4-FFF2-40B4-BE49-F238E27FC236}">
                <a16:creationId xmlns:a16="http://schemas.microsoft.com/office/drawing/2014/main" id="{7A52BE12-E602-4118-B013-4A506E9F66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9676" y="1367703"/>
            <a:ext cx="345281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2800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● </a:t>
            </a:r>
            <a:r>
              <a:rPr lang="zh-CN" altLang="en-US" sz="2800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装配图的内容</a:t>
            </a:r>
            <a:r>
              <a:rPr lang="en-US" altLang="zh-CN" sz="2800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:</a:t>
            </a:r>
            <a:endParaRPr lang="en-US" altLang="zh-CN" sz="2800" b="0" dirty="0">
              <a:solidFill>
                <a:srgbClr val="0070C0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0" name="Text Box 31">
            <a:extLst>
              <a:ext uri="{FF2B5EF4-FFF2-40B4-BE49-F238E27FC236}">
                <a16:creationId xmlns:a16="http://schemas.microsoft.com/office/drawing/2014/main" id="{20A6ED4A-03EA-4BDD-9C51-0CB1FD5D04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5187" y="404664"/>
            <a:ext cx="5381625" cy="584200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zh-CN" altLang="en-US" sz="3200" dirty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装 配 图 概 述      </a:t>
            </a:r>
            <a:endParaRPr lang="en-US" altLang="zh-CN" sz="3200" dirty="0">
              <a:solidFill>
                <a:schemeClr val="tx2"/>
              </a:solidFill>
              <a:latin typeface="黑体" pitchFamily="49" charset="-122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73092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051" descr="点式菱形">
            <a:extLst>
              <a:ext uri="{FF2B5EF4-FFF2-40B4-BE49-F238E27FC236}">
                <a16:creationId xmlns:a16="http://schemas.microsoft.com/office/drawing/2014/main" id="{9D80726B-3DF8-4592-9404-55A8F12C48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9676" y="1367703"/>
            <a:ext cx="345281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2800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● </a:t>
            </a:r>
            <a:r>
              <a:rPr lang="zh-CN" altLang="en-US" sz="2800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装配图的内容</a:t>
            </a:r>
            <a:r>
              <a:rPr lang="en-US" altLang="zh-CN" sz="2800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:</a:t>
            </a:r>
            <a:endParaRPr lang="en-US" altLang="zh-CN" sz="2800" b="0" dirty="0">
              <a:solidFill>
                <a:srgbClr val="0070C0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" name="Text Box 31">
            <a:extLst>
              <a:ext uri="{FF2B5EF4-FFF2-40B4-BE49-F238E27FC236}">
                <a16:creationId xmlns:a16="http://schemas.microsoft.com/office/drawing/2014/main" id="{6D26DE31-266C-4A07-8259-5CE533D2BC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5187" y="404664"/>
            <a:ext cx="5381625" cy="584200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zh-CN" altLang="en-US" sz="3200" dirty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装 配 图 概 述      </a:t>
            </a:r>
            <a:endParaRPr lang="en-US" altLang="zh-CN" sz="3200" dirty="0">
              <a:solidFill>
                <a:schemeClr val="tx2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4" name="Text Box 2052">
            <a:extLst>
              <a:ext uri="{FF2B5EF4-FFF2-40B4-BE49-F238E27FC236}">
                <a16:creationId xmlns:a16="http://schemas.microsoft.com/office/drawing/2014/main" id="{66CA06E1-06AF-4B4E-836C-AC81A1A50E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0846" y="2189189"/>
            <a:ext cx="215956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>
                <a:solidFill>
                  <a:srgbClr val="0070C0"/>
                </a:solidFill>
                <a:latin typeface="宋体" pitchFamily="2" charset="-122"/>
              </a:rPr>
              <a:t>★ 一组视图</a:t>
            </a:r>
          </a:p>
        </p:txBody>
      </p:sp>
      <p:sp>
        <p:nvSpPr>
          <p:cNvPr id="5" name="Text Box 2053">
            <a:extLst>
              <a:ext uri="{FF2B5EF4-FFF2-40B4-BE49-F238E27FC236}">
                <a16:creationId xmlns:a16="http://schemas.microsoft.com/office/drawing/2014/main" id="{79C078A6-6F78-474A-BF76-CBFF3C98BA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0846" y="2713064"/>
            <a:ext cx="251863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>
                <a:solidFill>
                  <a:srgbClr val="0070C0"/>
                </a:solidFill>
                <a:latin typeface="宋体" pitchFamily="2" charset="-122"/>
              </a:rPr>
              <a:t>★ 必要的尺寸</a:t>
            </a:r>
          </a:p>
        </p:txBody>
      </p:sp>
      <p:sp>
        <p:nvSpPr>
          <p:cNvPr id="6" name="Text Box 2054">
            <a:extLst>
              <a:ext uri="{FF2B5EF4-FFF2-40B4-BE49-F238E27FC236}">
                <a16:creationId xmlns:a16="http://schemas.microsoft.com/office/drawing/2014/main" id="{DDD4952B-F8B0-477C-8100-6AA541A79A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5609" y="3409977"/>
            <a:ext cx="215956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>
                <a:solidFill>
                  <a:schemeClr val="tx1"/>
                </a:solidFill>
                <a:latin typeface="宋体" pitchFamily="2" charset="-122"/>
              </a:rPr>
              <a:t>★ 技术要求</a:t>
            </a:r>
          </a:p>
        </p:txBody>
      </p:sp>
      <p:sp>
        <p:nvSpPr>
          <p:cNvPr id="7" name="Text Box 2055">
            <a:extLst>
              <a:ext uri="{FF2B5EF4-FFF2-40B4-BE49-F238E27FC236}">
                <a16:creationId xmlns:a16="http://schemas.microsoft.com/office/drawing/2014/main" id="{CE9C47A3-D1D8-4749-9ED6-5278DD4AFB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5609" y="4105302"/>
            <a:ext cx="2271712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800">
                <a:solidFill>
                  <a:schemeClr val="tx1"/>
                </a:solidFill>
                <a:latin typeface="宋体" pitchFamily="2" charset="-122"/>
              </a:rPr>
              <a:t>★ 标题栏、</a:t>
            </a:r>
            <a:endParaRPr lang="en-US" altLang="zh-CN" sz="2800">
              <a:solidFill>
                <a:schemeClr val="tx1"/>
              </a:solidFill>
              <a:latin typeface="宋体" pitchFamily="2" charset="-122"/>
            </a:endParaRPr>
          </a:p>
          <a:p>
            <a:pPr eaLnBrk="1" hangingPunct="1"/>
            <a:r>
              <a:rPr lang="en-US" altLang="zh-CN" sz="2800">
                <a:solidFill>
                  <a:schemeClr val="tx1"/>
                </a:solidFill>
                <a:latin typeface="宋体" pitchFamily="2" charset="-122"/>
              </a:rPr>
              <a:t>   </a:t>
            </a:r>
            <a:r>
              <a:rPr lang="zh-CN" altLang="en-US" sz="2800">
                <a:solidFill>
                  <a:schemeClr val="tx1"/>
                </a:solidFill>
                <a:latin typeface="宋体" pitchFamily="2" charset="-122"/>
              </a:rPr>
              <a:t>零件序号</a:t>
            </a:r>
            <a:endParaRPr lang="en-US" altLang="zh-CN" sz="2800">
              <a:solidFill>
                <a:schemeClr val="tx1"/>
              </a:solidFill>
              <a:latin typeface="宋体" pitchFamily="2" charset="-122"/>
            </a:endParaRPr>
          </a:p>
          <a:p>
            <a:pPr eaLnBrk="1" hangingPunct="1"/>
            <a:r>
              <a:rPr lang="en-US" altLang="zh-CN" sz="2800">
                <a:solidFill>
                  <a:schemeClr val="tx1"/>
                </a:solidFill>
                <a:latin typeface="宋体" pitchFamily="2" charset="-122"/>
              </a:rPr>
              <a:t>   </a:t>
            </a:r>
            <a:r>
              <a:rPr lang="zh-CN" altLang="en-US" sz="2800">
                <a:solidFill>
                  <a:schemeClr val="tx1"/>
                </a:solidFill>
                <a:latin typeface="宋体" pitchFamily="2" charset="-122"/>
              </a:rPr>
              <a:t>及明细栏</a:t>
            </a:r>
          </a:p>
        </p:txBody>
      </p:sp>
      <p:sp>
        <p:nvSpPr>
          <p:cNvPr id="8" name="Text Box 2056">
            <a:hlinkClick r:id="" action="ppaction://noaction"/>
            <a:extLst>
              <a:ext uri="{FF2B5EF4-FFF2-40B4-BE49-F238E27FC236}">
                <a16:creationId xmlns:a16="http://schemas.microsoft.com/office/drawing/2014/main" id="{67B6FCC7-7142-43B8-A775-8146C0F741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93119" y="6163766"/>
            <a:ext cx="1404937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r>
              <a:rPr lang="zh-CN" altLang="en-US" sz="3200" u="sng" dirty="0">
                <a:solidFill>
                  <a:schemeClr val="bg2"/>
                </a:solidFill>
              </a:rPr>
              <a:t>装配图</a:t>
            </a:r>
          </a:p>
        </p:txBody>
      </p:sp>
      <p:pic>
        <p:nvPicPr>
          <p:cNvPr id="9" name="图片 5">
            <a:extLst>
              <a:ext uri="{FF2B5EF4-FFF2-40B4-BE49-F238E27FC236}">
                <a16:creationId xmlns:a16="http://schemas.microsoft.com/office/drawing/2014/main" id="{A91F6DC4-A1EF-4823-A738-3FE74680D1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60179" y="1484784"/>
            <a:ext cx="6627813" cy="476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BE266E05-41C2-4E13-B67F-790B53B29B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0236" y="4301595"/>
            <a:ext cx="2667756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b="1" dirty="0">
                <a:solidFill>
                  <a:srgbClr val="0070C0"/>
                </a:solidFill>
              </a:rPr>
              <a:t>表示机器或部件</a:t>
            </a:r>
            <a:r>
              <a:rPr lang="zh-CN" altLang="en-US" b="1" dirty="0">
                <a:solidFill>
                  <a:srgbClr val="FF0000"/>
                </a:solidFill>
              </a:rPr>
              <a:t>性能尺寸</a:t>
            </a:r>
            <a:r>
              <a:rPr lang="zh-CN" altLang="en-US" b="1" dirty="0">
                <a:solidFill>
                  <a:srgbClr val="0070C0"/>
                </a:solidFill>
              </a:rPr>
              <a:t>、</a:t>
            </a:r>
            <a:r>
              <a:rPr lang="zh-CN" altLang="en-US" b="1" dirty="0">
                <a:solidFill>
                  <a:srgbClr val="FF0000"/>
                </a:solidFill>
              </a:rPr>
              <a:t>规格尺寸、配合尺寸、安装尺寸、</a:t>
            </a:r>
            <a:r>
              <a:rPr lang="zh-CN" altLang="en-US" b="1" dirty="0">
                <a:solidFill>
                  <a:srgbClr val="0070C0"/>
                </a:solidFill>
              </a:rPr>
              <a:t>部件和零件间的</a:t>
            </a:r>
            <a:r>
              <a:rPr lang="zh-CN" altLang="en-US" b="1" dirty="0">
                <a:solidFill>
                  <a:srgbClr val="FF0000"/>
                </a:solidFill>
              </a:rPr>
              <a:t>相对位置</a:t>
            </a:r>
            <a:r>
              <a:rPr lang="zh-CN" altLang="en-US" b="1" dirty="0">
                <a:solidFill>
                  <a:srgbClr val="0070C0"/>
                </a:solidFill>
              </a:rPr>
              <a:t>等尺寸以及机器（或部件）</a:t>
            </a:r>
            <a:r>
              <a:rPr lang="zh-CN" altLang="en-US" b="1" dirty="0">
                <a:solidFill>
                  <a:srgbClr val="FF0000"/>
                </a:solidFill>
              </a:rPr>
              <a:t>总体大小</a:t>
            </a:r>
            <a:r>
              <a:rPr lang="zh-CN" altLang="en-US" b="1" dirty="0">
                <a:solidFill>
                  <a:srgbClr val="0070C0"/>
                </a:solidFill>
              </a:rPr>
              <a:t>的尺寸</a:t>
            </a:r>
            <a:endParaRPr lang="en-US" altLang="zh-CN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3919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051" descr="点式菱形">
            <a:extLst>
              <a:ext uri="{FF2B5EF4-FFF2-40B4-BE49-F238E27FC236}">
                <a16:creationId xmlns:a16="http://schemas.microsoft.com/office/drawing/2014/main" id="{9DAE78E0-E520-4495-B487-719F5DA8D3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9676" y="1367703"/>
            <a:ext cx="345281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2800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● </a:t>
            </a:r>
            <a:r>
              <a:rPr lang="zh-CN" altLang="en-US" sz="2800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装配图的内容</a:t>
            </a:r>
            <a:r>
              <a:rPr lang="en-US" altLang="zh-CN" sz="2800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:</a:t>
            </a:r>
            <a:endParaRPr lang="en-US" altLang="zh-CN" sz="2800" b="0" dirty="0">
              <a:solidFill>
                <a:srgbClr val="0070C0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" name="Text Box 31">
            <a:extLst>
              <a:ext uri="{FF2B5EF4-FFF2-40B4-BE49-F238E27FC236}">
                <a16:creationId xmlns:a16="http://schemas.microsoft.com/office/drawing/2014/main" id="{9D0F1C4C-CBED-48D9-9293-E70522B0A3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5187" y="404664"/>
            <a:ext cx="5381625" cy="584200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zh-CN" altLang="en-US" sz="3200" dirty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装 配 图 概 述      </a:t>
            </a:r>
            <a:endParaRPr lang="en-US" altLang="zh-CN" sz="3200" dirty="0">
              <a:solidFill>
                <a:schemeClr val="tx2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4" name="Text Box 2052">
            <a:extLst>
              <a:ext uri="{FF2B5EF4-FFF2-40B4-BE49-F238E27FC236}">
                <a16:creationId xmlns:a16="http://schemas.microsoft.com/office/drawing/2014/main" id="{DDEBEE34-1068-4B36-B6C0-157CA71AB1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3432" y="2172011"/>
            <a:ext cx="215956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>
                <a:solidFill>
                  <a:srgbClr val="0070C0"/>
                </a:solidFill>
                <a:latin typeface="宋体" pitchFamily="2" charset="-122"/>
              </a:rPr>
              <a:t>★ 一组视图</a:t>
            </a:r>
          </a:p>
        </p:txBody>
      </p:sp>
      <p:sp>
        <p:nvSpPr>
          <p:cNvPr id="5" name="Text Box 2053">
            <a:extLst>
              <a:ext uri="{FF2B5EF4-FFF2-40B4-BE49-F238E27FC236}">
                <a16:creationId xmlns:a16="http://schemas.microsoft.com/office/drawing/2014/main" id="{5977E90A-AAC2-4E0A-9581-FC11C04140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3432" y="2695886"/>
            <a:ext cx="251863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>
                <a:solidFill>
                  <a:srgbClr val="0070C0"/>
                </a:solidFill>
                <a:latin typeface="宋体" pitchFamily="2" charset="-122"/>
              </a:rPr>
              <a:t>★ 必要的尺寸</a:t>
            </a:r>
          </a:p>
        </p:txBody>
      </p:sp>
      <p:sp>
        <p:nvSpPr>
          <p:cNvPr id="6" name="Text Box 2054">
            <a:hlinkClick r:id="rId2" action="ppaction://hlinksldjump"/>
            <a:extLst>
              <a:ext uri="{FF2B5EF4-FFF2-40B4-BE49-F238E27FC236}">
                <a16:creationId xmlns:a16="http://schemas.microsoft.com/office/drawing/2014/main" id="{BDC21E2E-CB01-4DFD-B6D0-37080C0431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6607" y="3392799"/>
            <a:ext cx="215956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>
                <a:solidFill>
                  <a:srgbClr val="0070C0"/>
                </a:solidFill>
                <a:latin typeface="宋体" pitchFamily="2" charset="-122"/>
              </a:rPr>
              <a:t>★ 技术要求</a:t>
            </a:r>
          </a:p>
        </p:txBody>
      </p:sp>
      <p:sp>
        <p:nvSpPr>
          <p:cNvPr id="7" name="Text Box 2055">
            <a:extLst>
              <a:ext uri="{FF2B5EF4-FFF2-40B4-BE49-F238E27FC236}">
                <a16:creationId xmlns:a16="http://schemas.microsoft.com/office/drawing/2014/main" id="{17DFE89C-8DF2-40D2-96A7-171D07E6BE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6607" y="4088124"/>
            <a:ext cx="2271713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800">
                <a:solidFill>
                  <a:schemeClr val="tx1"/>
                </a:solidFill>
                <a:latin typeface="宋体" pitchFamily="2" charset="-122"/>
              </a:rPr>
              <a:t>★ 标题栏、</a:t>
            </a:r>
            <a:endParaRPr lang="en-US" altLang="zh-CN" sz="2800">
              <a:solidFill>
                <a:schemeClr val="tx1"/>
              </a:solidFill>
              <a:latin typeface="宋体" pitchFamily="2" charset="-122"/>
            </a:endParaRPr>
          </a:p>
          <a:p>
            <a:pPr eaLnBrk="1" hangingPunct="1"/>
            <a:r>
              <a:rPr lang="en-US" altLang="zh-CN" sz="2800">
                <a:solidFill>
                  <a:schemeClr val="tx1"/>
                </a:solidFill>
                <a:latin typeface="宋体" pitchFamily="2" charset="-122"/>
              </a:rPr>
              <a:t>   </a:t>
            </a:r>
            <a:r>
              <a:rPr lang="zh-CN" altLang="en-US" sz="2800">
                <a:solidFill>
                  <a:schemeClr val="tx1"/>
                </a:solidFill>
                <a:latin typeface="宋体" pitchFamily="2" charset="-122"/>
              </a:rPr>
              <a:t>零件序号</a:t>
            </a:r>
            <a:endParaRPr lang="en-US" altLang="zh-CN" sz="2800">
              <a:solidFill>
                <a:schemeClr val="tx1"/>
              </a:solidFill>
              <a:latin typeface="宋体" pitchFamily="2" charset="-122"/>
            </a:endParaRPr>
          </a:p>
          <a:p>
            <a:pPr eaLnBrk="1" hangingPunct="1"/>
            <a:r>
              <a:rPr lang="en-US" altLang="zh-CN" sz="2800">
                <a:solidFill>
                  <a:schemeClr val="tx1"/>
                </a:solidFill>
                <a:latin typeface="宋体" pitchFamily="2" charset="-122"/>
              </a:rPr>
              <a:t>   </a:t>
            </a:r>
            <a:r>
              <a:rPr lang="zh-CN" altLang="en-US" sz="2800">
                <a:solidFill>
                  <a:schemeClr val="tx1"/>
                </a:solidFill>
                <a:latin typeface="宋体" pitchFamily="2" charset="-122"/>
              </a:rPr>
              <a:t>及明细栏</a:t>
            </a:r>
          </a:p>
        </p:txBody>
      </p:sp>
      <p:sp>
        <p:nvSpPr>
          <p:cNvPr id="8" name="Text Box 2056">
            <a:hlinkClick r:id="" action="ppaction://noaction"/>
            <a:extLst>
              <a:ext uri="{FF2B5EF4-FFF2-40B4-BE49-F238E27FC236}">
                <a16:creationId xmlns:a16="http://schemas.microsoft.com/office/drawing/2014/main" id="{600FAB02-9D91-4D81-9C63-6E97EB8382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37688" y="6278562"/>
            <a:ext cx="1404937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r>
              <a:rPr lang="zh-CN" altLang="en-US" sz="3200" u="sng" dirty="0">
                <a:solidFill>
                  <a:schemeClr val="bg2"/>
                </a:solidFill>
              </a:rPr>
              <a:t>装配图</a:t>
            </a:r>
          </a:p>
        </p:txBody>
      </p:sp>
      <p:pic>
        <p:nvPicPr>
          <p:cNvPr id="9" name="图片 6">
            <a:extLst>
              <a:ext uri="{FF2B5EF4-FFF2-40B4-BE49-F238E27FC236}">
                <a16:creationId xmlns:a16="http://schemas.microsoft.com/office/drawing/2014/main" id="{0E038AC7-CCA0-45A4-9B21-2B063DE788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319576" y="1572728"/>
            <a:ext cx="6619875" cy="4772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E36CAC49-1A45-4C1B-9879-F450E6F25C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4151" y="5154128"/>
            <a:ext cx="2976563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b="1" dirty="0">
                <a:solidFill>
                  <a:srgbClr val="0070C0"/>
                </a:solidFill>
              </a:rPr>
              <a:t>机器和部件在装配、调试、安装、检验以及维修和使用应达到的要求</a:t>
            </a:r>
            <a:endParaRPr lang="en-US" altLang="zh-CN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0783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051" descr="点式菱形">
            <a:extLst>
              <a:ext uri="{FF2B5EF4-FFF2-40B4-BE49-F238E27FC236}">
                <a16:creationId xmlns:a16="http://schemas.microsoft.com/office/drawing/2014/main" id="{4061C4F1-0458-497D-B558-3DB728D74A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9676" y="1367703"/>
            <a:ext cx="345281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2800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● </a:t>
            </a:r>
            <a:r>
              <a:rPr lang="zh-CN" altLang="en-US" sz="2800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装配图的内容</a:t>
            </a:r>
            <a:r>
              <a:rPr lang="en-US" altLang="zh-CN" sz="2800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:</a:t>
            </a:r>
            <a:endParaRPr lang="en-US" altLang="zh-CN" sz="2800" b="0" dirty="0">
              <a:solidFill>
                <a:srgbClr val="0070C0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" name="Text Box 31">
            <a:extLst>
              <a:ext uri="{FF2B5EF4-FFF2-40B4-BE49-F238E27FC236}">
                <a16:creationId xmlns:a16="http://schemas.microsoft.com/office/drawing/2014/main" id="{92F09A71-2CA3-4391-9E9B-1A2B280290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5187" y="404664"/>
            <a:ext cx="5381625" cy="584200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zh-CN" altLang="en-US" sz="3200" dirty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装 配 图 概 述      </a:t>
            </a:r>
            <a:endParaRPr lang="en-US" altLang="zh-CN" sz="3200" dirty="0">
              <a:solidFill>
                <a:schemeClr val="tx2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4" name="Text Box 2052">
            <a:extLst>
              <a:ext uri="{FF2B5EF4-FFF2-40B4-BE49-F238E27FC236}">
                <a16:creationId xmlns:a16="http://schemas.microsoft.com/office/drawing/2014/main" id="{FEBA4DE5-A58A-448F-A6C8-DBB9294F0D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4441" y="2189189"/>
            <a:ext cx="215956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>
                <a:solidFill>
                  <a:srgbClr val="0070C0"/>
                </a:solidFill>
                <a:latin typeface="宋体" pitchFamily="2" charset="-122"/>
              </a:rPr>
              <a:t>★ 一组视图</a:t>
            </a:r>
          </a:p>
        </p:txBody>
      </p:sp>
      <p:sp>
        <p:nvSpPr>
          <p:cNvPr id="5" name="Text Box 2053">
            <a:extLst>
              <a:ext uri="{FF2B5EF4-FFF2-40B4-BE49-F238E27FC236}">
                <a16:creationId xmlns:a16="http://schemas.microsoft.com/office/drawing/2014/main" id="{35B4854C-6CDB-4A59-9548-A695F4E212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4441" y="2713064"/>
            <a:ext cx="251863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>
                <a:solidFill>
                  <a:srgbClr val="0070C0"/>
                </a:solidFill>
                <a:latin typeface="宋体" pitchFamily="2" charset="-122"/>
              </a:rPr>
              <a:t>★ 必要的尺寸</a:t>
            </a:r>
          </a:p>
        </p:txBody>
      </p:sp>
      <p:sp>
        <p:nvSpPr>
          <p:cNvPr id="6" name="Text Box 2054">
            <a:extLst>
              <a:ext uri="{FF2B5EF4-FFF2-40B4-BE49-F238E27FC236}">
                <a16:creationId xmlns:a16="http://schemas.microsoft.com/office/drawing/2014/main" id="{C056E581-D419-4F3B-A0AA-86C8A71721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7616" y="3409977"/>
            <a:ext cx="215956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>
                <a:solidFill>
                  <a:srgbClr val="0070C0"/>
                </a:solidFill>
                <a:latin typeface="宋体" pitchFamily="2" charset="-122"/>
              </a:rPr>
              <a:t>★ 技术要求</a:t>
            </a:r>
          </a:p>
        </p:txBody>
      </p:sp>
      <p:sp>
        <p:nvSpPr>
          <p:cNvPr id="7" name="Text Box 2055">
            <a:extLst>
              <a:ext uri="{FF2B5EF4-FFF2-40B4-BE49-F238E27FC236}">
                <a16:creationId xmlns:a16="http://schemas.microsoft.com/office/drawing/2014/main" id="{9F541453-606C-4D55-B036-1FED6E1C0B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6503" y="4105302"/>
            <a:ext cx="2271713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800">
                <a:solidFill>
                  <a:srgbClr val="0070C0"/>
                </a:solidFill>
                <a:latin typeface="宋体" pitchFamily="2" charset="-122"/>
              </a:rPr>
              <a:t>★ 标题栏、</a:t>
            </a:r>
            <a:endParaRPr lang="en-US" altLang="zh-CN" sz="2800">
              <a:solidFill>
                <a:srgbClr val="0070C0"/>
              </a:solidFill>
              <a:latin typeface="宋体" pitchFamily="2" charset="-122"/>
            </a:endParaRPr>
          </a:p>
          <a:p>
            <a:pPr eaLnBrk="1" hangingPunct="1"/>
            <a:r>
              <a:rPr lang="en-US" altLang="zh-CN" sz="2800">
                <a:solidFill>
                  <a:srgbClr val="0070C0"/>
                </a:solidFill>
                <a:latin typeface="宋体" pitchFamily="2" charset="-122"/>
              </a:rPr>
              <a:t>   </a:t>
            </a:r>
            <a:r>
              <a:rPr lang="zh-CN" altLang="en-US" sz="2800">
                <a:solidFill>
                  <a:srgbClr val="0070C0"/>
                </a:solidFill>
                <a:latin typeface="宋体" pitchFamily="2" charset="-122"/>
              </a:rPr>
              <a:t>零件序号</a:t>
            </a:r>
            <a:endParaRPr lang="en-US" altLang="zh-CN" sz="2800">
              <a:solidFill>
                <a:srgbClr val="0070C0"/>
              </a:solidFill>
              <a:latin typeface="宋体" pitchFamily="2" charset="-122"/>
            </a:endParaRPr>
          </a:p>
          <a:p>
            <a:pPr eaLnBrk="1" hangingPunct="1"/>
            <a:r>
              <a:rPr lang="en-US" altLang="zh-CN" sz="2800">
                <a:solidFill>
                  <a:srgbClr val="0070C0"/>
                </a:solidFill>
                <a:latin typeface="宋体" pitchFamily="2" charset="-122"/>
              </a:rPr>
              <a:t>   </a:t>
            </a:r>
            <a:r>
              <a:rPr lang="zh-CN" altLang="en-US" sz="2800">
                <a:solidFill>
                  <a:srgbClr val="0070C0"/>
                </a:solidFill>
                <a:latin typeface="宋体" pitchFamily="2" charset="-122"/>
              </a:rPr>
              <a:t>及明细栏</a:t>
            </a:r>
          </a:p>
        </p:txBody>
      </p:sp>
      <p:sp>
        <p:nvSpPr>
          <p:cNvPr id="8" name="Text Box 2056">
            <a:hlinkClick r:id="" action="ppaction://noaction"/>
            <a:extLst>
              <a:ext uri="{FF2B5EF4-FFF2-40B4-BE49-F238E27FC236}">
                <a16:creationId xmlns:a16="http://schemas.microsoft.com/office/drawing/2014/main" id="{BC3B7B26-3265-4D5D-9C4A-3771FBA4EE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41184" y="6114352"/>
            <a:ext cx="1404937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r>
              <a:rPr lang="zh-CN" altLang="en-US" sz="3200" u="sng">
                <a:solidFill>
                  <a:schemeClr val="bg2"/>
                </a:solidFill>
              </a:rPr>
              <a:t>装配图</a:t>
            </a:r>
          </a:p>
        </p:txBody>
      </p:sp>
      <p:pic>
        <p:nvPicPr>
          <p:cNvPr id="9" name="图片 6">
            <a:extLst>
              <a:ext uri="{FF2B5EF4-FFF2-40B4-BE49-F238E27FC236}">
                <a16:creationId xmlns:a16="http://schemas.microsoft.com/office/drawing/2014/main" id="{7995E462-E63D-4EAE-A310-BE6EB09A0D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396109" y="1361377"/>
            <a:ext cx="6618287" cy="4772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135CE69B-06C7-4430-9E5A-02A98C24F22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926834" y="5519040"/>
            <a:ext cx="2147887" cy="636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D52EAE86-48C5-43CD-8616-DDD68361D4F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396109" y="1378840"/>
            <a:ext cx="6605587" cy="4776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988E8A6F-72C4-4DDB-BF3A-368852CE0A9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369121" y="1389952"/>
            <a:ext cx="6632575" cy="4814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290446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DD4A6B5-0689-4D4C-B801-700E201537A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625316" y="506387"/>
            <a:ext cx="7315200" cy="2143125"/>
          </a:xfrm>
          <a:prstGeom prst="rect">
            <a:avLst/>
          </a:prstGeom>
        </p:spPr>
        <p:txBody>
          <a:bodyPr anchor="ctr"/>
          <a:lstStyle/>
          <a:p>
            <a:pPr fontAlgn="auto">
              <a:spcAft>
                <a:spcPts val="0"/>
              </a:spcAft>
              <a:defRPr/>
            </a:pPr>
            <a:r>
              <a:rPr kumimoji="0"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rPr>
              <a:t>关于装配图的作用与内容说法正确的是：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5570BC8-041E-46DD-8D81-5A4A6B14298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539716" y="2657450"/>
            <a:ext cx="6913563" cy="642937"/>
          </a:xfrm>
          <a:prstGeom prst="rect">
            <a:avLst/>
          </a:prstGeom>
        </p:spPr>
        <p:txBody>
          <a:bodyPr anchor="ctr"/>
          <a:lstStyle/>
          <a:p>
            <a:pPr fontAlgn="auto">
              <a:spcAft>
                <a:spcPts val="0"/>
              </a:spcAft>
              <a:defRPr/>
            </a:pPr>
            <a:r>
              <a:rPr lang="zh-CN" altLang="zh-CN" dirty="0"/>
              <a:t>表示产品及其组成部分的连接、装配关系的图样</a:t>
            </a:r>
            <a:endParaRPr kumimoji="0" lang="zh-CN" altLang="en-US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j-cs"/>
              <a:sym typeface="Microsoft Yahei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8F20B9B-9C51-4E8D-BAD9-5490B892BABF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539716" y="3514700"/>
            <a:ext cx="6913563" cy="642937"/>
          </a:xfrm>
          <a:prstGeom prst="rect">
            <a:avLst/>
          </a:prstGeom>
        </p:spPr>
        <p:txBody>
          <a:bodyPr anchor="ctr"/>
          <a:lstStyle/>
          <a:p>
            <a:pPr fontAlgn="auto">
              <a:spcAft>
                <a:spcPts val="0"/>
              </a:spcAft>
              <a:defRPr/>
            </a:pPr>
            <a:r>
              <a:rPr lang="zh-CN" altLang="zh-CN" dirty="0"/>
              <a:t>进行设计、装配、检验、安装、调试和维修时必要的技术文件</a:t>
            </a:r>
            <a:endParaRPr kumimoji="0" lang="zh-CN" altLang="en-US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j-cs"/>
              <a:sym typeface="Microsoft Yahei" panose="020B0503020204020204" pitchFamily="34" charset="-122"/>
            </a:endParaRPr>
          </a:p>
        </p:txBody>
      </p:sp>
      <p:sp>
        <p:nvSpPr>
          <p:cNvPr id="5" name="矩形 7">
            <a:extLst>
              <a:ext uri="{FF2B5EF4-FFF2-40B4-BE49-F238E27FC236}">
                <a16:creationId xmlns:a16="http://schemas.microsoft.com/office/drawing/2014/main" id="{D0501F28-6407-45BC-ACFD-2C9D93F3B382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 bwMode="auto">
          <a:xfrm>
            <a:off x="2825341" y="2720950"/>
            <a:ext cx="514350" cy="514350"/>
          </a:xfrm>
          <a:prstGeom prst="rect">
            <a:avLst/>
          </a:prstGeom>
          <a:solidFill>
            <a:srgbClr val="00FF00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itchFamily="34" charset="-122"/>
              <a:ea typeface="Microsoft Yahei" pitchFamily="34" charset="-122"/>
              <a:sym typeface="Microsoft Yahei" pitchFamily="34" charset="-122"/>
            </a:endParaRPr>
          </a:p>
        </p:txBody>
      </p:sp>
      <p:sp>
        <p:nvSpPr>
          <p:cNvPr id="6" name="矩形 8">
            <a:extLst>
              <a:ext uri="{FF2B5EF4-FFF2-40B4-BE49-F238E27FC236}">
                <a16:creationId xmlns:a16="http://schemas.microsoft.com/office/drawing/2014/main" id="{68A1DFAF-23AE-4FC8-AF15-BE915BB79A59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2825341" y="3578200"/>
            <a:ext cx="514350" cy="514350"/>
          </a:xfrm>
          <a:prstGeom prst="rect">
            <a:avLst/>
          </a:prstGeom>
          <a:solidFill>
            <a:srgbClr val="00FF00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itchFamily="34" charset="-122"/>
              <a:ea typeface="Microsoft Yahei" pitchFamily="34" charset="-122"/>
              <a:sym typeface="Microsoft Yahei" pitchFamily="34" charset="-122"/>
            </a:endParaRPr>
          </a:p>
        </p:txBody>
      </p:sp>
      <p:sp>
        <p:nvSpPr>
          <p:cNvPr id="7" name="圆角矩形 11">
            <a:extLst>
              <a:ext uri="{FF2B5EF4-FFF2-40B4-BE49-F238E27FC236}">
                <a16:creationId xmlns:a16="http://schemas.microsoft.com/office/drawing/2014/main" id="{53CE4BB2-4727-4227-A57A-173E47076A35}"/>
              </a:ext>
            </a:extLst>
          </p:cNvPr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7883116" y="6086450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>
            <a:solidFill>
              <a:srgbClr val="000000"/>
            </a:solidFill>
            <a:miter lim="800000"/>
            <a:headEnd/>
            <a:tailEnd/>
          </a:ln>
        </p:spPr>
        <p:txBody>
          <a:bodyPr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提交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3CF22AD-C508-4BF3-8B00-15F8302235C6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3539716" y="4371950"/>
            <a:ext cx="6400800" cy="642937"/>
          </a:xfrm>
          <a:prstGeom prst="rect">
            <a:avLst/>
          </a:prstGeom>
        </p:spPr>
        <p:txBody>
          <a:bodyPr anchor="ctr"/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dirty="0"/>
              <a:t>一组视图</a:t>
            </a:r>
            <a:r>
              <a:rPr lang="zh-CN" altLang="zh-CN" dirty="0"/>
              <a:t>、</a:t>
            </a:r>
            <a:r>
              <a:rPr lang="zh-CN" altLang="en-US" dirty="0"/>
              <a:t>必要尺寸、技术要求</a:t>
            </a:r>
            <a:endParaRPr kumimoji="0" lang="zh-CN" altLang="en-US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j-cs"/>
              <a:sym typeface="Microsoft Yahei" panose="020B0503020204020204" pitchFamily="34" charset="-122"/>
            </a:endParaRPr>
          </a:p>
        </p:txBody>
      </p:sp>
      <p:sp>
        <p:nvSpPr>
          <p:cNvPr id="9" name="矩形 21">
            <a:extLst>
              <a:ext uri="{FF2B5EF4-FFF2-40B4-BE49-F238E27FC236}">
                <a16:creationId xmlns:a16="http://schemas.microsoft.com/office/drawing/2014/main" id="{F189AF8F-DE2F-4E55-9CD9-77F5FCE1269A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2825341" y="4435450"/>
            <a:ext cx="514350" cy="514350"/>
          </a:xfrm>
          <a:prstGeom prst="rect">
            <a:avLst/>
          </a:prstGeom>
          <a:solidFill>
            <a:srgbClr val="00FF00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itchFamily="34" charset="-122"/>
              <a:ea typeface="Microsoft Yahei" pitchFamily="34" charset="-122"/>
              <a:sym typeface="Microsoft Yahei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63FC728-1193-4EEB-AB1B-17FA01F39D18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3539716" y="5229200"/>
            <a:ext cx="6400800" cy="642937"/>
          </a:xfrm>
          <a:prstGeom prst="rect">
            <a:avLst/>
          </a:prstGeom>
        </p:spPr>
        <p:txBody>
          <a:bodyPr anchor="ctr"/>
          <a:lstStyle/>
          <a:p>
            <a:pPr fontAlgn="auto">
              <a:spcAft>
                <a:spcPts val="0"/>
              </a:spcAft>
              <a:defRPr/>
            </a:pPr>
            <a:r>
              <a:rPr lang="zh-CN" altLang="zh-CN" dirty="0"/>
              <a:t>零部件的编号、明细栏和标题栏</a:t>
            </a:r>
            <a:endParaRPr kumimoji="0" lang="zh-CN" altLang="en-US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j-cs"/>
              <a:sym typeface="Microsoft Yahei" panose="020B0503020204020204" pitchFamily="34" charset="-122"/>
            </a:endParaRPr>
          </a:p>
        </p:txBody>
      </p:sp>
      <p:sp>
        <p:nvSpPr>
          <p:cNvPr id="11" name="矩形 23">
            <a:extLst>
              <a:ext uri="{FF2B5EF4-FFF2-40B4-BE49-F238E27FC236}">
                <a16:creationId xmlns:a16="http://schemas.microsoft.com/office/drawing/2014/main" id="{22ED584A-3B2F-4C78-A090-CB632C815FC6}"/>
              </a:ext>
            </a:extLst>
          </p:cNvPr>
          <p:cNvSpPr>
            <a:spLocks noChangeAspect="1"/>
          </p:cNvSpPr>
          <p:nvPr>
            <p:custDataLst>
              <p:tags r:id="rId11"/>
            </p:custDataLst>
          </p:nvPr>
        </p:nvSpPr>
        <p:spPr bwMode="auto">
          <a:xfrm>
            <a:off x="2825341" y="5292700"/>
            <a:ext cx="514350" cy="514350"/>
          </a:xfrm>
          <a:prstGeom prst="rect">
            <a:avLst/>
          </a:prstGeom>
          <a:solidFill>
            <a:srgbClr val="00FF00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itchFamily="34" charset="-122"/>
                <a:ea typeface="Microsoft Yahei" pitchFamily="34" charset="-122"/>
                <a:sym typeface="Microsoft Yahei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itchFamily="34" charset="-122"/>
              <a:ea typeface="Microsoft Yahei" pitchFamily="34" charset="-122"/>
              <a:sym typeface="Microsoft Yahei" pitchFamily="34" charset="-122"/>
            </a:endParaRPr>
          </a:p>
        </p:txBody>
      </p:sp>
      <p:grpSp>
        <p:nvGrpSpPr>
          <p:cNvPr id="12" name="组合 16">
            <a:extLst>
              <a:ext uri="{FF2B5EF4-FFF2-40B4-BE49-F238E27FC236}">
                <a16:creationId xmlns:a16="http://schemas.microsoft.com/office/drawing/2014/main" id="{2A6EF078-8445-440B-A893-B1C47758E732}"/>
              </a:ext>
            </a:extLst>
          </p:cNvPr>
          <p:cNvGrpSpPr>
            <a:grpSpLocks/>
          </p:cNvGrpSpPr>
          <p:nvPr>
            <p:custDataLst>
              <p:tags r:id="rId12"/>
            </p:custDataLst>
          </p:nvPr>
        </p:nvGrpSpPr>
        <p:grpSpPr bwMode="auto">
          <a:xfrm>
            <a:off x="0" y="0"/>
            <a:ext cx="9144000" cy="635000"/>
            <a:chOff x="-1710916" y="128613"/>
            <a:chExt cx="9144000" cy="635000"/>
          </a:xfrm>
        </p:grpSpPr>
        <p:sp>
          <p:nvSpPr>
            <p:cNvPr id="13" name="TitleBackground">
              <a:extLst>
                <a:ext uri="{FF2B5EF4-FFF2-40B4-BE49-F238E27FC236}">
                  <a16:creationId xmlns:a16="http://schemas.microsoft.com/office/drawing/2014/main" id="{5F4045AB-125B-4915-8C89-A787E527E666}"/>
                </a:ext>
              </a:extLst>
            </p:cNvPr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-1710916" y="128613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endParaRPr lang="zh-CN" altLang="en-US" sz="360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14" name="ColorBlock">
              <a:extLst>
                <a:ext uri="{FF2B5EF4-FFF2-40B4-BE49-F238E27FC236}">
                  <a16:creationId xmlns:a16="http://schemas.microsoft.com/office/drawing/2014/main" id="{573CC19F-A7E8-4DE0-998B-F3A5CAC98A78}"/>
                </a:ext>
              </a:extLst>
            </p:cNvPr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-1710916" y="128613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endParaRPr lang="zh-CN" altLang="en-US" sz="360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15" name="TypeText">
              <a:extLst>
                <a:ext uri="{FF2B5EF4-FFF2-40B4-BE49-F238E27FC236}">
                  <a16:creationId xmlns:a16="http://schemas.microsoft.com/office/drawing/2014/main" id="{5D558D22-E277-4F84-A424-7CA6C3B8D883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-1456916" y="128613"/>
              <a:ext cx="1905000" cy="635000"/>
            </a:xfrm>
            <a:prstGeom prst="rect">
              <a:avLst/>
            </a:prstGeom>
          </p:spPr>
          <p:txBody>
            <a:bodyPr wrap="none" anchor="ctr"/>
            <a:lstStyle/>
            <a:p>
              <a:pPr fontAlgn="auto">
                <a:spcAft>
                  <a:spcPts val="0"/>
                </a:spcAft>
                <a:defRPr/>
              </a:pPr>
              <a:r>
                <a:rPr kumimoji="0"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j-cs"/>
                  <a:sym typeface="Microsoft Yahei" panose="020B0503020204020204" pitchFamily="34" charset="-122"/>
                </a:rPr>
                <a:t>多选题</a:t>
              </a:r>
              <a:endParaRPr kumimoji="0"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endParaRPr>
            </a:p>
          </p:txBody>
        </p:sp>
        <p:sp>
          <p:nvSpPr>
            <p:cNvPr id="16" name="TipText">
              <a:extLst>
                <a:ext uri="{FF2B5EF4-FFF2-40B4-BE49-F238E27FC236}">
                  <a16:creationId xmlns:a16="http://schemas.microsoft.com/office/drawing/2014/main" id="{3364B439-3C47-4C48-8898-D475403BD9B5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-185011" y="237833"/>
              <a:ext cx="2286000" cy="508000"/>
            </a:xfrm>
            <a:prstGeom prst="rect">
              <a:avLst/>
            </a:prstGeom>
          </p:spPr>
          <p:txBody>
            <a:bodyPr vert="horz" wrap="none" anchor="ctr" anchorCtr="0">
              <a:noAutofit/>
            </a:bodyPr>
            <a:lstStyle/>
            <a:p>
              <a:pPr fontAlgn="auto">
                <a:spcAft>
                  <a:spcPts val="0"/>
                </a:spcAft>
                <a:defRPr/>
              </a:pPr>
              <a:r>
                <a:rPr kumimoji="0"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j-cs"/>
                  <a:sym typeface="Microsoft Yahei" panose="020B0503020204020204" pitchFamily="34" charset="-122"/>
                </a:rPr>
                <a:t>1</a:t>
              </a:r>
              <a:r>
                <a:rPr kumimoji="0"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j-cs"/>
                  <a:sym typeface="Microsoft Yahei" panose="020B0503020204020204" pitchFamily="34" charset="-122"/>
                </a:rPr>
                <a:t>分</a:t>
              </a:r>
              <a:endParaRPr kumimoji="0" lang="zh-CN" altLang="en-US" sz="2000" dirty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endParaRPr>
            </a:p>
          </p:txBody>
        </p:sp>
      </p:grpSp>
      <p:pic>
        <p:nvPicPr>
          <p:cNvPr id="17" name="图片 1">
            <a:extLst>
              <a:ext uri="{FF2B5EF4-FFF2-40B4-BE49-F238E27FC236}">
                <a16:creationId xmlns:a16="http://schemas.microsoft.com/office/drawing/2014/main" id="{3784E426-66AC-42C1-9A94-3537E45C019E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/>
          <a:srcRect/>
          <a:stretch>
            <a:fillRect/>
          </a:stretch>
        </p:blipFill>
        <p:spPr bwMode="auto">
          <a:xfrm>
            <a:off x="10642600" y="63500"/>
            <a:ext cx="1422400" cy="5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102142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3">
            <a:extLst>
              <a:ext uri="{FF2B5EF4-FFF2-40B4-BE49-F238E27FC236}">
                <a16:creationId xmlns:a16="http://schemas.microsoft.com/office/drawing/2014/main" id="{65AFFA24-CFFD-4B6C-BBDC-CB5B7B17CB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996100" y="3212935"/>
            <a:ext cx="3138488" cy="2973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10D470E1-2967-4228-8D0C-84BDB5B59E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27188" y="3224047"/>
            <a:ext cx="3005137" cy="2671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 Box 3">
            <a:extLst>
              <a:ext uri="{FF2B5EF4-FFF2-40B4-BE49-F238E27FC236}">
                <a16:creationId xmlns:a16="http://schemas.microsoft.com/office/drawing/2014/main" id="{5ADC1D24-FFEF-47F7-ADF7-17E5330089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9863" y="1305863"/>
            <a:ext cx="6497638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 b="1" dirty="0">
                <a:solidFill>
                  <a:srgbClr val="0070C0"/>
                </a:solidFill>
                <a:latin typeface="宋体" pitchFamily="2" charset="-122"/>
              </a:rPr>
              <a:t>一、规定画法 </a:t>
            </a:r>
            <a:r>
              <a:rPr lang="en-US" altLang="zh-CN" sz="2800" b="1" dirty="0">
                <a:solidFill>
                  <a:srgbClr val="0070C0"/>
                </a:solidFill>
                <a:latin typeface="宋体" pitchFamily="2" charset="-122"/>
              </a:rPr>
              <a:t>——</a:t>
            </a:r>
            <a:r>
              <a:rPr lang="zh-CN" altLang="en-US" sz="2800" b="1" dirty="0">
                <a:solidFill>
                  <a:srgbClr val="0070C0"/>
                </a:solidFill>
                <a:latin typeface="宋体" pitchFamily="2" charset="-122"/>
              </a:rPr>
              <a:t>接触表面和非接触面</a:t>
            </a: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BE569C33-1530-4C14-9672-954C1C46DC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3472" y="1840160"/>
            <a:ext cx="798036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800" b="1" dirty="0">
                <a:solidFill>
                  <a:schemeClr val="tx2"/>
                </a:solidFill>
                <a:latin typeface="宋体" pitchFamily="2" charset="-122"/>
              </a:rPr>
              <a:t> ⒈ </a:t>
            </a:r>
            <a:r>
              <a:rPr lang="zh-CN" altLang="en-US" sz="2800" b="1" dirty="0">
                <a:solidFill>
                  <a:schemeClr val="tx2"/>
                </a:solidFill>
                <a:latin typeface="宋体" pitchFamily="2" charset="-122"/>
              </a:rPr>
              <a:t>相邻零件的接触表面和配合表面只画一条线</a:t>
            </a:r>
          </a:p>
        </p:txBody>
      </p:sp>
      <p:grpSp>
        <p:nvGrpSpPr>
          <p:cNvPr id="6" name="Group 48">
            <a:extLst>
              <a:ext uri="{FF2B5EF4-FFF2-40B4-BE49-F238E27FC236}">
                <a16:creationId xmlns:a16="http://schemas.microsoft.com/office/drawing/2014/main" id="{073B92F8-DBF6-4DD9-8D92-F861705A1575}"/>
              </a:ext>
            </a:extLst>
          </p:cNvPr>
          <p:cNvGrpSpPr>
            <a:grpSpLocks/>
          </p:cNvGrpSpPr>
          <p:nvPr/>
        </p:nvGrpSpPr>
        <p:grpSpPr bwMode="auto">
          <a:xfrm>
            <a:off x="5980100" y="5105235"/>
            <a:ext cx="3248025" cy="1098550"/>
            <a:chOff x="2247" y="3063"/>
            <a:chExt cx="2046" cy="692"/>
          </a:xfrm>
        </p:grpSpPr>
        <p:sp>
          <p:nvSpPr>
            <p:cNvPr id="7" name="Text Box 49">
              <a:extLst>
                <a:ext uri="{FF2B5EF4-FFF2-40B4-BE49-F238E27FC236}">
                  <a16:creationId xmlns:a16="http://schemas.microsoft.com/office/drawing/2014/main" id="{02FE52D4-E398-42C1-AF28-9655688378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6" y="3441"/>
              <a:ext cx="1091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 sz="2400" dirty="0">
                  <a:solidFill>
                    <a:srgbClr val="333399"/>
                  </a:solidFill>
                </a:rPr>
                <a:t>两面不配合</a:t>
              </a:r>
              <a:endParaRPr lang="zh-CN" altLang="en-US" sz="2400" b="0" dirty="0">
                <a:solidFill>
                  <a:srgbClr val="333399"/>
                </a:solidFill>
              </a:endParaRPr>
            </a:p>
          </p:txBody>
        </p:sp>
        <p:sp>
          <p:nvSpPr>
            <p:cNvPr id="8" name="Freeform 50">
              <a:extLst>
                <a:ext uri="{FF2B5EF4-FFF2-40B4-BE49-F238E27FC236}">
                  <a16:creationId xmlns:a16="http://schemas.microsoft.com/office/drawing/2014/main" id="{096735AC-6AD6-4553-8EA7-0746CC4CB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1" y="3123"/>
              <a:ext cx="547" cy="630"/>
            </a:xfrm>
            <a:custGeom>
              <a:avLst/>
              <a:gdLst>
                <a:gd name="T0" fmla="*/ 547 w 547"/>
                <a:gd name="T1" fmla="*/ 0 h 630"/>
                <a:gd name="T2" fmla="*/ 0 w 547"/>
                <a:gd name="T3" fmla="*/ 630 h 630"/>
                <a:gd name="T4" fmla="*/ 0 60000 65536"/>
                <a:gd name="T5" fmla="*/ 0 60000 65536"/>
                <a:gd name="T6" fmla="*/ 0 w 547"/>
                <a:gd name="T7" fmla="*/ 0 h 630"/>
                <a:gd name="T8" fmla="*/ 547 w 547"/>
                <a:gd name="T9" fmla="*/ 630 h 63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47" h="630">
                  <a:moveTo>
                    <a:pt x="547" y="0"/>
                  </a:moveTo>
                  <a:lnTo>
                    <a:pt x="0" y="630"/>
                  </a:lnTo>
                </a:path>
              </a:pathLst>
            </a:custGeom>
            <a:noFill/>
            <a:ln w="19050">
              <a:solidFill>
                <a:srgbClr val="333399"/>
              </a:solidFill>
              <a:round/>
              <a:headEnd type="triangle" w="sm" len="lg"/>
              <a:tailEnd/>
            </a:ln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9" name="Line 51">
              <a:extLst>
                <a:ext uri="{FF2B5EF4-FFF2-40B4-BE49-F238E27FC236}">
                  <a16:creationId xmlns:a16="http://schemas.microsoft.com/office/drawing/2014/main" id="{A339D297-28CF-4F23-ACF3-9D409F74B4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47" y="3755"/>
              <a:ext cx="1174" cy="0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10" name="Freeform 52">
              <a:extLst>
                <a:ext uri="{FF2B5EF4-FFF2-40B4-BE49-F238E27FC236}">
                  <a16:creationId xmlns:a16="http://schemas.microsoft.com/office/drawing/2014/main" id="{840A6D23-9315-42B6-8018-EAEAF78407D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7" y="3063"/>
              <a:ext cx="686" cy="465"/>
            </a:xfrm>
            <a:custGeom>
              <a:avLst/>
              <a:gdLst>
                <a:gd name="T0" fmla="*/ 12660 w 422"/>
                <a:gd name="T1" fmla="*/ 0 h 233"/>
                <a:gd name="T2" fmla="*/ 0 w 422"/>
                <a:gd name="T3" fmla="*/ 29377 h 233"/>
                <a:gd name="T4" fmla="*/ 0 60000 65536"/>
                <a:gd name="T5" fmla="*/ 0 60000 65536"/>
                <a:gd name="T6" fmla="*/ 0 w 422"/>
                <a:gd name="T7" fmla="*/ 0 h 233"/>
                <a:gd name="T8" fmla="*/ 422 w 422"/>
                <a:gd name="T9" fmla="*/ 233 h 23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22" h="233">
                  <a:moveTo>
                    <a:pt x="422" y="0"/>
                  </a:moveTo>
                  <a:lnTo>
                    <a:pt x="0" y="233"/>
                  </a:lnTo>
                </a:path>
              </a:pathLst>
            </a:custGeom>
            <a:noFill/>
            <a:ln w="19050">
              <a:solidFill>
                <a:srgbClr val="333399"/>
              </a:solidFill>
              <a:round/>
              <a:headEnd type="triangl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 sz="2400"/>
            </a:p>
          </p:txBody>
        </p:sp>
      </p:grpSp>
      <p:grpSp>
        <p:nvGrpSpPr>
          <p:cNvPr id="11" name="Group 93">
            <a:extLst>
              <a:ext uri="{FF2B5EF4-FFF2-40B4-BE49-F238E27FC236}">
                <a16:creationId xmlns:a16="http://schemas.microsoft.com/office/drawing/2014/main" id="{92E9BD3E-996D-4989-A293-7FFAF99EFDCE}"/>
              </a:ext>
            </a:extLst>
          </p:cNvPr>
          <p:cNvGrpSpPr>
            <a:grpSpLocks/>
          </p:cNvGrpSpPr>
          <p:nvPr/>
        </p:nvGrpSpPr>
        <p:grpSpPr bwMode="auto">
          <a:xfrm>
            <a:off x="3019413" y="4979822"/>
            <a:ext cx="1698625" cy="1355725"/>
            <a:chOff x="1068" y="2954"/>
            <a:chExt cx="1069" cy="854"/>
          </a:xfrm>
        </p:grpSpPr>
        <p:sp>
          <p:nvSpPr>
            <p:cNvPr id="12" name="Text Box 87">
              <a:extLst>
                <a:ext uri="{FF2B5EF4-FFF2-40B4-BE49-F238E27FC236}">
                  <a16:creationId xmlns:a16="http://schemas.microsoft.com/office/drawing/2014/main" id="{165B9358-4F42-4C6A-B92E-F6E46989C7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2" y="3499"/>
              <a:ext cx="895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 sz="2400" dirty="0">
                  <a:solidFill>
                    <a:srgbClr val="333399"/>
                  </a:solidFill>
                </a:rPr>
                <a:t>两面配合</a:t>
              </a:r>
              <a:endParaRPr lang="zh-CN" altLang="en-US" sz="2400" b="0" dirty="0">
                <a:solidFill>
                  <a:schemeClr val="tx1"/>
                </a:solidFill>
              </a:endParaRPr>
            </a:p>
          </p:txBody>
        </p:sp>
        <p:sp>
          <p:nvSpPr>
            <p:cNvPr id="13" name="Line 88">
              <a:extLst>
                <a:ext uri="{FF2B5EF4-FFF2-40B4-BE49-F238E27FC236}">
                  <a16:creationId xmlns:a16="http://schemas.microsoft.com/office/drawing/2014/main" id="{0E3C47DE-02AA-42D6-B14F-2C9BCC4BB7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77" y="3808"/>
              <a:ext cx="1015" cy="0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14" name="Line 89">
              <a:extLst>
                <a:ext uri="{FF2B5EF4-FFF2-40B4-BE49-F238E27FC236}">
                  <a16:creationId xmlns:a16="http://schemas.microsoft.com/office/drawing/2014/main" id="{A3A91530-4AF5-4F42-82A4-CEB915E67D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8" y="2954"/>
              <a:ext cx="526" cy="854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 type="triangle" w="sm" len="lg"/>
              <a:tailEnd/>
            </a:ln>
          </p:spPr>
          <p:txBody>
            <a:bodyPr wrap="none" anchor="ctr"/>
            <a:lstStyle/>
            <a:p>
              <a:endParaRPr lang="zh-CN" altLang="en-US" sz="2400"/>
            </a:p>
          </p:txBody>
        </p:sp>
      </p:grpSp>
      <p:sp>
        <p:nvSpPr>
          <p:cNvPr id="15" name="Text Box 104">
            <a:extLst>
              <a:ext uri="{FF2B5EF4-FFF2-40B4-BE49-F238E27FC236}">
                <a16:creationId xmlns:a16="http://schemas.microsoft.com/office/drawing/2014/main" id="{DF7CEE15-257A-4396-962C-5110A2D34A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9398" y="296019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endParaRPr lang="zh-CN" altLang="zh-CN"/>
          </a:p>
        </p:txBody>
      </p:sp>
      <p:grpSp>
        <p:nvGrpSpPr>
          <p:cNvPr id="16" name="组合 4">
            <a:extLst>
              <a:ext uri="{FF2B5EF4-FFF2-40B4-BE49-F238E27FC236}">
                <a16:creationId xmlns:a16="http://schemas.microsoft.com/office/drawing/2014/main" id="{CF222397-D580-446A-9878-76FC2B54B2D9}"/>
              </a:ext>
            </a:extLst>
          </p:cNvPr>
          <p:cNvGrpSpPr>
            <a:grpSpLocks/>
          </p:cNvGrpSpPr>
          <p:nvPr/>
        </p:nvGrpSpPr>
        <p:grpSpPr bwMode="auto">
          <a:xfrm>
            <a:off x="3852850" y="3089110"/>
            <a:ext cx="4494213" cy="989012"/>
            <a:chOff x="2624931" y="3416755"/>
            <a:chExt cx="4494326" cy="989012"/>
          </a:xfrm>
        </p:grpSpPr>
        <p:grpSp>
          <p:nvGrpSpPr>
            <p:cNvPr id="17" name="Group 82">
              <a:extLst>
                <a:ext uri="{FF2B5EF4-FFF2-40B4-BE49-F238E27FC236}">
                  <a16:creationId xmlns:a16="http://schemas.microsoft.com/office/drawing/2014/main" id="{E5319495-04BE-44FE-BD24-E5E7E67FAB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24931" y="3416755"/>
              <a:ext cx="2413000" cy="989012"/>
              <a:chOff x="1742" y="2326"/>
              <a:chExt cx="1520" cy="623"/>
            </a:xfrm>
          </p:grpSpPr>
          <p:sp>
            <p:nvSpPr>
              <p:cNvPr id="19" name="Text Box 83">
                <a:extLst>
                  <a:ext uri="{FF2B5EF4-FFF2-40B4-BE49-F238E27FC236}">
                    <a16:creationId xmlns:a16="http://schemas.microsoft.com/office/drawing/2014/main" id="{7E454172-2933-47BC-A8AC-5980605EA1A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38" y="2326"/>
                <a:ext cx="896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zh-CN" altLang="en-US" sz="2400">
                    <a:solidFill>
                      <a:srgbClr val="333399"/>
                    </a:solidFill>
                  </a:rPr>
                  <a:t>两面接触</a:t>
                </a:r>
                <a:endParaRPr lang="zh-CN" altLang="en-US" sz="2400" b="0">
                  <a:solidFill>
                    <a:srgbClr val="333399"/>
                  </a:solidFill>
                </a:endParaRPr>
              </a:p>
            </p:txBody>
          </p:sp>
          <p:sp>
            <p:nvSpPr>
              <p:cNvPr id="20" name="Line 84">
                <a:extLst>
                  <a:ext uri="{FF2B5EF4-FFF2-40B4-BE49-F238E27FC236}">
                    <a16:creationId xmlns:a16="http://schemas.microsoft.com/office/drawing/2014/main" id="{51C0BD98-0BEB-44D2-8A9E-E29854B6F2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07" y="2631"/>
                <a:ext cx="955" cy="0"/>
              </a:xfrm>
              <a:prstGeom prst="line">
                <a:avLst/>
              </a:prstGeom>
              <a:noFill/>
              <a:ln w="19050">
                <a:solidFill>
                  <a:srgbClr val="333399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/>
              </a:p>
            </p:txBody>
          </p:sp>
          <p:sp>
            <p:nvSpPr>
              <p:cNvPr id="21" name="Line 85">
                <a:extLst>
                  <a:ext uri="{FF2B5EF4-FFF2-40B4-BE49-F238E27FC236}">
                    <a16:creationId xmlns:a16="http://schemas.microsoft.com/office/drawing/2014/main" id="{D600FDD7-14F9-44F4-82E2-934EEFB02A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42" y="2633"/>
                <a:ext cx="571" cy="316"/>
              </a:xfrm>
              <a:prstGeom prst="line">
                <a:avLst/>
              </a:prstGeom>
              <a:noFill/>
              <a:ln w="19050">
                <a:solidFill>
                  <a:srgbClr val="333399"/>
                </a:solidFill>
                <a:round/>
                <a:headEnd type="triangle" w="sm" len="lg"/>
                <a:tailEnd/>
              </a:ln>
            </p:spPr>
            <p:txBody>
              <a:bodyPr wrap="none" anchor="ctr"/>
              <a:lstStyle/>
              <a:p>
                <a:endParaRPr lang="zh-CN" altLang="en-US" sz="2400"/>
              </a:p>
            </p:txBody>
          </p:sp>
        </p:grpSp>
        <p:sp>
          <p:nvSpPr>
            <p:cNvPr id="18" name="Line 85">
              <a:extLst>
                <a:ext uri="{FF2B5EF4-FFF2-40B4-BE49-F238E27FC236}">
                  <a16:creationId xmlns:a16="http://schemas.microsoft.com/office/drawing/2014/main" id="{DCF485EF-5A8D-427D-9DC0-21B96CD96F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037933" y="3892199"/>
              <a:ext cx="2081324" cy="346174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 type="triangle" w="sm" len="lg"/>
              <a:tailEnd/>
            </a:ln>
          </p:spPr>
          <p:txBody>
            <a:bodyPr wrap="none" anchor="ctr"/>
            <a:lstStyle/>
            <a:p>
              <a:endParaRPr lang="zh-CN" altLang="en-US" sz="2400"/>
            </a:p>
          </p:txBody>
        </p:sp>
      </p:grpSp>
      <p:sp>
        <p:nvSpPr>
          <p:cNvPr id="22" name="Text Box 31">
            <a:extLst>
              <a:ext uri="{FF2B5EF4-FFF2-40B4-BE49-F238E27FC236}">
                <a16:creationId xmlns:a16="http://schemas.microsoft.com/office/drawing/2014/main" id="{F6CA9192-F56D-45F8-BEEA-C62B606F9E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7898" y="406405"/>
            <a:ext cx="6076950" cy="584200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zh-CN" altLang="en-US" sz="3200" dirty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装配图的表达方法</a:t>
            </a:r>
            <a:endParaRPr lang="zh-CN" altLang="en-US" sz="3200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23" name="Text Box 4">
            <a:extLst>
              <a:ext uri="{FF2B5EF4-FFF2-40B4-BE49-F238E27FC236}">
                <a16:creationId xmlns:a16="http://schemas.microsoft.com/office/drawing/2014/main" id="{04BC9C3E-61DD-4EB4-B1B4-BFEB3B705B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7888" y="2429529"/>
            <a:ext cx="576041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800" b="1" dirty="0">
                <a:solidFill>
                  <a:schemeClr val="tx2"/>
                </a:solidFill>
                <a:latin typeface="宋体" pitchFamily="2" charset="-122"/>
              </a:rPr>
              <a:t>不接触表面和非配合表面画两条线。</a:t>
            </a:r>
          </a:p>
        </p:txBody>
      </p:sp>
    </p:spTree>
    <p:extLst>
      <p:ext uri="{BB962C8B-B14F-4D97-AF65-F5344CB8AC3E}">
        <p14:creationId xmlns:p14="http://schemas.microsoft.com/office/powerpoint/2010/main" val="1998034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5" grpId="0" autoUpdateAnimBg="0"/>
      <p:bldP spid="23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2">
            <a:extLst>
              <a:ext uri="{FF2B5EF4-FFF2-40B4-BE49-F238E27FC236}">
                <a16:creationId xmlns:a16="http://schemas.microsoft.com/office/drawing/2014/main" id="{6DEC350C-69BB-4932-B263-8982F367DD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655595" y="1736812"/>
            <a:ext cx="3881437" cy="304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 Box 2">
            <a:extLst>
              <a:ext uri="{FF2B5EF4-FFF2-40B4-BE49-F238E27FC236}">
                <a16:creationId xmlns:a16="http://schemas.microsoft.com/office/drawing/2014/main" id="{9D4CD696-A24F-4E1C-866C-72C0543F49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6023" y="2132856"/>
            <a:ext cx="3603625" cy="3539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800" dirty="0">
                <a:solidFill>
                  <a:schemeClr val="tx1"/>
                </a:solidFill>
                <a:latin typeface="宋体" pitchFamily="2" charset="-122"/>
              </a:rPr>
              <a:t>   </a:t>
            </a:r>
            <a:r>
              <a:rPr lang="zh-CN" altLang="en-US" sz="2800" dirty="0">
                <a:solidFill>
                  <a:schemeClr val="tx1"/>
                </a:solidFill>
                <a:latin typeface="宋体" pitchFamily="2" charset="-122"/>
              </a:rPr>
              <a:t>两个</a:t>
            </a:r>
            <a:r>
              <a:rPr lang="en-US" altLang="zh-CN" sz="2800" dirty="0">
                <a:solidFill>
                  <a:schemeClr val="tx1"/>
                </a:solidFill>
                <a:latin typeface="宋体" pitchFamily="2" charset="-122"/>
              </a:rPr>
              <a:t>(</a:t>
            </a:r>
            <a:r>
              <a:rPr lang="zh-CN" altLang="en-US" sz="2800" dirty="0">
                <a:solidFill>
                  <a:schemeClr val="tx1"/>
                </a:solidFill>
                <a:latin typeface="宋体" pitchFamily="2" charset="-122"/>
              </a:rPr>
              <a:t>或两个以上</a:t>
            </a:r>
            <a:r>
              <a:rPr lang="en-US" altLang="zh-CN" sz="2800" dirty="0">
                <a:solidFill>
                  <a:schemeClr val="tx1"/>
                </a:solidFill>
                <a:latin typeface="宋体" pitchFamily="2" charset="-122"/>
              </a:rPr>
              <a:t>)</a:t>
            </a:r>
            <a:r>
              <a:rPr lang="zh-CN" altLang="en-US" sz="2800" dirty="0">
                <a:solidFill>
                  <a:schemeClr val="tx1"/>
                </a:solidFill>
                <a:latin typeface="宋体" pitchFamily="2" charset="-122"/>
              </a:rPr>
              <a:t>零件邻接时，</a:t>
            </a:r>
            <a:r>
              <a:rPr lang="zh-CN" altLang="en-US" sz="2800" dirty="0">
                <a:solidFill>
                  <a:srgbClr val="FF0000"/>
                </a:solidFill>
                <a:latin typeface="宋体" pitchFamily="2" charset="-122"/>
              </a:rPr>
              <a:t>剖面线的倾 斜方向应相反或间隔</a:t>
            </a:r>
            <a:r>
              <a:rPr lang="zh-CN" altLang="en-US" sz="2800" dirty="0">
                <a:latin typeface="宋体" pitchFamily="2" charset="-122"/>
              </a:rPr>
              <a:t>不同</a:t>
            </a:r>
            <a:r>
              <a:rPr lang="zh-CN" altLang="en-US" sz="2800" dirty="0">
                <a:solidFill>
                  <a:schemeClr val="tx1"/>
                </a:solidFill>
                <a:latin typeface="宋体" pitchFamily="2" charset="-122"/>
              </a:rPr>
              <a:t>。</a:t>
            </a:r>
            <a:endParaRPr lang="en-US" altLang="zh-CN" sz="2800" dirty="0">
              <a:solidFill>
                <a:schemeClr val="tx1"/>
              </a:solidFill>
              <a:latin typeface="宋体" pitchFamily="2" charset="-122"/>
            </a:endParaRPr>
          </a:p>
          <a:p>
            <a:pPr eaLnBrk="1" hangingPunct="1"/>
            <a:endParaRPr lang="en-US" altLang="zh-CN" sz="2800" dirty="0">
              <a:solidFill>
                <a:schemeClr val="tx1"/>
              </a:solidFill>
              <a:latin typeface="宋体" pitchFamily="2" charset="-122"/>
            </a:endParaRPr>
          </a:p>
          <a:p>
            <a:pPr eaLnBrk="1" hangingPunct="1"/>
            <a:r>
              <a:rPr lang="zh-CN" altLang="en-US" sz="2800" dirty="0">
                <a:solidFill>
                  <a:schemeClr val="tx1"/>
                </a:solidFill>
                <a:latin typeface="宋体" pitchFamily="2" charset="-122"/>
              </a:rPr>
              <a:t>   但同一零件在各视图上的剖面线方向和间隔必须一致。</a:t>
            </a:r>
          </a:p>
        </p:txBody>
      </p:sp>
      <p:grpSp>
        <p:nvGrpSpPr>
          <p:cNvPr id="4" name="组合 93">
            <a:extLst>
              <a:ext uri="{FF2B5EF4-FFF2-40B4-BE49-F238E27FC236}">
                <a16:creationId xmlns:a16="http://schemas.microsoft.com/office/drawing/2014/main" id="{E28604A9-AF30-4147-A1C5-0882DE6980C6}"/>
              </a:ext>
            </a:extLst>
          </p:cNvPr>
          <p:cNvGrpSpPr>
            <a:grpSpLocks/>
          </p:cNvGrpSpPr>
          <p:nvPr/>
        </p:nvGrpSpPr>
        <p:grpSpPr bwMode="auto">
          <a:xfrm>
            <a:off x="5159896" y="3540212"/>
            <a:ext cx="2657749" cy="2301056"/>
            <a:chOff x="2771771" y="3818966"/>
            <a:chExt cx="3064160" cy="1902274"/>
          </a:xfrm>
        </p:grpSpPr>
        <p:sp>
          <p:nvSpPr>
            <p:cNvPr id="5" name="Text Box 137">
              <a:extLst>
                <a:ext uri="{FF2B5EF4-FFF2-40B4-BE49-F238E27FC236}">
                  <a16:creationId xmlns:a16="http://schemas.microsoft.com/office/drawing/2014/main" id="{B97D9D3A-BBCB-4FF8-A0D3-D3ADE9C2B8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71771" y="4890243"/>
              <a:ext cx="2003425" cy="830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/>
              <a:r>
                <a:rPr lang="zh-CN" altLang="en-US" sz="2400" dirty="0">
                  <a:solidFill>
                    <a:srgbClr val="3333CC"/>
                  </a:solidFill>
                </a:rPr>
                <a:t>两零件剖面线方向相反</a:t>
              </a:r>
              <a:endParaRPr lang="zh-CN" altLang="en-US" sz="2400" b="0" dirty="0">
                <a:solidFill>
                  <a:srgbClr val="3333CC"/>
                </a:solidFill>
              </a:endParaRPr>
            </a:p>
          </p:txBody>
        </p:sp>
        <p:grpSp>
          <p:nvGrpSpPr>
            <p:cNvPr id="6" name="Group 181">
              <a:extLst>
                <a:ext uri="{FF2B5EF4-FFF2-40B4-BE49-F238E27FC236}">
                  <a16:creationId xmlns:a16="http://schemas.microsoft.com/office/drawing/2014/main" id="{4B4C07B8-2794-4CC8-91EC-8B96F1A4ED7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00631" y="3818966"/>
              <a:ext cx="3035300" cy="1897063"/>
              <a:chOff x="2247" y="2343"/>
              <a:chExt cx="1912" cy="1195"/>
            </a:xfrm>
          </p:grpSpPr>
          <p:sp>
            <p:nvSpPr>
              <p:cNvPr id="7" name="Freeform 138">
                <a:extLst>
                  <a:ext uri="{FF2B5EF4-FFF2-40B4-BE49-F238E27FC236}">
                    <a16:creationId xmlns:a16="http://schemas.microsoft.com/office/drawing/2014/main" id="{F8F3717D-F408-4C84-8CC6-7BDD686BE1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3" y="2343"/>
                <a:ext cx="685" cy="1193"/>
              </a:xfrm>
              <a:custGeom>
                <a:avLst/>
                <a:gdLst>
                  <a:gd name="T0" fmla="*/ 12753 w 547"/>
                  <a:gd name="T1" fmla="*/ 0 h 630"/>
                  <a:gd name="T2" fmla="*/ 0 w 547"/>
                  <a:gd name="T3" fmla="*/ 4803245 h 630"/>
                  <a:gd name="T4" fmla="*/ 0 60000 65536"/>
                  <a:gd name="T5" fmla="*/ 0 60000 65536"/>
                  <a:gd name="T6" fmla="*/ 0 w 547"/>
                  <a:gd name="T7" fmla="*/ 0 h 630"/>
                  <a:gd name="T8" fmla="*/ 547 w 547"/>
                  <a:gd name="T9" fmla="*/ 630 h 63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547" h="630">
                    <a:moveTo>
                      <a:pt x="547" y="0"/>
                    </a:moveTo>
                    <a:lnTo>
                      <a:pt x="0" y="630"/>
                    </a:lnTo>
                  </a:path>
                </a:pathLst>
              </a:custGeom>
              <a:noFill/>
              <a:ln w="19050">
                <a:solidFill>
                  <a:srgbClr val="0033CC"/>
                </a:solidFill>
                <a:round/>
                <a:headEnd type="triangle" w="sm" len="lg"/>
                <a:tailEnd/>
              </a:ln>
            </p:spPr>
            <p:txBody>
              <a:bodyPr wrap="none" anchor="ctr"/>
              <a:lstStyle/>
              <a:p>
                <a:endParaRPr lang="zh-CN" altLang="en-US" sz="2400"/>
              </a:p>
            </p:txBody>
          </p:sp>
          <p:sp>
            <p:nvSpPr>
              <p:cNvPr id="8" name="Line 139">
                <a:extLst>
                  <a:ext uri="{FF2B5EF4-FFF2-40B4-BE49-F238E27FC236}">
                    <a16:creationId xmlns:a16="http://schemas.microsoft.com/office/drawing/2014/main" id="{21A81CBE-3EE7-48A2-8A1F-A43FC34275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47" y="3538"/>
                <a:ext cx="1174" cy="0"/>
              </a:xfrm>
              <a:prstGeom prst="line">
                <a:avLst/>
              </a:prstGeom>
              <a:noFill/>
              <a:ln w="19050">
                <a:solidFill>
                  <a:srgbClr val="0033C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/>
              </a:p>
            </p:txBody>
          </p:sp>
          <p:sp>
            <p:nvSpPr>
              <p:cNvPr id="9" name="Freeform 140">
                <a:extLst>
                  <a:ext uri="{FF2B5EF4-FFF2-40B4-BE49-F238E27FC236}">
                    <a16:creationId xmlns:a16="http://schemas.microsoft.com/office/drawing/2014/main" id="{4832D19D-EA01-4A21-B15D-2EF4FBB25F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2" y="2936"/>
                <a:ext cx="737" cy="589"/>
              </a:xfrm>
              <a:custGeom>
                <a:avLst/>
                <a:gdLst>
                  <a:gd name="T0" fmla="*/ 1036385 w 422"/>
                  <a:gd name="T1" fmla="*/ 0 h 233"/>
                  <a:gd name="T2" fmla="*/ 0 w 422"/>
                  <a:gd name="T3" fmla="*/ 101392628 h 233"/>
                  <a:gd name="T4" fmla="*/ 0 60000 65536"/>
                  <a:gd name="T5" fmla="*/ 0 60000 65536"/>
                  <a:gd name="T6" fmla="*/ 0 w 422"/>
                  <a:gd name="T7" fmla="*/ 0 h 233"/>
                  <a:gd name="T8" fmla="*/ 422 w 422"/>
                  <a:gd name="T9" fmla="*/ 233 h 23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422" h="233">
                    <a:moveTo>
                      <a:pt x="422" y="0"/>
                    </a:moveTo>
                    <a:lnTo>
                      <a:pt x="0" y="233"/>
                    </a:lnTo>
                  </a:path>
                </a:pathLst>
              </a:custGeom>
              <a:noFill/>
              <a:ln w="19050">
                <a:solidFill>
                  <a:srgbClr val="0033CC"/>
                </a:solidFill>
                <a:round/>
                <a:headEnd type="triangle" w="sm" len="lg"/>
                <a:tailEnd type="none" w="sm" len="lg"/>
              </a:ln>
            </p:spPr>
            <p:txBody>
              <a:bodyPr wrap="none" anchor="ctr"/>
              <a:lstStyle/>
              <a:p>
                <a:endParaRPr lang="zh-CN" altLang="en-US" sz="2400"/>
              </a:p>
            </p:txBody>
          </p:sp>
        </p:grpSp>
      </p:grpSp>
      <p:sp>
        <p:nvSpPr>
          <p:cNvPr id="10" name="矩形 92">
            <a:extLst>
              <a:ext uri="{FF2B5EF4-FFF2-40B4-BE49-F238E27FC236}">
                <a16:creationId xmlns:a16="http://schemas.microsoft.com/office/drawing/2014/main" id="{5D1DDC3C-C2A1-4A5F-A5A3-13A9C53304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7468" y="1474874"/>
            <a:ext cx="264848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800" b="1" dirty="0">
                <a:solidFill>
                  <a:srgbClr val="0070C0"/>
                </a:solidFill>
              </a:rPr>
              <a:t>2.</a:t>
            </a:r>
            <a:r>
              <a:rPr lang="zh-CN" altLang="en-US" sz="2800" b="1" dirty="0">
                <a:solidFill>
                  <a:srgbClr val="0070C0"/>
                </a:solidFill>
              </a:rPr>
              <a:t>剖面符号画法</a:t>
            </a:r>
          </a:p>
        </p:txBody>
      </p:sp>
      <p:sp>
        <p:nvSpPr>
          <p:cNvPr id="11" name="Text Box 31">
            <a:extLst>
              <a:ext uri="{FF2B5EF4-FFF2-40B4-BE49-F238E27FC236}">
                <a16:creationId xmlns:a16="http://schemas.microsoft.com/office/drawing/2014/main" id="{5BDD5907-6BA9-4BA4-8E84-E14AC4C39D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7898" y="406405"/>
            <a:ext cx="6076950" cy="584200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zh-CN" altLang="en-US" sz="3200" dirty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装配图的表达方法</a:t>
            </a:r>
            <a:endParaRPr lang="zh-CN" altLang="en-US" sz="3200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90497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1">
            <a:extLst>
              <a:ext uri="{FF2B5EF4-FFF2-40B4-BE49-F238E27FC236}">
                <a16:creationId xmlns:a16="http://schemas.microsoft.com/office/drawing/2014/main" id="{63769650-D709-4EDA-9548-AC565F5237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7898" y="406405"/>
            <a:ext cx="6076950" cy="584200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zh-CN" altLang="en-US" sz="3200" dirty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装配图的表达方法</a:t>
            </a:r>
            <a:endParaRPr lang="zh-CN" altLang="en-US" sz="3200" dirty="0">
              <a:solidFill>
                <a:schemeClr val="tx1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" name="Text Box 5123">
            <a:extLst>
              <a:ext uri="{FF2B5EF4-FFF2-40B4-BE49-F238E27FC236}">
                <a16:creationId xmlns:a16="http://schemas.microsoft.com/office/drawing/2014/main" id="{BE9BAD0A-814C-4A6A-8B37-CC1FC7593A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3077" y="1224695"/>
            <a:ext cx="301625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800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二、简化画法</a:t>
            </a:r>
          </a:p>
        </p:txBody>
      </p:sp>
      <p:sp>
        <p:nvSpPr>
          <p:cNvPr id="4" name="Text Box 12">
            <a:extLst>
              <a:ext uri="{FF2B5EF4-FFF2-40B4-BE49-F238E27FC236}">
                <a16:creationId xmlns:a16="http://schemas.microsoft.com/office/drawing/2014/main" id="{921D81E6-66EB-4154-90EC-9AC8921BFD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7271" y="1785505"/>
            <a:ext cx="6076950" cy="830997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 eaLnBrk="1" hangingPunct="1"/>
            <a:r>
              <a:rPr lang="en-US" altLang="zh-CN" sz="2400" b="1" dirty="0">
                <a:solidFill>
                  <a:schemeClr val="tx1"/>
                </a:solidFill>
                <a:latin typeface="宋体" pitchFamily="2" charset="-122"/>
              </a:rPr>
              <a:t>2.</a:t>
            </a:r>
            <a:r>
              <a:rPr lang="zh-CN" altLang="en-US" sz="2400" b="1" dirty="0">
                <a:solidFill>
                  <a:schemeClr val="tx1"/>
                </a:solidFill>
                <a:latin typeface="宋体" pitchFamily="2" charset="-122"/>
              </a:rPr>
              <a:t>零件的</a:t>
            </a:r>
            <a:r>
              <a:rPr lang="zh-CN" altLang="en-US" sz="2400" b="1" dirty="0">
                <a:solidFill>
                  <a:srgbClr val="FF0000"/>
                </a:solidFill>
                <a:latin typeface="宋体" pitchFamily="2" charset="-122"/>
              </a:rPr>
              <a:t>工艺结构</a:t>
            </a:r>
            <a:r>
              <a:rPr lang="zh-CN" altLang="en-US" sz="2400" b="1" dirty="0">
                <a:solidFill>
                  <a:schemeClr val="tx1"/>
                </a:solidFill>
                <a:latin typeface="宋体" pitchFamily="2" charset="-122"/>
              </a:rPr>
              <a:t>，如倒角、圆角、退刀槽等可</a:t>
            </a:r>
            <a:r>
              <a:rPr lang="zh-CN" altLang="en-US" sz="2400" b="1" dirty="0">
                <a:solidFill>
                  <a:srgbClr val="FF0000"/>
                </a:solidFill>
                <a:latin typeface="宋体" pitchFamily="2" charset="-122"/>
              </a:rPr>
              <a:t>不画</a:t>
            </a:r>
            <a:r>
              <a:rPr lang="zh-CN" altLang="en-US" sz="2400" b="1" dirty="0">
                <a:solidFill>
                  <a:schemeClr val="tx1"/>
                </a:solidFill>
                <a:latin typeface="宋体" pitchFamily="2" charset="-122"/>
              </a:rPr>
              <a:t>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1B749D8-45EE-4D96-842A-DA7AB9EC74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490478" y="2074561"/>
            <a:ext cx="2217737" cy="433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" name="Group 99">
            <a:extLst>
              <a:ext uri="{FF2B5EF4-FFF2-40B4-BE49-F238E27FC236}">
                <a16:creationId xmlns:a16="http://schemas.microsoft.com/office/drawing/2014/main" id="{B1F79566-BB10-42B1-B65D-5551408E20DB}"/>
              </a:ext>
            </a:extLst>
          </p:cNvPr>
          <p:cNvGrpSpPr>
            <a:grpSpLocks/>
          </p:cNvGrpSpPr>
          <p:nvPr/>
        </p:nvGrpSpPr>
        <p:grpSpPr bwMode="auto">
          <a:xfrm>
            <a:off x="6896628" y="5335286"/>
            <a:ext cx="2428875" cy="838200"/>
            <a:chOff x="2795" y="2506"/>
            <a:chExt cx="1530" cy="528"/>
          </a:xfrm>
        </p:grpSpPr>
        <p:sp>
          <p:nvSpPr>
            <p:cNvPr id="7" name="Line 3">
              <a:extLst>
                <a:ext uri="{FF2B5EF4-FFF2-40B4-BE49-F238E27FC236}">
                  <a16:creationId xmlns:a16="http://schemas.microsoft.com/office/drawing/2014/main" id="{1A3DB4E1-E66B-453F-8882-EFC84C36C6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28" y="2630"/>
              <a:ext cx="697" cy="403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 type="triangle" w="sm" len="lg"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" name="Line 4">
              <a:extLst>
                <a:ext uri="{FF2B5EF4-FFF2-40B4-BE49-F238E27FC236}">
                  <a16:creationId xmlns:a16="http://schemas.microsoft.com/office/drawing/2014/main" id="{4B82AD33-BD45-4909-99E5-C167F3BAD3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68" y="3034"/>
              <a:ext cx="766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Text Box 5">
              <a:extLst>
                <a:ext uri="{FF2B5EF4-FFF2-40B4-BE49-F238E27FC236}">
                  <a16:creationId xmlns:a16="http://schemas.microsoft.com/office/drawing/2014/main" id="{7E6146A5-BCB7-4795-8D27-115ADB01A9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95" y="2506"/>
              <a:ext cx="952" cy="51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 eaLnBrk="1" hangingPunct="1"/>
              <a:r>
                <a:rPr lang="zh-CN" altLang="en-US"/>
                <a:t>滚动轴承</a:t>
              </a:r>
            </a:p>
            <a:p>
              <a:pPr algn="ctr" eaLnBrk="1" hangingPunct="1"/>
              <a:r>
                <a:rPr lang="zh-CN" altLang="en-US"/>
                <a:t>简化画法</a:t>
              </a:r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0" name="Group 101">
            <a:extLst>
              <a:ext uri="{FF2B5EF4-FFF2-40B4-BE49-F238E27FC236}">
                <a16:creationId xmlns:a16="http://schemas.microsoft.com/office/drawing/2014/main" id="{1F01C51F-75A0-4322-AB30-04210BF74B22}"/>
              </a:ext>
            </a:extLst>
          </p:cNvPr>
          <p:cNvGrpSpPr>
            <a:grpSpLocks/>
          </p:cNvGrpSpPr>
          <p:nvPr/>
        </p:nvGrpSpPr>
        <p:grpSpPr bwMode="auto">
          <a:xfrm>
            <a:off x="7499858" y="1594665"/>
            <a:ext cx="2755307" cy="693570"/>
            <a:chOff x="3894" y="366"/>
            <a:chExt cx="1775" cy="602"/>
          </a:xfrm>
        </p:grpSpPr>
        <p:sp>
          <p:nvSpPr>
            <p:cNvPr id="11" name="Line 7">
              <a:extLst>
                <a:ext uri="{FF2B5EF4-FFF2-40B4-BE49-F238E27FC236}">
                  <a16:creationId xmlns:a16="http://schemas.microsoft.com/office/drawing/2014/main" id="{53C2FE4A-E466-498F-A664-710BC04503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77" y="711"/>
              <a:ext cx="192" cy="257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12" name="Line 8">
              <a:extLst>
                <a:ext uri="{FF2B5EF4-FFF2-40B4-BE49-F238E27FC236}">
                  <a16:creationId xmlns:a16="http://schemas.microsoft.com/office/drawing/2014/main" id="{07FF82E7-E229-4400-B68C-E2657140D8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50" y="710"/>
              <a:ext cx="1528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13" name="Text Box 9">
              <a:extLst>
                <a:ext uri="{FF2B5EF4-FFF2-40B4-BE49-F238E27FC236}">
                  <a16:creationId xmlns:a16="http://schemas.microsoft.com/office/drawing/2014/main" id="{B6324F8D-8E6F-4D00-850C-7D6F0FC46C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94" y="366"/>
              <a:ext cx="1705" cy="40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lang="zh-CN" altLang="en-US" sz="2400" dirty="0"/>
                <a:t>垫圈厚度夸大画出</a:t>
              </a:r>
              <a:endParaRPr lang="zh-CN" altLang="en-US" sz="2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4" name="Group 100">
            <a:extLst>
              <a:ext uri="{FF2B5EF4-FFF2-40B4-BE49-F238E27FC236}">
                <a16:creationId xmlns:a16="http://schemas.microsoft.com/office/drawing/2014/main" id="{5609A903-FF8B-4109-AD57-43B4CA8073B1}"/>
              </a:ext>
            </a:extLst>
          </p:cNvPr>
          <p:cNvGrpSpPr>
            <a:grpSpLocks/>
          </p:cNvGrpSpPr>
          <p:nvPr/>
        </p:nvGrpSpPr>
        <p:grpSpPr bwMode="auto">
          <a:xfrm>
            <a:off x="8242828" y="5798836"/>
            <a:ext cx="1957387" cy="966788"/>
            <a:chOff x="4081" y="3206"/>
            <a:chExt cx="1233" cy="609"/>
          </a:xfrm>
        </p:grpSpPr>
        <p:sp>
          <p:nvSpPr>
            <p:cNvPr id="15" name="Line 15">
              <a:extLst>
                <a:ext uri="{FF2B5EF4-FFF2-40B4-BE49-F238E27FC236}">
                  <a16:creationId xmlns:a16="http://schemas.microsoft.com/office/drawing/2014/main" id="{1579C536-A1A0-4B78-9074-21A0E32AF4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63" y="3206"/>
              <a:ext cx="351" cy="609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 type="triangle" w="sm" len="lg"/>
              <a:tailEnd/>
            </a:ln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16" name="Line 16">
              <a:extLst>
                <a:ext uri="{FF2B5EF4-FFF2-40B4-BE49-F238E27FC236}">
                  <a16:creationId xmlns:a16="http://schemas.microsoft.com/office/drawing/2014/main" id="{41424C3C-395B-4DF6-B9D2-05D29A0066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04" y="3811"/>
              <a:ext cx="864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17" name="Text Box 17">
              <a:extLst>
                <a:ext uri="{FF2B5EF4-FFF2-40B4-BE49-F238E27FC236}">
                  <a16:creationId xmlns:a16="http://schemas.microsoft.com/office/drawing/2014/main" id="{62645686-2D8D-425A-9D81-73FEC094DD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1" y="3523"/>
              <a:ext cx="892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lang="zh-CN" altLang="en-US" sz="2400"/>
                <a:t>圆角不画</a:t>
              </a:r>
              <a:endParaRPr lang="zh-CN" altLang="en-US" sz="2400" b="0">
                <a:solidFill>
                  <a:schemeClr val="tx1"/>
                </a:solidFill>
              </a:endParaRPr>
            </a:p>
          </p:txBody>
        </p:sp>
      </p:grpSp>
      <p:sp>
        <p:nvSpPr>
          <p:cNvPr id="18" name="Text Box 18">
            <a:extLst>
              <a:ext uri="{FF2B5EF4-FFF2-40B4-BE49-F238E27FC236}">
                <a16:creationId xmlns:a16="http://schemas.microsoft.com/office/drawing/2014/main" id="{6857A242-5EDB-4AE5-BD35-A511133E40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9777" y="2611361"/>
            <a:ext cx="5756125" cy="46166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1" hangingPunct="1"/>
            <a:r>
              <a:rPr lang="zh-CN" altLang="en-US" sz="2400" b="1" dirty="0">
                <a:solidFill>
                  <a:schemeClr val="tx1"/>
                </a:solidFill>
                <a:latin typeface="宋体" pitchFamily="2" charset="-122"/>
              </a:rPr>
              <a:t>滚动轴承、螺栓联接等可采用简化画法。</a:t>
            </a:r>
          </a:p>
        </p:txBody>
      </p:sp>
      <p:grpSp>
        <p:nvGrpSpPr>
          <p:cNvPr id="19" name="Group 98">
            <a:extLst>
              <a:ext uri="{FF2B5EF4-FFF2-40B4-BE49-F238E27FC236}">
                <a16:creationId xmlns:a16="http://schemas.microsoft.com/office/drawing/2014/main" id="{A1031DCF-F7E8-4140-B2C1-264CC453BAB0}"/>
              </a:ext>
            </a:extLst>
          </p:cNvPr>
          <p:cNvGrpSpPr>
            <a:grpSpLocks/>
          </p:cNvGrpSpPr>
          <p:nvPr/>
        </p:nvGrpSpPr>
        <p:grpSpPr bwMode="auto">
          <a:xfrm>
            <a:off x="6892449" y="2830213"/>
            <a:ext cx="1967915" cy="490538"/>
            <a:chOff x="3020" y="1290"/>
            <a:chExt cx="1379" cy="309"/>
          </a:xfrm>
        </p:grpSpPr>
        <p:sp>
          <p:nvSpPr>
            <p:cNvPr id="20" name="Line 94">
              <a:extLst>
                <a:ext uri="{FF2B5EF4-FFF2-40B4-BE49-F238E27FC236}">
                  <a16:creationId xmlns:a16="http://schemas.microsoft.com/office/drawing/2014/main" id="{9637A55A-0274-4FF4-8140-ED21CD59C5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79" y="1413"/>
              <a:ext cx="320" cy="186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 type="triangle" w="sm" len="lg"/>
              <a:tailEnd/>
            </a:ln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21" name="Line 95">
              <a:extLst>
                <a:ext uri="{FF2B5EF4-FFF2-40B4-BE49-F238E27FC236}">
                  <a16:creationId xmlns:a16="http://schemas.microsoft.com/office/drawing/2014/main" id="{174EE276-2C8A-48D2-918A-F419974C02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14" y="1593"/>
              <a:ext cx="992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22" name="Text Box 96">
              <a:extLst>
                <a:ext uri="{FF2B5EF4-FFF2-40B4-BE49-F238E27FC236}">
                  <a16:creationId xmlns:a16="http://schemas.microsoft.com/office/drawing/2014/main" id="{655BD9F7-DD22-48C4-A869-BE819131E7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0" y="1290"/>
              <a:ext cx="1112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pPr algn="ctr" eaLnBrk="1" hangingPunct="1"/>
              <a:r>
                <a:rPr lang="zh-CN" altLang="en-US" sz="2400" dirty="0"/>
                <a:t>倒角不画</a:t>
              </a:r>
            </a:p>
          </p:txBody>
        </p:sp>
      </p:grpSp>
      <p:sp>
        <p:nvSpPr>
          <p:cNvPr id="23" name="Text Box 3">
            <a:extLst>
              <a:ext uri="{FF2B5EF4-FFF2-40B4-BE49-F238E27FC236}">
                <a16:creationId xmlns:a16="http://schemas.microsoft.com/office/drawing/2014/main" id="{51510B96-A597-4BE9-93C9-28B61D0993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7734" y="3198128"/>
            <a:ext cx="480593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2400" b="1" dirty="0">
                <a:solidFill>
                  <a:schemeClr val="tx1"/>
                </a:solidFill>
                <a:latin typeface="宋体" pitchFamily="2" charset="-122"/>
              </a:rPr>
              <a:t>⒊ </a:t>
            </a:r>
            <a:r>
              <a:rPr lang="zh-CN" altLang="en-US" sz="2400" b="1" dirty="0">
                <a:solidFill>
                  <a:schemeClr val="tx1"/>
                </a:solidFill>
                <a:latin typeface="宋体" pitchFamily="2" charset="-122"/>
              </a:rPr>
              <a:t>标准件和实心</a:t>
            </a:r>
            <a:r>
              <a:rPr lang="zh-CN" altLang="en-US" sz="2400" b="1" dirty="0">
                <a:solidFill>
                  <a:srgbClr val="FF0000"/>
                </a:solidFill>
                <a:latin typeface="宋体" pitchFamily="2" charset="-122"/>
              </a:rPr>
              <a:t>件</a:t>
            </a:r>
            <a:r>
              <a:rPr lang="zh-CN" altLang="en-US" sz="2400" b="1" dirty="0">
                <a:solidFill>
                  <a:schemeClr val="tx1"/>
                </a:solidFill>
                <a:latin typeface="宋体" pitchFamily="2" charset="-122"/>
              </a:rPr>
              <a:t>按</a:t>
            </a:r>
            <a:r>
              <a:rPr lang="zh-CN" altLang="en-US" sz="2400" b="1" dirty="0">
                <a:solidFill>
                  <a:srgbClr val="FF0000"/>
                </a:solidFill>
                <a:latin typeface="宋体" pitchFamily="2" charset="-122"/>
              </a:rPr>
              <a:t>不剖</a:t>
            </a:r>
            <a:r>
              <a:rPr lang="zh-CN" altLang="en-US" sz="2400" b="1" dirty="0">
                <a:solidFill>
                  <a:schemeClr val="tx1"/>
                </a:solidFill>
                <a:latin typeface="宋体" pitchFamily="2" charset="-122"/>
              </a:rPr>
              <a:t>画。</a:t>
            </a: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2D77D6F3-9A05-4CD5-A7D9-524D74CF5C4A}"/>
              </a:ext>
            </a:extLst>
          </p:cNvPr>
          <p:cNvGrpSpPr/>
          <p:nvPr/>
        </p:nvGrpSpPr>
        <p:grpSpPr>
          <a:xfrm>
            <a:off x="1159899" y="4029094"/>
            <a:ext cx="7363754" cy="2584169"/>
            <a:chOff x="698653" y="4190701"/>
            <a:chExt cx="7363754" cy="2584169"/>
          </a:xfrm>
        </p:grpSpPr>
        <p:pic>
          <p:nvPicPr>
            <p:cNvPr id="25" name="图片 2">
              <a:extLst>
                <a:ext uri="{FF2B5EF4-FFF2-40B4-BE49-F238E27FC236}">
                  <a16:creationId xmlns:a16="http://schemas.microsoft.com/office/drawing/2014/main" id="{2387BDF6-5CA2-495A-9F38-CC3A9A12853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5560178" y="4190701"/>
              <a:ext cx="2502229" cy="25841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26" name="组合 26">
              <a:extLst>
                <a:ext uri="{FF2B5EF4-FFF2-40B4-BE49-F238E27FC236}">
                  <a16:creationId xmlns:a16="http://schemas.microsoft.com/office/drawing/2014/main" id="{338F908B-4E0D-44E5-A794-5FD9E96DEC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98653" y="4294909"/>
              <a:ext cx="2252365" cy="2079489"/>
              <a:chOff x="449651" y="3367261"/>
              <a:chExt cx="3104762" cy="2771429"/>
            </a:xfrm>
          </p:grpSpPr>
          <p:pic>
            <p:nvPicPr>
              <p:cNvPr id="27" name="图片 3">
                <a:extLst>
                  <a:ext uri="{FF2B5EF4-FFF2-40B4-BE49-F238E27FC236}">
                    <a16:creationId xmlns:a16="http://schemas.microsoft.com/office/drawing/2014/main" id="{C097EBD7-19A8-4C7D-9A62-4C8EB1BCE5B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/>
              <a:stretch>
                <a:fillRect/>
              </a:stretch>
            </p:blipFill>
            <p:spPr bwMode="auto">
              <a:xfrm>
                <a:off x="449651" y="3367261"/>
                <a:ext cx="3104762" cy="277142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grpSp>
            <p:nvGrpSpPr>
              <p:cNvPr id="28" name="组合 25">
                <a:extLst>
                  <a:ext uri="{FF2B5EF4-FFF2-40B4-BE49-F238E27FC236}">
                    <a16:creationId xmlns:a16="http://schemas.microsoft.com/office/drawing/2014/main" id="{99FB2C6B-D44B-4BA2-9C71-4A84AC6E837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49651" y="3887896"/>
                <a:ext cx="1931746" cy="2146032"/>
                <a:chOff x="1049651" y="3887896"/>
                <a:chExt cx="1931746" cy="2146032"/>
              </a:xfrm>
            </p:grpSpPr>
            <p:cxnSp>
              <p:nvCxnSpPr>
                <p:cNvPr id="29" name="直接连接符 28">
                  <a:extLst>
                    <a:ext uri="{FF2B5EF4-FFF2-40B4-BE49-F238E27FC236}">
                      <a16:creationId xmlns:a16="http://schemas.microsoft.com/office/drawing/2014/main" id="{06F423E8-E4FF-432B-BE65-D34719B769EF}"/>
                    </a:ext>
                  </a:extLst>
                </p:cNvPr>
                <p:cNvCxnSpPr/>
                <p:nvPr/>
              </p:nvCxnSpPr>
              <p:spPr>
                <a:xfrm>
                  <a:off x="1049651" y="3887896"/>
                  <a:ext cx="1931746" cy="0"/>
                </a:xfrm>
                <a:prstGeom prst="line">
                  <a:avLst/>
                </a:prstGeom>
                <a:ln w="41275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直接连接符 9">
                  <a:extLst>
                    <a:ext uri="{FF2B5EF4-FFF2-40B4-BE49-F238E27FC236}">
                      <a16:creationId xmlns:a16="http://schemas.microsoft.com/office/drawing/2014/main" id="{E2A65243-6D85-4AC3-BC02-E36422EB9631}"/>
                    </a:ext>
                  </a:extLst>
                </p:cNvPr>
                <p:cNvCxnSpPr/>
                <p:nvPr/>
              </p:nvCxnSpPr>
              <p:spPr>
                <a:xfrm>
                  <a:off x="1049651" y="4638689"/>
                  <a:ext cx="1931746" cy="0"/>
                </a:xfrm>
                <a:prstGeom prst="line">
                  <a:avLst/>
                </a:prstGeom>
                <a:ln w="412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直接连接符 30">
                  <a:extLst>
                    <a:ext uri="{FF2B5EF4-FFF2-40B4-BE49-F238E27FC236}">
                      <a16:creationId xmlns:a16="http://schemas.microsoft.com/office/drawing/2014/main" id="{FE1B782B-E897-4C74-BEC5-E293D91A0A2D}"/>
                    </a:ext>
                  </a:extLst>
                </p:cNvPr>
                <p:cNvCxnSpPr/>
                <p:nvPr/>
              </p:nvCxnSpPr>
              <p:spPr>
                <a:xfrm flipV="1">
                  <a:off x="2968699" y="3887896"/>
                  <a:ext cx="0" cy="750793"/>
                </a:xfrm>
                <a:prstGeom prst="line">
                  <a:avLst/>
                </a:prstGeom>
                <a:ln w="412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直接连接符 31">
                  <a:extLst>
                    <a:ext uri="{FF2B5EF4-FFF2-40B4-BE49-F238E27FC236}">
                      <a16:creationId xmlns:a16="http://schemas.microsoft.com/office/drawing/2014/main" id="{AEC6D2EB-7438-4F5A-A986-28E232A52279}"/>
                    </a:ext>
                  </a:extLst>
                </p:cNvPr>
                <p:cNvCxnSpPr/>
                <p:nvPr/>
              </p:nvCxnSpPr>
              <p:spPr>
                <a:xfrm flipV="1">
                  <a:off x="1051238" y="3889483"/>
                  <a:ext cx="9524" cy="750794"/>
                </a:xfrm>
                <a:prstGeom prst="line">
                  <a:avLst/>
                </a:prstGeom>
                <a:ln w="412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直接连接符 32">
                  <a:extLst>
                    <a:ext uri="{FF2B5EF4-FFF2-40B4-BE49-F238E27FC236}">
                      <a16:creationId xmlns:a16="http://schemas.microsoft.com/office/drawing/2014/main" id="{AA1F03A6-AB61-48C4-9BBF-35E9B396E825}"/>
                    </a:ext>
                  </a:extLst>
                </p:cNvPr>
                <p:cNvCxnSpPr/>
                <p:nvPr/>
              </p:nvCxnSpPr>
              <p:spPr>
                <a:xfrm flipV="1">
                  <a:off x="1532191" y="5603769"/>
                  <a:ext cx="973016" cy="0"/>
                </a:xfrm>
                <a:prstGeom prst="line">
                  <a:avLst/>
                </a:prstGeom>
                <a:ln w="412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直接连接符 33">
                  <a:extLst>
                    <a:ext uri="{FF2B5EF4-FFF2-40B4-BE49-F238E27FC236}">
                      <a16:creationId xmlns:a16="http://schemas.microsoft.com/office/drawing/2014/main" id="{90E678AC-A205-456D-944D-F584740B0D13}"/>
                    </a:ext>
                  </a:extLst>
                </p:cNvPr>
                <p:cNvCxnSpPr/>
                <p:nvPr/>
              </p:nvCxnSpPr>
              <p:spPr>
                <a:xfrm flipH="1" flipV="1">
                  <a:off x="2487747" y="4638689"/>
                  <a:ext cx="0" cy="1395239"/>
                </a:xfrm>
                <a:prstGeom prst="line">
                  <a:avLst/>
                </a:prstGeom>
                <a:ln w="412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直接连接符 34">
                  <a:extLst>
                    <a:ext uri="{FF2B5EF4-FFF2-40B4-BE49-F238E27FC236}">
                      <a16:creationId xmlns:a16="http://schemas.microsoft.com/office/drawing/2014/main" id="{151B13C2-94F9-46A7-938C-18161B35AEA1}"/>
                    </a:ext>
                  </a:extLst>
                </p:cNvPr>
                <p:cNvCxnSpPr/>
                <p:nvPr/>
              </p:nvCxnSpPr>
              <p:spPr>
                <a:xfrm flipV="1">
                  <a:off x="1536952" y="4646626"/>
                  <a:ext cx="0" cy="1387302"/>
                </a:xfrm>
                <a:prstGeom prst="line">
                  <a:avLst/>
                </a:prstGeom>
                <a:ln w="412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直接连接符 35">
                  <a:extLst>
                    <a:ext uri="{FF2B5EF4-FFF2-40B4-BE49-F238E27FC236}">
                      <a16:creationId xmlns:a16="http://schemas.microsoft.com/office/drawing/2014/main" id="{A063F679-4F1D-454E-8871-5E0DEAFC3062}"/>
                    </a:ext>
                  </a:extLst>
                </p:cNvPr>
                <p:cNvCxnSpPr/>
                <p:nvPr/>
              </p:nvCxnSpPr>
              <p:spPr>
                <a:xfrm>
                  <a:off x="1536952" y="5600594"/>
                  <a:ext cx="144445" cy="176191"/>
                </a:xfrm>
                <a:prstGeom prst="line">
                  <a:avLst/>
                </a:prstGeom>
                <a:ln w="412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直接连接符 36">
                  <a:extLst>
                    <a:ext uri="{FF2B5EF4-FFF2-40B4-BE49-F238E27FC236}">
                      <a16:creationId xmlns:a16="http://schemas.microsoft.com/office/drawing/2014/main" id="{7DD08377-C00F-4660-B920-66FF167D63FD}"/>
                    </a:ext>
                  </a:extLst>
                </p:cNvPr>
                <p:cNvCxnSpPr/>
                <p:nvPr/>
              </p:nvCxnSpPr>
              <p:spPr>
                <a:xfrm>
                  <a:off x="1665524" y="5760912"/>
                  <a:ext cx="677777" cy="0"/>
                </a:xfrm>
                <a:prstGeom prst="line">
                  <a:avLst/>
                </a:prstGeom>
                <a:ln w="412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接连接符 37">
                  <a:extLst>
                    <a:ext uri="{FF2B5EF4-FFF2-40B4-BE49-F238E27FC236}">
                      <a16:creationId xmlns:a16="http://schemas.microsoft.com/office/drawing/2014/main" id="{A71324EB-4AD8-482A-8D30-6D3DB9B6AC5E}"/>
                    </a:ext>
                  </a:extLst>
                </p:cNvPr>
                <p:cNvCxnSpPr/>
                <p:nvPr/>
              </p:nvCxnSpPr>
              <p:spPr>
                <a:xfrm flipH="1">
                  <a:off x="2333778" y="5600594"/>
                  <a:ext cx="160318" cy="168254"/>
                </a:xfrm>
                <a:prstGeom prst="line">
                  <a:avLst/>
                </a:prstGeom>
                <a:ln w="412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39" name="Group 185">
            <a:extLst>
              <a:ext uri="{FF2B5EF4-FFF2-40B4-BE49-F238E27FC236}">
                <a16:creationId xmlns:a16="http://schemas.microsoft.com/office/drawing/2014/main" id="{073E44EE-EF6B-46A2-ABD8-3EBA04B9AEE5}"/>
              </a:ext>
            </a:extLst>
          </p:cNvPr>
          <p:cNvGrpSpPr>
            <a:grpSpLocks/>
          </p:cNvGrpSpPr>
          <p:nvPr/>
        </p:nvGrpSpPr>
        <p:grpSpPr bwMode="auto">
          <a:xfrm>
            <a:off x="2301218" y="3662175"/>
            <a:ext cx="1824038" cy="876300"/>
            <a:chOff x="1783" y="2197"/>
            <a:chExt cx="1149" cy="552"/>
          </a:xfrm>
        </p:grpSpPr>
        <p:grpSp>
          <p:nvGrpSpPr>
            <p:cNvPr id="40" name="Group 182">
              <a:extLst>
                <a:ext uri="{FF2B5EF4-FFF2-40B4-BE49-F238E27FC236}">
                  <a16:creationId xmlns:a16="http://schemas.microsoft.com/office/drawing/2014/main" id="{6BDEB9DD-3ABF-4FA8-8742-458C47BFA1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83" y="2486"/>
              <a:ext cx="1083" cy="263"/>
              <a:chOff x="1783" y="2486"/>
              <a:chExt cx="1083" cy="263"/>
            </a:xfrm>
          </p:grpSpPr>
          <p:sp>
            <p:nvSpPr>
              <p:cNvPr id="42" name="Line 173">
                <a:extLst>
                  <a:ext uri="{FF2B5EF4-FFF2-40B4-BE49-F238E27FC236}">
                    <a16:creationId xmlns:a16="http://schemas.microsoft.com/office/drawing/2014/main" id="{FD352B6B-E5CB-4DF0-80EC-2588F24591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95" y="2486"/>
                <a:ext cx="571" cy="0"/>
              </a:xfrm>
              <a:prstGeom prst="line">
                <a:avLst/>
              </a:prstGeom>
              <a:noFill/>
              <a:ln w="19050">
                <a:solidFill>
                  <a:srgbClr val="0033C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/>
              </a:p>
            </p:txBody>
          </p:sp>
          <p:sp>
            <p:nvSpPr>
              <p:cNvPr id="43" name="Line 174">
                <a:extLst>
                  <a:ext uri="{FF2B5EF4-FFF2-40B4-BE49-F238E27FC236}">
                    <a16:creationId xmlns:a16="http://schemas.microsoft.com/office/drawing/2014/main" id="{AC42DEDF-DC45-4A0B-9206-5202D037A5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83" y="2488"/>
                <a:ext cx="518" cy="261"/>
              </a:xfrm>
              <a:prstGeom prst="line">
                <a:avLst/>
              </a:prstGeom>
              <a:noFill/>
              <a:ln w="19050">
                <a:solidFill>
                  <a:srgbClr val="0033CC"/>
                </a:solidFill>
                <a:round/>
                <a:headEnd type="triangle" w="sm" len="lg"/>
                <a:tailEnd/>
              </a:ln>
            </p:spPr>
            <p:txBody>
              <a:bodyPr wrap="none" anchor="ctr"/>
              <a:lstStyle/>
              <a:p>
                <a:endParaRPr lang="zh-CN" altLang="en-US" sz="2400"/>
              </a:p>
            </p:txBody>
          </p:sp>
        </p:grpSp>
        <p:sp>
          <p:nvSpPr>
            <p:cNvPr id="41" name="Text Box 178">
              <a:extLst>
                <a:ext uri="{FF2B5EF4-FFF2-40B4-BE49-F238E27FC236}">
                  <a16:creationId xmlns:a16="http://schemas.microsoft.com/office/drawing/2014/main" id="{CC7ED6D0-2970-44DE-B9D1-66518A8251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34" y="2197"/>
              <a:ext cx="69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 sz="2400" dirty="0">
                  <a:solidFill>
                    <a:srgbClr val="3333CC"/>
                  </a:solidFill>
                </a:rPr>
                <a:t>轴不剖</a:t>
              </a:r>
            </a:p>
          </p:txBody>
        </p:sp>
      </p:grpSp>
      <p:grpSp>
        <p:nvGrpSpPr>
          <p:cNvPr id="44" name="Group 184">
            <a:extLst>
              <a:ext uri="{FF2B5EF4-FFF2-40B4-BE49-F238E27FC236}">
                <a16:creationId xmlns:a16="http://schemas.microsoft.com/office/drawing/2014/main" id="{32523265-AE61-4055-9C6E-69F1F99A570B}"/>
              </a:ext>
            </a:extLst>
          </p:cNvPr>
          <p:cNvGrpSpPr>
            <a:grpSpLocks/>
          </p:cNvGrpSpPr>
          <p:nvPr/>
        </p:nvGrpSpPr>
        <p:grpSpPr bwMode="auto">
          <a:xfrm>
            <a:off x="4189246" y="3717893"/>
            <a:ext cx="3524250" cy="1239838"/>
            <a:chOff x="2544" y="1655"/>
            <a:chExt cx="2220" cy="781"/>
          </a:xfrm>
        </p:grpSpPr>
        <p:sp>
          <p:nvSpPr>
            <p:cNvPr id="45" name="Text Box 172">
              <a:extLst>
                <a:ext uri="{FF2B5EF4-FFF2-40B4-BE49-F238E27FC236}">
                  <a16:creationId xmlns:a16="http://schemas.microsoft.com/office/drawing/2014/main" id="{EDBFCCE0-35F4-4F0D-9852-C5A2D3E406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4" y="1655"/>
              <a:ext cx="2065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 sz="2400" dirty="0">
                  <a:solidFill>
                    <a:srgbClr val="3333CC"/>
                  </a:solidFill>
                </a:rPr>
                <a:t>螺栓、螺母和垫圈不剖</a:t>
              </a:r>
              <a:endParaRPr lang="zh-CN" altLang="en-US" sz="2400" b="0" dirty="0">
                <a:solidFill>
                  <a:srgbClr val="333399"/>
                </a:solidFill>
              </a:endParaRPr>
            </a:p>
          </p:txBody>
        </p:sp>
        <p:grpSp>
          <p:nvGrpSpPr>
            <p:cNvPr id="46" name="Group 183">
              <a:extLst>
                <a:ext uri="{FF2B5EF4-FFF2-40B4-BE49-F238E27FC236}">
                  <a16:creationId xmlns:a16="http://schemas.microsoft.com/office/drawing/2014/main" id="{769FE930-F9CD-4B33-9603-226928A448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44" y="1932"/>
              <a:ext cx="2220" cy="504"/>
              <a:chOff x="2544" y="1932"/>
              <a:chExt cx="2220" cy="504"/>
            </a:xfrm>
          </p:grpSpPr>
          <p:sp>
            <p:nvSpPr>
              <p:cNvPr id="47" name="Freeform 175">
                <a:extLst>
                  <a:ext uri="{FF2B5EF4-FFF2-40B4-BE49-F238E27FC236}">
                    <a16:creationId xmlns:a16="http://schemas.microsoft.com/office/drawing/2014/main" id="{2E7E8AC6-019E-4BF8-AE5C-53B7C30626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16" y="1932"/>
                <a:ext cx="336" cy="504"/>
              </a:xfrm>
              <a:custGeom>
                <a:avLst/>
                <a:gdLst>
                  <a:gd name="T0" fmla="*/ 40 w 396"/>
                  <a:gd name="T1" fmla="*/ 0 h 492"/>
                  <a:gd name="T2" fmla="*/ 0 w 396"/>
                  <a:gd name="T3" fmla="*/ 690 h 492"/>
                  <a:gd name="T4" fmla="*/ 0 60000 65536"/>
                  <a:gd name="T5" fmla="*/ 0 60000 65536"/>
                  <a:gd name="T6" fmla="*/ 0 w 396"/>
                  <a:gd name="T7" fmla="*/ 0 h 492"/>
                  <a:gd name="T8" fmla="*/ 396 w 396"/>
                  <a:gd name="T9" fmla="*/ 492 h 492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96" h="492">
                    <a:moveTo>
                      <a:pt x="396" y="0"/>
                    </a:moveTo>
                    <a:lnTo>
                      <a:pt x="0" y="492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  <a:round/>
                <a:headEnd/>
                <a:tailEnd type="triangle" w="sm" len="lg"/>
              </a:ln>
            </p:spPr>
            <p:txBody>
              <a:bodyPr wrap="none" anchor="ctr"/>
              <a:lstStyle/>
              <a:p>
                <a:endParaRPr lang="zh-CN" altLang="en-US" sz="2400"/>
              </a:p>
            </p:txBody>
          </p:sp>
          <p:sp>
            <p:nvSpPr>
              <p:cNvPr id="48" name="Line 177">
                <a:extLst>
                  <a:ext uri="{FF2B5EF4-FFF2-40B4-BE49-F238E27FC236}">
                    <a16:creationId xmlns:a16="http://schemas.microsoft.com/office/drawing/2014/main" id="{5255ECF7-7B12-4C39-9A8E-2D0B1F6969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44" y="1932"/>
                <a:ext cx="2220" cy="0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37187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18" grpId="0" autoUpdateAnimBg="0"/>
      <p:bldP spid="23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1">
            <a:extLst>
              <a:ext uri="{FF2B5EF4-FFF2-40B4-BE49-F238E27FC236}">
                <a16:creationId xmlns:a16="http://schemas.microsoft.com/office/drawing/2014/main" id="{1CB1EFC0-8DEE-42C4-9DBB-A768C48D9C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8346" y="358451"/>
            <a:ext cx="6076950" cy="584775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zh-CN" altLang="en-US" sz="3200" dirty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常见机械装配结构画法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2FDEF5-B62F-4D76-978E-CC5EC519027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943886" y="1125453"/>
            <a:ext cx="7716982" cy="1443182"/>
          </a:xfrm>
          <a:prstGeom prst="rect">
            <a:avLst/>
          </a:prstGeom>
        </p:spPr>
        <p:txBody>
          <a:bodyPr vert="horz" wrap="square" rtlCol="0" anchor="ctr" anchorCtr="0">
            <a:noAutofit/>
          </a:bodyPr>
          <a:lstStyle/>
          <a:p>
            <a:pPr fontAlgn="auto">
              <a:spcAft>
                <a:spcPts val="0"/>
              </a:spcAft>
            </a:pPr>
            <a:r>
              <a:rPr lang="zh-CN" altLang="en-US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关于装配图的表达方法，下面说法正确的是：</a:t>
            </a:r>
            <a:endParaRPr kumimoji="0" lang="zh-CN" altLang="en-US" sz="2600" b="1" dirty="0">
              <a:solidFill>
                <a:srgbClr val="000000"/>
              </a:solidFill>
              <a:latin typeface="黑体" pitchFamily="49" charset="-122"/>
              <a:ea typeface="黑体" pitchFamily="49" charset="-122"/>
              <a:cs typeface="+mj-cs"/>
              <a:sym typeface="Microsoft Yahe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CB3A4A-D8B9-490B-83EE-CDB969482B9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531132" y="2148446"/>
            <a:ext cx="7962444" cy="1440872"/>
          </a:xfrm>
          <a:prstGeom prst="rect">
            <a:avLst/>
          </a:prstGeom>
        </p:spPr>
        <p:txBody>
          <a:bodyPr vert="horz" rtlCol="0" anchor="ctr" anchorCtr="0">
            <a:noAutofit/>
          </a:bodyPr>
          <a:lstStyle/>
          <a:p>
            <a:pPr fontAlgn="auto">
              <a:spcAft>
                <a:spcPts val="0"/>
              </a:spcAft>
            </a:pPr>
            <a:r>
              <a:rPr lang="zh-CN" altLang="en-US" sz="2000" b="1" dirty="0">
                <a:solidFill>
                  <a:schemeClr val="tx1"/>
                </a:solidFill>
              </a:rPr>
              <a:t>相邻零件的表达方法中，两个零件的接触面应画一条线，不接触的相邻表面应画两条线，间隙过小时，应夸大画出。</a:t>
            </a:r>
            <a:endParaRPr kumimoji="0" lang="zh-CN" altLang="en-US" sz="2000" b="1" dirty="0">
              <a:solidFill>
                <a:schemeClr val="tx1"/>
              </a:solidFill>
              <a:latin typeface="Microsoft Yahei"/>
              <a:ea typeface="Microsoft Yahei"/>
              <a:cs typeface="+mj-cs"/>
              <a:sym typeface="Microsoft Yahe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0EA438-BFAD-4CC9-9F16-D9CDBEF48AA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572695" y="3242959"/>
            <a:ext cx="7920881" cy="1357745"/>
          </a:xfrm>
          <a:prstGeom prst="rect">
            <a:avLst/>
          </a:prstGeom>
        </p:spPr>
        <p:txBody>
          <a:bodyPr vert="horz" rtlCol="0" anchor="ctr" anchorCtr="0">
            <a:noAutofit/>
          </a:bodyPr>
          <a:lstStyle/>
          <a:p>
            <a:pPr fontAlgn="auto">
              <a:spcAft>
                <a:spcPts val="0"/>
              </a:spcAft>
            </a:pPr>
            <a:r>
              <a:rPr lang="zh-CN" altLang="en-US" sz="2000" b="1" dirty="0">
                <a:solidFill>
                  <a:schemeClr val="tx1"/>
                </a:solidFill>
              </a:rPr>
              <a:t>简化画法中，当剖切平面通过实心零件（如球、轴等）和紧固件（如螺栓、螺柱、螺钉、螺母、垫圈、键、销等）的轴线时，这些零件均按不剖绘制，仅画其外形。</a:t>
            </a:r>
            <a:endParaRPr kumimoji="0" lang="zh-CN" altLang="en-US" sz="2000" b="1" dirty="0">
              <a:solidFill>
                <a:schemeClr val="tx1"/>
              </a:solidFill>
              <a:latin typeface="Microsoft Yahei"/>
              <a:ea typeface="Microsoft Yahei"/>
              <a:cs typeface="+mj-cs"/>
              <a:sym typeface="Microsoft Yahe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99E7CE-997D-4490-BAE4-CA4B66140B32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572696" y="4626257"/>
            <a:ext cx="7776864" cy="642937"/>
          </a:xfrm>
          <a:prstGeom prst="rect">
            <a:avLst/>
          </a:prstGeom>
        </p:spPr>
        <p:txBody>
          <a:bodyPr vert="horz" rtlCol="0" anchor="ctr" anchorCtr="0">
            <a:noAutofit/>
          </a:bodyPr>
          <a:lstStyle/>
          <a:p>
            <a:pPr fontAlgn="auto">
              <a:spcAft>
                <a:spcPts val="0"/>
              </a:spcAft>
            </a:pPr>
            <a:r>
              <a:rPr lang="zh-CN" altLang="en-US" sz="2000" b="1" dirty="0">
                <a:solidFill>
                  <a:schemeClr val="tx1"/>
                </a:solidFill>
              </a:rPr>
              <a:t>螺纹紧固件一般采用简化画法，对其工艺结构如倒角、倒圆、退刀槽等均可省略不画。</a:t>
            </a:r>
            <a:endParaRPr kumimoji="0" lang="zh-CN" altLang="en-US" sz="2000" b="1" dirty="0">
              <a:solidFill>
                <a:schemeClr val="tx1"/>
              </a:solidFill>
              <a:latin typeface="Microsoft Yahei"/>
              <a:ea typeface="Microsoft Yahei"/>
              <a:cs typeface="+mj-cs"/>
              <a:sym typeface="Microsoft Ya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B899A2A-52AC-43B2-B6E9-14B0EB4C2F5E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1858321" y="25742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2000" b="1" dirty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A</a:t>
            </a:r>
            <a:endParaRPr lang="zh-CN" altLang="en-US" sz="2000" b="1" dirty="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9067383-1583-4809-A93F-F5899FA5CCA7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858321" y="35700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2000" b="1" dirty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B</a:t>
            </a:r>
            <a:endParaRPr lang="zh-CN" altLang="en-US" sz="2000" b="1" dirty="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C9C39AC-15FA-48D9-A5A9-44AAE64A90BA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858321" y="4690551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C</a:t>
            </a:r>
            <a:endParaRPr lang="zh-CN" altLang="en-US" sz="2000" b="1" dirty="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0" name="圆角矩形 11">
            <a:extLst>
              <a:ext uri="{FF2B5EF4-FFF2-40B4-BE49-F238E27FC236}">
                <a16:creationId xmlns:a16="http://schemas.microsoft.com/office/drawing/2014/main" id="{17FF0C97-BD36-4658-8A27-351E72094F57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7451068" y="6289877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提交</a:t>
            </a:r>
            <a:endParaRPr lang="zh-CN" altLang="en-US" sz="1600" dirty="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273723E5-755C-46F2-9577-FB7B1FCDDD31}"/>
              </a:ext>
            </a:extLst>
          </p:cNvPr>
          <p:cNvGrpSpPr/>
          <p:nvPr>
            <p:custDataLst>
              <p:tags r:id="rId10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2" name="TitleBackground">
              <a:extLst>
                <a:ext uri="{FF2B5EF4-FFF2-40B4-BE49-F238E27FC236}">
                  <a16:creationId xmlns:a16="http://schemas.microsoft.com/office/drawing/2014/main" id="{A6439785-E607-45B4-B882-138503D1A84E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 bwMode="auto"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9525">
              <a:noFill/>
              <a:miter lim="800000"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CN" altLang="en-US" sz="3600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13" name="ColorBlock">
              <a:extLst>
                <a:ext uri="{FF2B5EF4-FFF2-40B4-BE49-F238E27FC236}">
                  <a16:creationId xmlns:a16="http://schemas.microsoft.com/office/drawing/2014/main" id="{12D5B383-0115-49FD-951A-EF2FD76A848A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>
              <a:noFill/>
              <a:miter lim="800000"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CN" altLang="en-US" sz="3600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14" name="TypeText">
              <a:extLst>
                <a:ext uri="{FF2B5EF4-FFF2-40B4-BE49-F238E27FC236}">
                  <a16:creationId xmlns:a16="http://schemas.microsoft.com/office/drawing/2014/main" id="{019A376C-F327-4649-AB43-5E81E50117D3}"/>
                </a:ext>
              </a:extLst>
            </p:cNvPr>
            <p:cNvSpPr txBox="1"/>
            <p:nvPr>
              <p:custDataLst>
                <p:tags r:id="rId14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</p:spPr>
          <p:txBody>
            <a:bodyPr vert="horz" wrap="none" rtlCol="0" anchor="ctr" anchorCtr="0">
              <a:noAutofit/>
            </a:bodyPr>
            <a:lstStyle/>
            <a:p>
              <a:pPr fontAlgn="auto">
                <a:spcAft>
                  <a:spcPts val="0"/>
                </a:spcAft>
              </a:pPr>
              <a:r>
                <a:rPr kumimoji="0" lang="zh-CN" altLang="en-US" sz="2600" b="1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j-cs"/>
                  <a:sym typeface="Microsoft Yahei" panose="020B0503020204020204" pitchFamily="34" charset="-122"/>
                </a:rPr>
                <a:t>多选题</a:t>
              </a:r>
              <a:endParaRPr kumimoji="0" lang="zh-CN" altLang="en-US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endParaRPr>
            </a:p>
          </p:txBody>
        </p:sp>
        <p:sp>
          <p:nvSpPr>
            <p:cNvPr id="15" name="TipText">
              <a:extLst>
                <a:ext uri="{FF2B5EF4-FFF2-40B4-BE49-F238E27FC236}">
                  <a16:creationId xmlns:a16="http://schemas.microsoft.com/office/drawing/2014/main" id="{AFFBD98B-6594-4EC4-9DB5-5B7CEA887E86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</p:spPr>
          <p:txBody>
            <a:bodyPr vert="horz" wrap="none" rtlCol="0" anchor="ctr" anchorCtr="0">
              <a:noAutofit/>
            </a:bodyPr>
            <a:lstStyle/>
            <a:p>
              <a:pPr fontAlgn="auto">
                <a:spcAft>
                  <a:spcPts val="0"/>
                </a:spcAft>
              </a:pPr>
              <a:r>
                <a:rPr kumimoji="0" lang="en-US" altLang="zh-CN" sz="2000" b="1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j-cs"/>
                  <a:sym typeface="Microsoft Yahei" panose="020B0503020204020204" pitchFamily="34" charset="-122"/>
                </a:rPr>
                <a:t>1</a:t>
              </a:r>
              <a:r>
                <a:rPr kumimoji="0" lang="zh-CN" altLang="en-US" sz="2000" b="1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j-cs"/>
                  <a:sym typeface="Microsoft Yahei" panose="020B0503020204020204" pitchFamily="34" charset="-122"/>
                </a:rPr>
                <a:t>分</a:t>
              </a:r>
              <a:endParaRPr kumimoji="0" lang="zh-CN" altLang="en-US" sz="2000" b="1" dirty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endParaRPr>
            </a:p>
          </p:txBody>
        </p:sp>
      </p:grpSp>
      <p:pic>
        <p:nvPicPr>
          <p:cNvPr id="11" name="图片 10" descr="tmp4D6B.tmp">
            <a:extLst>
              <a:ext uri="{FF2B5EF4-FFF2-40B4-BE49-F238E27FC236}">
                <a16:creationId xmlns:a16="http://schemas.microsoft.com/office/drawing/2014/main" id="{D5829497-A2D1-4BAA-83C5-258BFA334BD5}"/>
              </a:ext>
            </a:extLst>
          </p:cNvPr>
          <p:cNvPicPr>
            <a:picLocks/>
          </p:cNvPicPr>
          <p:nvPr>
            <p:custDataLst>
              <p:tags r:id="rId11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659057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3BF44E7-5172-4C5E-89A0-486659AFB39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</p:spPr>
        <p:txBody>
          <a:bodyPr vert="horz" wrap="square" rtlCol="0" anchor="ctr" anchorCtr="0">
            <a:noAutofit/>
          </a:bodyPr>
          <a:lstStyle/>
          <a:p>
            <a:pPr fontAlgn="auto">
              <a:spcAft>
                <a:spcPts val="0"/>
              </a:spcAft>
            </a:pPr>
            <a:r>
              <a:rPr kumimoji="0" lang="zh-CN" altLang="en-US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rPr>
              <a:t>通过课前视频学习，你了解到常用螺纹连接都有哪几种形式？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DF49966-8F06-4DBA-A1F8-4C514FAFD5BC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</p:spPr>
        <p:txBody>
          <a:bodyPr vert="horz" rtlCol="0" anchor="ctr" anchorCtr="0">
            <a:noAutofit/>
          </a:bodyPr>
          <a:lstStyle/>
          <a:p>
            <a:pPr fontAlgn="auto">
              <a:spcAft>
                <a:spcPts val="0"/>
              </a:spcAft>
            </a:pPr>
            <a:r>
              <a:rPr kumimoji="0" lang="zh-CN" altLang="en-US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rPr>
              <a:t>螺栓连接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CB44FA6-7F77-4C1E-B90A-B62CED6361CB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</p:spPr>
        <p:txBody>
          <a:bodyPr vert="horz" rtlCol="0" anchor="ctr" anchorCtr="0">
            <a:noAutofit/>
          </a:bodyPr>
          <a:lstStyle/>
          <a:p>
            <a:pPr fontAlgn="auto">
              <a:spcAft>
                <a:spcPts val="0"/>
              </a:spcAft>
            </a:pPr>
            <a:r>
              <a:rPr kumimoji="0" lang="zh-CN" altLang="en-US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rPr>
              <a:t>双头螺柱连接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0B885A7-E4D6-4E4F-8621-0DFCF39DAF32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</p:spPr>
        <p:txBody>
          <a:bodyPr vert="horz" rtlCol="0" anchor="ctr" anchorCtr="0">
            <a:noAutofit/>
          </a:bodyPr>
          <a:lstStyle/>
          <a:p>
            <a:pPr fontAlgn="auto">
              <a:spcAft>
                <a:spcPts val="0"/>
              </a:spcAft>
            </a:pPr>
            <a:r>
              <a:rPr kumimoji="0" lang="zh-CN" altLang="en-US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rPr>
              <a:t>螺钉连接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9662089-BEAF-477B-8123-B4CBB912D25B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</p:spPr>
        <p:txBody>
          <a:bodyPr vert="horz" rtlCol="0" anchor="ctr" anchorCtr="0">
            <a:noAutofit/>
          </a:bodyPr>
          <a:lstStyle/>
          <a:p>
            <a:pPr fontAlgn="auto">
              <a:spcAft>
                <a:spcPts val="0"/>
              </a:spcAft>
            </a:pPr>
            <a:r>
              <a:rPr kumimoji="0" lang="zh-CN" altLang="en-US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rPr>
              <a:t>螺母连接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B04A6F0-425C-4184-8529-F1D9BBB27397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571625" y="28503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D06FA0D-CC35-4727-A814-5D976E5D4F62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571625" y="370760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79C97D5-9238-428A-AA26-6EC26B138822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571625" y="45648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E6D06B8-94F6-4E0E-B708-DF4946F6385B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571625" y="542210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FA5C000E-13D9-4643-B700-660DC6BC5603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3215A71D-D1EB-4EF2-890E-F463413A2ACC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3E11C737-BB80-4BB4-8916-030C524223DC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9525">
              <a:noFill/>
              <a:miter lim="800000"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CN" altLang="en-US" sz="3600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03B040C8-D9A4-4B29-B12C-94DC38792C66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>
              <a:noFill/>
              <a:miter lim="800000"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CN" altLang="en-US" sz="3600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47F45581-C787-4B1D-A4EE-E7FDBB7A5E7B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</p:spPr>
          <p:txBody>
            <a:bodyPr vert="horz" wrap="none" rtlCol="0" anchor="ctr" anchorCtr="0">
              <a:noAutofit/>
            </a:bodyPr>
            <a:lstStyle/>
            <a:p>
              <a:pPr fontAlgn="auto">
                <a:spcAft>
                  <a:spcPts val="0"/>
                </a:spcAft>
              </a:pPr>
              <a:r>
                <a:rPr kumimoji="0" lang="zh-CN" altLang="en-US" sz="2600" b="1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j-cs"/>
                  <a:sym typeface="Microsoft Yahei" panose="020B0503020204020204" pitchFamily="34" charset="-122"/>
                </a:rPr>
                <a:t>多选题</a:t>
              </a:r>
              <a:endParaRPr kumimoji="0" lang="zh-CN" altLang="en-US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endParaRP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77D76D2F-F63A-442B-ABA0-1FA632B17FCF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</p:spPr>
          <p:txBody>
            <a:bodyPr vert="horz" wrap="none" rtlCol="0" anchor="ctr" anchorCtr="0">
              <a:noAutofit/>
            </a:bodyPr>
            <a:lstStyle/>
            <a:p>
              <a:pPr fontAlgn="auto">
                <a:spcAft>
                  <a:spcPts val="0"/>
                </a:spcAft>
              </a:pPr>
              <a:r>
                <a:rPr kumimoji="0" lang="en-US" altLang="zh-CN" sz="2000" b="1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j-cs"/>
                  <a:sym typeface="Microsoft Yahei" panose="020B0503020204020204" pitchFamily="34" charset="-122"/>
                </a:rPr>
                <a:t>2</a:t>
              </a:r>
              <a:r>
                <a:rPr kumimoji="0" lang="zh-CN" altLang="en-US" sz="2000" b="1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j-cs"/>
                  <a:sym typeface="Microsoft Yahei" panose="020B0503020204020204" pitchFamily="34" charset="-122"/>
                </a:rPr>
                <a:t>分</a:t>
              </a:r>
              <a:endParaRPr kumimoji="0" lang="zh-CN" altLang="en-US" sz="2000" b="1" dirty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endParaRP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AB288EC2-1A2C-40E7-99C5-D335518FC92F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676097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1">
            <a:extLst>
              <a:ext uri="{FF2B5EF4-FFF2-40B4-BE49-F238E27FC236}">
                <a16:creationId xmlns:a16="http://schemas.microsoft.com/office/drawing/2014/main" id="{3E37AA79-A50A-40A6-89CE-23DBBD8166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8346" y="358451"/>
            <a:ext cx="6076950" cy="584775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zh-CN" altLang="en-US" sz="3200" dirty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常见机械装配结构画法</a:t>
            </a: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05CF5502-BF66-491F-9DAE-62E1736049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3309" y="1287116"/>
            <a:ext cx="4512774" cy="52322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一、螺纹紧固件的联接画法</a:t>
            </a: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49C4D9F4-75B9-4393-A3D5-28711BC3E8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5596" y="1829521"/>
            <a:ext cx="3741730" cy="46166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400" dirty="0">
                <a:solidFill>
                  <a:srgbClr val="0070C0"/>
                </a:solidFill>
              </a:rPr>
              <a:t>1</a:t>
            </a:r>
            <a:r>
              <a:rPr lang="zh-CN" altLang="en-US" sz="2400" dirty="0">
                <a:solidFill>
                  <a:srgbClr val="0070C0"/>
                </a:solidFill>
              </a:rPr>
              <a:t>．螺纹紧固件的联接形式</a:t>
            </a:r>
          </a:p>
        </p:txBody>
      </p:sp>
      <p:pic>
        <p:nvPicPr>
          <p:cNvPr id="6" name="Picture 2" descr="snap">
            <a:extLst>
              <a:ext uri="{FF2B5EF4-FFF2-40B4-BE49-F238E27FC236}">
                <a16:creationId xmlns:a16="http://schemas.microsoft.com/office/drawing/2014/main" id="{347BDD12-98B7-4FFE-BD66-DD143F0739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35649" r="35524"/>
          <a:stretch>
            <a:fillRect/>
          </a:stretch>
        </p:blipFill>
        <p:spPr bwMode="auto">
          <a:xfrm>
            <a:off x="5338297" y="3116462"/>
            <a:ext cx="2119745" cy="3128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26CD3EEF-8E2D-423B-81CE-1816172B69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9216" y="2446613"/>
            <a:ext cx="8277909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 eaLnBrk="0" hangingPunct="0"/>
            <a:r>
              <a:rPr lang="zh-CN" altLang="en-US" sz="2400" b="0" dirty="0">
                <a:solidFill>
                  <a:srgbClr val="0070C0"/>
                </a:solidFill>
              </a:rPr>
              <a:t>   螺栓联接               </a:t>
            </a:r>
            <a:r>
              <a:rPr lang="en-US" altLang="zh-CN" sz="2400" b="0" dirty="0">
                <a:solidFill>
                  <a:srgbClr val="0070C0"/>
                </a:solidFill>
              </a:rPr>
              <a:t>    </a:t>
            </a:r>
            <a:r>
              <a:rPr lang="zh-CN" altLang="en-US" sz="2400" b="0" dirty="0">
                <a:solidFill>
                  <a:srgbClr val="0070C0"/>
                </a:solidFill>
              </a:rPr>
              <a:t>双头螺柱联接                </a:t>
            </a:r>
            <a:r>
              <a:rPr lang="en-US" altLang="zh-CN" sz="2400" b="0" dirty="0">
                <a:solidFill>
                  <a:srgbClr val="0070C0"/>
                </a:solidFill>
              </a:rPr>
              <a:t>   </a:t>
            </a:r>
            <a:r>
              <a:rPr lang="zh-CN" altLang="en-US" sz="2400" b="0" dirty="0">
                <a:solidFill>
                  <a:srgbClr val="0070C0"/>
                </a:solidFill>
              </a:rPr>
              <a:t>螺钉联接</a:t>
            </a:r>
            <a:endParaRPr lang="zh-CN" altLang="en-US" sz="2400" dirty="0">
              <a:solidFill>
                <a:srgbClr val="0070C0"/>
              </a:solidFill>
            </a:endParaRPr>
          </a:p>
        </p:txBody>
      </p:sp>
      <p:pic>
        <p:nvPicPr>
          <p:cNvPr id="8" name="Picture 2" descr="snap">
            <a:extLst>
              <a:ext uri="{FF2B5EF4-FFF2-40B4-BE49-F238E27FC236}">
                <a16:creationId xmlns:a16="http://schemas.microsoft.com/office/drawing/2014/main" id="{5E85A28B-BD74-4EDE-AE40-2A3F997AB8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r="72076"/>
          <a:stretch>
            <a:fillRect/>
          </a:stretch>
        </p:blipFill>
        <p:spPr bwMode="auto">
          <a:xfrm>
            <a:off x="2351667" y="3073599"/>
            <a:ext cx="2053359" cy="3128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2" descr="snap">
            <a:extLst>
              <a:ext uri="{FF2B5EF4-FFF2-40B4-BE49-F238E27FC236}">
                <a16:creationId xmlns:a16="http://schemas.microsoft.com/office/drawing/2014/main" id="{B14502B2-27EE-47F8-AD8D-EB347B6BEF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73709"/>
          <a:stretch>
            <a:fillRect/>
          </a:stretch>
        </p:blipFill>
        <p:spPr bwMode="auto">
          <a:xfrm>
            <a:off x="8603839" y="2908575"/>
            <a:ext cx="1933286" cy="3128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103429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5" grpId="0" autoUpdateAnimBg="0"/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>
            <a:extLst>
              <a:ext uri="{FF2B5EF4-FFF2-40B4-BE49-F238E27FC236}">
                <a16:creationId xmlns:a16="http://schemas.microsoft.com/office/drawing/2014/main" id="{88F03783-6979-4A39-AC6A-17D768D82D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7372" y="1926840"/>
            <a:ext cx="5749925" cy="52387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800" dirty="0">
                <a:solidFill>
                  <a:schemeClr val="tx1"/>
                </a:solidFill>
              </a:rPr>
              <a:t>2</a:t>
            </a:r>
            <a:r>
              <a:rPr lang="zh-CN" altLang="en-US" sz="2800" dirty="0">
                <a:solidFill>
                  <a:schemeClr val="tx1"/>
                </a:solidFill>
              </a:rPr>
              <a:t>．装配图中螺纹紧固件尺寸的确定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5278789D-75AF-4EA5-8D8C-5E1ABC8D92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5440" y="1340768"/>
            <a:ext cx="4512774" cy="52322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一、螺纹紧固件的联接画法</a:t>
            </a:r>
          </a:p>
        </p:txBody>
      </p:sp>
      <p:sp>
        <p:nvSpPr>
          <p:cNvPr id="4" name="Text Box 38">
            <a:extLst>
              <a:ext uri="{FF2B5EF4-FFF2-40B4-BE49-F238E27FC236}">
                <a16:creationId xmlns:a16="http://schemas.microsoft.com/office/drawing/2014/main" id="{59DC351D-6CFB-45ED-A985-D67FE87282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0109" y="4091478"/>
            <a:ext cx="225107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000" b="1" dirty="0">
                <a:solidFill>
                  <a:schemeClr val="accent2"/>
                </a:solidFill>
                <a:latin typeface="宋体" pitchFamily="2" charset="-122"/>
              </a:rPr>
              <a:t>其中：</a:t>
            </a:r>
            <a:r>
              <a:rPr lang="en-US" altLang="zh-CN" sz="2000" b="1" dirty="0">
                <a:solidFill>
                  <a:schemeClr val="accent2"/>
                </a:solidFill>
                <a:latin typeface="宋体" pitchFamily="2" charset="-122"/>
              </a:rPr>
              <a:t>d=</a:t>
            </a:r>
            <a:r>
              <a:rPr lang="zh-CN" altLang="zh-CN" sz="2000" b="1" dirty="0">
                <a:solidFill>
                  <a:schemeClr val="accent2"/>
                </a:solidFill>
                <a:latin typeface="宋体" pitchFamily="2" charset="-122"/>
              </a:rPr>
              <a:t>螺纹大径</a:t>
            </a:r>
            <a:endParaRPr lang="zh-CN" altLang="en-US" sz="2000" b="1" dirty="0">
              <a:solidFill>
                <a:schemeClr val="accent2"/>
              </a:solidFill>
              <a:latin typeface="宋体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68C651C-C8C2-43D6-AC2C-14B268913C9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798376" y="2539192"/>
            <a:ext cx="3081337" cy="2643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3814318-1156-4B62-9201-CD5BE55780E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10109" y="4730880"/>
            <a:ext cx="3514725" cy="159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B09659C-B094-4798-A9F6-36702D62B00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791662" y="2027618"/>
            <a:ext cx="3255963" cy="187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8751CF8-E902-498C-AF03-93CBB0439D5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309783" y="4104502"/>
            <a:ext cx="4062412" cy="2428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 Box 31">
            <a:extLst>
              <a:ext uri="{FF2B5EF4-FFF2-40B4-BE49-F238E27FC236}">
                <a16:creationId xmlns:a16="http://schemas.microsoft.com/office/drawing/2014/main" id="{54A5C237-3CDC-47DF-A8E8-D91334080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8346" y="358451"/>
            <a:ext cx="6076950" cy="584775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zh-CN" altLang="en-US" sz="3200" dirty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常见机械装配结构画法</a:t>
            </a:r>
          </a:p>
        </p:txBody>
      </p:sp>
    </p:spTree>
    <p:extLst>
      <p:ext uri="{BB962C8B-B14F-4D97-AF65-F5344CB8AC3E}">
        <p14:creationId xmlns:p14="http://schemas.microsoft.com/office/powerpoint/2010/main" val="1260330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4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1">
            <a:extLst>
              <a:ext uri="{FF2B5EF4-FFF2-40B4-BE49-F238E27FC236}">
                <a16:creationId xmlns:a16="http://schemas.microsoft.com/office/drawing/2014/main" id="{D1E9B390-5B14-4006-BDA2-DFF45D91F9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8346" y="358451"/>
            <a:ext cx="6076950" cy="584775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zh-CN" altLang="en-US" sz="3200" dirty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常见机械装配结构画法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B0E7B868-2F61-49E8-8FF3-7EE30A6596B5}"/>
              </a:ext>
            </a:extLst>
          </p:cNvPr>
          <p:cNvGrpSpPr/>
          <p:nvPr/>
        </p:nvGrpSpPr>
        <p:grpSpPr>
          <a:xfrm>
            <a:off x="2819636" y="1628800"/>
            <a:ext cx="8210466" cy="5068536"/>
            <a:chOff x="771520" y="2122343"/>
            <a:chExt cx="7629525" cy="4464195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902F0E5-4393-43E9-BD86-374E0E3343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/>
            <a:srcRect r="73823" b="14265"/>
            <a:stretch>
              <a:fillRect/>
            </a:stretch>
          </p:blipFill>
          <p:spPr bwMode="auto">
            <a:xfrm>
              <a:off x="771520" y="2122343"/>
              <a:ext cx="2700338" cy="2833687"/>
            </a:xfrm>
            <a:prstGeom prst="rect">
              <a:avLst/>
            </a:prstGeom>
            <a:noFill/>
            <a:ln w="9525" cap="flat" cmpd="sng">
              <a:noFill/>
              <a:prstDash val="solid"/>
              <a:miter lim="800000"/>
              <a:headEnd/>
              <a:tailEnd/>
            </a:ln>
            <a:effectLst/>
          </p:spPr>
        </p:pic>
        <p:pic>
          <p:nvPicPr>
            <p:cNvPr id="5" name="Picture 3">
              <a:extLst>
                <a:ext uri="{FF2B5EF4-FFF2-40B4-BE49-F238E27FC236}">
                  <a16:creationId xmlns:a16="http://schemas.microsoft.com/office/drawing/2014/main" id="{8FAC052E-52F1-4B35-9F48-69171956963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/>
            <a:srcRect l="50000" t="18011" b="9366"/>
            <a:stretch>
              <a:fillRect/>
            </a:stretch>
          </p:blipFill>
          <p:spPr bwMode="auto">
            <a:xfrm>
              <a:off x="3243258" y="4186238"/>
              <a:ext cx="5157787" cy="2400300"/>
            </a:xfrm>
            <a:prstGeom prst="rect">
              <a:avLst/>
            </a:prstGeom>
            <a:noFill/>
            <a:ln w="9525" cap="flat" cmpd="sng">
              <a:noFill/>
              <a:prstDash val="solid"/>
              <a:miter lim="800000"/>
              <a:headEnd/>
              <a:tailEnd/>
            </a:ln>
            <a:effectLst/>
          </p:spPr>
        </p:pic>
        <p:pic>
          <p:nvPicPr>
            <p:cNvPr id="6" name="Picture 3">
              <a:extLst>
                <a:ext uri="{FF2B5EF4-FFF2-40B4-BE49-F238E27FC236}">
                  <a16:creationId xmlns:a16="http://schemas.microsoft.com/office/drawing/2014/main" id="{9C9545C4-26E8-409D-8BBC-CFF40A60C77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/>
            <a:srcRect l="29271" t="24496" r="54524" b="18876"/>
            <a:stretch>
              <a:fillRect/>
            </a:stretch>
          </p:blipFill>
          <p:spPr bwMode="auto">
            <a:xfrm>
              <a:off x="5386382" y="2141393"/>
              <a:ext cx="1671638" cy="1871662"/>
            </a:xfrm>
            <a:prstGeom prst="rect">
              <a:avLst/>
            </a:prstGeom>
            <a:noFill/>
            <a:ln w="9525" cap="flat" cmpd="sng">
              <a:noFill/>
              <a:prstDash val="solid"/>
              <a:miter lim="800000"/>
              <a:headEnd/>
              <a:tailEnd/>
            </a:ln>
            <a:effectLst/>
          </p:spPr>
        </p:pic>
      </p:grpSp>
      <p:sp>
        <p:nvSpPr>
          <p:cNvPr id="7" name="Text Box 4">
            <a:extLst>
              <a:ext uri="{FF2B5EF4-FFF2-40B4-BE49-F238E27FC236}">
                <a16:creationId xmlns:a16="http://schemas.microsoft.com/office/drawing/2014/main" id="{A15F6824-3200-4138-9B12-9FAA683F64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4159" y="5134130"/>
            <a:ext cx="3268374" cy="830997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zh-CN" sz="2400" b="1" dirty="0">
                <a:solidFill>
                  <a:schemeClr val="tx1"/>
                </a:solidFill>
              </a:rPr>
              <a:t>2</a:t>
            </a:r>
            <a:r>
              <a:rPr lang="zh-CN" altLang="en-US" sz="2400" b="1" dirty="0">
                <a:solidFill>
                  <a:schemeClr val="tx1"/>
                </a:solidFill>
              </a:rPr>
              <a:t>．装配图中螺纹紧固</a:t>
            </a:r>
            <a:endParaRPr lang="en-US" altLang="zh-CN" sz="2400" b="1" dirty="0">
              <a:solidFill>
                <a:schemeClr val="tx1"/>
              </a:solidFill>
            </a:endParaRPr>
          </a:p>
          <a:p>
            <a:r>
              <a:rPr lang="en-US" altLang="zh-CN" sz="2400" b="1" dirty="0"/>
              <a:t>     </a:t>
            </a:r>
            <a:r>
              <a:rPr lang="zh-CN" altLang="en-US" sz="2400" b="1" dirty="0">
                <a:solidFill>
                  <a:schemeClr val="tx1"/>
                </a:solidFill>
              </a:rPr>
              <a:t>件尺寸的确定</a:t>
            </a:r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id="{9ED1B5D4-24A6-42E6-9688-95409E7540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1959" y="1195528"/>
            <a:ext cx="4512774" cy="52322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一、螺纹紧固件的联接画法</a:t>
            </a:r>
          </a:p>
        </p:txBody>
      </p:sp>
    </p:spTree>
    <p:extLst>
      <p:ext uri="{BB962C8B-B14F-4D97-AF65-F5344CB8AC3E}">
        <p14:creationId xmlns:p14="http://schemas.microsoft.com/office/powerpoint/2010/main" val="3066441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79DF820-74B2-4E5B-ADF6-E11F9EEDAE0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55440" y="1043924"/>
            <a:ext cx="9753600" cy="1245828"/>
          </a:xfrm>
          <a:prstGeom prst="rect">
            <a:avLst/>
          </a:prstGeom>
        </p:spPr>
        <p:txBody>
          <a:bodyPr vert="horz" wrap="square" rtlCol="0" anchor="ctr" anchorCtr="0">
            <a:noAutofit/>
          </a:bodyPr>
          <a:lstStyle/>
          <a:p>
            <a:pPr fontAlgn="auto">
              <a:spcAft>
                <a:spcPts val="0"/>
              </a:spcAft>
            </a:pPr>
            <a:r>
              <a:rPr lang="zh-CN" altLang="en-US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图中标出的地方，哪一处是画错的？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814A99C-7AD6-4B3C-96F5-44E7F47891B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</p:spPr>
        <p:txBody>
          <a:bodyPr vert="horz" rtlCol="0" anchor="ctr" anchorCtr="0">
            <a:noAutofit/>
          </a:bodyPr>
          <a:lstStyle/>
          <a:p>
            <a:pPr fontAlgn="auto">
              <a:spcAft>
                <a:spcPts val="0"/>
              </a:spcAft>
            </a:pPr>
            <a:r>
              <a:rPr kumimoji="0" lang="en-US" altLang="zh-CN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rPr>
              <a:t>A</a:t>
            </a:r>
            <a:endParaRPr kumimoji="0" lang="zh-CN" altLang="en-US" sz="260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j-cs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EED8572-4736-4286-9106-7D3A21854D77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438400" y="3471863"/>
            <a:ext cx="8534400" cy="642938"/>
          </a:xfrm>
          <a:prstGeom prst="rect">
            <a:avLst/>
          </a:prstGeom>
        </p:spPr>
        <p:txBody>
          <a:bodyPr vert="horz" rtlCol="0" anchor="ctr" anchorCtr="0">
            <a:noAutofit/>
          </a:bodyPr>
          <a:lstStyle/>
          <a:p>
            <a:pPr fontAlgn="auto">
              <a:spcAft>
                <a:spcPts val="0"/>
              </a:spcAft>
            </a:pPr>
            <a:r>
              <a:rPr kumimoji="0" lang="en-US" altLang="zh-CN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rPr>
              <a:t>B</a:t>
            </a:r>
            <a:endParaRPr kumimoji="0" lang="zh-CN" altLang="en-US" sz="260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j-cs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6AA8311-C9AB-4E7C-AD39-4786538D692B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438400" y="4157663"/>
            <a:ext cx="8534400" cy="642938"/>
          </a:xfrm>
          <a:prstGeom prst="rect">
            <a:avLst/>
          </a:prstGeom>
        </p:spPr>
        <p:txBody>
          <a:bodyPr vert="horz" rtlCol="0" anchor="ctr" anchorCtr="0">
            <a:noAutofit/>
          </a:bodyPr>
          <a:lstStyle/>
          <a:p>
            <a:pPr fontAlgn="auto">
              <a:spcAft>
                <a:spcPts val="0"/>
              </a:spcAft>
            </a:pPr>
            <a:r>
              <a:rPr kumimoji="0" lang="en-US" altLang="zh-CN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rPr>
              <a:t>C</a:t>
            </a:r>
            <a:endParaRPr kumimoji="0" lang="zh-CN" altLang="en-US" sz="260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j-cs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B28CF1F-31AB-41E4-B70F-9E9606298DF4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438400" y="4843463"/>
            <a:ext cx="8534400" cy="642938"/>
          </a:xfrm>
          <a:prstGeom prst="rect">
            <a:avLst/>
          </a:prstGeom>
        </p:spPr>
        <p:txBody>
          <a:bodyPr vert="horz" rtlCol="0" anchor="ctr" anchorCtr="0">
            <a:noAutofit/>
          </a:bodyPr>
          <a:lstStyle/>
          <a:p>
            <a:pPr fontAlgn="auto">
              <a:spcAft>
                <a:spcPts val="0"/>
              </a:spcAft>
            </a:pPr>
            <a:r>
              <a:rPr kumimoji="0" lang="en-US" altLang="zh-CN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rPr>
              <a:t>D</a:t>
            </a:r>
            <a:endParaRPr kumimoji="0" lang="zh-CN" altLang="en-US" sz="260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j-cs"/>
              <a:sym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C1B15CF-2DDD-4F11-AA18-6BB4DAFA5364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571625" y="28503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FE8EA59-9598-4FA1-B7B9-FA15D60C101E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571625" y="35361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CD3D0A1-6C5B-4C53-BA7C-EFD48EB20119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571625" y="422195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D02AD85-4A0A-41D3-A3CA-2E22096CDB4E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571625" y="49077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E49FBE95-64C3-4A3E-81AA-F2F20904135F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C9F31EFA-8E5F-4449-A01B-E9C0ACBADF4F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20036" y="1412776"/>
            <a:ext cx="2819570" cy="5337306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85DD99D9-A06D-4096-A5EC-96301978CE5E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2438400" y="5529263"/>
            <a:ext cx="8534400" cy="642938"/>
          </a:xfrm>
          <a:prstGeom prst="rect">
            <a:avLst/>
          </a:prstGeom>
        </p:spPr>
        <p:txBody>
          <a:bodyPr vert="horz" rtlCol="0" anchor="ctr" anchorCtr="0">
            <a:noAutofit/>
          </a:bodyPr>
          <a:lstStyle/>
          <a:p>
            <a:pPr fontAlgn="auto">
              <a:spcAft>
                <a:spcPts val="0"/>
              </a:spcAft>
            </a:pPr>
            <a:r>
              <a:rPr kumimoji="0" lang="en-US" altLang="zh-CN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rPr>
              <a:t>E</a:t>
            </a:r>
            <a:endParaRPr kumimoji="0" lang="zh-CN" altLang="en-US" sz="2600" b="1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j-cs"/>
              <a:sym typeface="Microsoft Yahei" panose="020B0503020204020204" pitchFamily="34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48B93E6-991E-402E-A228-6D2B3E674DA2}"/>
              </a:ext>
            </a:extLst>
          </p:cNvPr>
          <p:cNvSpPr>
            <a:spLocks noChangeAspect="1"/>
          </p:cNvSpPr>
          <p:nvPr>
            <p:custDataLst>
              <p:tags r:id="rId13"/>
            </p:custDataLst>
          </p:nvPr>
        </p:nvSpPr>
        <p:spPr bwMode="auto">
          <a:xfrm>
            <a:off x="1571625" y="55935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E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CCBBD08D-3D11-4455-92F3-2873E266DA0A}"/>
              </a:ext>
            </a:extLst>
          </p:cNvPr>
          <p:cNvGrpSpPr/>
          <p:nvPr>
            <p:custDataLst>
              <p:tags r:id="rId1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253963FF-B364-4857-9DF6-867E684747C3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 bwMode="auto"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9525">
              <a:noFill/>
              <a:miter lim="800000"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CN" altLang="en-US" sz="3600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43E26A34-3CFF-4678-BEC6-0BC0154B36F1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>
              <a:noFill/>
              <a:miter lim="800000"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CN" altLang="en-US" sz="3600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78ADBC6A-98B7-41DC-91F2-CFB5CE27A0C8}"/>
                </a:ext>
              </a:extLst>
            </p:cNvPr>
            <p:cNvSpPr txBox="1"/>
            <p:nvPr>
              <p:custDataLst>
                <p:tags r:id="rId1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</p:spPr>
          <p:txBody>
            <a:bodyPr vert="horz" wrap="none" rtlCol="0" anchor="ctr" anchorCtr="0">
              <a:noAutofit/>
            </a:bodyPr>
            <a:lstStyle/>
            <a:p>
              <a:pPr fontAlgn="auto">
                <a:spcAft>
                  <a:spcPts val="0"/>
                </a:spcAft>
              </a:pPr>
              <a:r>
                <a:rPr kumimoji="0" lang="zh-CN" altLang="en-US" sz="2600" b="1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j-cs"/>
                  <a:sym typeface="Microsoft Yahei" panose="020B0503020204020204" pitchFamily="34" charset="-122"/>
                </a:rPr>
                <a:t>多选题</a:t>
              </a:r>
              <a:endParaRPr kumimoji="0" lang="zh-CN" altLang="en-US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endParaRP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891E8404-1FDA-4D88-BDB9-7901F55C2127}"/>
                </a:ext>
              </a:extLst>
            </p:cNvPr>
            <p:cNvSpPr txBox="1"/>
            <p:nvPr>
              <p:custDataLst>
                <p:tags r:id="rId1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</p:spPr>
          <p:txBody>
            <a:bodyPr vert="horz" wrap="none" rtlCol="0" anchor="ctr" anchorCtr="0">
              <a:noAutofit/>
            </a:bodyPr>
            <a:lstStyle/>
            <a:p>
              <a:pPr fontAlgn="auto">
                <a:spcAft>
                  <a:spcPts val="0"/>
                </a:spcAft>
              </a:pPr>
              <a:r>
                <a:rPr kumimoji="0" lang="en-US" altLang="zh-CN" sz="2000" b="1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j-cs"/>
                  <a:sym typeface="Microsoft Yahei" panose="020B0503020204020204" pitchFamily="34" charset="-122"/>
                </a:rPr>
                <a:t>2</a:t>
              </a:r>
              <a:r>
                <a:rPr kumimoji="0" lang="zh-CN" altLang="en-US" sz="2000" b="1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j-cs"/>
                  <a:sym typeface="Microsoft Yahei" panose="020B0503020204020204" pitchFamily="34" charset="-122"/>
                </a:rPr>
                <a:t>分</a:t>
              </a:r>
              <a:endParaRPr kumimoji="0" lang="zh-CN" altLang="en-US" sz="2000" b="1" dirty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endParaRP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DDF36CAF-9A01-4B04-8D25-00BBBEE2500D}"/>
              </a:ext>
            </a:extLst>
          </p:cNvPr>
          <p:cNvPicPr>
            <a:picLocks/>
          </p:cNvPicPr>
          <p:nvPr>
            <p:custDataLst>
              <p:tags r:id="rId15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200047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1">
            <a:extLst>
              <a:ext uri="{FF2B5EF4-FFF2-40B4-BE49-F238E27FC236}">
                <a16:creationId xmlns:a16="http://schemas.microsoft.com/office/drawing/2014/main" id="{0ED7DEFD-5EFF-4A2C-BF2A-12AF7CA1E7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8346" y="358451"/>
            <a:ext cx="6076950" cy="584775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zh-CN" altLang="en-US" sz="3200" dirty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常见机械装配结构画法</a:t>
            </a: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22517B53-FF0A-46F3-B153-B313117DC4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0718" y="1827473"/>
            <a:ext cx="6494462" cy="461963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400" b="1" dirty="0">
                <a:solidFill>
                  <a:schemeClr val="tx1"/>
                </a:solidFill>
              </a:rPr>
              <a:t>3</a:t>
            </a:r>
            <a:r>
              <a:rPr lang="zh-CN" altLang="en-US" sz="2400" b="1" dirty="0">
                <a:solidFill>
                  <a:schemeClr val="tx1"/>
                </a:solidFill>
              </a:rPr>
              <a:t>．螺纹紧固件装配画法遵循装配图的表达方法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1D5DFB0-0C78-4872-9324-A7C9639CAF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7124" y="2708164"/>
            <a:ext cx="2954338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dirty="0"/>
              <a:t>螺栓联接的装配画法</a:t>
            </a:r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E22FC089-91C4-4F01-A293-E9603502C2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017" y="1276938"/>
            <a:ext cx="4512774" cy="52322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一、螺纹紧固件的联接画法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34001BD1-5169-46E6-B5AD-55A0C76417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29426" y="2577492"/>
            <a:ext cx="2943225" cy="4286250"/>
          </a:xfrm>
          <a:prstGeom prst="rect">
            <a:avLst/>
          </a:prstGeom>
          <a:noFill/>
          <a:ln w="9525" cap="flat" cmpd="sng">
            <a:noFill/>
            <a:prstDash val="solid"/>
            <a:miter lim="800000"/>
            <a:headEnd/>
            <a:tailEnd/>
          </a:ln>
          <a:effectLst/>
        </p:spPr>
      </p:pic>
      <p:pic>
        <p:nvPicPr>
          <p:cNvPr id="8" name="Picture 3">
            <a:extLst>
              <a:ext uri="{FF2B5EF4-FFF2-40B4-BE49-F238E27FC236}">
                <a16:creationId xmlns:a16="http://schemas.microsoft.com/office/drawing/2014/main" id="{E9E04C7E-BA63-494A-BA90-49D792D703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 t="59009" r="42302"/>
          <a:stretch>
            <a:fillRect/>
          </a:stretch>
        </p:blipFill>
        <p:spPr bwMode="auto">
          <a:xfrm>
            <a:off x="6812975" y="5087765"/>
            <a:ext cx="1972973" cy="1733550"/>
          </a:xfrm>
          <a:prstGeom prst="rect">
            <a:avLst/>
          </a:prstGeom>
          <a:noFill/>
          <a:ln w="9525" cap="flat" cmpd="sng">
            <a:noFill/>
            <a:prstDash val="solid"/>
            <a:miter lim="800000"/>
            <a:headEnd/>
            <a:tailEnd/>
          </a:ln>
          <a:effectLst/>
        </p:spPr>
      </p:pic>
      <p:pic>
        <p:nvPicPr>
          <p:cNvPr id="9" name="Picture 3">
            <a:extLst>
              <a:ext uri="{FF2B5EF4-FFF2-40B4-BE49-F238E27FC236}">
                <a16:creationId xmlns:a16="http://schemas.microsoft.com/office/drawing/2014/main" id="{C1B9239E-8C3C-410F-930A-5CF215A8F4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 b="46233"/>
          <a:stretch>
            <a:fillRect/>
          </a:stretch>
        </p:blipFill>
        <p:spPr bwMode="auto">
          <a:xfrm>
            <a:off x="6812970" y="2606935"/>
            <a:ext cx="3419475" cy="2411557"/>
          </a:xfrm>
          <a:prstGeom prst="rect">
            <a:avLst/>
          </a:prstGeom>
          <a:noFill/>
          <a:ln w="9525" cap="flat" cmpd="sng">
            <a:noFill/>
            <a:prstDash val="solid"/>
            <a:miter lim="800000"/>
            <a:headEnd/>
            <a:tailEnd/>
          </a:ln>
          <a:effectLst/>
        </p:spPr>
      </p:pic>
      <p:pic>
        <p:nvPicPr>
          <p:cNvPr id="10" name="Picture 3">
            <a:extLst>
              <a:ext uri="{FF2B5EF4-FFF2-40B4-BE49-F238E27FC236}">
                <a16:creationId xmlns:a16="http://schemas.microsoft.com/office/drawing/2014/main" id="{2A63FCF5-2DAA-4FD3-9442-AFAA41A8DF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 l="20018" t="71130" r="60534" b="11507"/>
          <a:stretch>
            <a:fillRect/>
          </a:stretch>
        </p:blipFill>
        <p:spPr bwMode="auto">
          <a:xfrm>
            <a:off x="7502671" y="5596919"/>
            <a:ext cx="665018" cy="734291"/>
          </a:xfrm>
          <a:prstGeom prst="rect">
            <a:avLst/>
          </a:prstGeom>
          <a:noFill/>
          <a:ln w="9525" cap="flat" cmpd="sng">
            <a:noFill/>
            <a:prstDash val="solid"/>
            <a:miter lim="800000"/>
            <a:headEnd/>
            <a:tailEnd/>
          </a:ln>
          <a:effectLst/>
        </p:spPr>
      </p:pic>
      <p:pic>
        <p:nvPicPr>
          <p:cNvPr id="11" name="Picture 4">
            <a:extLst>
              <a:ext uri="{FF2B5EF4-FFF2-40B4-BE49-F238E27FC236}">
                <a16:creationId xmlns:a16="http://schemas.microsoft.com/office/drawing/2014/main" id="{3DF3F72A-07F9-49FB-8E56-D2A52719F1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964941" y="2687898"/>
            <a:ext cx="3333750" cy="2314575"/>
          </a:xfrm>
          <a:prstGeom prst="rect">
            <a:avLst/>
          </a:prstGeom>
          <a:noFill/>
          <a:ln w="9525" cap="flat" cmpd="sng">
            <a:noFill/>
            <a:prstDash val="solid"/>
            <a:miter lim="800000"/>
            <a:headEnd/>
            <a:tailEnd/>
          </a:ln>
          <a:effectLst/>
        </p:spPr>
      </p:pic>
      <p:pic>
        <p:nvPicPr>
          <p:cNvPr id="12" name="Picture 5">
            <a:extLst>
              <a:ext uri="{FF2B5EF4-FFF2-40B4-BE49-F238E27FC236}">
                <a16:creationId xmlns:a16="http://schemas.microsoft.com/office/drawing/2014/main" id="{8E1A41A9-24D4-4C5B-91B6-3EE590E5EC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320224" y="2445010"/>
            <a:ext cx="1000125" cy="2457450"/>
          </a:xfrm>
          <a:prstGeom prst="rect">
            <a:avLst/>
          </a:prstGeom>
          <a:noFill/>
          <a:ln w="9525" cap="flat" cmpd="sng">
            <a:noFill/>
            <a:prstDash val="solid"/>
            <a:miter lim="800000"/>
            <a:headEnd/>
            <a:tailEnd/>
          </a:ln>
          <a:effectLst/>
        </p:spPr>
      </p:pic>
      <p:pic>
        <p:nvPicPr>
          <p:cNvPr id="13" name="Picture 2">
            <a:extLst>
              <a:ext uri="{FF2B5EF4-FFF2-40B4-BE49-F238E27FC236}">
                <a16:creationId xmlns:a16="http://schemas.microsoft.com/office/drawing/2014/main" id="{63A81DD3-3494-4D99-953E-B07AD93458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/>
          <a:srcRect l="7182" r="47514" b="39805"/>
          <a:stretch>
            <a:fillRect/>
          </a:stretch>
        </p:blipFill>
        <p:spPr bwMode="auto">
          <a:xfrm>
            <a:off x="7081146" y="2364048"/>
            <a:ext cx="1562100" cy="2643187"/>
          </a:xfrm>
          <a:prstGeom prst="rect">
            <a:avLst/>
          </a:prstGeom>
          <a:noFill/>
          <a:ln w="9525" cap="flat" cmpd="sng">
            <a:noFill/>
            <a:prstDash val="solid"/>
            <a:miter lim="800000"/>
            <a:headEnd/>
            <a:tailEnd/>
          </a:ln>
          <a:effectLst/>
        </p:spPr>
      </p:pic>
      <p:pic>
        <p:nvPicPr>
          <p:cNvPr id="14" name="Picture 2">
            <a:extLst>
              <a:ext uri="{FF2B5EF4-FFF2-40B4-BE49-F238E27FC236}">
                <a16:creationId xmlns:a16="http://schemas.microsoft.com/office/drawing/2014/main" id="{8CD11A9D-75F7-4C59-82F2-50DF9A0279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/>
          <a:srcRect l="54144" b="39805"/>
          <a:stretch>
            <a:fillRect/>
          </a:stretch>
        </p:blipFill>
        <p:spPr bwMode="auto">
          <a:xfrm>
            <a:off x="8698491" y="2354523"/>
            <a:ext cx="1581150" cy="2643187"/>
          </a:xfrm>
          <a:prstGeom prst="rect">
            <a:avLst/>
          </a:prstGeom>
          <a:noFill/>
          <a:ln w="9525" cap="flat" cmpd="sng">
            <a:noFill/>
            <a:prstDash val="solid"/>
            <a:miter lim="800000"/>
            <a:headEnd/>
            <a:tailEnd/>
          </a:ln>
          <a:effectLst/>
        </p:spPr>
      </p:pic>
      <p:pic>
        <p:nvPicPr>
          <p:cNvPr id="15" name="Picture 6">
            <a:extLst>
              <a:ext uri="{FF2B5EF4-FFF2-40B4-BE49-F238E27FC236}">
                <a16:creationId xmlns:a16="http://schemas.microsoft.com/office/drawing/2014/main" id="{4E0DFD7A-132D-4BE7-A49D-4AA1C86D3C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7531679" y="5661285"/>
            <a:ext cx="600075" cy="628650"/>
          </a:xfrm>
          <a:prstGeom prst="rect">
            <a:avLst/>
          </a:prstGeom>
          <a:noFill/>
          <a:ln w="9525" cap="flat" cmpd="sng">
            <a:noFill/>
            <a:prstDash val="solid"/>
            <a:miter lim="800000"/>
            <a:headEnd/>
            <a:tailEnd/>
          </a:ln>
          <a:effectLst/>
        </p:spPr>
      </p:pic>
      <p:pic>
        <p:nvPicPr>
          <p:cNvPr id="16" name="Picture 7">
            <a:extLst>
              <a:ext uri="{FF2B5EF4-FFF2-40B4-BE49-F238E27FC236}">
                <a16:creationId xmlns:a16="http://schemas.microsoft.com/office/drawing/2014/main" id="{3DCB9F2B-C85B-40B6-917F-964706E023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291966" y="5442210"/>
            <a:ext cx="1066800" cy="1066800"/>
          </a:xfrm>
          <a:prstGeom prst="rect">
            <a:avLst/>
          </a:prstGeom>
          <a:noFill/>
          <a:ln w="9525" cap="flat" cmpd="sng">
            <a:noFill/>
            <a:prstDash val="solid"/>
            <a:miter lim="800000"/>
            <a:headEnd/>
            <a:tailEnd/>
          </a:ln>
          <a:effectLst/>
        </p:spPr>
      </p:pic>
      <p:pic>
        <p:nvPicPr>
          <p:cNvPr id="17" name="Picture 8">
            <a:extLst>
              <a:ext uri="{FF2B5EF4-FFF2-40B4-BE49-F238E27FC236}">
                <a16:creationId xmlns:a16="http://schemas.microsoft.com/office/drawing/2014/main" id="{3A9E68D0-F68D-4B1E-AFB9-E4A3243202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301491" y="3027622"/>
            <a:ext cx="1051200" cy="162458"/>
          </a:xfrm>
          <a:prstGeom prst="rect">
            <a:avLst/>
          </a:prstGeom>
          <a:noFill/>
          <a:ln w="9525" cap="flat" cmpd="sng">
            <a:noFill/>
            <a:prstDash val="solid"/>
            <a:miter lim="800000"/>
            <a:headEnd/>
            <a:tailEnd/>
          </a:ln>
          <a:effectLst/>
        </p:spPr>
      </p:pic>
      <p:pic>
        <p:nvPicPr>
          <p:cNvPr id="18" name="Picture 9">
            <a:extLst>
              <a:ext uri="{FF2B5EF4-FFF2-40B4-BE49-F238E27FC236}">
                <a16:creationId xmlns:a16="http://schemas.microsoft.com/office/drawing/2014/main" id="{996D26C2-C8E9-4B36-B15B-1DC387495D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7277679" y="5443796"/>
            <a:ext cx="1095375" cy="1085850"/>
          </a:xfrm>
          <a:prstGeom prst="rect">
            <a:avLst/>
          </a:prstGeom>
          <a:noFill/>
          <a:ln w="9525" cap="flat" cmpd="sng">
            <a:noFill/>
            <a:prstDash val="solid"/>
            <a:miter lim="800000"/>
            <a:headEnd/>
            <a:tailEnd/>
          </a:ln>
          <a:effectLst/>
        </p:spPr>
      </p:pic>
      <p:pic>
        <p:nvPicPr>
          <p:cNvPr id="19" name="Picture 10">
            <a:extLst>
              <a:ext uri="{FF2B5EF4-FFF2-40B4-BE49-F238E27FC236}">
                <a16:creationId xmlns:a16="http://schemas.microsoft.com/office/drawing/2014/main" id="{910798A0-2399-476E-B002-05673DB280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>
            <a:off x="7137979" y="2378335"/>
            <a:ext cx="1400175" cy="819150"/>
          </a:xfrm>
          <a:prstGeom prst="rect">
            <a:avLst/>
          </a:prstGeom>
          <a:noFill/>
          <a:ln w="9525" cap="flat" cmpd="sng">
            <a:noFill/>
            <a:prstDash val="solid"/>
            <a:miter lim="800000"/>
            <a:headEnd/>
            <a:tailEnd/>
          </a:ln>
          <a:effectLst/>
        </p:spPr>
      </p:pic>
      <p:pic>
        <p:nvPicPr>
          <p:cNvPr id="20" name="Picture 11">
            <a:extLst>
              <a:ext uri="{FF2B5EF4-FFF2-40B4-BE49-F238E27FC236}">
                <a16:creationId xmlns:a16="http://schemas.microsoft.com/office/drawing/2014/main" id="{B2C19C9A-E25F-479B-8768-EAC34DDD6D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/>
          <a:srcRect/>
          <a:stretch>
            <a:fillRect/>
          </a:stretch>
        </p:blipFill>
        <p:spPr bwMode="auto">
          <a:xfrm>
            <a:off x="8974716" y="2356110"/>
            <a:ext cx="1066800" cy="819150"/>
          </a:xfrm>
          <a:prstGeom prst="rect">
            <a:avLst/>
          </a:prstGeom>
          <a:noFill/>
          <a:ln w="9525" cap="flat" cmpd="sng">
            <a:noFill/>
            <a:prstDash val="solid"/>
            <a:miter lim="800000"/>
            <a:headEnd/>
            <a:tailEnd/>
          </a:ln>
          <a:effectLst/>
        </p:spPr>
      </p:pic>
      <p:pic>
        <p:nvPicPr>
          <p:cNvPr id="21" name="Picture 12">
            <a:extLst>
              <a:ext uri="{FF2B5EF4-FFF2-40B4-BE49-F238E27FC236}">
                <a16:creationId xmlns:a16="http://schemas.microsoft.com/office/drawing/2014/main" id="{E10F0CBE-E65F-4ACE-8C80-4A55E300BF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6863631" y="2395652"/>
            <a:ext cx="3429000" cy="4400550"/>
          </a:xfrm>
          <a:prstGeom prst="rect">
            <a:avLst/>
          </a:prstGeom>
          <a:noFill/>
          <a:ln w="9525" cap="flat" cmpd="sng">
            <a:noFill/>
            <a:prstDash val="solid"/>
            <a:miter lim="800000"/>
            <a:headEnd/>
            <a:tailEnd/>
          </a:ln>
          <a:effectLst/>
        </p:spPr>
      </p:pic>
      <p:sp>
        <p:nvSpPr>
          <p:cNvPr id="22" name="Line 90">
            <a:extLst>
              <a:ext uri="{FF2B5EF4-FFF2-40B4-BE49-F238E27FC236}">
                <a16:creationId xmlns:a16="http://schemas.microsoft.com/office/drawing/2014/main" id="{0AF9FDAC-AF1A-4746-8B39-3A2671C6D0B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30191" y="3157798"/>
            <a:ext cx="0" cy="284400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23" name="Picture 4" descr="螺栓连">
            <a:extLst>
              <a:ext uri="{FF2B5EF4-FFF2-40B4-BE49-F238E27FC236}">
                <a16:creationId xmlns:a16="http://schemas.microsoft.com/office/drawing/2014/main" id="{EDA40E50-D227-4788-B484-D631CB55F1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2271065" y="3403880"/>
            <a:ext cx="2214562" cy="307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444843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5" grpId="0"/>
      <p:bldP spid="2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>
            <a:extLst>
              <a:ext uri="{FF2B5EF4-FFF2-40B4-BE49-F238E27FC236}">
                <a16:creationId xmlns:a16="http://schemas.microsoft.com/office/drawing/2014/main" id="{3FCCB266-89D2-44DD-9821-8151B77AC6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2892" y="1881508"/>
            <a:ext cx="4512774" cy="830997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zh-CN" sz="2400" b="1" dirty="0">
                <a:solidFill>
                  <a:schemeClr val="tx1"/>
                </a:solidFill>
              </a:rPr>
              <a:t>3</a:t>
            </a:r>
            <a:r>
              <a:rPr lang="zh-CN" altLang="en-US" sz="2400" b="1" dirty="0">
                <a:solidFill>
                  <a:schemeClr val="tx1"/>
                </a:solidFill>
              </a:rPr>
              <a:t>．螺纹紧固件装配画法遵循装配图的表达方法</a:t>
            </a:r>
          </a:p>
        </p:txBody>
      </p:sp>
      <p:pic>
        <p:nvPicPr>
          <p:cNvPr id="3" name="Picture 4" descr="螺栓连">
            <a:extLst>
              <a:ext uri="{FF2B5EF4-FFF2-40B4-BE49-F238E27FC236}">
                <a16:creationId xmlns:a16="http://schemas.microsoft.com/office/drawing/2014/main" id="{89E55948-C92F-4F6F-8C66-5392E7C210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2271065" y="3403880"/>
            <a:ext cx="2214562" cy="307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3" descr="1">
            <a:extLst>
              <a:ext uri="{FF2B5EF4-FFF2-40B4-BE49-F238E27FC236}">
                <a16:creationId xmlns:a16="http://schemas.microsoft.com/office/drawing/2014/main" id="{2889FA50-6920-4799-A14B-D7795825BC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462541" y="1595189"/>
            <a:ext cx="4340225" cy="4594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6">
            <a:extLst>
              <a:ext uri="{FF2B5EF4-FFF2-40B4-BE49-F238E27FC236}">
                <a16:creationId xmlns:a16="http://schemas.microsoft.com/office/drawing/2014/main" id="{32C7843F-D6C4-4399-8FDE-653B1CACA0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3027" y="2003636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zh-CN" sz="900"/>
              <a:t>            </a:t>
            </a:r>
            <a:endParaRPr lang="en-US" altLang="zh-CN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028D471-F9D2-438E-AF41-0BD0AEF6C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1177" y="2860568"/>
            <a:ext cx="2954338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70C0"/>
                </a:solidFill>
              </a:rPr>
              <a:t>螺栓联接的装配画法</a:t>
            </a:r>
          </a:p>
        </p:txBody>
      </p:sp>
      <p:sp>
        <p:nvSpPr>
          <p:cNvPr id="7" name="Text Box 31">
            <a:extLst>
              <a:ext uri="{FF2B5EF4-FFF2-40B4-BE49-F238E27FC236}">
                <a16:creationId xmlns:a16="http://schemas.microsoft.com/office/drawing/2014/main" id="{4B3875B9-53AA-4323-A53A-C8A5F4ACA5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8346" y="358451"/>
            <a:ext cx="6076950" cy="584775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zh-CN" altLang="en-US" sz="3200" dirty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常见机械装配结构画法</a:t>
            </a:r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id="{9E6491DD-2570-40D3-B446-7BDC75FBDD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017" y="1276938"/>
            <a:ext cx="4512774" cy="52322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一、螺纹紧固件的联接画法</a:t>
            </a:r>
          </a:p>
        </p:txBody>
      </p:sp>
    </p:spTree>
    <p:extLst>
      <p:ext uri="{BB962C8B-B14F-4D97-AF65-F5344CB8AC3E}">
        <p14:creationId xmlns:p14="http://schemas.microsoft.com/office/powerpoint/2010/main" val="2827308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1">
            <a:extLst>
              <a:ext uri="{FF2B5EF4-FFF2-40B4-BE49-F238E27FC236}">
                <a16:creationId xmlns:a16="http://schemas.microsoft.com/office/drawing/2014/main" id="{384A60BC-5B82-4493-9AE5-B7D06974B4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8346" y="358451"/>
            <a:ext cx="6076950" cy="584775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zh-CN" altLang="en-US" sz="3200" dirty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常见机械装配结构画法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A3453045-6A21-4F62-95D0-44BC53D554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9436" y="1121219"/>
            <a:ext cx="4512774" cy="52322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一、螺纹紧固件的联接画法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F712A4D-8535-45AF-AA47-A6D17D2D0A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7187" y="1952692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zh-CN" sz="900"/>
              <a:t>            </a:t>
            </a:r>
            <a:endParaRPr lang="en-US" altLang="zh-CN"/>
          </a:p>
        </p:txBody>
      </p:sp>
      <p:sp>
        <p:nvSpPr>
          <p:cNvPr id="5" name="矩形 10">
            <a:extLst>
              <a:ext uri="{FF2B5EF4-FFF2-40B4-BE49-F238E27FC236}">
                <a16:creationId xmlns:a16="http://schemas.microsoft.com/office/drawing/2014/main" id="{77C0ACAF-8475-4723-AC7C-80E1B589A2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5446" y="2486588"/>
            <a:ext cx="2954337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b="1" dirty="0"/>
              <a:t>螺柱联接的装配画法</a:t>
            </a:r>
          </a:p>
        </p:txBody>
      </p:sp>
      <p:pic>
        <p:nvPicPr>
          <p:cNvPr id="6" name="Picture 4" descr="螺柱连">
            <a:extLst>
              <a:ext uri="{FF2B5EF4-FFF2-40B4-BE49-F238E27FC236}">
                <a16:creationId xmlns:a16="http://schemas.microsoft.com/office/drawing/2014/main" id="{E3010CE7-24A9-40EF-8BAF-248E52E9FF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629084" y="2857856"/>
            <a:ext cx="2451100" cy="370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79EE1E53-3EA8-4B6E-962F-A208D26C4B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307409" y="3306109"/>
            <a:ext cx="2162175" cy="1800225"/>
          </a:xfrm>
          <a:prstGeom prst="rect">
            <a:avLst/>
          </a:prstGeom>
          <a:noFill/>
          <a:ln w="9525" cap="flat" cmpd="sng">
            <a:noFill/>
            <a:prstDash val="solid"/>
            <a:miter lim="800000"/>
            <a:headEnd/>
            <a:tailEnd/>
          </a:ln>
          <a:effectLst/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id="{62F6C19F-E9D8-42F1-A394-CE20310720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065801" y="1986463"/>
            <a:ext cx="647700" cy="2152650"/>
          </a:xfrm>
          <a:prstGeom prst="rect">
            <a:avLst/>
          </a:prstGeom>
          <a:noFill/>
          <a:ln w="9525" cap="flat" cmpd="sng">
            <a:noFill/>
            <a:prstDash val="solid"/>
            <a:miter lim="800000"/>
            <a:headEnd/>
            <a:tailEnd/>
          </a:ln>
          <a:effectLst/>
        </p:spPr>
      </p:pic>
      <p:pic>
        <p:nvPicPr>
          <p:cNvPr id="9" name="Picture 5">
            <a:extLst>
              <a:ext uri="{FF2B5EF4-FFF2-40B4-BE49-F238E27FC236}">
                <a16:creationId xmlns:a16="http://schemas.microsoft.com/office/drawing/2014/main" id="{13F1612C-274A-4424-8A59-0B25EBBF2E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369321" y="1938628"/>
            <a:ext cx="2085975" cy="3119215"/>
          </a:xfrm>
          <a:prstGeom prst="rect">
            <a:avLst/>
          </a:prstGeom>
          <a:noFill/>
          <a:ln w="9525" cap="flat" cmpd="sng">
            <a:noFill/>
            <a:prstDash val="solid"/>
            <a:miter lim="800000"/>
            <a:headEnd/>
            <a:tailEnd/>
          </a:ln>
          <a:effectLst/>
        </p:spPr>
      </p:pic>
      <p:pic>
        <p:nvPicPr>
          <p:cNvPr id="10" name="Picture 6">
            <a:extLst>
              <a:ext uri="{FF2B5EF4-FFF2-40B4-BE49-F238E27FC236}">
                <a16:creationId xmlns:a16="http://schemas.microsoft.com/office/drawing/2014/main" id="{5277D701-F5A2-4E8B-A9B5-2EB3904C5F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311450" y="2746044"/>
            <a:ext cx="2211387" cy="733823"/>
          </a:xfrm>
          <a:prstGeom prst="rect">
            <a:avLst/>
          </a:prstGeom>
          <a:noFill/>
          <a:ln w="9525" cap="flat" cmpd="sng">
            <a:noFill/>
            <a:prstDash val="solid"/>
            <a:miter lim="800000"/>
            <a:headEnd/>
            <a:tailEnd/>
          </a:ln>
          <a:effectLst/>
        </p:spPr>
      </p:pic>
      <p:pic>
        <p:nvPicPr>
          <p:cNvPr id="11" name="Picture 7">
            <a:extLst>
              <a:ext uri="{FF2B5EF4-FFF2-40B4-BE49-F238E27FC236}">
                <a16:creationId xmlns:a16="http://schemas.microsoft.com/office/drawing/2014/main" id="{39BEA0E6-0021-4D51-9C69-00C2F8F454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7333675" y="1924520"/>
            <a:ext cx="2233612" cy="3250797"/>
          </a:xfrm>
          <a:prstGeom prst="rect">
            <a:avLst/>
          </a:prstGeom>
          <a:noFill/>
          <a:ln w="9525" cap="flat" cmpd="sng">
            <a:noFill/>
            <a:prstDash val="solid"/>
            <a:miter lim="800000"/>
            <a:headEnd/>
            <a:tailEnd/>
          </a:ln>
          <a:effectLst/>
        </p:spPr>
      </p:pic>
      <p:pic>
        <p:nvPicPr>
          <p:cNvPr id="12" name="Picture 8">
            <a:extLst>
              <a:ext uri="{FF2B5EF4-FFF2-40B4-BE49-F238E27FC236}">
                <a16:creationId xmlns:a16="http://schemas.microsoft.com/office/drawing/2014/main" id="{5E3001BA-E0E4-402E-8ABF-1D762C6198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/>
          <a:srcRect l="4821" t="28544" b="20115"/>
          <a:stretch>
            <a:fillRect/>
          </a:stretch>
        </p:blipFill>
        <p:spPr bwMode="auto">
          <a:xfrm>
            <a:off x="7789286" y="2225743"/>
            <a:ext cx="1296000" cy="502644"/>
          </a:xfrm>
          <a:prstGeom prst="rect">
            <a:avLst/>
          </a:prstGeom>
          <a:noFill/>
          <a:ln w="9525" cap="flat" cmpd="sng">
            <a:noFill/>
            <a:prstDash val="solid"/>
            <a:miter lim="800000"/>
            <a:headEnd/>
            <a:tailEnd/>
          </a:ln>
          <a:effectLst/>
        </p:spPr>
      </p:pic>
      <p:pic>
        <p:nvPicPr>
          <p:cNvPr id="13" name="Picture 8">
            <a:extLst>
              <a:ext uri="{FF2B5EF4-FFF2-40B4-BE49-F238E27FC236}">
                <a16:creationId xmlns:a16="http://schemas.microsoft.com/office/drawing/2014/main" id="{6A3A011F-24DD-448B-9E3B-B869FD124B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/>
          <a:srcRect l="18419" t="76835" r="14092" b="5174"/>
          <a:stretch>
            <a:fillRect/>
          </a:stretch>
        </p:blipFill>
        <p:spPr bwMode="auto">
          <a:xfrm>
            <a:off x="7986137" y="2701992"/>
            <a:ext cx="900000" cy="172500"/>
          </a:xfrm>
          <a:prstGeom prst="rect">
            <a:avLst/>
          </a:prstGeom>
          <a:noFill/>
          <a:ln w="9525" cap="flat" cmpd="sng">
            <a:noFill/>
            <a:prstDash val="solid"/>
            <a:miter lim="800000"/>
            <a:headEnd/>
            <a:tailEnd/>
          </a:ln>
          <a:effectLst/>
        </p:spPr>
      </p:pic>
      <p:grpSp>
        <p:nvGrpSpPr>
          <p:cNvPr id="14" name="Group 65">
            <a:extLst>
              <a:ext uri="{FF2B5EF4-FFF2-40B4-BE49-F238E27FC236}">
                <a16:creationId xmlns:a16="http://schemas.microsoft.com/office/drawing/2014/main" id="{2F6E9C73-0BC3-44BF-9214-F05AE20EEE08}"/>
              </a:ext>
            </a:extLst>
          </p:cNvPr>
          <p:cNvGrpSpPr>
            <a:grpSpLocks/>
          </p:cNvGrpSpPr>
          <p:nvPr/>
        </p:nvGrpSpPr>
        <p:grpSpPr bwMode="auto">
          <a:xfrm>
            <a:off x="6427356" y="2049819"/>
            <a:ext cx="1820862" cy="1403350"/>
            <a:chOff x="545" y="785"/>
            <a:chExt cx="1147" cy="884"/>
          </a:xfrm>
        </p:grpSpPr>
        <p:sp>
          <p:nvSpPr>
            <p:cNvPr id="15" name="Line 66">
              <a:extLst>
                <a:ext uri="{FF2B5EF4-FFF2-40B4-BE49-F238E27FC236}">
                  <a16:creationId xmlns:a16="http://schemas.microsoft.com/office/drawing/2014/main" id="{4C935D52-D5E2-4900-910F-04537E18A9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19" y="1666"/>
              <a:ext cx="440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Line 67">
              <a:extLst>
                <a:ext uri="{FF2B5EF4-FFF2-40B4-BE49-F238E27FC236}">
                  <a16:creationId xmlns:a16="http://schemas.microsoft.com/office/drawing/2014/main" id="{871D63B5-ECE4-4214-A207-1BDB5D00F0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6" y="794"/>
              <a:ext cx="966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Line 68">
              <a:extLst>
                <a:ext uri="{FF2B5EF4-FFF2-40B4-BE49-F238E27FC236}">
                  <a16:creationId xmlns:a16="http://schemas.microsoft.com/office/drawing/2014/main" id="{D5E06690-C5AF-4B23-BCED-61BA280C72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5" y="785"/>
              <a:ext cx="0" cy="884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triangle" w="sm" len="lg"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Text Box 69">
              <a:extLst>
                <a:ext uri="{FF2B5EF4-FFF2-40B4-BE49-F238E27FC236}">
                  <a16:creationId xmlns:a16="http://schemas.microsoft.com/office/drawing/2014/main" id="{A0C13BEF-2B5A-4229-A77A-29A7BF0B60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554" y="1145"/>
              <a:ext cx="27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  <a:latin typeface="Italic" pitchFamily="2" charset="0"/>
                </a:rPr>
                <a:t>l</a:t>
              </a:r>
              <a:endParaRPr lang="en-US" altLang="zh-CN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9" name="Group 57">
            <a:extLst>
              <a:ext uri="{FF2B5EF4-FFF2-40B4-BE49-F238E27FC236}">
                <a16:creationId xmlns:a16="http://schemas.microsoft.com/office/drawing/2014/main" id="{C8B179DD-6F4D-4225-890B-8C54B2334B94}"/>
              </a:ext>
            </a:extLst>
          </p:cNvPr>
          <p:cNvGrpSpPr>
            <a:grpSpLocks/>
          </p:cNvGrpSpPr>
          <p:nvPr/>
        </p:nvGrpSpPr>
        <p:grpSpPr bwMode="auto">
          <a:xfrm>
            <a:off x="8702242" y="2841981"/>
            <a:ext cx="1476375" cy="1219200"/>
            <a:chOff x="2302" y="1416"/>
            <a:chExt cx="930" cy="768"/>
          </a:xfrm>
        </p:grpSpPr>
        <p:sp>
          <p:nvSpPr>
            <p:cNvPr id="20" name="Text Box 58">
              <a:extLst>
                <a:ext uri="{FF2B5EF4-FFF2-40B4-BE49-F238E27FC236}">
                  <a16:creationId xmlns:a16="http://schemas.microsoft.com/office/drawing/2014/main" id="{A9A78C1A-AF42-46D2-A966-6C3FA3788A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2891" y="1498"/>
              <a:ext cx="21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i="1" dirty="0">
                  <a:solidFill>
                    <a:srgbClr val="FF0000"/>
                  </a:solidFill>
                  <a:latin typeface="宋体" pitchFamily="2" charset="-122"/>
                  <a:sym typeface="Symbol" pitchFamily="18" charset="2"/>
                </a:rPr>
                <a:t>t</a:t>
              </a:r>
              <a:endParaRPr lang="en-US" altLang="zh-CN" dirty="0">
                <a:solidFill>
                  <a:srgbClr val="FF0000"/>
                </a:solidFill>
                <a:sym typeface="Symbol" pitchFamily="18" charset="2"/>
              </a:endParaRPr>
            </a:p>
          </p:txBody>
        </p:sp>
        <p:sp>
          <p:nvSpPr>
            <p:cNvPr id="21" name="Line 59">
              <a:extLst>
                <a:ext uri="{FF2B5EF4-FFF2-40B4-BE49-F238E27FC236}">
                  <a16:creationId xmlns:a16="http://schemas.microsoft.com/office/drawing/2014/main" id="{90D83AA7-56ED-490B-9AF7-6CBBCAAF35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4" y="1416"/>
              <a:ext cx="0" cy="43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triangle" w="sm" len="lg"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Line 60">
              <a:extLst>
                <a:ext uri="{FF2B5EF4-FFF2-40B4-BE49-F238E27FC236}">
                  <a16:creationId xmlns:a16="http://schemas.microsoft.com/office/drawing/2014/main" id="{5E4BFD62-BED1-42F6-9759-8D1CCA5C09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1" y="1803"/>
              <a:ext cx="418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Line 61">
              <a:extLst>
                <a:ext uri="{FF2B5EF4-FFF2-40B4-BE49-F238E27FC236}">
                  <a16:creationId xmlns:a16="http://schemas.microsoft.com/office/drawing/2014/main" id="{6D87F2D9-3BBC-475C-8C43-F10AB6E4BC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2" y="2168"/>
              <a:ext cx="930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Line 62">
              <a:extLst>
                <a:ext uri="{FF2B5EF4-FFF2-40B4-BE49-F238E27FC236}">
                  <a16:creationId xmlns:a16="http://schemas.microsoft.com/office/drawing/2014/main" id="{8A104FC3-E20A-4D4B-ABC2-9008F4AC6D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4" y="1821"/>
              <a:ext cx="0" cy="363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triangle" w="sm" len="lg"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" name="Text Box 63">
              <a:extLst>
                <a:ext uri="{FF2B5EF4-FFF2-40B4-BE49-F238E27FC236}">
                  <a16:creationId xmlns:a16="http://schemas.microsoft.com/office/drawing/2014/main" id="{877D8BAE-AF67-4B67-9C32-9FAFFAA11D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2813" y="1853"/>
              <a:ext cx="341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r>
                <a:rPr lang="en-US" altLang="zh-CN" i="1" dirty="0" err="1">
                  <a:solidFill>
                    <a:srgbClr val="FF0000"/>
                  </a:solidFill>
                  <a:latin typeface="ISOCPEUR" pitchFamily="34" charset="0"/>
                </a:rPr>
                <a:t>b</a:t>
              </a:r>
              <a:r>
                <a:rPr lang="en-US" altLang="zh-CN" i="1" baseline="-25000" dirty="0" err="1">
                  <a:solidFill>
                    <a:srgbClr val="FF0000"/>
                  </a:solidFill>
                  <a:latin typeface="ISOCPEUR" pitchFamily="34" charset="0"/>
                </a:rPr>
                <a:t>m</a:t>
              </a:r>
              <a:endParaRPr lang="en-US" altLang="zh-CN" b="0" dirty="0">
                <a:solidFill>
                  <a:srgbClr val="FF0000"/>
                </a:solidFill>
                <a:latin typeface="ISOCPEUR" pitchFamily="34" charset="0"/>
              </a:endParaRPr>
            </a:p>
          </p:txBody>
        </p:sp>
        <p:sp>
          <p:nvSpPr>
            <p:cNvPr id="26" name="Line 64">
              <a:extLst>
                <a:ext uri="{FF2B5EF4-FFF2-40B4-BE49-F238E27FC236}">
                  <a16:creationId xmlns:a16="http://schemas.microsoft.com/office/drawing/2014/main" id="{E4C74B4F-18E8-4C86-B1FB-7AC58A159A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96" y="1426"/>
              <a:ext cx="409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7" name="Text Box 4">
            <a:extLst>
              <a:ext uri="{FF2B5EF4-FFF2-40B4-BE49-F238E27FC236}">
                <a16:creationId xmlns:a16="http://schemas.microsoft.com/office/drawing/2014/main" id="{948FF632-AF46-4A09-8B76-440CBC9957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2796" y="1622375"/>
            <a:ext cx="4450311" cy="830997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zh-CN" sz="2400" b="1" dirty="0">
                <a:solidFill>
                  <a:schemeClr val="tx1"/>
                </a:solidFill>
              </a:rPr>
              <a:t>3</a:t>
            </a:r>
            <a:r>
              <a:rPr lang="zh-CN" altLang="en-US" sz="2400" b="1" dirty="0">
                <a:solidFill>
                  <a:schemeClr val="tx1"/>
                </a:solidFill>
              </a:rPr>
              <a:t>．螺纹紧固件装配画法遵循装配图的表达方法</a:t>
            </a:r>
          </a:p>
        </p:txBody>
      </p:sp>
      <p:sp>
        <p:nvSpPr>
          <p:cNvPr id="28" name="Text Box 70">
            <a:extLst>
              <a:ext uri="{FF2B5EF4-FFF2-40B4-BE49-F238E27FC236}">
                <a16:creationId xmlns:a16="http://schemas.microsoft.com/office/drawing/2014/main" id="{D0B5F5C6-40B5-4C55-8FCC-BE21D7B341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2488" y="5174151"/>
            <a:ext cx="3901152" cy="46166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Italic" pitchFamily="2" charset="0"/>
              </a:rPr>
              <a:t>l</a:t>
            </a:r>
            <a:r>
              <a:rPr lang="zh-CN" altLang="en-US" sz="2400" b="1" baseline="-25000" dirty="0">
                <a:solidFill>
                  <a:srgbClr val="FF0000"/>
                </a:solidFill>
              </a:rPr>
              <a:t>计</a:t>
            </a:r>
            <a:r>
              <a:rPr lang="en-US" altLang="zh-CN" sz="2400" b="1" dirty="0">
                <a:solidFill>
                  <a:srgbClr val="FF0000"/>
                </a:solidFill>
              </a:rPr>
              <a:t>= </a:t>
            </a:r>
            <a:r>
              <a:rPr lang="en-US" altLang="zh-CN" sz="2400" b="1" dirty="0">
                <a:solidFill>
                  <a:srgbClr val="FF0000"/>
                </a:solidFill>
                <a:sym typeface="Symbol" pitchFamily="18" charset="2"/>
              </a:rPr>
              <a:t>t</a:t>
            </a:r>
            <a:r>
              <a:rPr lang="en-US" altLang="zh-CN" sz="2400" b="1" dirty="0">
                <a:solidFill>
                  <a:srgbClr val="FF0000"/>
                </a:solidFill>
              </a:rPr>
              <a:t> +0.15d+0.8d+0.3d</a:t>
            </a:r>
          </a:p>
        </p:txBody>
      </p:sp>
      <p:sp>
        <p:nvSpPr>
          <p:cNvPr id="29" name="Text Box 178">
            <a:extLst>
              <a:ext uri="{FF2B5EF4-FFF2-40B4-BE49-F238E27FC236}">
                <a16:creationId xmlns:a16="http://schemas.microsoft.com/office/drawing/2014/main" id="{F3DC8EAB-145F-4328-B0F0-64E26168AE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7544" y="4596178"/>
            <a:ext cx="152477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400" b="1" dirty="0"/>
              <a:t>螺柱长度</a:t>
            </a:r>
            <a:r>
              <a:rPr lang="en-US" altLang="zh-CN" sz="2400" b="1" dirty="0"/>
              <a:t>:</a:t>
            </a:r>
          </a:p>
        </p:txBody>
      </p:sp>
      <p:sp>
        <p:nvSpPr>
          <p:cNvPr id="30" name="Text Box 76">
            <a:extLst>
              <a:ext uri="{FF2B5EF4-FFF2-40B4-BE49-F238E27FC236}">
                <a16:creationId xmlns:a16="http://schemas.microsoft.com/office/drawing/2014/main" id="{67D8E846-4618-4C58-A902-B31DBD45D7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8886" y="5892792"/>
            <a:ext cx="83388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kumimoji="0" lang="en-US" altLang="zh-CN" sz="2400" b="1" dirty="0" err="1">
                <a:solidFill>
                  <a:schemeClr val="tx1"/>
                </a:solidFill>
              </a:rPr>
              <a:t>bm</a:t>
            </a:r>
            <a:r>
              <a:rPr kumimoji="0" lang="en-US" altLang="zh-CN" sz="2400" b="1" dirty="0">
                <a:solidFill>
                  <a:schemeClr val="tx1"/>
                </a:solidFill>
              </a:rPr>
              <a:t>: </a:t>
            </a:r>
          </a:p>
        </p:txBody>
      </p:sp>
      <p:sp>
        <p:nvSpPr>
          <p:cNvPr id="31" name="Text Box 77">
            <a:extLst>
              <a:ext uri="{FF2B5EF4-FFF2-40B4-BE49-F238E27FC236}">
                <a16:creationId xmlns:a16="http://schemas.microsoft.com/office/drawing/2014/main" id="{0C98CB28-4530-4162-AF6B-1464577998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4556" y="5576523"/>
            <a:ext cx="194316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kumimoji="0" lang="zh-CN" altLang="en-US" sz="2400" b="1" dirty="0">
                <a:solidFill>
                  <a:schemeClr val="tx1"/>
                </a:solidFill>
              </a:rPr>
              <a:t>钢</a:t>
            </a:r>
            <a:r>
              <a:rPr kumimoji="0" lang="zh-CN" altLang="en-US" sz="2400" b="1" dirty="0">
                <a:solidFill>
                  <a:schemeClr val="tx1"/>
                </a:solidFill>
                <a:latin typeface="宋体" pitchFamily="2" charset="-122"/>
              </a:rPr>
              <a:t>：  </a:t>
            </a:r>
            <a:r>
              <a:rPr kumimoji="0" lang="en-US" altLang="zh-CN" sz="2400" b="1" dirty="0" err="1">
                <a:solidFill>
                  <a:schemeClr val="tx1"/>
                </a:solidFill>
              </a:rPr>
              <a:t>bm</a:t>
            </a:r>
            <a:r>
              <a:rPr kumimoji="0" lang="en-US" altLang="zh-CN" sz="2400" b="1" dirty="0">
                <a:solidFill>
                  <a:schemeClr val="tx1"/>
                </a:solidFill>
              </a:rPr>
              <a:t>=d</a:t>
            </a:r>
          </a:p>
        </p:txBody>
      </p:sp>
      <p:sp>
        <p:nvSpPr>
          <p:cNvPr id="32" name="Text Box 78">
            <a:extLst>
              <a:ext uri="{FF2B5EF4-FFF2-40B4-BE49-F238E27FC236}">
                <a16:creationId xmlns:a16="http://schemas.microsoft.com/office/drawing/2014/main" id="{303866FB-EF48-40EE-8AFE-149927BBD0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4556" y="5937303"/>
            <a:ext cx="35141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kumimoji="0" lang="zh-CN" altLang="en-US" sz="2400" b="1" dirty="0">
                <a:solidFill>
                  <a:schemeClr val="tx1"/>
                </a:solidFill>
              </a:rPr>
              <a:t>铸铁</a:t>
            </a:r>
            <a:r>
              <a:rPr kumimoji="0" lang="en-US" altLang="zh-CN" sz="2400" b="1" dirty="0">
                <a:solidFill>
                  <a:schemeClr val="tx1"/>
                </a:solidFill>
              </a:rPr>
              <a:t>:   </a:t>
            </a:r>
            <a:r>
              <a:rPr kumimoji="0" lang="en-US" altLang="zh-CN" sz="2400" b="1" dirty="0" err="1">
                <a:solidFill>
                  <a:schemeClr val="tx1"/>
                </a:solidFill>
              </a:rPr>
              <a:t>bm</a:t>
            </a:r>
            <a:r>
              <a:rPr kumimoji="0" lang="en-US" altLang="zh-CN" sz="2400" b="1" dirty="0">
                <a:solidFill>
                  <a:schemeClr val="tx1"/>
                </a:solidFill>
              </a:rPr>
              <a:t>=1.25d</a:t>
            </a:r>
            <a:r>
              <a:rPr kumimoji="0" lang="zh-CN" altLang="zh-CN" sz="2400" b="1" dirty="0">
                <a:solidFill>
                  <a:schemeClr val="tx1"/>
                </a:solidFill>
              </a:rPr>
              <a:t>或</a:t>
            </a:r>
            <a:r>
              <a:rPr kumimoji="0" lang="en-US" altLang="zh-CN" sz="2400" b="1" dirty="0">
                <a:solidFill>
                  <a:schemeClr val="tx1"/>
                </a:solidFill>
              </a:rPr>
              <a:t>1.5d</a:t>
            </a:r>
          </a:p>
        </p:txBody>
      </p:sp>
      <p:sp>
        <p:nvSpPr>
          <p:cNvPr id="33" name="Text Box 79">
            <a:extLst>
              <a:ext uri="{FF2B5EF4-FFF2-40B4-BE49-F238E27FC236}">
                <a16:creationId xmlns:a16="http://schemas.microsoft.com/office/drawing/2014/main" id="{D2100E96-C262-401C-B3EE-683CD020DE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4556" y="6357650"/>
            <a:ext cx="211628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kumimoji="0" lang="zh-CN" altLang="en-US" sz="2400" b="1" dirty="0">
                <a:solidFill>
                  <a:schemeClr val="tx1"/>
                </a:solidFill>
                <a:latin typeface="宋体" pitchFamily="2" charset="-122"/>
              </a:rPr>
              <a:t>铝</a:t>
            </a:r>
            <a:r>
              <a:rPr kumimoji="0" lang="en-US" altLang="zh-CN" sz="2400" b="1" dirty="0">
                <a:solidFill>
                  <a:schemeClr val="tx1"/>
                </a:solidFill>
                <a:latin typeface="宋体" pitchFamily="2" charset="-122"/>
              </a:rPr>
              <a:t>:   </a:t>
            </a:r>
            <a:r>
              <a:rPr kumimoji="0" lang="en-US" altLang="zh-CN" sz="2400" b="1" dirty="0" err="1">
                <a:solidFill>
                  <a:schemeClr val="tx1"/>
                </a:solidFill>
              </a:rPr>
              <a:t>bm</a:t>
            </a:r>
            <a:r>
              <a:rPr kumimoji="0" lang="en-US" altLang="zh-CN" sz="2400" b="1" dirty="0">
                <a:solidFill>
                  <a:schemeClr val="tx1"/>
                </a:solidFill>
              </a:rPr>
              <a:t>=2d</a:t>
            </a:r>
            <a:endParaRPr kumimoji="0" lang="en-US" altLang="zh-CN" sz="2400" b="1" dirty="0">
              <a:solidFill>
                <a:schemeClr val="tx1"/>
              </a:solidFill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08562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75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75"/>
                            </p:stCondLst>
                            <p:childTnLst>
                              <p:par>
                                <p:cTn id="53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75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75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75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75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75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utoUpdateAnimBg="0"/>
      <p:bldP spid="29" grpId="0" build="p" autoUpdateAnimBg="0"/>
      <p:bldP spid="30" grpId="0" autoUpdateAnimBg="0"/>
      <p:bldP spid="31" grpId="0" build="p" autoUpdateAnimBg="0"/>
      <p:bldP spid="32" grpId="0" build="p" autoUpdateAnimBg="0"/>
      <p:bldP spid="33" grpId="0" build="p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1">
            <a:extLst>
              <a:ext uri="{FF2B5EF4-FFF2-40B4-BE49-F238E27FC236}">
                <a16:creationId xmlns:a16="http://schemas.microsoft.com/office/drawing/2014/main" id="{D28C255A-9298-471C-A297-139535016C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8346" y="358451"/>
            <a:ext cx="6076950" cy="584775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zh-CN" altLang="en-US" sz="3200" dirty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常见机械装配结构画法</a:t>
            </a:r>
          </a:p>
        </p:txBody>
      </p:sp>
      <p:pic>
        <p:nvPicPr>
          <p:cNvPr id="7" name="Picture 1" descr="snap">
            <a:extLst>
              <a:ext uri="{FF2B5EF4-FFF2-40B4-BE49-F238E27FC236}">
                <a16:creationId xmlns:a16="http://schemas.microsoft.com/office/drawing/2014/main" id="{B11B8D91-A13E-4B91-9A05-EED7376BF0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5428791" y="2024844"/>
            <a:ext cx="4957763" cy="467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4" descr="螺柱连">
            <a:extLst>
              <a:ext uri="{FF2B5EF4-FFF2-40B4-BE49-F238E27FC236}">
                <a16:creationId xmlns:a16="http://schemas.microsoft.com/office/drawing/2014/main" id="{E4DDE019-BD98-44B7-8375-EBC1602840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747064" y="2946244"/>
            <a:ext cx="2451100" cy="370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 Box 3">
            <a:extLst>
              <a:ext uri="{FF2B5EF4-FFF2-40B4-BE49-F238E27FC236}">
                <a16:creationId xmlns:a16="http://schemas.microsoft.com/office/drawing/2014/main" id="{81BD9CF8-1F5F-403C-BF53-CF4B519733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9436" y="1121219"/>
            <a:ext cx="4512774" cy="52322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一、螺纹紧固件的联接画法</a:t>
            </a:r>
          </a:p>
        </p:txBody>
      </p:sp>
      <p:sp>
        <p:nvSpPr>
          <p:cNvPr id="10" name="矩形 10">
            <a:extLst>
              <a:ext uri="{FF2B5EF4-FFF2-40B4-BE49-F238E27FC236}">
                <a16:creationId xmlns:a16="http://schemas.microsoft.com/office/drawing/2014/main" id="{1DD01C27-E634-4477-ABE1-65B13EF7DD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5446" y="2486588"/>
            <a:ext cx="2954337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b="1" dirty="0"/>
              <a:t>螺柱联接的装配画法</a:t>
            </a:r>
          </a:p>
        </p:txBody>
      </p:sp>
      <p:sp>
        <p:nvSpPr>
          <p:cNvPr id="11" name="Text Box 4">
            <a:extLst>
              <a:ext uri="{FF2B5EF4-FFF2-40B4-BE49-F238E27FC236}">
                <a16:creationId xmlns:a16="http://schemas.microsoft.com/office/drawing/2014/main" id="{B28A02E6-E3BB-4D31-BAE8-3C71CFA060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2796" y="1622375"/>
            <a:ext cx="4450311" cy="830997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zh-CN" sz="2400" b="1" dirty="0">
                <a:solidFill>
                  <a:schemeClr val="tx1"/>
                </a:solidFill>
              </a:rPr>
              <a:t>3</a:t>
            </a:r>
            <a:r>
              <a:rPr lang="zh-CN" altLang="en-US" sz="2400" b="1" dirty="0">
                <a:solidFill>
                  <a:schemeClr val="tx1"/>
                </a:solidFill>
              </a:rPr>
              <a:t>．螺纹紧固件装配画法遵循装配图的表达方法</a:t>
            </a:r>
          </a:p>
        </p:txBody>
      </p:sp>
    </p:spTree>
    <p:extLst>
      <p:ext uri="{BB962C8B-B14F-4D97-AF65-F5344CB8AC3E}">
        <p14:creationId xmlns:p14="http://schemas.microsoft.com/office/powerpoint/2010/main" val="3194801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>
            <a:extLst>
              <a:ext uri="{FF2B5EF4-FFF2-40B4-BE49-F238E27FC236}">
                <a16:creationId xmlns:a16="http://schemas.microsoft.com/office/drawing/2014/main" id="{41A4E2C0-EB4D-4478-9191-B6B42FE5A0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2108" y="1602315"/>
            <a:ext cx="6494462" cy="461963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400" b="1" dirty="0">
                <a:solidFill>
                  <a:srgbClr val="0070C0"/>
                </a:solidFill>
              </a:rPr>
              <a:t>3</a:t>
            </a:r>
            <a:r>
              <a:rPr lang="zh-CN" altLang="en-US" sz="2400" b="1" dirty="0">
                <a:solidFill>
                  <a:srgbClr val="0070C0"/>
                </a:solidFill>
              </a:rPr>
              <a:t>．螺纹紧固件装配画法遵循装配图的表达方法</a:t>
            </a:r>
          </a:p>
        </p:txBody>
      </p:sp>
      <p:sp>
        <p:nvSpPr>
          <p:cNvPr id="3" name="Text Box 16">
            <a:extLst>
              <a:ext uri="{FF2B5EF4-FFF2-40B4-BE49-F238E27FC236}">
                <a16:creationId xmlns:a16="http://schemas.microsoft.com/office/drawing/2014/main" id="{20264A28-7D0C-433A-BD59-BE40A91C42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9492" y="396664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zh-CN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FB105E0-F36B-4BB4-B545-95976AFB60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7454" y="104564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" name="矩形 10">
            <a:extLst>
              <a:ext uri="{FF2B5EF4-FFF2-40B4-BE49-F238E27FC236}">
                <a16:creationId xmlns:a16="http://schemas.microsoft.com/office/drawing/2014/main" id="{7965D635-C1C3-4C3F-832E-F755395FE8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9258" y="2062690"/>
            <a:ext cx="2954337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b="1">
                <a:solidFill>
                  <a:srgbClr val="0070C0"/>
                </a:solidFill>
              </a:rPr>
              <a:t>螺钉连接的装配画法</a:t>
            </a:r>
          </a:p>
        </p:txBody>
      </p:sp>
      <p:pic>
        <p:nvPicPr>
          <p:cNvPr id="8" name="Picture 2" descr="1">
            <a:extLst>
              <a:ext uri="{FF2B5EF4-FFF2-40B4-BE49-F238E27FC236}">
                <a16:creationId xmlns:a16="http://schemas.microsoft.com/office/drawing/2014/main" id="{FF1FB403-2EEE-415B-BED9-5D21EF3D25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5312829" y="2165139"/>
            <a:ext cx="4857750" cy="436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3" descr="螺钉连">
            <a:extLst>
              <a:ext uri="{FF2B5EF4-FFF2-40B4-BE49-F238E27FC236}">
                <a16:creationId xmlns:a16="http://schemas.microsoft.com/office/drawing/2014/main" id="{D71D211E-AE64-4DC3-B29C-7DA39E98B7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2073275" y="2985028"/>
            <a:ext cx="2281238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 Box 31">
            <a:extLst>
              <a:ext uri="{FF2B5EF4-FFF2-40B4-BE49-F238E27FC236}">
                <a16:creationId xmlns:a16="http://schemas.microsoft.com/office/drawing/2014/main" id="{E9F11FEA-7A83-495A-982E-422F84AEAD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3692" y="296652"/>
            <a:ext cx="6076950" cy="584775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zh-CN" altLang="en-US" sz="3200" dirty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常见机械装配结构画法</a:t>
            </a:r>
          </a:p>
        </p:txBody>
      </p:sp>
      <p:sp>
        <p:nvSpPr>
          <p:cNvPr id="11" name="Text Box 3">
            <a:extLst>
              <a:ext uri="{FF2B5EF4-FFF2-40B4-BE49-F238E27FC236}">
                <a16:creationId xmlns:a16="http://schemas.microsoft.com/office/drawing/2014/main" id="{C6278D5E-2D69-4A95-BC18-D2238CC3DE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7305" y="985564"/>
            <a:ext cx="4512774" cy="52322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一、螺纹紧固件的联接画法</a:t>
            </a:r>
          </a:p>
        </p:txBody>
      </p:sp>
    </p:spTree>
    <p:extLst>
      <p:ext uri="{BB962C8B-B14F-4D97-AF65-F5344CB8AC3E}">
        <p14:creationId xmlns:p14="http://schemas.microsoft.com/office/powerpoint/2010/main" val="1397280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>
            <a:extLst>
              <a:ext uri="{FF2B5EF4-FFF2-40B4-BE49-F238E27FC236}">
                <a16:creationId xmlns:a16="http://schemas.microsoft.com/office/drawing/2014/main" id="{B1B625B8-0D29-4974-A7B1-C4A9A349DD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8600" y="1434943"/>
            <a:ext cx="6494462" cy="461963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400" dirty="0">
                <a:solidFill>
                  <a:srgbClr val="0070C0"/>
                </a:solidFill>
              </a:rPr>
              <a:t>3</a:t>
            </a:r>
            <a:r>
              <a:rPr lang="zh-CN" altLang="en-US" sz="2400" dirty="0">
                <a:solidFill>
                  <a:srgbClr val="0070C0"/>
                </a:solidFill>
              </a:rPr>
              <a:t>．螺纹紧固件装配画法遵循装配图的表达方法</a:t>
            </a:r>
          </a:p>
        </p:txBody>
      </p:sp>
      <p:sp>
        <p:nvSpPr>
          <p:cNvPr id="3" name="Text Box 16">
            <a:extLst>
              <a:ext uri="{FF2B5EF4-FFF2-40B4-BE49-F238E27FC236}">
                <a16:creationId xmlns:a16="http://schemas.microsoft.com/office/drawing/2014/main" id="{5A8CE56E-20FB-4888-B238-58B71DC536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7484" y="324656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zh-CN" altLang="zh-CN"/>
          </a:p>
        </p:txBody>
      </p:sp>
      <p:sp>
        <p:nvSpPr>
          <p:cNvPr id="4" name="矩形 10">
            <a:extLst>
              <a:ext uri="{FF2B5EF4-FFF2-40B4-BE49-F238E27FC236}">
                <a16:creationId xmlns:a16="http://schemas.microsoft.com/office/drawing/2014/main" id="{897A54A5-8351-45FA-A17C-FAC3D843A8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5750" y="1895318"/>
            <a:ext cx="2954337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>
                <a:solidFill>
                  <a:srgbClr val="0070C0"/>
                </a:solidFill>
              </a:rPr>
              <a:t>螺钉连接的装配画法</a:t>
            </a:r>
          </a:p>
        </p:txBody>
      </p:sp>
      <p:sp>
        <p:nvSpPr>
          <p:cNvPr id="5" name="Text Box 31">
            <a:extLst>
              <a:ext uri="{FF2B5EF4-FFF2-40B4-BE49-F238E27FC236}">
                <a16:creationId xmlns:a16="http://schemas.microsoft.com/office/drawing/2014/main" id="{D38F54B0-9751-46DD-8050-52E2F903AF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1684" y="224644"/>
            <a:ext cx="6076950" cy="584775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zh-CN" altLang="en-US" sz="3200" dirty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常见机械装配结构画法</a:t>
            </a:r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D4CCA609-0782-49A7-BA9A-6BFD2B5D10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8241" y="911723"/>
            <a:ext cx="4512774" cy="52322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一、螺纹紧固件的联接画法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0C3C01CF-FEC4-4BF2-8D5D-FC90D4F5CD10}"/>
              </a:ext>
            </a:extLst>
          </p:cNvPr>
          <p:cNvGrpSpPr/>
          <p:nvPr/>
        </p:nvGrpSpPr>
        <p:grpSpPr>
          <a:xfrm>
            <a:off x="2161066" y="2093131"/>
            <a:ext cx="7937505" cy="4556125"/>
            <a:chOff x="555620" y="2060575"/>
            <a:chExt cx="7937505" cy="4556125"/>
          </a:xfrm>
        </p:grpSpPr>
        <p:pic>
          <p:nvPicPr>
            <p:cNvPr id="8" name="Picture 2" descr="1">
              <a:extLst>
                <a:ext uri="{FF2B5EF4-FFF2-40B4-BE49-F238E27FC236}">
                  <a16:creationId xmlns:a16="http://schemas.microsoft.com/office/drawing/2014/main" id="{7B58A03C-A7BE-451B-8261-19CB82EDFC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/>
            <a:srcRect l="54052"/>
            <a:stretch>
              <a:fillRect/>
            </a:stretch>
          </p:blipFill>
          <p:spPr bwMode="auto">
            <a:xfrm>
              <a:off x="6261100" y="2060575"/>
              <a:ext cx="2232025" cy="43624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9" name="Picture 3">
              <a:extLst>
                <a:ext uri="{FF2B5EF4-FFF2-40B4-BE49-F238E27FC236}">
                  <a16:creationId xmlns:a16="http://schemas.microsoft.com/office/drawing/2014/main" id="{691C14EF-0CF4-42B8-A0DE-489B907CDD0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/>
            <a:srcRect r="73823" b="14265"/>
            <a:stretch>
              <a:fillRect/>
            </a:stretch>
          </p:blipFill>
          <p:spPr bwMode="auto">
            <a:xfrm>
              <a:off x="555620" y="2728913"/>
              <a:ext cx="2700338" cy="2833687"/>
            </a:xfrm>
            <a:prstGeom prst="rect">
              <a:avLst/>
            </a:prstGeom>
            <a:noFill/>
            <a:ln w="9525" cap="flat" cmpd="sng">
              <a:noFill/>
              <a:prstDash val="solid"/>
              <a:miter lim="800000"/>
              <a:headEnd/>
              <a:tailEnd/>
            </a:ln>
            <a:effectLst/>
          </p:spPr>
        </p:pic>
        <p:pic>
          <p:nvPicPr>
            <p:cNvPr id="10" name="Picture 3">
              <a:extLst>
                <a:ext uri="{FF2B5EF4-FFF2-40B4-BE49-F238E27FC236}">
                  <a16:creationId xmlns:a16="http://schemas.microsoft.com/office/drawing/2014/main" id="{060D64AA-3C03-47F3-8753-0C4889346E6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/>
            <a:srcRect l="76300" t="18011" b="9366"/>
            <a:stretch>
              <a:fillRect/>
            </a:stretch>
          </p:blipFill>
          <p:spPr bwMode="auto">
            <a:xfrm>
              <a:off x="3352800" y="4216400"/>
              <a:ext cx="2444745" cy="2400300"/>
            </a:xfrm>
            <a:prstGeom prst="rect">
              <a:avLst/>
            </a:prstGeom>
            <a:noFill/>
            <a:ln w="9525" cap="flat" cmpd="sng">
              <a:noFill/>
              <a:prstDash val="solid"/>
              <a:miter lim="800000"/>
              <a:headEnd/>
              <a:tailEnd/>
            </a:ln>
            <a:effectLst/>
          </p:spPr>
        </p:pic>
        <p:pic>
          <p:nvPicPr>
            <p:cNvPr id="11" name="Picture 3">
              <a:extLst>
                <a:ext uri="{FF2B5EF4-FFF2-40B4-BE49-F238E27FC236}">
                  <a16:creationId xmlns:a16="http://schemas.microsoft.com/office/drawing/2014/main" id="{A87FD15B-0BF8-4826-8074-8DAE88203C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/>
            <a:srcRect l="29271" t="24496" r="54524" b="18876"/>
            <a:stretch>
              <a:fillRect/>
            </a:stretch>
          </p:blipFill>
          <p:spPr bwMode="auto">
            <a:xfrm>
              <a:off x="3913182" y="2222355"/>
              <a:ext cx="1671638" cy="1871662"/>
            </a:xfrm>
            <a:prstGeom prst="rect">
              <a:avLst/>
            </a:prstGeom>
            <a:noFill/>
            <a:ln w="9525" cap="flat" cmpd="sng">
              <a:noFill/>
              <a:prstDash val="solid"/>
              <a:miter lim="800000"/>
              <a:headEnd/>
              <a:tailEnd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728381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3F5F97B9-09B7-4099-80F7-53D7075C2B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5510" y="1533393"/>
            <a:ext cx="5641975" cy="539750"/>
          </a:xfrm>
          <a:prstGeom prst="rect">
            <a:avLst/>
          </a:prstGeom>
          <a:noFill/>
          <a:ln w="76200">
            <a:noFill/>
            <a:miter lim="800000"/>
            <a:headEnd/>
            <a:tailEnd/>
          </a:ln>
        </p:spPr>
        <p:txBody>
          <a:bodyPr/>
          <a:lstStyle/>
          <a:p>
            <a:r>
              <a:rPr lang="en-US" altLang="zh-CN" sz="2800" dirty="0">
                <a:solidFill>
                  <a:schemeClr val="tx2"/>
                </a:solidFill>
                <a:latin typeface="宋体" pitchFamily="2" charset="-122"/>
              </a:rPr>
              <a:t> </a:t>
            </a:r>
            <a:r>
              <a:rPr lang="zh-CN" altLang="en-US" sz="2800" dirty="0">
                <a:solidFill>
                  <a:schemeClr val="tx2"/>
                </a:solidFill>
                <a:latin typeface="宋体" pitchFamily="2" charset="-122"/>
              </a:rPr>
              <a:t>紧定螺钉联接装配图的比例画法</a:t>
            </a:r>
            <a:endParaRPr lang="zh-CN" altLang="en-US" sz="2800" b="0" dirty="0">
              <a:solidFill>
                <a:schemeClr val="tx2"/>
              </a:solidFill>
              <a:latin typeface="宋体" pitchFamily="2" charset="-122"/>
            </a:endParaRP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C89EAF94-8F4B-4F86-9D14-052EB7A87DC9}"/>
              </a:ext>
            </a:extLst>
          </p:cNvPr>
          <p:cNvGrpSpPr>
            <a:grpSpLocks/>
          </p:cNvGrpSpPr>
          <p:nvPr/>
        </p:nvGrpSpPr>
        <p:grpSpPr bwMode="auto">
          <a:xfrm>
            <a:off x="6851182" y="1856224"/>
            <a:ext cx="641062" cy="1095808"/>
            <a:chOff x="1344" y="511"/>
            <a:chExt cx="492" cy="860"/>
          </a:xfrm>
        </p:grpSpPr>
        <p:sp>
          <p:nvSpPr>
            <p:cNvPr id="4" name="Line 4">
              <a:extLst>
                <a:ext uri="{FF2B5EF4-FFF2-40B4-BE49-F238E27FC236}">
                  <a16:creationId xmlns:a16="http://schemas.microsoft.com/office/drawing/2014/main" id="{922D8E0B-B58E-4B21-A896-2D76E85E16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49" y="742"/>
              <a:ext cx="50" cy="142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69650B04-BD45-4497-85CC-DFCE6A272C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8" y="511"/>
              <a:ext cx="161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000">
                  <a:solidFill>
                    <a:schemeClr val="accent2"/>
                  </a:solidFill>
                  <a:latin typeface="宋体" pitchFamily="2" charset="-122"/>
                </a:rPr>
                <a:t>Ⅰ</a:t>
              </a:r>
              <a:endParaRPr lang="en-US" altLang="zh-CN">
                <a:solidFill>
                  <a:schemeClr val="accent2"/>
                </a:solidFill>
              </a:endParaRPr>
            </a:p>
          </p:txBody>
        </p:sp>
        <p:sp>
          <p:nvSpPr>
            <p:cNvPr id="6" name="Line 6">
              <a:extLst>
                <a:ext uri="{FF2B5EF4-FFF2-40B4-BE49-F238E27FC236}">
                  <a16:creationId xmlns:a16="http://schemas.microsoft.com/office/drawing/2014/main" id="{259A0975-28D4-4EB9-B55A-6BF63136BD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42" y="742"/>
              <a:ext cx="172" cy="1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Oval 7">
              <a:extLst>
                <a:ext uri="{FF2B5EF4-FFF2-40B4-BE49-F238E27FC236}">
                  <a16:creationId xmlns:a16="http://schemas.microsoft.com/office/drawing/2014/main" id="{162E9383-898C-437F-A569-A2BE8037A1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879"/>
              <a:ext cx="492" cy="492"/>
            </a:xfrm>
            <a:prstGeom prst="ellips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FE0428E7-6572-4E64-A421-BEDE1AC8BAE0}"/>
              </a:ext>
            </a:extLst>
          </p:cNvPr>
          <p:cNvGrpSpPr>
            <a:grpSpLocks/>
          </p:cNvGrpSpPr>
          <p:nvPr/>
        </p:nvGrpSpPr>
        <p:grpSpPr bwMode="auto">
          <a:xfrm>
            <a:off x="8790818" y="1776030"/>
            <a:ext cx="1867477" cy="2163169"/>
            <a:chOff x="2844" y="320"/>
            <a:chExt cx="1467" cy="1794"/>
          </a:xfrm>
        </p:grpSpPr>
        <p:sp>
          <p:nvSpPr>
            <p:cNvPr id="9" name="Line 9">
              <a:extLst>
                <a:ext uri="{FF2B5EF4-FFF2-40B4-BE49-F238E27FC236}">
                  <a16:creationId xmlns:a16="http://schemas.microsoft.com/office/drawing/2014/main" id="{3CC018AD-C726-4ABA-98A0-31EF82167D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59" y="1117"/>
              <a:ext cx="11" cy="10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Line 10">
              <a:extLst>
                <a:ext uri="{FF2B5EF4-FFF2-40B4-BE49-F238E27FC236}">
                  <a16:creationId xmlns:a16="http://schemas.microsoft.com/office/drawing/2014/main" id="{E9CDCD78-3715-49FC-904B-13D1D6E7C8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59" y="1117"/>
              <a:ext cx="150" cy="1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Line 11">
              <a:extLst>
                <a:ext uri="{FF2B5EF4-FFF2-40B4-BE49-F238E27FC236}">
                  <a16:creationId xmlns:a16="http://schemas.microsoft.com/office/drawing/2014/main" id="{FFF77A27-BBE2-4608-AF7D-733A0EF01E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59" y="1117"/>
              <a:ext cx="290" cy="29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12">
              <a:extLst>
                <a:ext uri="{FF2B5EF4-FFF2-40B4-BE49-F238E27FC236}">
                  <a16:creationId xmlns:a16="http://schemas.microsoft.com/office/drawing/2014/main" id="{BCB40400-017F-49A6-8612-DA1AB8DD94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59" y="1238"/>
              <a:ext cx="309" cy="30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13">
              <a:extLst>
                <a:ext uri="{FF2B5EF4-FFF2-40B4-BE49-F238E27FC236}">
                  <a16:creationId xmlns:a16="http://schemas.microsoft.com/office/drawing/2014/main" id="{5C8D4A11-443A-4EBD-A196-1F7FF020EA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62" y="1377"/>
              <a:ext cx="206" cy="20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14">
              <a:extLst>
                <a:ext uri="{FF2B5EF4-FFF2-40B4-BE49-F238E27FC236}">
                  <a16:creationId xmlns:a16="http://schemas.microsoft.com/office/drawing/2014/main" id="{74CDAB92-C58D-4D67-812E-8AA82CAAEB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02" y="1517"/>
              <a:ext cx="66" cy="6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15">
              <a:extLst>
                <a:ext uri="{FF2B5EF4-FFF2-40B4-BE49-F238E27FC236}">
                  <a16:creationId xmlns:a16="http://schemas.microsoft.com/office/drawing/2014/main" id="{B97DB8F2-BA1A-4DBC-97A5-DB1C3865BB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36" y="1117"/>
              <a:ext cx="72" cy="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220EE853-C8B3-428B-A3DA-F51F058E81E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6" y="1117"/>
              <a:ext cx="212" cy="212"/>
            </a:xfrm>
            <a:custGeom>
              <a:avLst/>
              <a:gdLst>
                <a:gd name="T0" fmla="*/ 0 w 552"/>
                <a:gd name="T1" fmla="*/ 0 h 552"/>
                <a:gd name="T2" fmla="*/ 0 w 552"/>
                <a:gd name="T3" fmla="*/ 0 h 552"/>
                <a:gd name="T4" fmla="*/ 0 w 552"/>
                <a:gd name="T5" fmla="*/ 0 h 552"/>
                <a:gd name="T6" fmla="*/ 0 60000 65536"/>
                <a:gd name="T7" fmla="*/ 0 60000 65536"/>
                <a:gd name="T8" fmla="*/ 0 60000 65536"/>
                <a:gd name="T9" fmla="*/ 0 w 552"/>
                <a:gd name="T10" fmla="*/ 0 h 552"/>
                <a:gd name="T11" fmla="*/ 552 w 552"/>
                <a:gd name="T12" fmla="*/ 552 h 55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52" h="552">
                  <a:moveTo>
                    <a:pt x="0" y="552"/>
                  </a:moveTo>
                  <a:lnTo>
                    <a:pt x="95" y="458"/>
                  </a:lnTo>
                  <a:lnTo>
                    <a:pt x="552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216556D1-2116-4AD3-A6B7-17C2F9D3B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6" y="1117"/>
              <a:ext cx="351" cy="353"/>
            </a:xfrm>
            <a:custGeom>
              <a:avLst/>
              <a:gdLst>
                <a:gd name="T0" fmla="*/ 0 w 916"/>
                <a:gd name="T1" fmla="*/ 0 h 916"/>
                <a:gd name="T2" fmla="*/ 0 w 916"/>
                <a:gd name="T3" fmla="*/ 0 h 916"/>
                <a:gd name="T4" fmla="*/ 0 w 916"/>
                <a:gd name="T5" fmla="*/ 0 h 916"/>
                <a:gd name="T6" fmla="*/ 0 60000 65536"/>
                <a:gd name="T7" fmla="*/ 0 60000 65536"/>
                <a:gd name="T8" fmla="*/ 0 60000 65536"/>
                <a:gd name="T9" fmla="*/ 0 w 916"/>
                <a:gd name="T10" fmla="*/ 0 h 916"/>
                <a:gd name="T11" fmla="*/ 916 w 916"/>
                <a:gd name="T12" fmla="*/ 916 h 91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16" h="916">
                  <a:moveTo>
                    <a:pt x="0" y="916"/>
                  </a:moveTo>
                  <a:lnTo>
                    <a:pt x="458" y="458"/>
                  </a:lnTo>
                  <a:lnTo>
                    <a:pt x="916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18">
              <a:extLst>
                <a:ext uri="{FF2B5EF4-FFF2-40B4-BE49-F238E27FC236}">
                  <a16:creationId xmlns:a16="http://schemas.microsoft.com/office/drawing/2014/main" id="{B20DDCC6-A989-44A9-B977-013ABEB393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60" y="1543"/>
              <a:ext cx="40" cy="4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8F3FFF87-3E55-47D0-925A-9CE83FE0E41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0" y="1215"/>
              <a:ext cx="329" cy="328"/>
            </a:xfrm>
            <a:custGeom>
              <a:avLst/>
              <a:gdLst>
                <a:gd name="T0" fmla="*/ 0 w 857"/>
                <a:gd name="T1" fmla="*/ 0 h 857"/>
                <a:gd name="T2" fmla="*/ 0 w 857"/>
                <a:gd name="T3" fmla="*/ 0 h 857"/>
                <a:gd name="T4" fmla="*/ 0 w 857"/>
                <a:gd name="T5" fmla="*/ 0 h 857"/>
                <a:gd name="T6" fmla="*/ 0 60000 65536"/>
                <a:gd name="T7" fmla="*/ 0 60000 65536"/>
                <a:gd name="T8" fmla="*/ 0 60000 65536"/>
                <a:gd name="T9" fmla="*/ 0 w 857"/>
                <a:gd name="T10" fmla="*/ 0 h 857"/>
                <a:gd name="T11" fmla="*/ 857 w 857"/>
                <a:gd name="T12" fmla="*/ 857 h 85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57" h="857">
                  <a:moveTo>
                    <a:pt x="857" y="0"/>
                  </a:moveTo>
                  <a:lnTo>
                    <a:pt x="653" y="205"/>
                  </a:lnTo>
                  <a:lnTo>
                    <a:pt x="0" y="857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CBEEE38-27C2-4BCB-A303-A38F3054458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9" y="1327"/>
              <a:ext cx="257" cy="257"/>
            </a:xfrm>
            <a:custGeom>
              <a:avLst/>
              <a:gdLst>
                <a:gd name="T0" fmla="*/ 0 w 669"/>
                <a:gd name="T1" fmla="*/ 0 h 669"/>
                <a:gd name="T2" fmla="*/ 0 w 669"/>
                <a:gd name="T3" fmla="*/ 0 h 669"/>
                <a:gd name="T4" fmla="*/ 0 w 669"/>
                <a:gd name="T5" fmla="*/ 0 h 669"/>
                <a:gd name="T6" fmla="*/ 0 60000 65536"/>
                <a:gd name="T7" fmla="*/ 0 60000 65536"/>
                <a:gd name="T8" fmla="*/ 0 60000 65536"/>
                <a:gd name="T9" fmla="*/ 0 w 669"/>
                <a:gd name="T10" fmla="*/ 0 h 669"/>
                <a:gd name="T11" fmla="*/ 669 w 669"/>
                <a:gd name="T12" fmla="*/ 669 h 66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69" h="669">
                  <a:moveTo>
                    <a:pt x="0" y="669"/>
                  </a:moveTo>
                  <a:lnTo>
                    <a:pt x="104" y="564"/>
                  </a:lnTo>
                  <a:lnTo>
                    <a:pt x="669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8039D0D7-FEEB-49E8-9CB4-491DA6154DC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0" y="1459"/>
              <a:ext cx="123" cy="125"/>
            </a:xfrm>
            <a:custGeom>
              <a:avLst/>
              <a:gdLst>
                <a:gd name="T0" fmla="*/ 0 w 323"/>
                <a:gd name="T1" fmla="*/ 0 h 324"/>
                <a:gd name="T2" fmla="*/ 0 w 323"/>
                <a:gd name="T3" fmla="*/ 0 h 324"/>
                <a:gd name="T4" fmla="*/ 0 w 323"/>
                <a:gd name="T5" fmla="*/ 0 h 324"/>
                <a:gd name="T6" fmla="*/ 0 60000 65536"/>
                <a:gd name="T7" fmla="*/ 0 60000 65536"/>
                <a:gd name="T8" fmla="*/ 0 60000 65536"/>
                <a:gd name="T9" fmla="*/ 0 w 323"/>
                <a:gd name="T10" fmla="*/ 0 h 324"/>
                <a:gd name="T11" fmla="*/ 323 w 323"/>
                <a:gd name="T12" fmla="*/ 324 h 32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23" h="324">
                  <a:moveTo>
                    <a:pt x="0" y="324"/>
                  </a:moveTo>
                  <a:lnTo>
                    <a:pt x="103" y="219"/>
                  </a:lnTo>
                  <a:lnTo>
                    <a:pt x="323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22">
              <a:extLst>
                <a:ext uri="{FF2B5EF4-FFF2-40B4-BE49-F238E27FC236}">
                  <a16:creationId xmlns:a16="http://schemas.microsoft.com/office/drawing/2014/main" id="{BE8B4231-ED3D-41DF-AE5B-CDC5C97C10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004" y="1584"/>
              <a:ext cx="408" cy="40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23">
              <a:extLst>
                <a:ext uri="{FF2B5EF4-FFF2-40B4-BE49-F238E27FC236}">
                  <a16:creationId xmlns:a16="http://schemas.microsoft.com/office/drawing/2014/main" id="{E4BCEF22-C84E-4E77-A7F7-575DF6FF7C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087" y="1584"/>
              <a:ext cx="408" cy="40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24">
              <a:extLst>
                <a:ext uri="{FF2B5EF4-FFF2-40B4-BE49-F238E27FC236}">
                  <a16:creationId xmlns:a16="http://schemas.microsoft.com/office/drawing/2014/main" id="{3E211B68-B685-4C91-B4D2-270DBD5768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172" y="1584"/>
              <a:ext cx="413" cy="41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Line 25">
              <a:extLst>
                <a:ext uri="{FF2B5EF4-FFF2-40B4-BE49-F238E27FC236}">
                  <a16:creationId xmlns:a16="http://schemas.microsoft.com/office/drawing/2014/main" id="{A09C73DB-1DDB-481B-B97C-77DA784F1D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256" y="1584"/>
              <a:ext cx="406" cy="40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Line 26">
              <a:extLst>
                <a:ext uri="{FF2B5EF4-FFF2-40B4-BE49-F238E27FC236}">
                  <a16:creationId xmlns:a16="http://schemas.microsoft.com/office/drawing/2014/main" id="{FF097BB9-7FD3-4EE1-9A20-667B4FEFB95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518" y="1763"/>
              <a:ext cx="188" cy="1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Line 27">
              <a:extLst>
                <a:ext uri="{FF2B5EF4-FFF2-40B4-BE49-F238E27FC236}">
                  <a16:creationId xmlns:a16="http://schemas.microsoft.com/office/drawing/2014/main" id="{0503077E-3131-4C57-9ED9-0ED219475F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560" y="1721"/>
              <a:ext cx="197" cy="19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F040A2A7-4F19-416B-ACD0-D69A0872E29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2" y="1679"/>
              <a:ext cx="210" cy="211"/>
            </a:xfrm>
            <a:custGeom>
              <a:avLst/>
              <a:gdLst>
                <a:gd name="T0" fmla="*/ 0 w 745"/>
                <a:gd name="T1" fmla="*/ 0 h 744"/>
                <a:gd name="T2" fmla="*/ 0 w 745"/>
                <a:gd name="T3" fmla="*/ 0 h 744"/>
                <a:gd name="T4" fmla="*/ 0 w 745"/>
                <a:gd name="T5" fmla="*/ 0 h 744"/>
                <a:gd name="T6" fmla="*/ 0 60000 65536"/>
                <a:gd name="T7" fmla="*/ 0 60000 65536"/>
                <a:gd name="T8" fmla="*/ 0 60000 65536"/>
                <a:gd name="T9" fmla="*/ 0 w 745"/>
                <a:gd name="T10" fmla="*/ 0 h 744"/>
                <a:gd name="T11" fmla="*/ 745 w 745"/>
                <a:gd name="T12" fmla="*/ 744 h 74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45" h="744">
                  <a:moveTo>
                    <a:pt x="745" y="744"/>
                  </a:moveTo>
                  <a:lnTo>
                    <a:pt x="64" y="64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40E7E5D-3518-45B4-B5BA-F3A83EA3DD0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3" y="1637"/>
              <a:ext cx="212" cy="212"/>
            </a:xfrm>
            <a:custGeom>
              <a:avLst/>
              <a:gdLst>
                <a:gd name="T0" fmla="*/ 0 w 759"/>
                <a:gd name="T1" fmla="*/ 0 h 759"/>
                <a:gd name="T2" fmla="*/ 0 w 759"/>
                <a:gd name="T3" fmla="*/ 0 h 759"/>
                <a:gd name="T4" fmla="*/ 0 w 759"/>
                <a:gd name="T5" fmla="*/ 0 h 759"/>
                <a:gd name="T6" fmla="*/ 0 60000 65536"/>
                <a:gd name="T7" fmla="*/ 0 60000 65536"/>
                <a:gd name="T8" fmla="*/ 0 60000 65536"/>
                <a:gd name="T9" fmla="*/ 0 w 759"/>
                <a:gd name="T10" fmla="*/ 0 h 759"/>
                <a:gd name="T11" fmla="*/ 759 w 759"/>
                <a:gd name="T12" fmla="*/ 759 h 75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59" h="759">
                  <a:moveTo>
                    <a:pt x="759" y="759"/>
                  </a:moveTo>
                  <a:lnTo>
                    <a:pt x="174" y="174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1D48218C-8FE2-4151-A296-C3E27A5ACEC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5" y="1595"/>
              <a:ext cx="193" cy="193"/>
            </a:xfrm>
            <a:custGeom>
              <a:avLst/>
              <a:gdLst>
                <a:gd name="T0" fmla="*/ 0 w 762"/>
                <a:gd name="T1" fmla="*/ 0 h 762"/>
                <a:gd name="T2" fmla="*/ 0 w 762"/>
                <a:gd name="T3" fmla="*/ 0 h 762"/>
                <a:gd name="T4" fmla="*/ 0 w 762"/>
                <a:gd name="T5" fmla="*/ 0 h 762"/>
                <a:gd name="T6" fmla="*/ 0 60000 65536"/>
                <a:gd name="T7" fmla="*/ 0 60000 65536"/>
                <a:gd name="T8" fmla="*/ 0 60000 65536"/>
                <a:gd name="T9" fmla="*/ 0 w 762"/>
                <a:gd name="T10" fmla="*/ 0 h 762"/>
                <a:gd name="T11" fmla="*/ 762 w 762"/>
                <a:gd name="T12" fmla="*/ 762 h 76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62" h="762">
                  <a:moveTo>
                    <a:pt x="762" y="762"/>
                  </a:moveTo>
                  <a:lnTo>
                    <a:pt x="284" y="283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Freeform 31">
              <a:extLst>
                <a:ext uri="{FF2B5EF4-FFF2-40B4-BE49-F238E27FC236}">
                  <a16:creationId xmlns:a16="http://schemas.microsoft.com/office/drawing/2014/main" id="{B338ED12-6823-4843-A5A4-FDBABFF3FFE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9" y="1584"/>
              <a:ext cx="150" cy="151"/>
            </a:xfrm>
            <a:custGeom>
              <a:avLst/>
              <a:gdLst>
                <a:gd name="T0" fmla="*/ 0 w 674"/>
                <a:gd name="T1" fmla="*/ 0 h 675"/>
                <a:gd name="T2" fmla="*/ 0 w 674"/>
                <a:gd name="T3" fmla="*/ 0 h 675"/>
                <a:gd name="T4" fmla="*/ 0 w 674"/>
                <a:gd name="T5" fmla="*/ 0 h 675"/>
                <a:gd name="T6" fmla="*/ 0 60000 65536"/>
                <a:gd name="T7" fmla="*/ 0 60000 65536"/>
                <a:gd name="T8" fmla="*/ 0 60000 65536"/>
                <a:gd name="T9" fmla="*/ 0 w 674"/>
                <a:gd name="T10" fmla="*/ 0 h 675"/>
                <a:gd name="T11" fmla="*/ 674 w 674"/>
                <a:gd name="T12" fmla="*/ 675 h 67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74" h="675">
                  <a:moveTo>
                    <a:pt x="0" y="0"/>
                  </a:moveTo>
                  <a:lnTo>
                    <a:pt x="310" y="311"/>
                  </a:lnTo>
                  <a:lnTo>
                    <a:pt x="674" y="675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534DAEEF-ADB7-46DD-8AA0-749D92AED7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2" y="1584"/>
              <a:ext cx="99" cy="99"/>
            </a:xfrm>
            <a:custGeom>
              <a:avLst/>
              <a:gdLst>
                <a:gd name="T0" fmla="*/ 0 w 549"/>
                <a:gd name="T1" fmla="*/ 0 h 549"/>
                <a:gd name="T2" fmla="*/ 0 w 549"/>
                <a:gd name="T3" fmla="*/ 0 h 549"/>
                <a:gd name="T4" fmla="*/ 0 w 549"/>
                <a:gd name="T5" fmla="*/ 0 h 549"/>
                <a:gd name="T6" fmla="*/ 0 60000 65536"/>
                <a:gd name="T7" fmla="*/ 0 60000 65536"/>
                <a:gd name="T8" fmla="*/ 0 60000 65536"/>
                <a:gd name="T9" fmla="*/ 0 w 549"/>
                <a:gd name="T10" fmla="*/ 0 h 549"/>
                <a:gd name="T11" fmla="*/ 549 w 549"/>
                <a:gd name="T12" fmla="*/ 549 h 54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49" h="549">
                  <a:moveTo>
                    <a:pt x="0" y="0"/>
                  </a:moveTo>
                  <a:lnTo>
                    <a:pt x="312" y="311"/>
                  </a:lnTo>
                  <a:lnTo>
                    <a:pt x="549" y="549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Freeform 33">
              <a:extLst>
                <a:ext uri="{FF2B5EF4-FFF2-40B4-BE49-F238E27FC236}">
                  <a16:creationId xmlns:a16="http://schemas.microsoft.com/office/drawing/2014/main" id="{A265A912-A7DA-4F70-8C05-6E4589E6121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6" y="1584"/>
              <a:ext cx="54" cy="54"/>
            </a:xfrm>
            <a:custGeom>
              <a:avLst/>
              <a:gdLst>
                <a:gd name="T0" fmla="*/ 0 w 413"/>
                <a:gd name="T1" fmla="*/ 0 h 413"/>
                <a:gd name="T2" fmla="*/ 0 w 413"/>
                <a:gd name="T3" fmla="*/ 0 h 413"/>
                <a:gd name="T4" fmla="*/ 0 w 413"/>
                <a:gd name="T5" fmla="*/ 0 h 413"/>
                <a:gd name="T6" fmla="*/ 0 60000 65536"/>
                <a:gd name="T7" fmla="*/ 0 60000 65536"/>
                <a:gd name="T8" fmla="*/ 0 60000 65536"/>
                <a:gd name="T9" fmla="*/ 0 w 413"/>
                <a:gd name="T10" fmla="*/ 0 h 413"/>
                <a:gd name="T11" fmla="*/ 413 w 413"/>
                <a:gd name="T12" fmla="*/ 413 h 41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3" h="413">
                  <a:moveTo>
                    <a:pt x="0" y="0"/>
                  </a:moveTo>
                  <a:lnTo>
                    <a:pt x="311" y="311"/>
                  </a:lnTo>
                  <a:lnTo>
                    <a:pt x="413" y="413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Freeform 34">
              <a:extLst>
                <a:ext uri="{FF2B5EF4-FFF2-40B4-BE49-F238E27FC236}">
                  <a16:creationId xmlns:a16="http://schemas.microsoft.com/office/drawing/2014/main" id="{5EBE73AA-0FE0-404A-9B11-FF6753CCB0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9" y="1452"/>
              <a:ext cx="87" cy="29"/>
            </a:xfrm>
            <a:custGeom>
              <a:avLst/>
              <a:gdLst>
                <a:gd name="T0" fmla="*/ 0 w 225"/>
                <a:gd name="T1" fmla="*/ 0 h 75"/>
                <a:gd name="T2" fmla="*/ 0 w 225"/>
                <a:gd name="T3" fmla="*/ 0 h 75"/>
                <a:gd name="T4" fmla="*/ 0 w 225"/>
                <a:gd name="T5" fmla="*/ 0 h 75"/>
                <a:gd name="T6" fmla="*/ 0 w 225"/>
                <a:gd name="T7" fmla="*/ 0 h 7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25"/>
                <a:gd name="T13" fmla="*/ 0 h 75"/>
                <a:gd name="T14" fmla="*/ 225 w 225"/>
                <a:gd name="T15" fmla="*/ 75 h 7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25" h="75">
                  <a:moveTo>
                    <a:pt x="0" y="0"/>
                  </a:moveTo>
                  <a:lnTo>
                    <a:pt x="0" y="75"/>
                  </a:lnTo>
                  <a:lnTo>
                    <a:pt x="225" y="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Rectangle 35">
              <a:extLst>
                <a:ext uri="{FF2B5EF4-FFF2-40B4-BE49-F238E27FC236}">
                  <a16:creationId xmlns:a16="http://schemas.microsoft.com/office/drawing/2014/main" id="{F449A61C-B4CD-4817-9D04-424D4C7EE0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0" y="740"/>
              <a:ext cx="400" cy="2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r>
                <a:rPr lang="en-US" altLang="zh-CN" sz="2000" i="1" dirty="0">
                  <a:latin typeface="ISOCPEUR" pitchFamily="34" charset="0"/>
                </a:rPr>
                <a:t>0.2d</a:t>
              </a:r>
              <a:endParaRPr lang="en-US" altLang="zh-CN" sz="2000" dirty="0">
                <a:latin typeface="ISOCPEUR" pitchFamily="34" charset="0"/>
              </a:endParaRPr>
            </a:p>
          </p:txBody>
        </p:sp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CB6BD172-450D-4CD2-BD28-CF4893C1593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9" y="1452"/>
              <a:ext cx="87" cy="29"/>
            </a:xfrm>
            <a:custGeom>
              <a:avLst/>
              <a:gdLst>
                <a:gd name="T0" fmla="*/ 0 w 225"/>
                <a:gd name="T1" fmla="*/ 0 h 75"/>
                <a:gd name="T2" fmla="*/ 0 w 225"/>
                <a:gd name="T3" fmla="*/ 0 h 75"/>
                <a:gd name="T4" fmla="*/ 0 w 225"/>
                <a:gd name="T5" fmla="*/ 0 h 75"/>
                <a:gd name="T6" fmla="*/ 0 w 225"/>
                <a:gd name="T7" fmla="*/ 0 h 7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25"/>
                <a:gd name="T13" fmla="*/ 0 h 75"/>
                <a:gd name="T14" fmla="*/ 225 w 225"/>
                <a:gd name="T15" fmla="*/ 75 h 7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25" h="75">
                  <a:moveTo>
                    <a:pt x="0" y="0"/>
                  </a:moveTo>
                  <a:lnTo>
                    <a:pt x="0" y="75"/>
                  </a:lnTo>
                  <a:lnTo>
                    <a:pt x="225" y="38"/>
                  </a:lnTo>
                  <a:lnTo>
                    <a:pt x="0" y="0"/>
                  </a:lnTo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Line 37">
              <a:extLst>
                <a:ext uri="{FF2B5EF4-FFF2-40B4-BE49-F238E27FC236}">
                  <a16:creationId xmlns:a16="http://schemas.microsoft.com/office/drawing/2014/main" id="{B475B9C2-931A-4A88-AD27-0DE3F432F5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9" y="983"/>
              <a:ext cx="134" cy="0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Line 38">
              <a:extLst>
                <a:ext uri="{FF2B5EF4-FFF2-40B4-BE49-F238E27FC236}">
                  <a16:creationId xmlns:a16="http://schemas.microsoft.com/office/drawing/2014/main" id="{3798D800-C72C-43F1-B4E6-D69738BF41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9" y="1199"/>
              <a:ext cx="762" cy="1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Line 39">
              <a:extLst>
                <a:ext uri="{FF2B5EF4-FFF2-40B4-BE49-F238E27FC236}">
                  <a16:creationId xmlns:a16="http://schemas.microsoft.com/office/drawing/2014/main" id="{80459E2D-A534-450B-85FC-6757ACE7C6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0" y="568"/>
              <a:ext cx="398" cy="2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Line 40">
              <a:extLst>
                <a:ext uri="{FF2B5EF4-FFF2-40B4-BE49-F238E27FC236}">
                  <a16:creationId xmlns:a16="http://schemas.microsoft.com/office/drawing/2014/main" id="{4D56E5FF-E7E2-4625-9686-9840FE9C42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9" y="1117"/>
              <a:ext cx="187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Line 41">
              <a:extLst>
                <a:ext uri="{FF2B5EF4-FFF2-40B4-BE49-F238E27FC236}">
                  <a16:creationId xmlns:a16="http://schemas.microsoft.com/office/drawing/2014/main" id="{0DDDFA51-C1E4-454D-891F-38384C02B4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1073"/>
              <a:ext cx="379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Line 42">
              <a:extLst>
                <a:ext uri="{FF2B5EF4-FFF2-40B4-BE49-F238E27FC236}">
                  <a16:creationId xmlns:a16="http://schemas.microsoft.com/office/drawing/2014/main" id="{CB7EFE6F-83D1-4C19-A742-D21CD7B24F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01" y="1545"/>
              <a:ext cx="235" cy="23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Rectangle 43">
              <a:extLst>
                <a:ext uri="{FF2B5EF4-FFF2-40B4-BE49-F238E27FC236}">
                  <a16:creationId xmlns:a16="http://schemas.microsoft.com/office/drawing/2014/main" id="{577173EF-CC37-4DD5-871D-75E8C5FA5A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5" y="536"/>
              <a:ext cx="25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000" dirty="0">
                  <a:solidFill>
                    <a:schemeClr val="accent2"/>
                  </a:solidFill>
                  <a:latin typeface="ISOCPEUR" pitchFamily="34" charset="0"/>
                </a:rPr>
                <a:t>2.5:1</a:t>
              </a:r>
            </a:p>
          </p:txBody>
        </p:sp>
        <p:sp>
          <p:nvSpPr>
            <p:cNvPr id="44" name="Line 44">
              <a:extLst>
                <a:ext uri="{FF2B5EF4-FFF2-40B4-BE49-F238E27FC236}">
                  <a16:creationId xmlns:a16="http://schemas.microsoft.com/office/drawing/2014/main" id="{2F5BCF1B-E8DB-4EFE-9927-D56D4BE568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8" y="1545"/>
              <a:ext cx="468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Line 45">
              <a:extLst>
                <a:ext uri="{FF2B5EF4-FFF2-40B4-BE49-F238E27FC236}">
                  <a16:creationId xmlns:a16="http://schemas.microsoft.com/office/drawing/2014/main" id="{935A54C9-2C76-48C9-B359-EDFE3F78C4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76" y="1704"/>
              <a:ext cx="730" cy="1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Line 46">
              <a:extLst>
                <a:ext uri="{FF2B5EF4-FFF2-40B4-BE49-F238E27FC236}">
                  <a16:creationId xmlns:a16="http://schemas.microsoft.com/office/drawing/2014/main" id="{CF6118D7-9A68-457E-A0C2-AF3D8C05B7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59" y="1115"/>
              <a:ext cx="2" cy="68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Line 47">
              <a:extLst>
                <a:ext uri="{FF2B5EF4-FFF2-40B4-BE49-F238E27FC236}">
                  <a16:creationId xmlns:a16="http://schemas.microsoft.com/office/drawing/2014/main" id="{1119C9DD-B53D-4F86-A933-3852AD9C95C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99" y="1496"/>
              <a:ext cx="2" cy="30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Line 48">
              <a:extLst>
                <a:ext uri="{FF2B5EF4-FFF2-40B4-BE49-F238E27FC236}">
                  <a16:creationId xmlns:a16="http://schemas.microsoft.com/office/drawing/2014/main" id="{C8E80D2B-D1F2-4216-B4C0-CEFB540779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268" y="1545"/>
              <a:ext cx="233" cy="23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Line 49">
              <a:extLst>
                <a:ext uri="{FF2B5EF4-FFF2-40B4-BE49-F238E27FC236}">
                  <a16:creationId xmlns:a16="http://schemas.microsoft.com/office/drawing/2014/main" id="{A2E36384-E450-4028-935E-583D2924B1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6" y="1704"/>
              <a:ext cx="150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Line 50">
              <a:extLst>
                <a:ext uri="{FF2B5EF4-FFF2-40B4-BE49-F238E27FC236}">
                  <a16:creationId xmlns:a16="http://schemas.microsoft.com/office/drawing/2014/main" id="{9BCE011E-2813-43D1-9E66-84C0EF62A7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1" y="1117"/>
              <a:ext cx="307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Line 51">
              <a:extLst>
                <a:ext uri="{FF2B5EF4-FFF2-40B4-BE49-F238E27FC236}">
                  <a16:creationId xmlns:a16="http://schemas.microsoft.com/office/drawing/2014/main" id="{4D60CCF1-98EA-4799-9624-71D10B8F80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59" y="1584"/>
              <a:ext cx="349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Line 52">
              <a:extLst>
                <a:ext uri="{FF2B5EF4-FFF2-40B4-BE49-F238E27FC236}">
                  <a16:creationId xmlns:a16="http://schemas.microsoft.com/office/drawing/2014/main" id="{AC25D224-AD4E-4E91-9E11-0C4714E9ED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44" y="1388"/>
              <a:ext cx="115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Line 53">
              <a:extLst>
                <a:ext uri="{FF2B5EF4-FFF2-40B4-BE49-F238E27FC236}">
                  <a16:creationId xmlns:a16="http://schemas.microsoft.com/office/drawing/2014/main" id="{49CD0D2F-878F-461C-9B58-AC369DAE39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5" y="1467"/>
              <a:ext cx="294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Freeform 54">
              <a:extLst>
                <a:ext uri="{FF2B5EF4-FFF2-40B4-BE49-F238E27FC236}">
                  <a16:creationId xmlns:a16="http://schemas.microsoft.com/office/drawing/2014/main" id="{6400B393-2B51-4C34-93F7-C610216E58D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9" y="970"/>
              <a:ext cx="86" cy="28"/>
            </a:xfrm>
            <a:custGeom>
              <a:avLst/>
              <a:gdLst>
                <a:gd name="T0" fmla="*/ 0 w 225"/>
                <a:gd name="T1" fmla="*/ 0 h 74"/>
                <a:gd name="T2" fmla="*/ 0 w 225"/>
                <a:gd name="T3" fmla="*/ 0 h 74"/>
                <a:gd name="T4" fmla="*/ 0 w 225"/>
                <a:gd name="T5" fmla="*/ 0 h 74"/>
                <a:gd name="T6" fmla="*/ 0 w 225"/>
                <a:gd name="T7" fmla="*/ 0 h 7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25"/>
                <a:gd name="T13" fmla="*/ 0 h 74"/>
                <a:gd name="T14" fmla="*/ 225 w 225"/>
                <a:gd name="T15" fmla="*/ 74 h 7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25" h="74">
                  <a:moveTo>
                    <a:pt x="0" y="0"/>
                  </a:moveTo>
                  <a:lnTo>
                    <a:pt x="0" y="74"/>
                  </a:lnTo>
                  <a:lnTo>
                    <a:pt x="225" y="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Freeform 55">
              <a:extLst>
                <a:ext uri="{FF2B5EF4-FFF2-40B4-BE49-F238E27FC236}">
                  <a16:creationId xmlns:a16="http://schemas.microsoft.com/office/drawing/2014/main" id="{DE9BE17D-E30A-407D-80F1-FA0C3F11013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9" y="970"/>
              <a:ext cx="86" cy="28"/>
            </a:xfrm>
            <a:custGeom>
              <a:avLst/>
              <a:gdLst>
                <a:gd name="T0" fmla="*/ 0 w 225"/>
                <a:gd name="T1" fmla="*/ 0 h 74"/>
                <a:gd name="T2" fmla="*/ 0 w 225"/>
                <a:gd name="T3" fmla="*/ 0 h 74"/>
                <a:gd name="T4" fmla="*/ 0 w 225"/>
                <a:gd name="T5" fmla="*/ 0 h 74"/>
                <a:gd name="T6" fmla="*/ 0 w 225"/>
                <a:gd name="T7" fmla="*/ 0 h 7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25"/>
                <a:gd name="T13" fmla="*/ 0 h 74"/>
                <a:gd name="T14" fmla="*/ 225 w 225"/>
                <a:gd name="T15" fmla="*/ 74 h 7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25" h="74">
                  <a:moveTo>
                    <a:pt x="0" y="0"/>
                  </a:moveTo>
                  <a:lnTo>
                    <a:pt x="0" y="74"/>
                  </a:lnTo>
                  <a:lnTo>
                    <a:pt x="225" y="37"/>
                  </a:lnTo>
                  <a:lnTo>
                    <a:pt x="0" y="0"/>
                  </a:lnTo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Line 56">
              <a:extLst>
                <a:ext uri="{FF2B5EF4-FFF2-40B4-BE49-F238E27FC236}">
                  <a16:creationId xmlns:a16="http://schemas.microsoft.com/office/drawing/2014/main" id="{A982F13D-130E-4B77-8515-823A796719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22" y="983"/>
              <a:ext cx="255" cy="3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Line 57">
              <a:extLst>
                <a:ext uri="{FF2B5EF4-FFF2-40B4-BE49-F238E27FC236}">
                  <a16:creationId xmlns:a16="http://schemas.microsoft.com/office/drawing/2014/main" id="{2608722D-6F62-4E5E-94DA-BAF6886DEC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8" y="1117"/>
              <a:ext cx="187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Line 58">
              <a:extLst>
                <a:ext uri="{FF2B5EF4-FFF2-40B4-BE49-F238E27FC236}">
                  <a16:creationId xmlns:a16="http://schemas.microsoft.com/office/drawing/2014/main" id="{DBEBFCF5-BB8F-40C7-B588-B30119715B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7" y="1079"/>
              <a:ext cx="1" cy="50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Line 59">
              <a:extLst>
                <a:ext uri="{FF2B5EF4-FFF2-40B4-BE49-F238E27FC236}">
                  <a16:creationId xmlns:a16="http://schemas.microsoft.com/office/drawing/2014/main" id="{8784DC93-D3D5-49C5-A149-185A5B0ADC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8" y="1117"/>
              <a:ext cx="2" cy="4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Freeform 60">
              <a:extLst>
                <a:ext uri="{FF2B5EF4-FFF2-40B4-BE49-F238E27FC236}">
                  <a16:creationId xmlns:a16="http://schemas.microsoft.com/office/drawing/2014/main" id="{67DBA447-50BC-4DA5-82F8-BC7D5408600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8" y="1452"/>
              <a:ext cx="87" cy="29"/>
            </a:xfrm>
            <a:custGeom>
              <a:avLst/>
              <a:gdLst>
                <a:gd name="T0" fmla="*/ 0 w 225"/>
                <a:gd name="T1" fmla="*/ 0 h 75"/>
                <a:gd name="T2" fmla="*/ 0 w 225"/>
                <a:gd name="T3" fmla="*/ 0 h 75"/>
                <a:gd name="T4" fmla="*/ 0 w 225"/>
                <a:gd name="T5" fmla="*/ 0 h 75"/>
                <a:gd name="T6" fmla="*/ 0 w 225"/>
                <a:gd name="T7" fmla="*/ 0 h 7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25"/>
                <a:gd name="T13" fmla="*/ 0 h 75"/>
                <a:gd name="T14" fmla="*/ 225 w 225"/>
                <a:gd name="T15" fmla="*/ 75 h 7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25" h="75">
                  <a:moveTo>
                    <a:pt x="225" y="0"/>
                  </a:moveTo>
                  <a:lnTo>
                    <a:pt x="225" y="75"/>
                  </a:lnTo>
                  <a:lnTo>
                    <a:pt x="0" y="38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Freeform 61">
              <a:extLst>
                <a:ext uri="{FF2B5EF4-FFF2-40B4-BE49-F238E27FC236}">
                  <a16:creationId xmlns:a16="http://schemas.microsoft.com/office/drawing/2014/main" id="{9F6CE388-2410-4105-BC93-88AD928960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8" y="1452"/>
              <a:ext cx="87" cy="29"/>
            </a:xfrm>
            <a:custGeom>
              <a:avLst/>
              <a:gdLst>
                <a:gd name="T0" fmla="*/ 0 w 225"/>
                <a:gd name="T1" fmla="*/ 0 h 75"/>
                <a:gd name="T2" fmla="*/ 0 w 225"/>
                <a:gd name="T3" fmla="*/ 0 h 75"/>
                <a:gd name="T4" fmla="*/ 0 w 225"/>
                <a:gd name="T5" fmla="*/ 0 h 75"/>
                <a:gd name="T6" fmla="*/ 0 w 225"/>
                <a:gd name="T7" fmla="*/ 0 h 7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25"/>
                <a:gd name="T13" fmla="*/ 0 h 75"/>
                <a:gd name="T14" fmla="*/ 225 w 225"/>
                <a:gd name="T15" fmla="*/ 75 h 7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25" h="75">
                  <a:moveTo>
                    <a:pt x="225" y="0"/>
                  </a:moveTo>
                  <a:lnTo>
                    <a:pt x="225" y="75"/>
                  </a:lnTo>
                  <a:lnTo>
                    <a:pt x="0" y="38"/>
                  </a:lnTo>
                  <a:lnTo>
                    <a:pt x="225" y="0"/>
                  </a:lnTo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Freeform 62">
              <a:extLst>
                <a:ext uri="{FF2B5EF4-FFF2-40B4-BE49-F238E27FC236}">
                  <a16:creationId xmlns:a16="http://schemas.microsoft.com/office/drawing/2014/main" id="{12D8BCD4-7E57-4D26-8F56-370FA213EF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1545"/>
              <a:ext cx="1" cy="39"/>
            </a:xfrm>
            <a:custGeom>
              <a:avLst/>
              <a:gdLst>
                <a:gd name="T0" fmla="*/ 0 w 1"/>
                <a:gd name="T1" fmla="*/ 0 h 39"/>
                <a:gd name="T2" fmla="*/ 0 w 1"/>
                <a:gd name="T3" fmla="*/ 39 h 39"/>
                <a:gd name="T4" fmla="*/ 0 60000 65536"/>
                <a:gd name="T5" fmla="*/ 0 60000 65536"/>
                <a:gd name="T6" fmla="*/ 0 w 1"/>
                <a:gd name="T7" fmla="*/ 0 h 39"/>
                <a:gd name="T8" fmla="*/ 1 w 1"/>
                <a:gd name="T9" fmla="*/ 39 h 3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39">
                  <a:moveTo>
                    <a:pt x="0" y="0"/>
                  </a:moveTo>
                  <a:lnTo>
                    <a:pt x="0" y="39"/>
                  </a:lnTo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Line 63">
              <a:extLst>
                <a:ext uri="{FF2B5EF4-FFF2-40B4-BE49-F238E27FC236}">
                  <a16:creationId xmlns:a16="http://schemas.microsoft.com/office/drawing/2014/main" id="{890A0247-8438-40E1-8512-C37F44BEED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68" y="1073"/>
              <a:ext cx="44" cy="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" name="Rectangle 64">
              <a:extLst>
                <a:ext uri="{FF2B5EF4-FFF2-40B4-BE49-F238E27FC236}">
                  <a16:creationId xmlns:a16="http://schemas.microsoft.com/office/drawing/2014/main" id="{40346BCD-C206-4B19-AC9D-E2B0C40E80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4" y="1256"/>
              <a:ext cx="75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000" i="1" dirty="0">
                  <a:latin typeface="ISOCPEUR" pitchFamily="34" charset="0"/>
                </a:rPr>
                <a:t>d</a:t>
              </a:r>
              <a:endParaRPr lang="en-US" altLang="zh-CN" sz="2000" dirty="0">
                <a:latin typeface="ISOCPEUR" pitchFamily="34" charset="0"/>
              </a:endParaRPr>
            </a:p>
          </p:txBody>
        </p:sp>
        <p:sp>
          <p:nvSpPr>
            <p:cNvPr id="65" name="Line 65">
              <a:extLst>
                <a:ext uri="{FF2B5EF4-FFF2-40B4-BE49-F238E27FC236}">
                  <a16:creationId xmlns:a16="http://schemas.microsoft.com/office/drawing/2014/main" id="{26C6F04E-7AC0-48F2-B1FF-C04BBE975B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1" y="1039"/>
              <a:ext cx="2" cy="33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" name="Line 66">
              <a:extLst>
                <a:ext uri="{FF2B5EF4-FFF2-40B4-BE49-F238E27FC236}">
                  <a16:creationId xmlns:a16="http://schemas.microsoft.com/office/drawing/2014/main" id="{5354B2C5-46C2-490B-980E-7489A765C1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1" y="1519"/>
              <a:ext cx="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Line 67">
              <a:extLst>
                <a:ext uri="{FF2B5EF4-FFF2-40B4-BE49-F238E27FC236}">
                  <a16:creationId xmlns:a16="http://schemas.microsoft.com/office/drawing/2014/main" id="{C9522D8A-3183-437B-AE45-2D629130E1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5" y="983"/>
              <a:ext cx="95" cy="1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Line 68">
              <a:extLst>
                <a:ext uri="{FF2B5EF4-FFF2-40B4-BE49-F238E27FC236}">
                  <a16:creationId xmlns:a16="http://schemas.microsoft.com/office/drawing/2014/main" id="{F62673F0-B47A-476A-AE3B-16FFB09CA9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55" y="955"/>
              <a:ext cx="1" cy="118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" name="Line 69">
              <a:extLst>
                <a:ext uri="{FF2B5EF4-FFF2-40B4-BE49-F238E27FC236}">
                  <a16:creationId xmlns:a16="http://schemas.microsoft.com/office/drawing/2014/main" id="{4F04F40B-51CD-4B4A-BE33-E6D28FF642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49" y="951"/>
              <a:ext cx="1" cy="122"/>
            </a:xfrm>
            <a:prstGeom prst="line">
              <a:avLst/>
            </a:prstGeom>
            <a:noFill/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" name="Freeform 70">
              <a:extLst>
                <a:ext uri="{FF2B5EF4-FFF2-40B4-BE49-F238E27FC236}">
                  <a16:creationId xmlns:a16="http://schemas.microsoft.com/office/drawing/2014/main" id="{C43F4769-4928-466A-BE78-E265C8F99A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4" y="968"/>
              <a:ext cx="87" cy="30"/>
            </a:xfrm>
            <a:custGeom>
              <a:avLst/>
              <a:gdLst>
                <a:gd name="T0" fmla="*/ 0 w 225"/>
                <a:gd name="T1" fmla="*/ 0 h 76"/>
                <a:gd name="T2" fmla="*/ 0 w 225"/>
                <a:gd name="T3" fmla="*/ 0 h 76"/>
                <a:gd name="T4" fmla="*/ 0 w 225"/>
                <a:gd name="T5" fmla="*/ 0 h 76"/>
                <a:gd name="T6" fmla="*/ 0 w 225"/>
                <a:gd name="T7" fmla="*/ 0 h 7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25"/>
                <a:gd name="T13" fmla="*/ 0 h 76"/>
                <a:gd name="T14" fmla="*/ 225 w 225"/>
                <a:gd name="T15" fmla="*/ 76 h 7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25" h="76">
                  <a:moveTo>
                    <a:pt x="225" y="0"/>
                  </a:moveTo>
                  <a:lnTo>
                    <a:pt x="225" y="76"/>
                  </a:lnTo>
                  <a:lnTo>
                    <a:pt x="0" y="37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Freeform 71">
              <a:extLst>
                <a:ext uri="{FF2B5EF4-FFF2-40B4-BE49-F238E27FC236}">
                  <a16:creationId xmlns:a16="http://schemas.microsoft.com/office/drawing/2014/main" id="{17AA30B9-30BF-44C2-A7F0-2D4E50F8BB6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4" y="968"/>
              <a:ext cx="87" cy="30"/>
            </a:xfrm>
            <a:custGeom>
              <a:avLst/>
              <a:gdLst>
                <a:gd name="T0" fmla="*/ 0 w 225"/>
                <a:gd name="T1" fmla="*/ 0 h 76"/>
                <a:gd name="T2" fmla="*/ 0 w 225"/>
                <a:gd name="T3" fmla="*/ 0 h 76"/>
                <a:gd name="T4" fmla="*/ 0 w 225"/>
                <a:gd name="T5" fmla="*/ 0 h 76"/>
                <a:gd name="T6" fmla="*/ 0 w 225"/>
                <a:gd name="T7" fmla="*/ 0 h 7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25"/>
                <a:gd name="T13" fmla="*/ 0 h 76"/>
                <a:gd name="T14" fmla="*/ 225 w 225"/>
                <a:gd name="T15" fmla="*/ 76 h 7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25" h="76">
                  <a:moveTo>
                    <a:pt x="225" y="0"/>
                  </a:moveTo>
                  <a:lnTo>
                    <a:pt x="225" y="76"/>
                  </a:lnTo>
                  <a:lnTo>
                    <a:pt x="0" y="37"/>
                  </a:lnTo>
                  <a:lnTo>
                    <a:pt x="225" y="0"/>
                  </a:lnTo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" name="Rectangle 72">
              <a:extLst>
                <a:ext uri="{FF2B5EF4-FFF2-40B4-BE49-F238E27FC236}">
                  <a16:creationId xmlns:a16="http://schemas.microsoft.com/office/drawing/2014/main" id="{3A3C5D4D-2A5F-4F72-B6FF-44D20FD415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9" y="320"/>
              <a:ext cx="161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000" dirty="0">
                  <a:solidFill>
                    <a:schemeClr val="accent2"/>
                  </a:solidFill>
                  <a:latin typeface="宋体" pitchFamily="2" charset="-122"/>
                </a:rPr>
                <a:t>Ⅰ</a:t>
              </a:r>
              <a:endParaRPr lang="en-US" altLang="zh-CN" sz="3200" dirty="0">
                <a:solidFill>
                  <a:schemeClr val="accent2"/>
                </a:solidFill>
              </a:endParaRPr>
            </a:p>
          </p:txBody>
        </p:sp>
        <p:sp>
          <p:nvSpPr>
            <p:cNvPr id="73" name="Line 73">
              <a:extLst>
                <a:ext uri="{FF2B5EF4-FFF2-40B4-BE49-F238E27FC236}">
                  <a16:creationId xmlns:a16="http://schemas.microsoft.com/office/drawing/2014/main" id="{2F53A5D1-AD6D-4898-8B3B-74E0B62292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0" y="983"/>
              <a:ext cx="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" name="Rectangle 74">
              <a:extLst>
                <a:ext uri="{FF2B5EF4-FFF2-40B4-BE49-F238E27FC236}">
                  <a16:creationId xmlns:a16="http://schemas.microsoft.com/office/drawing/2014/main" id="{F15BAB18-8168-48F2-8D5B-96595F73988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973" y="1884"/>
              <a:ext cx="26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000" i="1" dirty="0">
                  <a:latin typeface="ISOCPEUR" pitchFamily="34" charset="0"/>
                </a:rPr>
                <a:t>0.4d</a:t>
              </a:r>
              <a:endParaRPr lang="en-US" altLang="zh-CN" sz="2000" dirty="0">
                <a:latin typeface="ISOCPEUR" pitchFamily="34" charset="0"/>
              </a:endParaRPr>
            </a:p>
          </p:txBody>
        </p:sp>
        <p:sp>
          <p:nvSpPr>
            <p:cNvPr id="75" name="Line 75">
              <a:extLst>
                <a:ext uri="{FF2B5EF4-FFF2-40B4-BE49-F238E27FC236}">
                  <a16:creationId xmlns:a16="http://schemas.microsoft.com/office/drawing/2014/main" id="{C137D8E4-996D-46E1-AD1E-A26B282AB6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3" y="1418"/>
              <a:ext cx="1" cy="286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" name="Line 76">
              <a:extLst>
                <a:ext uri="{FF2B5EF4-FFF2-40B4-BE49-F238E27FC236}">
                  <a16:creationId xmlns:a16="http://schemas.microsoft.com/office/drawing/2014/main" id="{76ABCC46-A717-42E2-BE80-EDFF8A435B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52" y="1766"/>
              <a:ext cx="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" name="Line 77">
              <a:extLst>
                <a:ext uri="{FF2B5EF4-FFF2-40B4-BE49-F238E27FC236}">
                  <a16:creationId xmlns:a16="http://schemas.microsoft.com/office/drawing/2014/main" id="{64839350-6A72-41BC-9A5A-F87421E9A2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3" y="1736"/>
              <a:ext cx="1" cy="329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" name="Freeform 78">
              <a:extLst>
                <a:ext uri="{FF2B5EF4-FFF2-40B4-BE49-F238E27FC236}">
                  <a16:creationId xmlns:a16="http://schemas.microsoft.com/office/drawing/2014/main" id="{5841266B-12AA-4139-AD21-271F7E9706B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9" y="1704"/>
              <a:ext cx="29" cy="86"/>
            </a:xfrm>
            <a:custGeom>
              <a:avLst/>
              <a:gdLst>
                <a:gd name="T0" fmla="*/ 0 w 74"/>
                <a:gd name="T1" fmla="*/ 0 h 225"/>
                <a:gd name="T2" fmla="*/ 0 w 74"/>
                <a:gd name="T3" fmla="*/ 0 h 225"/>
                <a:gd name="T4" fmla="*/ 0 w 74"/>
                <a:gd name="T5" fmla="*/ 0 h 225"/>
                <a:gd name="T6" fmla="*/ 0 w 74"/>
                <a:gd name="T7" fmla="*/ 0 h 22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4"/>
                <a:gd name="T13" fmla="*/ 0 h 225"/>
                <a:gd name="T14" fmla="*/ 74 w 74"/>
                <a:gd name="T15" fmla="*/ 225 h 22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4" h="225">
                  <a:moveTo>
                    <a:pt x="0" y="225"/>
                  </a:moveTo>
                  <a:lnTo>
                    <a:pt x="74" y="225"/>
                  </a:lnTo>
                  <a:lnTo>
                    <a:pt x="37" y="0"/>
                  </a:lnTo>
                  <a:lnTo>
                    <a:pt x="0" y="22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Rectangle 79">
              <a:extLst>
                <a:ext uri="{FF2B5EF4-FFF2-40B4-BE49-F238E27FC236}">
                  <a16:creationId xmlns:a16="http://schemas.microsoft.com/office/drawing/2014/main" id="{20279DF3-F059-4F10-A976-BEAD5EBF9EC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3946" y="671"/>
              <a:ext cx="332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000" i="1" dirty="0">
                  <a:latin typeface="ISOCPEUR" pitchFamily="34" charset="0"/>
                </a:rPr>
                <a:t>0.25d</a:t>
              </a:r>
              <a:endParaRPr lang="en-US" altLang="zh-CN" sz="2000" dirty="0">
                <a:latin typeface="ISOCPEUR" pitchFamily="34" charset="0"/>
              </a:endParaRPr>
            </a:p>
          </p:txBody>
        </p:sp>
        <p:sp>
          <p:nvSpPr>
            <p:cNvPr id="80" name="Freeform 80">
              <a:extLst>
                <a:ext uri="{FF2B5EF4-FFF2-40B4-BE49-F238E27FC236}">
                  <a16:creationId xmlns:a16="http://schemas.microsoft.com/office/drawing/2014/main" id="{3585E35B-14BB-4729-BE63-64D27885951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9" y="1704"/>
              <a:ext cx="29" cy="86"/>
            </a:xfrm>
            <a:custGeom>
              <a:avLst/>
              <a:gdLst>
                <a:gd name="T0" fmla="*/ 0 w 74"/>
                <a:gd name="T1" fmla="*/ 0 h 225"/>
                <a:gd name="T2" fmla="*/ 0 w 74"/>
                <a:gd name="T3" fmla="*/ 0 h 225"/>
                <a:gd name="T4" fmla="*/ 0 w 74"/>
                <a:gd name="T5" fmla="*/ 0 h 225"/>
                <a:gd name="T6" fmla="*/ 0 w 74"/>
                <a:gd name="T7" fmla="*/ 0 h 22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4"/>
                <a:gd name="T13" fmla="*/ 0 h 225"/>
                <a:gd name="T14" fmla="*/ 74 w 74"/>
                <a:gd name="T15" fmla="*/ 225 h 22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4" h="225">
                  <a:moveTo>
                    <a:pt x="0" y="225"/>
                  </a:moveTo>
                  <a:lnTo>
                    <a:pt x="74" y="225"/>
                  </a:lnTo>
                  <a:lnTo>
                    <a:pt x="37" y="0"/>
                  </a:lnTo>
                  <a:lnTo>
                    <a:pt x="0" y="225"/>
                  </a:lnTo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" name="Line 81">
              <a:extLst>
                <a:ext uri="{FF2B5EF4-FFF2-40B4-BE49-F238E27FC236}">
                  <a16:creationId xmlns:a16="http://schemas.microsoft.com/office/drawing/2014/main" id="{9CA1AD3A-D823-4A0F-8BFB-58118DBCA84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60000">
              <a:off x="3691" y="1073"/>
              <a:ext cx="608" cy="1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" name="Line 82">
              <a:extLst>
                <a:ext uri="{FF2B5EF4-FFF2-40B4-BE49-F238E27FC236}">
                  <a16:creationId xmlns:a16="http://schemas.microsoft.com/office/drawing/2014/main" id="{2DE1D9E6-66B6-41F6-B5FE-9C79287C9B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36" y="1545"/>
              <a:ext cx="572" cy="1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" name="Line 83">
              <a:extLst>
                <a:ext uri="{FF2B5EF4-FFF2-40B4-BE49-F238E27FC236}">
                  <a16:creationId xmlns:a16="http://schemas.microsoft.com/office/drawing/2014/main" id="{1E4A498D-C525-4BEA-8041-2E1AC249B4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6" y="1584"/>
              <a:ext cx="450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" name="Line 84">
              <a:extLst>
                <a:ext uri="{FF2B5EF4-FFF2-40B4-BE49-F238E27FC236}">
                  <a16:creationId xmlns:a16="http://schemas.microsoft.com/office/drawing/2014/main" id="{EADC4AA6-BBF1-44D8-9002-61D4DE5B86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36" y="1117"/>
              <a:ext cx="351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" name="Line 85">
              <a:extLst>
                <a:ext uri="{FF2B5EF4-FFF2-40B4-BE49-F238E27FC236}">
                  <a16:creationId xmlns:a16="http://schemas.microsoft.com/office/drawing/2014/main" id="{1972417D-6263-4A16-9E74-8BB93861E1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9" y="1081"/>
              <a:ext cx="1" cy="50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" name="Line 86">
              <a:extLst>
                <a:ext uri="{FF2B5EF4-FFF2-40B4-BE49-F238E27FC236}">
                  <a16:creationId xmlns:a16="http://schemas.microsoft.com/office/drawing/2014/main" id="{6B8A1855-F7F1-4670-95A4-E61A709F7C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36" y="1117"/>
              <a:ext cx="1" cy="4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" name="Line 87">
              <a:extLst>
                <a:ext uri="{FF2B5EF4-FFF2-40B4-BE49-F238E27FC236}">
                  <a16:creationId xmlns:a16="http://schemas.microsoft.com/office/drawing/2014/main" id="{562A94AD-D063-487F-BA8F-A607638DCC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36" y="1545"/>
              <a:ext cx="1" cy="3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" name="Line 88">
              <a:extLst>
                <a:ext uri="{FF2B5EF4-FFF2-40B4-BE49-F238E27FC236}">
                  <a16:creationId xmlns:a16="http://schemas.microsoft.com/office/drawing/2014/main" id="{F8245B71-F1CE-4863-A4FE-81BB53ED81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691" y="1073"/>
              <a:ext cx="45" cy="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" name="Line 89">
              <a:extLst>
                <a:ext uri="{FF2B5EF4-FFF2-40B4-BE49-F238E27FC236}">
                  <a16:creationId xmlns:a16="http://schemas.microsoft.com/office/drawing/2014/main" id="{41A6771B-A61D-40A4-BEF6-57C7B655F7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51" y="560"/>
              <a:ext cx="1" cy="785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" name="Freeform 90">
              <a:extLst>
                <a:ext uri="{FF2B5EF4-FFF2-40B4-BE49-F238E27FC236}">
                  <a16:creationId xmlns:a16="http://schemas.microsoft.com/office/drawing/2014/main" id="{7EBD2EC7-B9A7-4FFA-959C-7D5F567389F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7" y="1199"/>
              <a:ext cx="29" cy="86"/>
            </a:xfrm>
            <a:custGeom>
              <a:avLst/>
              <a:gdLst>
                <a:gd name="T0" fmla="*/ 0 w 76"/>
                <a:gd name="T1" fmla="*/ 0 h 225"/>
                <a:gd name="T2" fmla="*/ 0 w 76"/>
                <a:gd name="T3" fmla="*/ 0 h 225"/>
                <a:gd name="T4" fmla="*/ 0 w 76"/>
                <a:gd name="T5" fmla="*/ 0 h 225"/>
                <a:gd name="T6" fmla="*/ 0 w 76"/>
                <a:gd name="T7" fmla="*/ 0 h 22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6"/>
                <a:gd name="T13" fmla="*/ 0 h 225"/>
                <a:gd name="T14" fmla="*/ 76 w 76"/>
                <a:gd name="T15" fmla="*/ 225 h 22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6" h="225">
                  <a:moveTo>
                    <a:pt x="0" y="225"/>
                  </a:moveTo>
                  <a:lnTo>
                    <a:pt x="76" y="225"/>
                  </a:lnTo>
                  <a:lnTo>
                    <a:pt x="37" y="0"/>
                  </a:lnTo>
                  <a:lnTo>
                    <a:pt x="0" y="22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" name="Freeform 91">
              <a:extLst>
                <a:ext uri="{FF2B5EF4-FFF2-40B4-BE49-F238E27FC236}">
                  <a16:creationId xmlns:a16="http://schemas.microsoft.com/office/drawing/2014/main" id="{D2107B7C-43AF-4F0E-9BA4-D804516D85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7" y="1199"/>
              <a:ext cx="29" cy="86"/>
            </a:xfrm>
            <a:custGeom>
              <a:avLst/>
              <a:gdLst>
                <a:gd name="T0" fmla="*/ 0 w 76"/>
                <a:gd name="T1" fmla="*/ 0 h 225"/>
                <a:gd name="T2" fmla="*/ 0 w 76"/>
                <a:gd name="T3" fmla="*/ 0 h 225"/>
                <a:gd name="T4" fmla="*/ 0 w 76"/>
                <a:gd name="T5" fmla="*/ 0 h 225"/>
                <a:gd name="T6" fmla="*/ 0 w 76"/>
                <a:gd name="T7" fmla="*/ 0 h 22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6"/>
                <a:gd name="T13" fmla="*/ 0 h 225"/>
                <a:gd name="T14" fmla="*/ 76 w 76"/>
                <a:gd name="T15" fmla="*/ 225 h 22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6" h="225">
                  <a:moveTo>
                    <a:pt x="0" y="225"/>
                  </a:moveTo>
                  <a:lnTo>
                    <a:pt x="76" y="225"/>
                  </a:lnTo>
                  <a:lnTo>
                    <a:pt x="37" y="0"/>
                  </a:lnTo>
                  <a:lnTo>
                    <a:pt x="0" y="225"/>
                  </a:lnTo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" name="Freeform 92">
              <a:extLst>
                <a:ext uri="{FF2B5EF4-FFF2-40B4-BE49-F238E27FC236}">
                  <a16:creationId xmlns:a16="http://schemas.microsoft.com/office/drawing/2014/main" id="{21078322-8244-4FA2-BF0F-2AC5F98B77F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9" y="1458"/>
              <a:ext cx="29" cy="87"/>
            </a:xfrm>
            <a:custGeom>
              <a:avLst/>
              <a:gdLst>
                <a:gd name="T0" fmla="*/ 0 w 74"/>
                <a:gd name="T1" fmla="*/ 0 h 225"/>
                <a:gd name="T2" fmla="*/ 0 w 74"/>
                <a:gd name="T3" fmla="*/ 0 h 225"/>
                <a:gd name="T4" fmla="*/ 0 w 74"/>
                <a:gd name="T5" fmla="*/ 0 h 225"/>
                <a:gd name="T6" fmla="*/ 0 w 74"/>
                <a:gd name="T7" fmla="*/ 0 h 22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4"/>
                <a:gd name="T13" fmla="*/ 0 h 225"/>
                <a:gd name="T14" fmla="*/ 74 w 74"/>
                <a:gd name="T15" fmla="*/ 225 h 22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4" h="225">
                  <a:moveTo>
                    <a:pt x="0" y="0"/>
                  </a:moveTo>
                  <a:lnTo>
                    <a:pt x="74" y="0"/>
                  </a:lnTo>
                  <a:lnTo>
                    <a:pt x="37" y="2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" name="Freeform 93">
              <a:extLst>
                <a:ext uri="{FF2B5EF4-FFF2-40B4-BE49-F238E27FC236}">
                  <a16:creationId xmlns:a16="http://schemas.microsoft.com/office/drawing/2014/main" id="{15E1EB1A-029D-4EE3-8E18-261B0E1CBD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9" y="1458"/>
              <a:ext cx="29" cy="87"/>
            </a:xfrm>
            <a:custGeom>
              <a:avLst/>
              <a:gdLst>
                <a:gd name="T0" fmla="*/ 0 w 74"/>
                <a:gd name="T1" fmla="*/ 0 h 225"/>
                <a:gd name="T2" fmla="*/ 0 w 74"/>
                <a:gd name="T3" fmla="*/ 0 h 225"/>
                <a:gd name="T4" fmla="*/ 0 w 74"/>
                <a:gd name="T5" fmla="*/ 0 h 225"/>
                <a:gd name="T6" fmla="*/ 0 w 74"/>
                <a:gd name="T7" fmla="*/ 0 h 22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4"/>
                <a:gd name="T13" fmla="*/ 0 h 225"/>
                <a:gd name="T14" fmla="*/ 74 w 74"/>
                <a:gd name="T15" fmla="*/ 225 h 22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4" h="225">
                  <a:moveTo>
                    <a:pt x="0" y="0"/>
                  </a:moveTo>
                  <a:lnTo>
                    <a:pt x="74" y="0"/>
                  </a:lnTo>
                  <a:lnTo>
                    <a:pt x="37" y="225"/>
                  </a:lnTo>
                  <a:lnTo>
                    <a:pt x="0" y="0"/>
                  </a:lnTo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" name="Freeform 94">
              <a:extLst>
                <a:ext uri="{FF2B5EF4-FFF2-40B4-BE49-F238E27FC236}">
                  <a16:creationId xmlns:a16="http://schemas.microsoft.com/office/drawing/2014/main" id="{DC5A7679-827C-4A03-ACBF-9A1CE80EDAD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7" y="987"/>
              <a:ext cx="29" cy="87"/>
            </a:xfrm>
            <a:custGeom>
              <a:avLst/>
              <a:gdLst>
                <a:gd name="T0" fmla="*/ 0 w 76"/>
                <a:gd name="T1" fmla="*/ 0 h 226"/>
                <a:gd name="T2" fmla="*/ 0 w 76"/>
                <a:gd name="T3" fmla="*/ 0 h 226"/>
                <a:gd name="T4" fmla="*/ 0 w 76"/>
                <a:gd name="T5" fmla="*/ 0 h 226"/>
                <a:gd name="T6" fmla="*/ 0 w 76"/>
                <a:gd name="T7" fmla="*/ 0 h 22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6"/>
                <a:gd name="T13" fmla="*/ 0 h 226"/>
                <a:gd name="T14" fmla="*/ 76 w 76"/>
                <a:gd name="T15" fmla="*/ 226 h 22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6" h="226">
                  <a:moveTo>
                    <a:pt x="0" y="0"/>
                  </a:moveTo>
                  <a:lnTo>
                    <a:pt x="76" y="0"/>
                  </a:lnTo>
                  <a:lnTo>
                    <a:pt x="37" y="2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" name="Freeform 95">
              <a:extLst>
                <a:ext uri="{FF2B5EF4-FFF2-40B4-BE49-F238E27FC236}">
                  <a16:creationId xmlns:a16="http://schemas.microsoft.com/office/drawing/2014/main" id="{3A448893-2756-4C6B-A1B4-9665B426613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7" y="987"/>
              <a:ext cx="29" cy="87"/>
            </a:xfrm>
            <a:custGeom>
              <a:avLst/>
              <a:gdLst>
                <a:gd name="T0" fmla="*/ 0 w 76"/>
                <a:gd name="T1" fmla="*/ 0 h 226"/>
                <a:gd name="T2" fmla="*/ 0 w 76"/>
                <a:gd name="T3" fmla="*/ 0 h 226"/>
                <a:gd name="T4" fmla="*/ 0 w 76"/>
                <a:gd name="T5" fmla="*/ 0 h 226"/>
                <a:gd name="T6" fmla="*/ 0 w 76"/>
                <a:gd name="T7" fmla="*/ 0 h 22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6"/>
                <a:gd name="T13" fmla="*/ 0 h 226"/>
                <a:gd name="T14" fmla="*/ 76 w 76"/>
                <a:gd name="T15" fmla="*/ 226 h 22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6" h="226">
                  <a:moveTo>
                    <a:pt x="0" y="0"/>
                  </a:moveTo>
                  <a:lnTo>
                    <a:pt x="76" y="0"/>
                  </a:lnTo>
                  <a:lnTo>
                    <a:pt x="37" y="226"/>
                  </a:lnTo>
                  <a:lnTo>
                    <a:pt x="0" y="0"/>
                  </a:lnTo>
                </a:path>
              </a:pathLst>
            </a:custGeom>
            <a:solidFill>
              <a:srgbClr val="FF0000"/>
            </a:solidFill>
            <a:ln w="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" name="Line 96">
              <a:extLst>
                <a:ext uri="{FF2B5EF4-FFF2-40B4-BE49-F238E27FC236}">
                  <a16:creationId xmlns:a16="http://schemas.microsoft.com/office/drawing/2014/main" id="{B4C1301A-2C76-4ACC-89EA-12B39904CF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1" y="1056"/>
              <a:ext cx="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" name="Freeform 97">
              <a:extLst>
                <a:ext uri="{FF2B5EF4-FFF2-40B4-BE49-F238E27FC236}">
                  <a16:creationId xmlns:a16="http://schemas.microsoft.com/office/drawing/2014/main" id="{86BAF4C8-74C9-4132-B7D9-4B43271F86D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0" y="1584"/>
              <a:ext cx="1016" cy="420"/>
            </a:xfrm>
            <a:custGeom>
              <a:avLst/>
              <a:gdLst>
                <a:gd name="T0" fmla="*/ 0 w 1016"/>
                <a:gd name="T1" fmla="*/ 6 h 420"/>
                <a:gd name="T2" fmla="*/ 108 w 1016"/>
                <a:gd name="T3" fmla="*/ 184 h 420"/>
                <a:gd name="T4" fmla="*/ 268 w 1016"/>
                <a:gd name="T5" fmla="*/ 300 h 420"/>
                <a:gd name="T6" fmla="*/ 390 w 1016"/>
                <a:gd name="T7" fmla="*/ 408 h 420"/>
                <a:gd name="T8" fmla="*/ 640 w 1016"/>
                <a:gd name="T9" fmla="*/ 420 h 420"/>
                <a:gd name="T10" fmla="*/ 852 w 1016"/>
                <a:gd name="T11" fmla="*/ 276 h 420"/>
                <a:gd name="T12" fmla="*/ 904 w 1016"/>
                <a:gd name="T13" fmla="*/ 144 h 420"/>
                <a:gd name="T14" fmla="*/ 1016 w 1016"/>
                <a:gd name="T15" fmla="*/ 0 h 42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016"/>
                <a:gd name="T25" fmla="*/ 0 h 420"/>
                <a:gd name="T26" fmla="*/ 1016 w 1016"/>
                <a:gd name="T27" fmla="*/ 420 h 42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016" h="420">
                  <a:moveTo>
                    <a:pt x="0" y="6"/>
                  </a:moveTo>
                  <a:lnTo>
                    <a:pt x="108" y="184"/>
                  </a:lnTo>
                  <a:lnTo>
                    <a:pt x="268" y="300"/>
                  </a:lnTo>
                  <a:lnTo>
                    <a:pt x="390" y="408"/>
                  </a:lnTo>
                  <a:lnTo>
                    <a:pt x="640" y="420"/>
                  </a:lnTo>
                  <a:lnTo>
                    <a:pt x="852" y="276"/>
                  </a:lnTo>
                  <a:lnTo>
                    <a:pt x="904" y="144"/>
                  </a:lnTo>
                  <a:lnTo>
                    <a:pt x="1016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8" name="Oval 98">
              <a:extLst>
                <a:ext uri="{FF2B5EF4-FFF2-40B4-BE49-F238E27FC236}">
                  <a16:creationId xmlns:a16="http://schemas.microsoft.com/office/drawing/2014/main" id="{AD3EC495-9DA5-424A-A5DE-1066FDB764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4" y="744"/>
              <a:ext cx="1314" cy="1338"/>
            </a:xfrm>
            <a:prstGeom prst="ellips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9" name="Rectangle 99">
              <a:extLst>
                <a:ext uri="{FF2B5EF4-FFF2-40B4-BE49-F238E27FC236}">
                  <a16:creationId xmlns:a16="http://schemas.microsoft.com/office/drawing/2014/main" id="{E623D8A9-3D56-46CB-9B1A-F5C8AB5662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072"/>
              <a:ext cx="92" cy="12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00" name="Group 100">
            <a:extLst>
              <a:ext uri="{FF2B5EF4-FFF2-40B4-BE49-F238E27FC236}">
                <a16:creationId xmlns:a16="http://schemas.microsoft.com/office/drawing/2014/main" id="{19606618-9256-4A9A-A4A5-753B5E16A883}"/>
              </a:ext>
            </a:extLst>
          </p:cNvPr>
          <p:cNvGrpSpPr>
            <a:grpSpLocks/>
          </p:cNvGrpSpPr>
          <p:nvPr/>
        </p:nvGrpSpPr>
        <p:grpSpPr bwMode="auto">
          <a:xfrm>
            <a:off x="6425877" y="1980911"/>
            <a:ext cx="1741487" cy="1997220"/>
            <a:chOff x="1096" y="626"/>
            <a:chExt cx="1232" cy="1531"/>
          </a:xfrm>
        </p:grpSpPr>
        <p:sp>
          <p:nvSpPr>
            <p:cNvPr id="101" name="Freeform 101">
              <a:extLst>
                <a:ext uri="{FF2B5EF4-FFF2-40B4-BE49-F238E27FC236}">
                  <a16:creationId xmlns:a16="http://schemas.microsoft.com/office/drawing/2014/main" id="{0BCFBBD5-9D76-4612-B7D2-11EC953CEBF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9" y="1130"/>
              <a:ext cx="141" cy="528"/>
            </a:xfrm>
            <a:custGeom>
              <a:avLst/>
              <a:gdLst>
                <a:gd name="T0" fmla="*/ 0 w 366"/>
                <a:gd name="T1" fmla="*/ 0 h 1373"/>
                <a:gd name="T2" fmla="*/ 0 w 366"/>
                <a:gd name="T3" fmla="*/ 0 h 1373"/>
                <a:gd name="T4" fmla="*/ 0 w 366"/>
                <a:gd name="T5" fmla="*/ 0 h 1373"/>
                <a:gd name="T6" fmla="*/ 0 w 366"/>
                <a:gd name="T7" fmla="*/ 0 h 1373"/>
                <a:gd name="T8" fmla="*/ 0 w 366"/>
                <a:gd name="T9" fmla="*/ 0 h 1373"/>
                <a:gd name="T10" fmla="*/ 0 w 366"/>
                <a:gd name="T11" fmla="*/ 0 h 1373"/>
                <a:gd name="T12" fmla="*/ 0 w 366"/>
                <a:gd name="T13" fmla="*/ 0 h 1373"/>
                <a:gd name="T14" fmla="*/ 0 w 366"/>
                <a:gd name="T15" fmla="*/ 0 h 1373"/>
                <a:gd name="T16" fmla="*/ 0 w 366"/>
                <a:gd name="T17" fmla="*/ 0 h 1373"/>
                <a:gd name="T18" fmla="*/ 0 w 366"/>
                <a:gd name="T19" fmla="*/ 0 h 1373"/>
                <a:gd name="T20" fmla="*/ 0 w 366"/>
                <a:gd name="T21" fmla="*/ 0 h 1373"/>
                <a:gd name="T22" fmla="*/ 0 w 366"/>
                <a:gd name="T23" fmla="*/ 0 h 1373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366"/>
                <a:gd name="T37" fmla="*/ 0 h 1373"/>
                <a:gd name="T38" fmla="*/ 366 w 366"/>
                <a:gd name="T39" fmla="*/ 1373 h 1373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366" h="1373">
                  <a:moveTo>
                    <a:pt x="210" y="0"/>
                  </a:moveTo>
                  <a:lnTo>
                    <a:pt x="129" y="140"/>
                  </a:lnTo>
                  <a:lnTo>
                    <a:pt x="106" y="296"/>
                  </a:lnTo>
                  <a:lnTo>
                    <a:pt x="169" y="578"/>
                  </a:lnTo>
                  <a:lnTo>
                    <a:pt x="323" y="839"/>
                  </a:lnTo>
                  <a:lnTo>
                    <a:pt x="366" y="1133"/>
                  </a:lnTo>
                  <a:lnTo>
                    <a:pt x="327" y="1278"/>
                  </a:lnTo>
                  <a:lnTo>
                    <a:pt x="198" y="1373"/>
                  </a:lnTo>
                  <a:lnTo>
                    <a:pt x="74" y="1331"/>
                  </a:lnTo>
                  <a:lnTo>
                    <a:pt x="0" y="1205"/>
                  </a:lnTo>
                  <a:lnTo>
                    <a:pt x="42" y="910"/>
                  </a:lnTo>
                  <a:lnTo>
                    <a:pt x="245" y="688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" name="Freeform 102">
              <a:extLst>
                <a:ext uri="{FF2B5EF4-FFF2-40B4-BE49-F238E27FC236}">
                  <a16:creationId xmlns:a16="http://schemas.microsoft.com/office/drawing/2014/main" id="{FCF38D99-DF45-4276-B7B5-0A08357D5D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2" y="1209"/>
              <a:ext cx="366" cy="137"/>
            </a:xfrm>
            <a:custGeom>
              <a:avLst/>
              <a:gdLst>
                <a:gd name="T0" fmla="*/ 0 w 366"/>
                <a:gd name="T1" fmla="*/ 3 h 137"/>
                <a:gd name="T2" fmla="*/ 32 w 366"/>
                <a:gd name="T3" fmla="*/ 60 h 137"/>
                <a:gd name="T4" fmla="*/ 90 w 366"/>
                <a:gd name="T5" fmla="*/ 111 h 137"/>
                <a:gd name="T6" fmla="*/ 204 w 366"/>
                <a:gd name="T7" fmla="*/ 137 h 137"/>
                <a:gd name="T8" fmla="*/ 260 w 366"/>
                <a:gd name="T9" fmla="*/ 99 h 137"/>
                <a:gd name="T10" fmla="*/ 320 w 366"/>
                <a:gd name="T11" fmla="*/ 71 h 137"/>
                <a:gd name="T12" fmla="*/ 366 w 366"/>
                <a:gd name="T13" fmla="*/ 0 h 1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66"/>
                <a:gd name="T22" fmla="*/ 0 h 137"/>
                <a:gd name="T23" fmla="*/ 366 w 366"/>
                <a:gd name="T24" fmla="*/ 137 h 13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66" h="137">
                  <a:moveTo>
                    <a:pt x="0" y="3"/>
                  </a:moveTo>
                  <a:lnTo>
                    <a:pt x="32" y="60"/>
                  </a:lnTo>
                  <a:lnTo>
                    <a:pt x="90" y="111"/>
                  </a:lnTo>
                  <a:lnTo>
                    <a:pt x="204" y="137"/>
                  </a:lnTo>
                  <a:lnTo>
                    <a:pt x="260" y="99"/>
                  </a:lnTo>
                  <a:lnTo>
                    <a:pt x="320" y="71"/>
                  </a:lnTo>
                  <a:lnTo>
                    <a:pt x="366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" name="Line 103">
              <a:extLst>
                <a:ext uri="{FF2B5EF4-FFF2-40B4-BE49-F238E27FC236}">
                  <a16:creationId xmlns:a16="http://schemas.microsoft.com/office/drawing/2014/main" id="{BF233BD2-B3C6-4BC3-B07E-29E37277E3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80" y="1130"/>
              <a:ext cx="232" cy="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" name="Line 104">
              <a:extLst>
                <a:ext uri="{FF2B5EF4-FFF2-40B4-BE49-F238E27FC236}">
                  <a16:creationId xmlns:a16="http://schemas.microsoft.com/office/drawing/2014/main" id="{812FCEBC-25A6-4316-9EBD-7A3589B3E79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175" y="1659"/>
              <a:ext cx="237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" name="Line 105">
              <a:extLst>
                <a:ext uri="{FF2B5EF4-FFF2-40B4-BE49-F238E27FC236}">
                  <a16:creationId xmlns:a16="http://schemas.microsoft.com/office/drawing/2014/main" id="{6E996687-AB70-45BB-AB6C-A1FC93CFB2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98" y="1531"/>
              <a:ext cx="110" cy="10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" name="Line 106">
              <a:extLst>
                <a:ext uri="{FF2B5EF4-FFF2-40B4-BE49-F238E27FC236}">
                  <a16:creationId xmlns:a16="http://schemas.microsoft.com/office/drawing/2014/main" id="{E1D62D0C-FE52-4E9E-A17F-EA66864CC1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121" y="1471"/>
              <a:ext cx="117" cy="11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" name="Line 107">
              <a:extLst>
                <a:ext uri="{FF2B5EF4-FFF2-40B4-BE49-F238E27FC236}">
                  <a16:creationId xmlns:a16="http://schemas.microsoft.com/office/drawing/2014/main" id="{165BFEEB-F6C2-4A9C-A491-85EA7A2C2D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161" y="1427"/>
              <a:ext cx="72" cy="7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" name="Line 108">
              <a:extLst>
                <a:ext uri="{FF2B5EF4-FFF2-40B4-BE49-F238E27FC236}">
                  <a16:creationId xmlns:a16="http://schemas.microsoft.com/office/drawing/2014/main" id="{28F44B0E-439E-42FA-884C-2C7E0E4C5F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82" y="1581"/>
              <a:ext cx="1" cy="5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" name="Line 109">
              <a:extLst>
                <a:ext uri="{FF2B5EF4-FFF2-40B4-BE49-F238E27FC236}">
                  <a16:creationId xmlns:a16="http://schemas.microsoft.com/office/drawing/2014/main" id="{52F59528-CEE9-45DD-B2C6-EE50ADDB44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35" y="1581"/>
              <a:ext cx="187" cy="1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" name="Line 110">
              <a:extLst>
                <a:ext uri="{FF2B5EF4-FFF2-40B4-BE49-F238E27FC236}">
                  <a16:creationId xmlns:a16="http://schemas.microsoft.com/office/drawing/2014/main" id="{95D8EED3-5448-433D-AADB-7E9491A441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62" y="1581"/>
              <a:ext cx="181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" name="Line 111">
              <a:extLst>
                <a:ext uri="{FF2B5EF4-FFF2-40B4-BE49-F238E27FC236}">
                  <a16:creationId xmlns:a16="http://schemas.microsoft.com/office/drawing/2014/main" id="{9E19D833-13BE-4C95-8AC3-3D9CE5F716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97" y="1581"/>
              <a:ext cx="185" cy="1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" name="Line 112">
              <a:extLst>
                <a:ext uri="{FF2B5EF4-FFF2-40B4-BE49-F238E27FC236}">
                  <a16:creationId xmlns:a16="http://schemas.microsoft.com/office/drawing/2014/main" id="{769F17CF-9F1A-4188-A051-AB5A975C4D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46" y="1581"/>
              <a:ext cx="316" cy="31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" name="Line 113">
              <a:extLst>
                <a:ext uri="{FF2B5EF4-FFF2-40B4-BE49-F238E27FC236}">
                  <a16:creationId xmlns:a16="http://schemas.microsoft.com/office/drawing/2014/main" id="{2C7BE0A6-0586-465C-B7DC-8A557ECDCA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12" y="1021"/>
              <a:ext cx="1" cy="75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" name="Line 114">
              <a:extLst>
                <a:ext uri="{FF2B5EF4-FFF2-40B4-BE49-F238E27FC236}">
                  <a16:creationId xmlns:a16="http://schemas.microsoft.com/office/drawing/2014/main" id="{3E3B4ADD-BAE6-4BD8-AF2C-9C0AB0722D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16" y="1581"/>
              <a:ext cx="187" cy="1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5" name="Line 115">
              <a:extLst>
                <a:ext uri="{FF2B5EF4-FFF2-40B4-BE49-F238E27FC236}">
                  <a16:creationId xmlns:a16="http://schemas.microsoft.com/office/drawing/2014/main" id="{A45C133C-18C5-4999-B6BC-D6B36F9B3B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66" y="1841"/>
              <a:ext cx="316" cy="31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" name="Line 116">
              <a:extLst>
                <a:ext uri="{FF2B5EF4-FFF2-40B4-BE49-F238E27FC236}">
                  <a16:creationId xmlns:a16="http://schemas.microsoft.com/office/drawing/2014/main" id="{B5F3787B-1BBF-44E6-BAD6-08E66571F4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46" y="1701"/>
              <a:ext cx="336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" name="Line 117">
              <a:extLst>
                <a:ext uri="{FF2B5EF4-FFF2-40B4-BE49-F238E27FC236}">
                  <a16:creationId xmlns:a16="http://schemas.microsoft.com/office/drawing/2014/main" id="{D3A77380-8C5D-4213-ABD5-B64342977B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08" y="1768"/>
              <a:ext cx="438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" name="Line 118">
              <a:extLst>
                <a:ext uri="{FF2B5EF4-FFF2-40B4-BE49-F238E27FC236}">
                  <a16:creationId xmlns:a16="http://schemas.microsoft.com/office/drawing/2014/main" id="{C11858A0-EBD6-4350-9826-74D4E7BDFF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46" y="1768"/>
              <a:ext cx="2" cy="38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" name="Line 119">
              <a:extLst>
                <a:ext uri="{FF2B5EF4-FFF2-40B4-BE49-F238E27FC236}">
                  <a16:creationId xmlns:a16="http://schemas.microsoft.com/office/drawing/2014/main" id="{70157402-B971-47DA-A183-981DA43126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06" y="1981"/>
              <a:ext cx="176" cy="17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0" name="Line 120">
              <a:extLst>
                <a:ext uri="{FF2B5EF4-FFF2-40B4-BE49-F238E27FC236}">
                  <a16:creationId xmlns:a16="http://schemas.microsoft.com/office/drawing/2014/main" id="{B6D9476A-7953-4C4D-9BF5-099BD740A7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45" y="2120"/>
              <a:ext cx="37" cy="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" name="Line 121">
              <a:extLst>
                <a:ext uri="{FF2B5EF4-FFF2-40B4-BE49-F238E27FC236}">
                  <a16:creationId xmlns:a16="http://schemas.microsoft.com/office/drawing/2014/main" id="{9F9BC194-5468-4A01-B299-BBB3016ADA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46" y="626"/>
              <a:ext cx="153" cy="15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" name="Line 122">
              <a:extLst>
                <a:ext uri="{FF2B5EF4-FFF2-40B4-BE49-F238E27FC236}">
                  <a16:creationId xmlns:a16="http://schemas.microsoft.com/office/drawing/2014/main" id="{D92820D3-8E1B-456A-9F84-26FB52B9DC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7" y="1208"/>
              <a:ext cx="507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" name="Line 123">
              <a:extLst>
                <a:ext uri="{FF2B5EF4-FFF2-40B4-BE49-F238E27FC236}">
                  <a16:creationId xmlns:a16="http://schemas.microsoft.com/office/drawing/2014/main" id="{325D75C2-1EB1-4273-976A-F23BA87C64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37" y="862"/>
              <a:ext cx="345" cy="34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" name="Line 124">
              <a:extLst>
                <a:ext uri="{FF2B5EF4-FFF2-40B4-BE49-F238E27FC236}">
                  <a16:creationId xmlns:a16="http://schemas.microsoft.com/office/drawing/2014/main" id="{581500DE-D1D7-4116-A462-3D90574F93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46" y="626"/>
              <a:ext cx="292" cy="2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" name="Line 125">
              <a:extLst>
                <a:ext uri="{FF2B5EF4-FFF2-40B4-BE49-F238E27FC236}">
                  <a16:creationId xmlns:a16="http://schemas.microsoft.com/office/drawing/2014/main" id="{45B83FA3-49C9-4A29-8C85-47702E0A67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22" y="723"/>
              <a:ext cx="460" cy="46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" name="Line 126">
              <a:extLst>
                <a:ext uri="{FF2B5EF4-FFF2-40B4-BE49-F238E27FC236}">
                  <a16:creationId xmlns:a16="http://schemas.microsoft.com/office/drawing/2014/main" id="{E39E9627-F59C-4A64-B195-73487346BB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12" y="1581"/>
              <a:ext cx="802" cy="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" name="Line 127">
              <a:extLst>
                <a:ext uri="{FF2B5EF4-FFF2-40B4-BE49-F238E27FC236}">
                  <a16:creationId xmlns:a16="http://schemas.microsoft.com/office/drawing/2014/main" id="{9D30A45F-E798-43CE-8145-02F218153C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46" y="632"/>
              <a:ext cx="2" cy="39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8" name="Line 128">
              <a:extLst>
                <a:ext uri="{FF2B5EF4-FFF2-40B4-BE49-F238E27FC236}">
                  <a16:creationId xmlns:a16="http://schemas.microsoft.com/office/drawing/2014/main" id="{C000A2D5-5EAC-46D0-B6B9-FAC8067ED1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29" y="1181"/>
              <a:ext cx="101" cy="10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" name="Line 129">
              <a:extLst>
                <a:ext uri="{FF2B5EF4-FFF2-40B4-BE49-F238E27FC236}">
                  <a16:creationId xmlns:a16="http://schemas.microsoft.com/office/drawing/2014/main" id="{C2AD14E1-432C-4100-8458-C612C3F05D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1" y="1185"/>
              <a:ext cx="191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" name="Line 130">
              <a:extLst>
                <a:ext uri="{FF2B5EF4-FFF2-40B4-BE49-F238E27FC236}">
                  <a16:creationId xmlns:a16="http://schemas.microsoft.com/office/drawing/2014/main" id="{A70A32A4-CD8A-4E30-9CE6-17880205D6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56" y="1000"/>
              <a:ext cx="145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1" name="Freeform 131">
              <a:extLst>
                <a:ext uri="{FF2B5EF4-FFF2-40B4-BE49-F238E27FC236}">
                  <a16:creationId xmlns:a16="http://schemas.microsoft.com/office/drawing/2014/main" id="{03686CE8-D727-442A-B0D8-FD72EBFCFC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4" y="1208"/>
              <a:ext cx="134" cy="132"/>
            </a:xfrm>
            <a:custGeom>
              <a:avLst/>
              <a:gdLst>
                <a:gd name="T0" fmla="*/ 134 w 134"/>
                <a:gd name="T1" fmla="*/ 132 h 132"/>
                <a:gd name="T2" fmla="*/ 0 w 134"/>
                <a:gd name="T3" fmla="*/ 0 h 132"/>
                <a:gd name="T4" fmla="*/ 0 60000 65536"/>
                <a:gd name="T5" fmla="*/ 0 60000 65536"/>
                <a:gd name="T6" fmla="*/ 0 w 134"/>
                <a:gd name="T7" fmla="*/ 0 h 132"/>
                <a:gd name="T8" fmla="*/ 134 w 134"/>
                <a:gd name="T9" fmla="*/ 132 h 13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34" h="132">
                  <a:moveTo>
                    <a:pt x="134" y="132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2" name="Freeform 132">
              <a:extLst>
                <a:ext uri="{FF2B5EF4-FFF2-40B4-BE49-F238E27FC236}">
                  <a16:creationId xmlns:a16="http://schemas.microsoft.com/office/drawing/2014/main" id="{C34991C8-1B9F-49DF-BE5D-7008F2AD11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6" y="1288"/>
              <a:ext cx="36" cy="36"/>
            </a:xfrm>
            <a:custGeom>
              <a:avLst/>
              <a:gdLst>
                <a:gd name="T0" fmla="*/ 36 w 36"/>
                <a:gd name="T1" fmla="*/ 36 h 36"/>
                <a:gd name="T2" fmla="*/ 0 w 36"/>
                <a:gd name="T3" fmla="*/ 0 h 36"/>
                <a:gd name="T4" fmla="*/ 0 60000 65536"/>
                <a:gd name="T5" fmla="*/ 0 60000 65536"/>
                <a:gd name="T6" fmla="*/ 0 w 36"/>
                <a:gd name="T7" fmla="*/ 0 h 36"/>
                <a:gd name="T8" fmla="*/ 36 w 36"/>
                <a:gd name="T9" fmla="*/ 36 h 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6" h="36">
                  <a:moveTo>
                    <a:pt x="36" y="36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" name="Freeform 133">
              <a:extLst>
                <a:ext uri="{FF2B5EF4-FFF2-40B4-BE49-F238E27FC236}">
                  <a16:creationId xmlns:a16="http://schemas.microsoft.com/office/drawing/2014/main" id="{D3BCE7F8-52D5-4278-9380-582731470F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6" y="1240"/>
              <a:ext cx="52" cy="52"/>
            </a:xfrm>
            <a:custGeom>
              <a:avLst/>
              <a:gdLst>
                <a:gd name="T0" fmla="*/ 52 w 52"/>
                <a:gd name="T1" fmla="*/ 52 h 52"/>
                <a:gd name="T2" fmla="*/ 0 w 52"/>
                <a:gd name="T3" fmla="*/ 0 h 52"/>
                <a:gd name="T4" fmla="*/ 0 60000 65536"/>
                <a:gd name="T5" fmla="*/ 0 60000 65536"/>
                <a:gd name="T6" fmla="*/ 0 w 52"/>
                <a:gd name="T7" fmla="*/ 0 h 52"/>
                <a:gd name="T8" fmla="*/ 52 w 52"/>
                <a:gd name="T9" fmla="*/ 52 h 5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2" h="52">
                  <a:moveTo>
                    <a:pt x="52" y="52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" name="Freeform 134">
              <a:extLst>
                <a:ext uri="{FF2B5EF4-FFF2-40B4-BE49-F238E27FC236}">
                  <a16:creationId xmlns:a16="http://schemas.microsoft.com/office/drawing/2014/main" id="{F853CF50-E19C-4640-9B88-ED57B10E02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" y="1208"/>
              <a:ext cx="51" cy="50"/>
            </a:xfrm>
            <a:custGeom>
              <a:avLst/>
              <a:gdLst>
                <a:gd name="T0" fmla="*/ 51 w 51"/>
                <a:gd name="T1" fmla="*/ 50 h 50"/>
                <a:gd name="T2" fmla="*/ 0 w 51"/>
                <a:gd name="T3" fmla="*/ 0 h 50"/>
                <a:gd name="T4" fmla="*/ 0 60000 65536"/>
                <a:gd name="T5" fmla="*/ 0 60000 65536"/>
                <a:gd name="T6" fmla="*/ 0 w 51"/>
                <a:gd name="T7" fmla="*/ 0 h 50"/>
                <a:gd name="T8" fmla="*/ 51 w 51"/>
                <a:gd name="T9" fmla="*/ 50 h 5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1" h="50">
                  <a:moveTo>
                    <a:pt x="51" y="50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" name="Line 135">
              <a:extLst>
                <a:ext uri="{FF2B5EF4-FFF2-40B4-BE49-F238E27FC236}">
                  <a16:creationId xmlns:a16="http://schemas.microsoft.com/office/drawing/2014/main" id="{E5D49750-3838-409F-9758-162B5559EA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9" y="975"/>
              <a:ext cx="1" cy="3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" name="Line 136">
              <a:extLst>
                <a:ext uri="{FF2B5EF4-FFF2-40B4-BE49-F238E27FC236}">
                  <a16:creationId xmlns:a16="http://schemas.microsoft.com/office/drawing/2014/main" id="{07E36862-76BE-4F4E-988C-065CA8D22F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531" y="1185"/>
              <a:ext cx="100" cy="1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7" name="Line 137">
              <a:extLst>
                <a:ext uri="{FF2B5EF4-FFF2-40B4-BE49-F238E27FC236}">
                  <a16:creationId xmlns:a16="http://schemas.microsoft.com/office/drawing/2014/main" id="{D5A7BC83-629C-40CC-AC8F-07C9AB14BE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12" y="1581"/>
              <a:ext cx="52" cy="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" name="Line 138">
              <a:extLst>
                <a:ext uri="{FF2B5EF4-FFF2-40B4-BE49-F238E27FC236}">
                  <a16:creationId xmlns:a16="http://schemas.microsoft.com/office/drawing/2014/main" id="{2D9F12AD-800E-4741-B4E5-65A4A2EC4E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99" y="1251"/>
              <a:ext cx="61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9" name="Line 139">
              <a:extLst>
                <a:ext uri="{FF2B5EF4-FFF2-40B4-BE49-F238E27FC236}">
                  <a16:creationId xmlns:a16="http://schemas.microsoft.com/office/drawing/2014/main" id="{64447BCB-965F-4FF5-946B-F4E72A035C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04" y="1020"/>
              <a:ext cx="449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0" name="Line 140">
              <a:extLst>
                <a:ext uri="{FF2B5EF4-FFF2-40B4-BE49-F238E27FC236}">
                  <a16:creationId xmlns:a16="http://schemas.microsoft.com/office/drawing/2014/main" id="{CA6FC49A-9026-4141-BF0E-70017D86A5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12" y="1208"/>
              <a:ext cx="139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" name="Line 141">
              <a:extLst>
                <a:ext uri="{FF2B5EF4-FFF2-40B4-BE49-F238E27FC236}">
                  <a16:creationId xmlns:a16="http://schemas.microsoft.com/office/drawing/2014/main" id="{661922AC-0DD7-4536-8C8A-B34CF85C28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19" y="1090"/>
              <a:ext cx="116" cy="11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2" name="Line 142">
              <a:extLst>
                <a:ext uri="{FF2B5EF4-FFF2-40B4-BE49-F238E27FC236}">
                  <a16:creationId xmlns:a16="http://schemas.microsoft.com/office/drawing/2014/main" id="{2FE44D2D-4526-4B18-90B8-B51E5CBC21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12" y="1021"/>
              <a:ext cx="53" cy="5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" name="Freeform 143">
              <a:extLst>
                <a:ext uri="{FF2B5EF4-FFF2-40B4-BE49-F238E27FC236}">
                  <a16:creationId xmlns:a16="http://schemas.microsoft.com/office/drawing/2014/main" id="{A3FE06DD-9FB9-4EEF-8E80-68ABCA6199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5" y="1021"/>
              <a:ext cx="1" cy="163"/>
            </a:xfrm>
            <a:custGeom>
              <a:avLst/>
              <a:gdLst>
                <a:gd name="T0" fmla="*/ 0 w 1"/>
                <a:gd name="T1" fmla="*/ 0 h 163"/>
                <a:gd name="T2" fmla="*/ 1 w 1"/>
                <a:gd name="T3" fmla="*/ 163 h 163"/>
                <a:gd name="T4" fmla="*/ 0 60000 65536"/>
                <a:gd name="T5" fmla="*/ 0 60000 65536"/>
                <a:gd name="T6" fmla="*/ 0 w 1"/>
                <a:gd name="T7" fmla="*/ 0 h 163"/>
                <a:gd name="T8" fmla="*/ 1 w 1"/>
                <a:gd name="T9" fmla="*/ 163 h 16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163">
                  <a:moveTo>
                    <a:pt x="0" y="0"/>
                  </a:moveTo>
                  <a:lnTo>
                    <a:pt x="1" y="163"/>
                  </a:lnTo>
                </a:path>
              </a:pathLst>
            </a:cu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" name="Line 144">
              <a:extLst>
                <a:ext uri="{FF2B5EF4-FFF2-40B4-BE49-F238E27FC236}">
                  <a16:creationId xmlns:a16="http://schemas.microsoft.com/office/drawing/2014/main" id="{381F85A2-0759-4417-A0F4-BB1E5A5522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55" y="1001"/>
              <a:ext cx="1" cy="21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" name="Line 145">
              <a:extLst>
                <a:ext uri="{FF2B5EF4-FFF2-40B4-BE49-F238E27FC236}">
                  <a16:creationId xmlns:a16="http://schemas.microsoft.com/office/drawing/2014/main" id="{C5763ABE-B1B9-4B5D-AC00-5418818DAA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35" y="998"/>
              <a:ext cx="21" cy="2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" name="Freeform 146">
              <a:extLst>
                <a:ext uri="{FF2B5EF4-FFF2-40B4-BE49-F238E27FC236}">
                  <a16:creationId xmlns:a16="http://schemas.microsoft.com/office/drawing/2014/main" id="{CE1EA39E-084C-419C-9F08-7009A4DB15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1020"/>
              <a:ext cx="1" cy="168"/>
            </a:xfrm>
            <a:custGeom>
              <a:avLst/>
              <a:gdLst>
                <a:gd name="T0" fmla="*/ 0 w 1"/>
                <a:gd name="T1" fmla="*/ 0 h 168"/>
                <a:gd name="T2" fmla="*/ 0 w 1"/>
                <a:gd name="T3" fmla="*/ 168 h 168"/>
                <a:gd name="T4" fmla="*/ 0 60000 65536"/>
                <a:gd name="T5" fmla="*/ 0 60000 65536"/>
                <a:gd name="T6" fmla="*/ 0 w 1"/>
                <a:gd name="T7" fmla="*/ 0 h 168"/>
                <a:gd name="T8" fmla="*/ 1 w 1"/>
                <a:gd name="T9" fmla="*/ 168 h 16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168">
                  <a:moveTo>
                    <a:pt x="0" y="0"/>
                  </a:moveTo>
                  <a:lnTo>
                    <a:pt x="0" y="168"/>
                  </a:lnTo>
                </a:path>
              </a:pathLst>
            </a:cu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" name="Line 147">
              <a:extLst>
                <a:ext uri="{FF2B5EF4-FFF2-40B4-BE49-F238E27FC236}">
                  <a16:creationId xmlns:a16="http://schemas.microsoft.com/office/drawing/2014/main" id="{1ED4B068-9B3D-4435-A8C5-E9E7C8CEF7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3" y="1002"/>
              <a:ext cx="2" cy="20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" name="Line 148">
              <a:extLst>
                <a:ext uri="{FF2B5EF4-FFF2-40B4-BE49-F238E27FC236}">
                  <a16:creationId xmlns:a16="http://schemas.microsoft.com/office/drawing/2014/main" id="{AC3BB8CE-2445-4217-AE72-C6DDE846EC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697" y="996"/>
              <a:ext cx="21" cy="2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" name="Line 149">
              <a:extLst>
                <a:ext uri="{FF2B5EF4-FFF2-40B4-BE49-F238E27FC236}">
                  <a16:creationId xmlns:a16="http://schemas.microsoft.com/office/drawing/2014/main" id="{2D4FC16D-527C-45C1-B690-BB541489528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46" y="626"/>
              <a:ext cx="13" cy="13"/>
            </a:xfrm>
            <a:prstGeom prst="line">
              <a:avLst/>
            </a:prstGeom>
            <a:noFill/>
            <a:ln w="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0" name="Line 150">
              <a:extLst>
                <a:ext uri="{FF2B5EF4-FFF2-40B4-BE49-F238E27FC236}">
                  <a16:creationId xmlns:a16="http://schemas.microsoft.com/office/drawing/2014/main" id="{E78EF8C2-A3FF-44D2-A0F1-B4D60C41D1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82" y="626"/>
              <a:ext cx="1" cy="58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" name="Line 151">
              <a:extLst>
                <a:ext uri="{FF2B5EF4-FFF2-40B4-BE49-F238E27FC236}">
                  <a16:creationId xmlns:a16="http://schemas.microsoft.com/office/drawing/2014/main" id="{DBA00AD1-D5D9-4516-8045-49AD9B6E6D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208" y="1208"/>
              <a:ext cx="48" cy="4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2" name="Freeform 152">
              <a:extLst>
                <a:ext uri="{FF2B5EF4-FFF2-40B4-BE49-F238E27FC236}">
                  <a16:creationId xmlns:a16="http://schemas.microsoft.com/office/drawing/2014/main" id="{D046E57C-09E7-46D2-8516-D6E437FF93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2" y="1530"/>
              <a:ext cx="54" cy="54"/>
            </a:xfrm>
            <a:custGeom>
              <a:avLst/>
              <a:gdLst>
                <a:gd name="T0" fmla="*/ 0 w 54"/>
                <a:gd name="T1" fmla="*/ 54 h 54"/>
                <a:gd name="T2" fmla="*/ 54 w 54"/>
                <a:gd name="T3" fmla="*/ 0 h 54"/>
                <a:gd name="T4" fmla="*/ 0 60000 65536"/>
                <a:gd name="T5" fmla="*/ 0 60000 65536"/>
                <a:gd name="T6" fmla="*/ 0 w 54"/>
                <a:gd name="T7" fmla="*/ 0 h 54"/>
                <a:gd name="T8" fmla="*/ 54 w 54"/>
                <a:gd name="T9" fmla="*/ 54 h 5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4" h="54">
                  <a:moveTo>
                    <a:pt x="0" y="54"/>
                  </a:moveTo>
                  <a:lnTo>
                    <a:pt x="54" y="0"/>
                  </a:lnTo>
                </a:path>
              </a:pathLst>
            </a:cu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" name="Freeform 153">
              <a:extLst>
                <a:ext uri="{FF2B5EF4-FFF2-40B4-BE49-F238E27FC236}">
                  <a16:creationId xmlns:a16="http://schemas.microsoft.com/office/drawing/2014/main" id="{128F4C56-8F64-472F-9102-C682E8ADAA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200"/>
              <a:ext cx="1" cy="378"/>
            </a:xfrm>
            <a:custGeom>
              <a:avLst/>
              <a:gdLst>
                <a:gd name="T0" fmla="*/ 0 w 1"/>
                <a:gd name="T1" fmla="*/ 0 h 378"/>
                <a:gd name="T2" fmla="*/ 0 w 1"/>
                <a:gd name="T3" fmla="*/ 378 h 378"/>
                <a:gd name="T4" fmla="*/ 0 60000 65536"/>
                <a:gd name="T5" fmla="*/ 0 60000 65536"/>
                <a:gd name="T6" fmla="*/ 0 w 1"/>
                <a:gd name="T7" fmla="*/ 0 h 378"/>
                <a:gd name="T8" fmla="*/ 1 w 1"/>
                <a:gd name="T9" fmla="*/ 378 h 37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378">
                  <a:moveTo>
                    <a:pt x="0" y="0"/>
                  </a:moveTo>
                  <a:lnTo>
                    <a:pt x="0" y="378"/>
                  </a:lnTo>
                </a:path>
              </a:pathLst>
            </a:cu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" name="Line 154">
              <a:extLst>
                <a:ext uri="{FF2B5EF4-FFF2-40B4-BE49-F238E27FC236}">
                  <a16:creationId xmlns:a16="http://schemas.microsoft.com/office/drawing/2014/main" id="{3A11DB2E-4AAB-4674-AEB9-42CBE72A13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77" y="1002"/>
              <a:ext cx="205" cy="20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" name="Line 155">
              <a:extLst>
                <a:ext uri="{FF2B5EF4-FFF2-40B4-BE49-F238E27FC236}">
                  <a16:creationId xmlns:a16="http://schemas.microsoft.com/office/drawing/2014/main" id="{9092EE5D-75E7-4D98-B641-9D371319E2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16" y="1142"/>
              <a:ext cx="66" cy="6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" name="Line 156">
              <a:extLst>
                <a:ext uri="{FF2B5EF4-FFF2-40B4-BE49-F238E27FC236}">
                  <a16:creationId xmlns:a16="http://schemas.microsoft.com/office/drawing/2014/main" id="{C9479BE2-9F6C-4347-8AA1-E955BF77E0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56" y="1255"/>
              <a:ext cx="1" cy="27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" name="Line 157">
              <a:extLst>
                <a:ext uri="{FF2B5EF4-FFF2-40B4-BE49-F238E27FC236}">
                  <a16:creationId xmlns:a16="http://schemas.microsoft.com/office/drawing/2014/main" id="{8E08D256-DFEF-47EA-A1C6-00E468CB01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6" y="1392"/>
              <a:ext cx="12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Dot"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8" name="Line 158">
              <a:extLst>
                <a:ext uri="{FF2B5EF4-FFF2-40B4-BE49-F238E27FC236}">
                  <a16:creationId xmlns:a16="http://schemas.microsoft.com/office/drawing/2014/main" id="{C8168227-CBC7-48F2-88A9-86F65478F6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0" y="1174"/>
              <a:ext cx="0" cy="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9" name="Line 159">
              <a:extLst>
                <a:ext uri="{FF2B5EF4-FFF2-40B4-BE49-F238E27FC236}">
                  <a16:creationId xmlns:a16="http://schemas.microsoft.com/office/drawing/2014/main" id="{BF7F52AE-78AE-426C-B2AE-8EEE198237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32" y="1174"/>
              <a:ext cx="0" cy="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" name="Rectangle 160">
              <a:extLst>
                <a:ext uri="{FF2B5EF4-FFF2-40B4-BE49-F238E27FC236}">
                  <a16:creationId xmlns:a16="http://schemas.microsoft.com/office/drawing/2014/main" id="{900507A5-F437-423C-9DEF-2CF2063954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6" y="996"/>
              <a:ext cx="47" cy="64"/>
            </a:xfrm>
            <a:prstGeom prst="rect">
              <a:avLst/>
            </a:prstGeom>
            <a:solidFill>
              <a:schemeClr val="tx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61" name="Group 161">
            <a:extLst>
              <a:ext uri="{FF2B5EF4-FFF2-40B4-BE49-F238E27FC236}">
                <a16:creationId xmlns:a16="http://schemas.microsoft.com/office/drawing/2014/main" id="{81739F53-9122-4F28-A758-3082571A8DD6}"/>
              </a:ext>
            </a:extLst>
          </p:cNvPr>
          <p:cNvGrpSpPr>
            <a:grpSpLocks/>
          </p:cNvGrpSpPr>
          <p:nvPr/>
        </p:nvGrpSpPr>
        <p:grpSpPr bwMode="auto">
          <a:xfrm>
            <a:off x="6885968" y="4197625"/>
            <a:ext cx="657946" cy="1097973"/>
            <a:chOff x="1272" y="2307"/>
            <a:chExt cx="549" cy="921"/>
          </a:xfrm>
        </p:grpSpPr>
        <p:sp>
          <p:nvSpPr>
            <p:cNvPr id="162" name="Rectangle 162">
              <a:extLst>
                <a:ext uri="{FF2B5EF4-FFF2-40B4-BE49-F238E27FC236}">
                  <a16:creationId xmlns:a16="http://schemas.microsoft.com/office/drawing/2014/main" id="{E5A3BE86-8DFA-425B-9F3F-53461FBFA2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8" y="2307"/>
              <a:ext cx="161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000">
                  <a:solidFill>
                    <a:schemeClr val="accent2"/>
                  </a:solidFill>
                  <a:latin typeface="宋体" pitchFamily="2" charset="-122"/>
                </a:rPr>
                <a:t>Ⅱ</a:t>
              </a:r>
              <a:endParaRPr lang="en-US" altLang="zh-CN" sz="2000">
                <a:solidFill>
                  <a:schemeClr val="accent2"/>
                </a:solidFill>
              </a:endParaRPr>
            </a:p>
          </p:txBody>
        </p:sp>
        <p:sp>
          <p:nvSpPr>
            <p:cNvPr id="163" name="Line 163">
              <a:extLst>
                <a:ext uri="{FF2B5EF4-FFF2-40B4-BE49-F238E27FC236}">
                  <a16:creationId xmlns:a16="http://schemas.microsoft.com/office/drawing/2014/main" id="{EBCE65BF-99C1-4E10-A98E-9FFFD67CCA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37" y="2510"/>
              <a:ext cx="100" cy="163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" name="Line 164">
              <a:extLst>
                <a:ext uri="{FF2B5EF4-FFF2-40B4-BE49-F238E27FC236}">
                  <a16:creationId xmlns:a16="http://schemas.microsoft.com/office/drawing/2014/main" id="{13159BEE-C1C5-4EEA-A878-E383C02A8B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38" y="2507"/>
              <a:ext cx="152" cy="2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" name="Oval 165">
              <a:extLst>
                <a:ext uri="{FF2B5EF4-FFF2-40B4-BE49-F238E27FC236}">
                  <a16:creationId xmlns:a16="http://schemas.microsoft.com/office/drawing/2014/main" id="{F1D061D5-383B-49EE-AB92-9F7D3D39F5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2" y="2679"/>
              <a:ext cx="549" cy="549"/>
            </a:xfrm>
            <a:prstGeom prst="ellips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66" name="Group 166">
            <a:extLst>
              <a:ext uri="{FF2B5EF4-FFF2-40B4-BE49-F238E27FC236}">
                <a16:creationId xmlns:a16="http://schemas.microsoft.com/office/drawing/2014/main" id="{5978EA68-D8AF-4620-811F-F04BF9646AC8}"/>
              </a:ext>
            </a:extLst>
          </p:cNvPr>
          <p:cNvGrpSpPr>
            <a:grpSpLocks/>
          </p:cNvGrpSpPr>
          <p:nvPr/>
        </p:nvGrpSpPr>
        <p:grpSpPr bwMode="auto">
          <a:xfrm>
            <a:off x="6454167" y="4183771"/>
            <a:ext cx="1837892" cy="2369127"/>
            <a:chOff x="1011" y="2369"/>
            <a:chExt cx="1348" cy="1685"/>
          </a:xfrm>
        </p:grpSpPr>
        <p:sp>
          <p:nvSpPr>
            <p:cNvPr id="167" name="Freeform 167">
              <a:extLst>
                <a:ext uri="{FF2B5EF4-FFF2-40B4-BE49-F238E27FC236}">
                  <a16:creationId xmlns:a16="http://schemas.microsoft.com/office/drawing/2014/main" id="{FABF8605-6501-41D7-9712-97D0A689BD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5" y="3000"/>
              <a:ext cx="388" cy="191"/>
            </a:xfrm>
            <a:custGeom>
              <a:avLst/>
              <a:gdLst>
                <a:gd name="T0" fmla="*/ 0 w 926"/>
                <a:gd name="T1" fmla="*/ 0 h 457"/>
                <a:gd name="T2" fmla="*/ 0 w 926"/>
                <a:gd name="T3" fmla="*/ 0 h 457"/>
                <a:gd name="T4" fmla="*/ 0 w 926"/>
                <a:gd name="T5" fmla="*/ 0 h 457"/>
                <a:gd name="T6" fmla="*/ 0 w 926"/>
                <a:gd name="T7" fmla="*/ 0 h 457"/>
                <a:gd name="T8" fmla="*/ 0 w 926"/>
                <a:gd name="T9" fmla="*/ 0 h 457"/>
                <a:gd name="T10" fmla="*/ 0 w 926"/>
                <a:gd name="T11" fmla="*/ 0 h 457"/>
                <a:gd name="T12" fmla="*/ 0 w 926"/>
                <a:gd name="T13" fmla="*/ 0 h 45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26"/>
                <a:gd name="T22" fmla="*/ 0 h 457"/>
                <a:gd name="T23" fmla="*/ 926 w 926"/>
                <a:gd name="T24" fmla="*/ 457 h 45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26" h="457">
                  <a:moveTo>
                    <a:pt x="0" y="0"/>
                  </a:moveTo>
                  <a:lnTo>
                    <a:pt x="75" y="213"/>
                  </a:lnTo>
                  <a:lnTo>
                    <a:pt x="218" y="324"/>
                  </a:lnTo>
                  <a:lnTo>
                    <a:pt x="526" y="457"/>
                  </a:lnTo>
                  <a:lnTo>
                    <a:pt x="694" y="439"/>
                  </a:lnTo>
                  <a:lnTo>
                    <a:pt x="812" y="319"/>
                  </a:lnTo>
                  <a:lnTo>
                    <a:pt x="926" y="4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8" name="Freeform 168">
              <a:extLst>
                <a:ext uri="{FF2B5EF4-FFF2-40B4-BE49-F238E27FC236}">
                  <a16:creationId xmlns:a16="http://schemas.microsoft.com/office/drawing/2014/main" id="{9BD9A797-3FBB-4EE5-A90F-D53E08833AD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16"/>
              <a:ext cx="155" cy="573"/>
            </a:xfrm>
            <a:custGeom>
              <a:avLst/>
              <a:gdLst>
                <a:gd name="T0" fmla="*/ 90 w 155"/>
                <a:gd name="T1" fmla="*/ 0 h 573"/>
                <a:gd name="T2" fmla="*/ 55 w 155"/>
                <a:gd name="T3" fmla="*/ 59 h 573"/>
                <a:gd name="T4" fmla="*/ 45 w 155"/>
                <a:gd name="T5" fmla="*/ 124 h 573"/>
                <a:gd name="T6" fmla="*/ 57 w 155"/>
                <a:gd name="T7" fmla="*/ 186 h 573"/>
                <a:gd name="T8" fmla="*/ 72 w 155"/>
                <a:gd name="T9" fmla="*/ 242 h 573"/>
                <a:gd name="T10" fmla="*/ 137 w 155"/>
                <a:gd name="T11" fmla="*/ 350 h 573"/>
                <a:gd name="T12" fmla="*/ 153 w 155"/>
                <a:gd name="T13" fmla="*/ 423 h 573"/>
                <a:gd name="T14" fmla="*/ 155 w 155"/>
                <a:gd name="T15" fmla="*/ 473 h 573"/>
                <a:gd name="T16" fmla="*/ 138 w 155"/>
                <a:gd name="T17" fmla="*/ 534 h 573"/>
                <a:gd name="T18" fmla="*/ 84 w 155"/>
                <a:gd name="T19" fmla="*/ 573 h 573"/>
                <a:gd name="T20" fmla="*/ 32 w 155"/>
                <a:gd name="T21" fmla="*/ 555 h 573"/>
                <a:gd name="T22" fmla="*/ 1 w 155"/>
                <a:gd name="T23" fmla="*/ 503 h 573"/>
                <a:gd name="T24" fmla="*/ 0 w 155"/>
                <a:gd name="T25" fmla="*/ 444 h 573"/>
                <a:gd name="T26" fmla="*/ 19 w 155"/>
                <a:gd name="T27" fmla="*/ 380 h 573"/>
                <a:gd name="T28" fmla="*/ 104 w 155"/>
                <a:gd name="T29" fmla="*/ 288 h 57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155"/>
                <a:gd name="T46" fmla="*/ 0 h 573"/>
                <a:gd name="T47" fmla="*/ 155 w 155"/>
                <a:gd name="T48" fmla="*/ 573 h 573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155" h="573">
                  <a:moveTo>
                    <a:pt x="90" y="0"/>
                  </a:moveTo>
                  <a:lnTo>
                    <a:pt x="55" y="59"/>
                  </a:lnTo>
                  <a:lnTo>
                    <a:pt x="45" y="124"/>
                  </a:lnTo>
                  <a:lnTo>
                    <a:pt x="57" y="186"/>
                  </a:lnTo>
                  <a:lnTo>
                    <a:pt x="72" y="242"/>
                  </a:lnTo>
                  <a:lnTo>
                    <a:pt x="137" y="350"/>
                  </a:lnTo>
                  <a:lnTo>
                    <a:pt x="153" y="423"/>
                  </a:lnTo>
                  <a:lnTo>
                    <a:pt x="155" y="473"/>
                  </a:lnTo>
                  <a:lnTo>
                    <a:pt x="138" y="534"/>
                  </a:lnTo>
                  <a:lnTo>
                    <a:pt x="84" y="573"/>
                  </a:lnTo>
                  <a:lnTo>
                    <a:pt x="32" y="555"/>
                  </a:lnTo>
                  <a:lnTo>
                    <a:pt x="1" y="503"/>
                  </a:lnTo>
                  <a:lnTo>
                    <a:pt x="0" y="444"/>
                  </a:lnTo>
                  <a:lnTo>
                    <a:pt x="19" y="380"/>
                  </a:lnTo>
                  <a:lnTo>
                    <a:pt x="104" y="288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9" name="Line 169">
              <a:extLst>
                <a:ext uri="{FF2B5EF4-FFF2-40B4-BE49-F238E27FC236}">
                  <a16:creationId xmlns:a16="http://schemas.microsoft.com/office/drawing/2014/main" id="{0E261392-0C17-40DA-B5C1-9C7FA57F1D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01" y="2916"/>
              <a:ext cx="251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0" name="Line 170">
              <a:extLst>
                <a:ext uri="{FF2B5EF4-FFF2-40B4-BE49-F238E27FC236}">
                  <a16:creationId xmlns:a16="http://schemas.microsoft.com/office/drawing/2014/main" id="{77779E15-F922-4813-BCDE-3954BEA11B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95" y="3491"/>
              <a:ext cx="257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1" name="Line 171">
              <a:extLst>
                <a:ext uri="{FF2B5EF4-FFF2-40B4-BE49-F238E27FC236}">
                  <a16:creationId xmlns:a16="http://schemas.microsoft.com/office/drawing/2014/main" id="{8A79DFDE-8FC1-4C4F-AF13-CBD29C7842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4" y="3203"/>
              <a:ext cx="378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2" name="Line 172">
              <a:extLst>
                <a:ext uri="{FF2B5EF4-FFF2-40B4-BE49-F238E27FC236}">
                  <a16:creationId xmlns:a16="http://schemas.microsoft.com/office/drawing/2014/main" id="{60626256-6132-42B8-95C4-4C79E3154C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9" y="3203"/>
              <a:ext cx="72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3" name="Line 173">
              <a:extLst>
                <a:ext uri="{FF2B5EF4-FFF2-40B4-BE49-F238E27FC236}">
                  <a16:creationId xmlns:a16="http://schemas.microsoft.com/office/drawing/2014/main" id="{E60EE838-6172-4939-B4F1-FABB1068C9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71" y="3203"/>
              <a:ext cx="359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" name="Line 174">
              <a:extLst>
                <a:ext uri="{FF2B5EF4-FFF2-40B4-BE49-F238E27FC236}">
                  <a16:creationId xmlns:a16="http://schemas.microsoft.com/office/drawing/2014/main" id="{EB15608C-9989-4E66-A5F3-AD303D4CA8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78" y="3203"/>
              <a:ext cx="71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" name="Line 175">
              <a:extLst>
                <a:ext uri="{FF2B5EF4-FFF2-40B4-BE49-F238E27FC236}">
                  <a16:creationId xmlns:a16="http://schemas.microsoft.com/office/drawing/2014/main" id="{84C5E0EF-F297-4C57-8F94-A458E14B93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0" y="3203"/>
              <a:ext cx="259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" name="Line 176">
              <a:extLst>
                <a:ext uri="{FF2B5EF4-FFF2-40B4-BE49-F238E27FC236}">
                  <a16:creationId xmlns:a16="http://schemas.microsoft.com/office/drawing/2014/main" id="{7AE58ADA-E68A-4893-8EEB-3016355045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11" y="3351"/>
              <a:ext cx="119" cy="12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7" name="Line 177">
              <a:extLst>
                <a:ext uri="{FF2B5EF4-FFF2-40B4-BE49-F238E27FC236}">
                  <a16:creationId xmlns:a16="http://schemas.microsoft.com/office/drawing/2014/main" id="{4C359646-8A67-471B-925B-7498A059F3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37" y="3286"/>
              <a:ext cx="126" cy="12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8" name="Line 178">
              <a:extLst>
                <a:ext uri="{FF2B5EF4-FFF2-40B4-BE49-F238E27FC236}">
                  <a16:creationId xmlns:a16="http://schemas.microsoft.com/office/drawing/2014/main" id="{FD6D49B1-AD79-4415-AF96-1278255332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80" y="3238"/>
              <a:ext cx="78" cy="7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9" name="Line 179">
              <a:extLst>
                <a:ext uri="{FF2B5EF4-FFF2-40B4-BE49-F238E27FC236}">
                  <a16:creationId xmlns:a16="http://schemas.microsoft.com/office/drawing/2014/main" id="{FD18D554-473B-4FCF-BECA-BB7AAD5C44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90" y="2369"/>
              <a:ext cx="2" cy="63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0" name="Line 180">
              <a:extLst>
                <a:ext uri="{FF2B5EF4-FFF2-40B4-BE49-F238E27FC236}">
                  <a16:creationId xmlns:a16="http://schemas.microsoft.com/office/drawing/2014/main" id="{388F3DD0-7646-478E-8945-66DF3591BF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26" y="2372"/>
              <a:ext cx="2" cy="4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1" name="Line 181">
              <a:extLst>
                <a:ext uri="{FF2B5EF4-FFF2-40B4-BE49-F238E27FC236}">
                  <a16:creationId xmlns:a16="http://schemas.microsoft.com/office/drawing/2014/main" id="{1AAE7A35-DE55-4408-B084-BA2B63F377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90" y="2473"/>
              <a:ext cx="500" cy="50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2" name="Line 182">
              <a:extLst>
                <a:ext uri="{FF2B5EF4-FFF2-40B4-BE49-F238E27FC236}">
                  <a16:creationId xmlns:a16="http://schemas.microsoft.com/office/drawing/2014/main" id="{54DC9D9E-B540-46EC-A42B-06F0B2FD76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15" y="2625"/>
              <a:ext cx="375" cy="3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3" name="Line 183">
              <a:extLst>
                <a:ext uri="{FF2B5EF4-FFF2-40B4-BE49-F238E27FC236}">
                  <a16:creationId xmlns:a16="http://schemas.microsoft.com/office/drawing/2014/main" id="{DD34F7D2-9EBC-4DAB-A9B1-805A18123F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57" y="3000"/>
              <a:ext cx="569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" name="Line 184">
              <a:extLst>
                <a:ext uri="{FF2B5EF4-FFF2-40B4-BE49-F238E27FC236}">
                  <a16:creationId xmlns:a16="http://schemas.microsoft.com/office/drawing/2014/main" id="{540BB162-C1BD-4C7C-9B66-91A544B821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25" y="3537"/>
              <a:ext cx="365" cy="36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" name="Line 185">
              <a:extLst>
                <a:ext uri="{FF2B5EF4-FFF2-40B4-BE49-F238E27FC236}">
                  <a16:creationId xmlns:a16="http://schemas.microsoft.com/office/drawing/2014/main" id="{8486797C-75EF-4A92-8077-2D9F59F69E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25" y="3689"/>
              <a:ext cx="365" cy="36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6" name="Line 186">
              <a:extLst>
                <a:ext uri="{FF2B5EF4-FFF2-40B4-BE49-F238E27FC236}">
                  <a16:creationId xmlns:a16="http://schemas.microsoft.com/office/drawing/2014/main" id="{42FE607F-6468-4AB0-B646-3F41C75F99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14" y="3406"/>
              <a:ext cx="203" cy="2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7" name="Line 187">
              <a:extLst>
                <a:ext uri="{FF2B5EF4-FFF2-40B4-BE49-F238E27FC236}">
                  <a16:creationId xmlns:a16="http://schemas.microsoft.com/office/drawing/2014/main" id="{8D7882F2-6E7D-4AE0-AB3E-FAC079CF60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25" y="3406"/>
              <a:ext cx="344" cy="3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8" name="Line 188">
              <a:extLst>
                <a:ext uri="{FF2B5EF4-FFF2-40B4-BE49-F238E27FC236}">
                  <a16:creationId xmlns:a16="http://schemas.microsoft.com/office/drawing/2014/main" id="{85277C5C-E520-452F-9890-B16E8238E8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2" y="3406"/>
              <a:ext cx="874" cy="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9" name="Line 189">
              <a:extLst>
                <a:ext uri="{FF2B5EF4-FFF2-40B4-BE49-F238E27FC236}">
                  <a16:creationId xmlns:a16="http://schemas.microsoft.com/office/drawing/2014/main" id="{8A252107-444D-4058-A94B-F8F7405D85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5" y="3610"/>
              <a:ext cx="1" cy="4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0" name="Line 190">
              <a:extLst>
                <a:ext uri="{FF2B5EF4-FFF2-40B4-BE49-F238E27FC236}">
                  <a16:creationId xmlns:a16="http://schemas.microsoft.com/office/drawing/2014/main" id="{EE191B40-C698-4138-9F28-621517C1A9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4" y="3091"/>
              <a:ext cx="109" cy="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1" name="Line 191">
              <a:extLst>
                <a:ext uri="{FF2B5EF4-FFF2-40B4-BE49-F238E27FC236}">
                  <a16:creationId xmlns:a16="http://schemas.microsoft.com/office/drawing/2014/main" id="{AD2AF5B6-D3CD-4809-B17E-C602227BB7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09" y="2774"/>
              <a:ext cx="165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2" name="Line 192">
              <a:extLst>
                <a:ext uri="{FF2B5EF4-FFF2-40B4-BE49-F238E27FC236}">
                  <a16:creationId xmlns:a16="http://schemas.microsoft.com/office/drawing/2014/main" id="{A9851F9C-D491-4298-A49E-412A50911C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634" y="3132"/>
              <a:ext cx="49" cy="4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3" name="Line 193">
              <a:extLst>
                <a:ext uri="{FF2B5EF4-FFF2-40B4-BE49-F238E27FC236}">
                  <a16:creationId xmlns:a16="http://schemas.microsoft.com/office/drawing/2014/main" id="{FFA9D2EE-08A6-4109-96E5-7BEF2B7084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88" y="3118"/>
              <a:ext cx="69" cy="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" name="Line 194">
              <a:extLst>
                <a:ext uri="{FF2B5EF4-FFF2-40B4-BE49-F238E27FC236}">
                  <a16:creationId xmlns:a16="http://schemas.microsoft.com/office/drawing/2014/main" id="{4AE1FFEF-44B7-4FA6-B4B1-CED46FE3DB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19" y="3118"/>
              <a:ext cx="144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" name="Line 195">
              <a:extLst>
                <a:ext uri="{FF2B5EF4-FFF2-40B4-BE49-F238E27FC236}">
                  <a16:creationId xmlns:a16="http://schemas.microsoft.com/office/drawing/2014/main" id="{66A1C2B8-1E32-44EC-B4B6-E62AA0D3D0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9" y="2972"/>
              <a:ext cx="201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6" name="Line 196">
              <a:extLst>
                <a:ext uri="{FF2B5EF4-FFF2-40B4-BE49-F238E27FC236}">
                  <a16:creationId xmlns:a16="http://schemas.microsoft.com/office/drawing/2014/main" id="{BE69D02E-D844-4ED8-9F47-C676D223B1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88" y="3406"/>
              <a:ext cx="126" cy="1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7" name="Line 197">
              <a:extLst>
                <a:ext uri="{FF2B5EF4-FFF2-40B4-BE49-F238E27FC236}">
                  <a16:creationId xmlns:a16="http://schemas.microsoft.com/office/drawing/2014/main" id="{0D9BB1BA-2818-43BE-B497-9351E28719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2" y="3610"/>
              <a:ext cx="473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8" name="Line 198">
              <a:extLst>
                <a:ext uri="{FF2B5EF4-FFF2-40B4-BE49-F238E27FC236}">
                  <a16:creationId xmlns:a16="http://schemas.microsoft.com/office/drawing/2014/main" id="{8C107556-970F-4D1F-9702-A6FE4E1197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2" y="2797"/>
              <a:ext cx="1" cy="8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9" name="Line 199">
              <a:extLst>
                <a:ext uri="{FF2B5EF4-FFF2-40B4-BE49-F238E27FC236}">
                  <a16:creationId xmlns:a16="http://schemas.microsoft.com/office/drawing/2014/main" id="{4583F519-2B27-4AE1-AE22-180C62F7A1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57" y="3406"/>
              <a:ext cx="203" cy="2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0" name="Line 200">
              <a:extLst>
                <a:ext uri="{FF2B5EF4-FFF2-40B4-BE49-F238E27FC236}">
                  <a16:creationId xmlns:a16="http://schemas.microsoft.com/office/drawing/2014/main" id="{D392DA2A-8B8A-4DF1-8FD4-4F19F5AD18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52" y="3406"/>
              <a:ext cx="57" cy="5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1" name="Line 201">
              <a:extLst>
                <a:ext uri="{FF2B5EF4-FFF2-40B4-BE49-F238E27FC236}">
                  <a16:creationId xmlns:a16="http://schemas.microsoft.com/office/drawing/2014/main" id="{364E3DB7-5958-4384-AB81-F6413B7C3B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10" y="3531"/>
              <a:ext cx="78" cy="7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2" name="Line 202">
              <a:extLst>
                <a:ext uri="{FF2B5EF4-FFF2-40B4-BE49-F238E27FC236}">
                  <a16:creationId xmlns:a16="http://schemas.microsoft.com/office/drawing/2014/main" id="{9A3B0201-E7B1-410B-BF70-467FC784FE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415" y="3002"/>
              <a:ext cx="107" cy="10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3" name="Line 203">
              <a:extLst>
                <a:ext uri="{FF2B5EF4-FFF2-40B4-BE49-F238E27FC236}">
                  <a16:creationId xmlns:a16="http://schemas.microsoft.com/office/drawing/2014/main" id="{491FEBCD-26D4-4E82-86E0-249F629E60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2" y="2797"/>
              <a:ext cx="479" cy="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" name="Line 204">
              <a:extLst>
                <a:ext uri="{FF2B5EF4-FFF2-40B4-BE49-F238E27FC236}">
                  <a16:creationId xmlns:a16="http://schemas.microsoft.com/office/drawing/2014/main" id="{38B5B657-08B4-4DE0-A0E1-E95ADE9488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2" y="3000"/>
              <a:ext cx="170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" name="Line 205">
              <a:extLst>
                <a:ext uri="{FF2B5EF4-FFF2-40B4-BE49-F238E27FC236}">
                  <a16:creationId xmlns:a16="http://schemas.microsoft.com/office/drawing/2014/main" id="{C68C5F93-1CE4-4C7C-AA2E-817C08D307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60" y="2872"/>
              <a:ext cx="128" cy="1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" name="Line 206">
              <a:extLst>
                <a:ext uri="{FF2B5EF4-FFF2-40B4-BE49-F238E27FC236}">
                  <a16:creationId xmlns:a16="http://schemas.microsoft.com/office/drawing/2014/main" id="{99F0DFF9-2D6A-4AD5-B69A-62A2A319AD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52" y="2797"/>
              <a:ext cx="59" cy="5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7" name="Line 207">
              <a:extLst>
                <a:ext uri="{FF2B5EF4-FFF2-40B4-BE49-F238E27FC236}">
                  <a16:creationId xmlns:a16="http://schemas.microsoft.com/office/drawing/2014/main" id="{4EA8C265-9564-48D4-98A4-A25B7E93FB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8" y="2797"/>
              <a:ext cx="1" cy="18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" name="Freeform 208">
              <a:extLst>
                <a:ext uri="{FF2B5EF4-FFF2-40B4-BE49-F238E27FC236}">
                  <a16:creationId xmlns:a16="http://schemas.microsoft.com/office/drawing/2014/main" id="{B2A50E83-1D64-46BB-B860-7CB86365D2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8" y="2776"/>
              <a:ext cx="1" cy="197"/>
            </a:xfrm>
            <a:custGeom>
              <a:avLst/>
              <a:gdLst>
                <a:gd name="T0" fmla="*/ 0 w 1"/>
                <a:gd name="T1" fmla="*/ 0 h 197"/>
                <a:gd name="T2" fmla="*/ 1 w 1"/>
                <a:gd name="T3" fmla="*/ 197 h 197"/>
                <a:gd name="T4" fmla="*/ 0 60000 65536"/>
                <a:gd name="T5" fmla="*/ 0 60000 65536"/>
                <a:gd name="T6" fmla="*/ 0 w 1"/>
                <a:gd name="T7" fmla="*/ 0 h 197"/>
                <a:gd name="T8" fmla="*/ 1 w 1"/>
                <a:gd name="T9" fmla="*/ 197 h 19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197">
                  <a:moveTo>
                    <a:pt x="0" y="0"/>
                  </a:moveTo>
                  <a:lnTo>
                    <a:pt x="1" y="197"/>
                  </a:lnTo>
                </a:path>
              </a:pathLst>
            </a:custGeom>
            <a:solidFill>
              <a:srgbClr val="FFFFFF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9" name="Line 209">
              <a:extLst>
                <a:ext uri="{FF2B5EF4-FFF2-40B4-BE49-F238E27FC236}">
                  <a16:creationId xmlns:a16="http://schemas.microsoft.com/office/drawing/2014/main" id="{5347BC74-8D9B-41DB-8F05-05CBE31E4C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8" y="2743"/>
              <a:ext cx="1" cy="4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0" name="Line 210">
              <a:extLst>
                <a:ext uri="{FF2B5EF4-FFF2-40B4-BE49-F238E27FC236}">
                  <a16:creationId xmlns:a16="http://schemas.microsoft.com/office/drawing/2014/main" id="{26B98C06-5096-4D93-AA06-B9B56D3396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22" y="3118"/>
              <a:ext cx="66" cy="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1" name="Freeform 211">
              <a:extLst>
                <a:ext uri="{FF2B5EF4-FFF2-40B4-BE49-F238E27FC236}">
                  <a16:creationId xmlns:a16="http://schemas.microsoft.com/office/drawing/2014/main" id="{63645F54-1B27-489E-A4F6-C4ED252F37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2" y="3079"/>
              <a:ext cx="12" cy="12"/>
            </a:xfrm>
            <a:custGeom>
              <a:avLst/>
              <a:gdLst>
                <a:gd name="T0" fmla="*/ 0 w 32"/>
                <a:gd name="T1" fmla="*/ 0 h 32"/>
                <a:gd name="T2" fmla="*/ 0 w 32"/>
                <a:gd name="T3" fmla="*/ 0 h 32"/>
                <a:gd name="T4" fmla="*/ 0 w 32"/>
                <a:gd name="T5" fmla="*/ 0 h 32"/>
                <a:gd name="T6" fmla="*/ 0 60000 65536"/>
                <a:gd name="T7" fmla="*/ 0 60000 65536"/>
                <a:gd name="T8" fmla="*/ 0 60000 65536"/>
                <a:gd name="T9" fmla="*/ 0 w 32"/>
                <a:gd name="T10" fmla="*/ 0 h 32"/>
                <a:gd name="T11" fmla="*/ 32 w 32"/>
                <a:gd name="T12" fmla="*/ 32 h 3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2" h="32">
                  <a:moveTo>
                    <a:pt x="0" y="0"/>
                  </a:moveTo>
                  <a:lnTo>
                    <a:pt x="9" y="23"/>
                  </a:lnTo>
                  <a:lnTo>
                    <a:pt x="32" y="32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2" name="Line 212">
              <a:extLst>
                <a:ext uri="{FF2B5EF4-FFF2-40B4-BE49-F238E27FC236}">
                  <a16:creationId xmlns:a16="http://schemas.microsoft.com/office/drawing/2014/main" id="{ACF4EDE2-578F-4966-B89C-0C552B1A59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8" y="2984"/>
              <a:ext cx="1" cy="1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3" name="Line 213">
              <a:extLst>
                <a:ext uri="{FF2B5EF4-FFF2-40B4-BE49-F238E27FC236}">
                  <a16:creationId xmlns:a16="http://schemas.microsoft.com/office/drawing/2014/main" id="{4137791B-2FFF-4FB4-BD17-7E3D26ABCE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08" y="2984"/>
              <a:ext cx="1" cy="1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4" name="Freeform 214">
              <a:extLst>
                <a:ext uri="{FF2B5EF4-FFF2-40B4-BE49-F238E27FC236}">
                  <a16:creationId xmlns:a16="http://schemas.microsoft.com/office/drawing/2014/main" id="{36268BDD-CBF1-4B8C-B7AC-20991BA0CE3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4" y="2973"/>
              <a:ext cx="28" cy="23"/>
            </a:xfrm>
            <a:custGeom>
              <a:avLst/>
              <a:gdLst>
                <a:gd name="T0" fmla="*/ 28 w 28"/>
                <a:gd name="T1" fmla="*/ 23 h 23"/>
                <a:gd name="T2" fmla="*/ 15 w 28"/>
                <a:gd name="T3" fmla="*/ 9 h 23"/>
                <a:gd name="T4" fmla="*/ 0 w 28"/>
                <a:gd name="T5" fmla="*/ 0 h 23"/>
                <a:gd name="T6" fmla="*/ 0 60000 65536"/>
                <a:gd name="T7" fmla="*/ 0 60000 65536"/>
                <a:gd name="T8" fmla="*/ 0 60000 65536"/>
                <a:gd name="T9" fmla="*/ 0 w 28"/>
                <a:gd name="T10" fmla="*/ 0 h 23"/>
                <a:gd name="T11" fmla="*/ 28 w 28"/>
                <a:gd name="T12" fmla="*/ 23 h 2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" h="23">
                  <a:moveTo>
                    <a:pt x="28" y="23"/>
                  </a:moveTo>
                  <a:lnTo>
                    <a:pt x="15" y="9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" name="Freeform 215">
              <a:extLst>
                <a:ext uri="{FF2B5EF4-FFF2-40B4-BE49-F238E27FC236}">
                  <a16:creationId xmlns:a16="http://schemas.microsoft.com/office/drawing/2014/main" id="{51B30840-828F-44FC-9626-D8D105131F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1" y="2996"/>
              <a:ext cx="1" cy="121"/>
            </a:xfrm>
            <a:custGeom>
              <a:avLst/>
              <a:gdLst>
                <a:gd name="T0" fmla="*/ 1 w 1"/>
                <a:gd name="T1" fmla="*/ 0 h 121"/>
                <a:gd name="T2" fmla="*/ 0 w 1"/>
                <a:gd name="T3" fmla="*/ 121 h 121"/>
                <a:gd name="T4" fmla="*/ 0 60000 65536"/>
                <a:gd name="T5" fmla="*/ 0 60000 65536"/>
                <a:gd name="T6" fmla="*/ 0 w 1"/>
                <a:gd name="T7" fmla="*/ 0 h 121"/>
                <a:gd name="T8" fmla="*/ 1 w 1"/>
                <a:gd name="T9" fmla="*/ 121 h 12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121">
                  <a:moveTo>
                    <a:pt x="1" y="0"/>
                  </a:moveTo>
                  <a:lnTo>
                    <a:pt x="0" y="121"/>
                  </a:lnTo>
                </a:path>
              </a:pathLst>
            </a:cu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6" name="Line 216">
              <a:extLst>
                <a:ext uri="{FF2B5EF4-FFF2-40B4-BE49-F238E27FC236}">
                  <a16:creationId xmlns:a16="http://schemas.microsoft.com/office/drawing/2014/main" id="{BA493E9E-D827-4FCB-99EF-BB6AB36BB0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91" y="2771"/>
              <a:ext cx="21" cy="2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7" name="Line 217">
              <a:extLst>
                <a:ext uri="{FF2B5EF4-FFF2-40B4-BE49-F238E27FC236}">
                  <a16:creationId xmlns:a16="http://schemas.microsoft.com/office/drawing/2014/main" id="{A025EAAA-B8D8-415F-96A9-6C8756D865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62" y="3406"/>
              <a:ext cx="203" cy="2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8" name="Line 218">
              <a:extLst>
                <a:ext uri="{FF2B5EF4-FFF2-40B4-BE49-F238E27FC236}">
                  <a16:creationId xmlns:a16="http://schemas.microsoft.com/office/drawing/2014/main" id="{97C91781-8ABB-436A-BBA8-BF76BF76DA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91" y="2794"/>
              <a:ext cx="2" cy="19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9" name="Line 219">
              <a:extLst>
                <a:ext uri="{FF2B5EF4-FFF2-40B4-BE49-F238E27FC236}">
                  <a16:creationId xmlns:a16="http://schemas.microsoft.com/office/drawing/2014/main" id="{A48EB966-F7B5-4C62-9148-B1E94C4891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71" y="2776"/>
              <a:ext cx="1" cy="1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0" name="Line 220">
              <a:extLst>
                <a:ext uri="{FF2B5EF4-FFF2-40B4-BE49-F238E27FC236}">
                  <a16:creationId xmlns:a16="http://schemas.microsoft.com/office/drawing/2014/main" id="{95B6EC82-B53C-481B-8AD1-CFBF271DFE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686" y="3000"/>
              <a:ext cx="70" cy="7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1" name="Line 221">
              <a:extLst>
                <a:ext uri="{FF2B5EF4-FFF2-40B4-BE49-F238E27FC236}">
                  <a16:creationId xmlns:a16="http://schemas.microsoft.com/office/drawing/2014/main" id="{574873C7-661E-4412-909A-4344803F4F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657" y="3061"/>
              <a:ext cx="69" cy="7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2" name="Freeform 222">
              <a:extLst>
                <a:ext uri="{FF2B5EF4-FFF2-40B4-BE49-F238E27FC236}">
                  <a16:creationId xmlns:a16="http://schemas.microsoft.com/office/drawing/2014/main" id="{E958C892-60C9-43E8-87D7-B2AEFF6B2AD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9" y="3069"/>
              <a:ext cx="33" cy="24"/>
            </a:xfrm>
            <a:custGeom>
              <a:avLst/>
              <a:gdLst>
                <a:gd name="T0" fmla="*/ 0 w 33"/>
                <a:gd name="T1" fmla="*/ 24 h 24"/>
                <a:gd name="T2" fmla="*/ 15 w 33"/>
                <a:gd name="T3" fmla="*/ 18 h 24"/>
                <a:gd name="T4" fmla="*/ 33 w 33"/>
                <a:gd name="T5" fmla="*/ 0 h 24"/>
                <a:gd name="T6" fmla="*/ 0 60000 65536"/>
                <a:gd name="T7" fmla="*/ 0 60000 65536"/>
                <a:gd name="T8" fmla="*/ 0 60000 65536"/>
                <a:gd name="T9" fmla="*/ 0 w 33"/>
                <a:gd name="T10" fmla="*/ 0 h 24"/>
                <a:gd name="T11" fmla="*/ 33 w 33"/>
                <a:gd name="T12" fmla="*/ 24 h 2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3" h="24">
                  <a:moveTo>
                    <a:pt x="0" y="24"/>
                  </a:moveTo>
                  <a:lnTo>
                    <a:pt x="15" y="18"/>
                  </a:lnTo>
                  <a:lnTo>
                    <a:pt x="33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3" name="Line 223">
              <a:extLst>
                <a:ext uri="{FF2B5EF4-FFF2-40B4-BE49-F238E27FC236}">
                  <a16:creationId xmlns:a16="http://schemas.microsoft.com/office/drawing/2014/main" id="{078D204F-547B-4EFC-8911-575829D05C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90" y="2984"/>
              <a:ext cx="1" cy="1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4" name="Line 224">
              <a:extLst>
                <a:ext uri="{FF2B5EF4-FFF2-40B4-BE49-F238E27FC236}">
                  <a16:creationId xmlns:a16="http://schemas.microsoft.com/office/drawing/2014/main" id="{BA02D129-4E64-4A4D-A768-E8F1B5A35A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71" y="2984"/>
              <a:ext cx="1" cy="1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" name="Freeform 225">
              <a:extLst>
                <a:ext uri="{FF2B5EF4-FFF2-40B4-BE49-F238E27FC236}">
                  <a16:creationId xmlns:a16="http://schemas.microsoft.com/office/drawing/2014/main" id="{FCD7A4A9-3E14-487C-A05C-466AA10F73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7" y="2973"/>
              <a:ext cx="32" cy="23"/>
            </a:xfrm>
            <a:custGeom>
              <a:avLst/>
              <a:gdLst>
                <a:gd name="T0" fmla="*/ 32 w 32"/>
                <a:gd name="T1" fmla="*/ 0 h 23"/>
                <a:gd name="T2" fmla="*/ 11 w 32"/>
                <a:gd name="T3" fmla="*/ 9 h 23"/>
                <a:gd name="T4" fmla="*/ 0 w 32"/>
                <a:gd name="T5" fmla="*/ 23 h 23"/>
                <a:gd name="T6" fmla="*/ 0 60000 65536"/>
                <a:gd name="T7" fmla="*/ 0 60000 65536"/>
                <a:gd name="T8" fmla="*/ 0 60000 65536"/>
                <a:gd name="T9" fmla="*/ 0 w 32"/>
                <a:gd name="T10" fmla="*/ 0 h 23"/>
                <a:gd name="T11" fmla="*/ 32 w 32"/>
                <a:gd name="T12" fmla="*/ 23 h 2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2" h="23">
                  <a:moveTo>
                    <a:pt x="32" y="0"/>
                  </a:moveTo>
                  <a:lnTo>
                    <a:pt x="11" y="9"/>
                  </a:lnTo>
                  <a:lnTo>
                    <a:pt x="0" y="23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6" name="Freeform 226">
              <a:extLst>
                <a:ext uri="{FF2B5EF4-FFF2-40B4-BE49-F238E27FC236}">
                  <a16:creationId xmlns:a16="http://schemas.microsoft.com/office/drawing/2014/main" id="{D0EC2ED2-FEA7-40EF-A051-BDBED53A01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9" y="2993"/>
              <a:ext cx="1" cy="124"/>
            </a:xfrm>
            <a:custGeom>
              <a:avLst/>
              <a:gdLst>
                <a:gd name="T0" fmla="*/ 1 w 1"/>
                <a:gd name="T1" fmla="*/ 0 h 124"/>
                <a:gd name="T2" fmla="*/ 0 w 1"/>
                <a:gd name="T3" fmla="*/ 124 h 124"/>
                <a:gd name="T4" fmla="*/ 0 60000 65536"/>
                <a:gd name="T5" fmla="*/ 0 60000 65536"/>
                <a:gd name="T6" fmla="*/ 0 w 1"/>
                <a:gd name="T7" fmla="*/ 0 h 124"/>
                <a:gd name="T8" fmla="*/ 1 w 1"/>
                <a:gd name="T9" fmla="*/ 124 h 12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124">
                  <a:moveTo>
                    <a:pt x="1" y="0"/>
                  </a:moveTo>
                  <a:lnTo>
                    <a:pt x="0" y="124"/>
                  </a:lnTo>
                </a:path>
              </a:pathLst>
            </a:cu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7" name="Line 227">
              <a:extLst>
                <a:ext uri="{FF2B5EF4-FFF2-40B4-BE49-F238E27FC236}">
                  <a16:creationId xmlns:a16="http://schemas.microsoft.com/office/drawing/2014/main" id="{C5F9E4E4-4D23-41A9-AB5C-56F23EE31B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90" y="3406"/>
              <a:ext cx="2" cy="6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8" name="Line 228">
              <a:extLst>
                <a:ext uri="{FF2B5EF4-FFF2-40B4-BE49-F238E27FC236}">
                  <a16:creationId xmlns:a16="http://schemas.microsoft.com/office/drawing/2014/main" id="{488ED5CE-23A4-42B1-9B59-BA8F2249A9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97" y="3842"/>
              <a:ext cx="193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9" name="Line 229">
              <a:extLst>
                <a:ext uri="{FF2B5EF4-FFF2-40B4-BE49-F238E27FC236}">
                  <a16:creationId xmlns:a16="http://schemas.microsoft.com/office/drawing/2014/main" id="{67624316-DD3D-4C5C-BB74-D1824722D9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50" y="3993"/>
              <a:ext cx="40" cy="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0" name="Line 230">
              <a:extLst>
                <a:ext uri="{FF2B5EF4-FFF2-40B4-BE49-F238E27FC236}">
                  <a16:creationId xmlns:a16="http://schemas.microsoft.com/office/drawing/2014/main" id="{1E996C2A-A710-4BF3-9FA6-3C2FF672D0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218" y="2996"/>
              <a:ext cx="51" cy="5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1" name="Line 231">
              <a:extLst>
                <a:ext uri="{FF2B5EF4-FFF2-40B4-BE49-F238E27FC236}">
                  <a16:creationId xmlns:a16="http://schemas.microsoft.com/office/drawing/2014/main" id="{C7AEFA53-903F-47ED-8B65-2A82233754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18" y="3356"/>
              <a:ext cx="51" cy="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2" name="Line 232">
              <a:extLst>
                <a:ext uri="{FF2B5EF4-FFF2-40B4-BE49-F238E27FC236}">
                  <a16:creationId xmlns:a16="http://schemas.microsoft.com/office/drawing/2014/main" id="{B08B150A-C706-4C19-98CF-447BE3A1BF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19" y="3000"/>
              <a:ext cx="3" cy="40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3" name="Line 233">
              <a:extLst>
                <a:ext uri="{FF2B5EF4-FFF2-40B4-BE49-F238E27FC236}">
                  <a16:creationId xmlns:a16="http://schemas.microsoft.com/office/drawing/2014/main" id="{6F63C881-03C4-4C3E-B5BA-61605E5FD3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67" y="2776"/>
              <a:ext cx="223" cy="2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4" name="Line 234">
              <a:extLst>
                <a:ext uri="{FF2B5EF4-FFF2-40B4-BE49-F238E27FC236}">
                  <a16:creationId xmlns:a16="http://schemas.microsoft.com/office/drawing/2014/main" id="{DEE94048-0764-40BF-A98F-A174C74459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19" y="2928"/>
              <a:ext cx="71" cy="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" name="Line 235">
              <a:extLst>
                <a:ext uri="{FF2B5EF4-FFF2-40B4-BE49-F238E27FC236}">
                  <a16:creationId xmlns:a16="http://schemas.microsoft.com/office/drawing/2014/main" id="{1136FEE2-9120-4AAD-856B-46C8C914AE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69" y="3043"/>
              <a:ext cx="1" cy="3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" name="Line 236">
              <a:extLst>
                <a:ext uri="{FF2B5EF4-FFF2-40B4-BE49-F238E27FC236}">
                  <a16:creationId xmlns:a16="http://schemas.microsoft.com/office/drawing/2014/main" id="{C75736EC-5D71-4B92-B409-E558F1069A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25" y="2369"/>
              <a:ext cx="165" cy="16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" name="Line 237">
              <a:extLst>
                <a:ext uri="{FF2B5EF4-FFF2-40B4-BE49-F238E27FC236}">
                  <a16:creationId xmlns:a16="http://schemas.microsoft.com/office/drawing/2014/main" id="{9992C5A5-EA66-4620-BC5F-A52EE52482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25" y="2369"/>
              <a:ext cx="316" cy="31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8" name="Rectangle 238">
              <a:extLst>
                <a:ext uri="{FF2B5EF4-FFF2-40B4-BE49-F238E27FC236}">
                  <a16:creationId xmlns:a16="http://schemas.microsoft.com/office/drawing/2014/main" id="{DC2BC4A8-B657-4E98-A0C8-5822BF61DF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4" y="2780"/>
              <a:ext cx="47" cy="60"/>
            </a:xfrm>
            <a:prstGeom prst="rect">
              <a:avLst/>
            </a:prstGeom>
            <a:solidFill>
              <a:schemeClr val="tx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9" name="Line 239">
              <a:extLst>
                <a:ext uri="{FF2B5EF4-FFF2-40B4-BE49-F238E27FC236}">
                  <a16:creationId xmlns:a16="http://schemas.microsoft.com/office/drawing/2014/main" id="{47B6D263-B2FE-4EA0-897F-B8F9F73EB0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68" y="2769"/>
              <a:ext cx="24" cy="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40" name="Group 240">
            <a:extLst>
              <a:ext uri="{FF2B5EF4-FFF2-40B4-BE49-F238E27FC236}">
                <a16:creationId xmlns:a16="http://schemas.microsoft.com/office/drawing/2014/main" id="{B87EE670-CA05-441A-A57D-A35812344502}"/>
              </a:ext>
            </a:extLst>
          </p:cNvPr>
          <p:cNvGrpSpPr>
            <a:grpSpLocks/>
          </p:cNvGrpSpPr>
          <p:nvPr/>
        </p:nvGrpSpPr>
        <p:grpSpPr bwMode="auto">
          <a:xfrm>
            <a:off x="8724292" y="4086790"/>
            <a:ext cx="1909185" cy="2475634"/>
            <a:chOff x="3024" y="2200"/>
            <a:chExt cx="1452" cy="1838"/>
          </a:xfrm>
        </p:grpSpPr>
        <p:sp>
          <p:nvSpPr>
            <p:cNvPr id="241" name="Line 241">
              <a:extLst>
                <a:ext uri="{FF2B5EF4-FFF2-40B4-BE49-F238E27FC236}">
                  <a16:creationId xmlns:a16="http://schemas.microsoft.com/office/drawing/2014/main" id="{A5A7AD7F-AC69-47E3-A918-1F44F4C887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17" y="3723"/>
              <a:ext cx="271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2" name="Line 242">
              <a:extLst>
                <a:ext uri="{FF2B5EF4-FFF2-40B4-BE49-F238E27FC236}">
                  <a16:creationId xmlns:a16="http://schemas.microsoft.com/office/drawing/2014/main" id="{0851E9DF-ED18-4835-B50A-E930BBA5EF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309" y="3568"/>
              <a:ext cx="366" cy="36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3" name="Freeform 243">
              <a:extLst>
                <a:ext uri="{FF2B5EF4-FFF2-40B4-BE49-F238E27FC236}">
                  <a16:creationId xmlns:a16="http://schemas.microsoft.com/office/drawing/2014/main" id="{D5617FDF-BEDA-40C4-BC7D-013340500D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3" y="3833"/>
              <a:ext cx="147" cy="151"/>
            </a:xfrm>
            <a:custGeom>
              <a:avLst/>
              <a:gdLst>
                <a:gd name="T0" fmla="*/ 147 w 147"/>
                <a:gd name="T1" fmla="*/ 151 h 151"/>
                <a:gd name="T2" fmla="*/ 0 w 147"/>
                <a:gd name="T3" fmla="*/ 0 h 151"/>
                <a:gd name="T4" fmla="*/ 0 60000 65536"/>
                <a:gd name="T5" fmla="*/ 0 60000 65536"/>
                <a:gd name="T6" fmla="*/ 0 w 147"/>
                <a:gd name="T7" fmla="*/ 0 h 151"/>
                <a:gd name="T8" fmla="*/ 147 w 147"/>
                <a:gd name="T9" fmla="*/ 151 h 15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47" h="151">
                  <a:moveTo>
                    <a:pt x="147" y="151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4" name="Line 244">
              <a:extLst>
                <a:ext uri="{FF2B5EF4-FFF2-40B4-BE49-F238E27FC236}">
                  <a16:creationId xmlns:a16="http://schemas.microsoft.com/office/drawing/2014/main" id="{ED7F20E3-1F36-4A45-8C9A-710ED2FCE3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321" y="3491"/>
              <a:ext cx="262" cy="26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" name="Line 245">
              <a:extLst>
                <a:ext uri="{FF2B5EF4-FFF2-40B4-BE49-F238E27FC236}">
                  <a16:creationId xmlns:a16="http://schemas.microsoft.com/office/drawing/2014/main" id="{6B7D7D42-CCDD-4F06-ACE4-A20899DD2A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787" y="3865"/>
              <a:ext cx="99" cy="1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" name="Line 246">
              <a:extLst>
                <a:ext uri="{FF2B5EF4-FFF2-40B4-BE49-F238E27FC236}">
                  <a16:creationId xmlns:a16="http://schemas.microsoft.com/office/drawing/2014/main" id="{2CF0D346-2D0A-43CD-81CB-1A48B9E463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413" y="3491"/>
              <a:ext cx="170" cy="17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7" name="Line 247">
              <a:extLst>
                <a:ext uri="{FF2B5EF4-FFF2-40B4-BE49-F238E27FC236}">
                  <a16:creationId xmlns:a16="http://schemas.microsoft.com/office/drawing/2014/main" id="{CE78BB8A-BA08-4313-B236-A613DBDADB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844" y="3832"/>
              <a:ext cx="128" cy="12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8" name="Line 248">
              <a:extLst>
                <a:ext uri="{FF2B5EF4-FFF2-40B4-BE49-F238E27FC236}">
                  <a16:creationId xmlns:a16="http://schemas.microsoft.com/office/drawing/2014/main" id="{353BC837-88A8-4343-8573-2D8BAB7B37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503" y="3491"/>
              <a:ext cx="80" cy="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9" name="Line 249">
              <a:extLst>
                <a:ext uri="{FF2B5EF4-FFF2-40B4-BE49-F238E27FC236}">
                  <a16:creationId xmlns:a16="http://schemas.microsoft.com/office/drawing/2014/main" id="{54BAC656-544E-4977-860A-215AC4A5C3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902" y="3798"/>
              <a:ext cx="132" cy="1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0" name="Line 250">
              <a:extLst>
                <a:ext uri="{FF2B5EF4-FFF2-40B4-BE49-F238E27FC236}">
                  <a16:creationId xmlns:a16="http://schemas.microsoft.com/office/drawing/2014/main" id="{29F1A00A-A8B6-408C-934B-8A07F9AA78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922" y="3726"/>
              <a:ext cx="158" cy="1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1" name="Line 251">
              <a:extLst>
                <a:ext uri="{FF2B5EF4-FFF2-40B4-BE49-F238E27FC236}">
                  <a16:creationId xmlns:a16="http://schemas.microsoft.com/office/drawing/2014/main" id="{E1BBEE41-7220-43F0-9088-3A5F8A9B75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922" y="3636"/>
              <a:ext cx="194" cy="19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2" name="Line 252">
              <a:extLst>
                <a:ext uri="{FF2B5EF4-FFF2-40B4-BE49-F238E27FC236}">
                  <a16:creationId xmlns:a16="http://schemas.microsoft.com/office/drawing/2014/main" id="{F6169D7C-63E8-4794-8D6C-67511C25C8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922" y="3544"/>
              <a:ext cx="232" cy="23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" name="Line 253">
              <a:extLst>
                <a:ext uri="{FF2B5EF4-FFF2-40B4-BE49-F238E27FC236}">
                  <a16:creationId xmlns:a16="http://schemas.microsoft.com/office/drawing/2014/main" id="{81236E18-C6B9-4DA9-AE63-5283C239D7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959" y="3491"/>
              <a:ext cx="227" cy="22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4" name="Line 254">
              <a:extLst>
                <a:ext uri="{FF2B5EF4-FFF2-40B4-BE49-F238E27FC236}">
                  <a16:creationId xmlns:a16="http://schemas.microsoft.com/office/drawing/2014/main" id="{C301C506-A9B4-4BD4-BF2F-18A8F34E41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050" y="3491"/>
              <a:ext cx="166" cy="16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5" name="Line 255">
              <a:extLst>
                <a:ext uri="{FF2B5EF4-FFF2-40B4-BE49-F238E27FC236}">
                  <a16:creationId xmlns:a16="http://schemas.microsoft.com/office/drawing/2014/main" id="{329D83BE-7C08-4E34-B69D-2DE362D7F9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142" y="3491"/>
              <a:ext cx="105" cy="10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" name="Line 256">
              <a:extLst>
                <a:ext uri="{FF2B5EF4-FFF2-40B4-BE49-F238E27FC236}">
                  <a16:creationId xmlns:a16="http://schemas.microsoft.com/office/drawing/2014/main" id="{ACF852BB-0527-4BF8-B9C5-C61C5F6880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232" y="3491"/>
              <a:ext cx="36" cy="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7" name="Line 257">
              <a:extLst>
                <a:ext uri="{FF2B5EF4-FFF2-40B4-BE49-F238E27FC236}">
                  <a16:creationId xmlns:a16="http://schemas.microsoft.com/office/drawing/2014/main" id="{84731561-D0EC-4B40-A8B3-2AA5F02281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62" y="2982"/>
              <a:ext cx="141" cy="14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8" name="Line 258">
              <a:extLst>
                <a:ext uri="{FF2B5EF4-FFF2-40B4-BE49-F238E27FC236}">
                  <a16:creationId xmlns:a16="http://schemas.microsoft.com/office/drawing/2014/main" id="{50789449-E077-4722-8525-81044646582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62" y="2982"/>
              <a:ext cx="293" cy="29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9" name="Line 259">
              <a:extLst>
                <a:ext uri="{FF2B5EF4-FFF2-40B4-BE49-F238E27FC236}">
                  <a16:creationId xmlns:a16="http://schemas.microsoft.com/office/drawing/2014/main" id="{BD1E3680-C246-4140-86ED-3A3924AEA5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62" y="3093"/>
              <a:ext cx="335" cy="33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0" name="Line 260">
              <a:extLst>
                <a:ext uri="{FF2B5EF4-FFF2-40B4-BE49-F238E27FC236}">
                  <a16:creationId xmlns:a16="http://schemas.microsoft.com/office/drawing/2014/main" id="{417C3BEE-8321-4E5E-91E7-8A1040EB5D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52" y="3245"/>
              <a:ext cx="245" cy="24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1" name="Line 261">
              <a:extLst>
                <a:ext uri="{FF2B5EF4-FFF2-40B4-BE49-F238E27FC236}">
                  <a16:creationId xmlns:a16="http://schemas.microsoft.com/office/drawing/2014/main" id="{28DB859D-4ED3-4B58-BF32-BD1AD6B54D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04" y="3396"/>
              <a:ext cx="93" cy="9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2" name="Line 262">
              <a:extLst>
                <a:ext uri="{FF2B5EF4-FFF2-40B4-BE49-F238E27FC236}">
                  <a16:creationId xmlns:a16="http://schemas.microsoft.com/office/drawing/2014/main" id="{3249E191-DC42-4B49-86EA-6DD302BA1B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06" y="2982"/>
              <a:ext cx="57" cy="5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3" name="Line 263">
              <a:extLst>
                <a:ext uri="{FF2B5EF4-FFF2-40B4-BE49-F238E27FC236}">
                  <a16:creationId xmlns:a16="http://schemas.microsoft.com/office/drawing/2014/main" id="{3CFAFE33-A5E7-4195-BD48-4A3F6741ED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06" y="2982"/>
              <a:ext cx="209" cy="20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4" name="Line 264">
              <a:extLst>
                <a:ext uri="{FF2B5EF4-FFF2-40B4-BE49-F238E27FC236}">
                  <a16:creationId xmlns:a16="http://schemas.microsoft.com/office/drawing/2014/main" id="{4A214EC4-A256-4BFD-AF08-D4E23858B8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06" y="2982"/>
              <a:ext cx="360" cy="3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5" name="Line 265">
              <a:extLst>
                <a:ext uri="{FF2B5EF4-FFF2-40B4-BE49-F238E27FC236}">
                  <a16:creationId xmlns:a16="http://schemas.microsoft.com/office/drawing/2014/main" id="{F7E5C1F7-B573-41FC-A560-C340246B87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11" y="3079"/>
              <a:ext cx="412" cy="4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" name="Line 266">
              <a:extLst>
                <a:ext uri="{FF2B5EF4-FFF2-40B4-BE49-F238E27FC236}">
                  <a16:creationId xmlns:a16="http://schemas.microsoft.com/office/drawing/2014/main" id="{0CDD48CF-F9BD-41D8-B3A4-C74BE3A91A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63" y="3198"/>
              <a:ext cx="292" cy="29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7" name="Line 267">
              <a:extLst>
                <a:ext uri="{FF2B5EF4-FFF2-40B4-BE49-F238E27FC236}">
                  <a16:creationId xmlns:a16="http://schemas.microsoft.com/office/drawing/2014/main" id="{4A1A4E30-2E51-4BA4-9531-ED32173759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15" y="3337"/>
              <a:ext cx="153" cy="15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8" name="Rectangle 268">
              <a:extLst>
                <a:ext uri="{FF2B5EF4-FFF2-40B4-BE49-F238E27FC236}">
                  <a16:creationId xmlns:a16="http://schemas.microsoft.com/office/drawing/2014/main" id="{DDF76565-16E2-4DE0-AFB3-EF0713C72E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4" y="2200"/>
              <a:ext cx="213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300" b="0">
                  <a:solidFill>
                    <a:srgbClr val="000000"/>
                  </a:solidFill>
                  <a:latin typeface="宋体" pitchFamily="2" charset="-122"/>
                </a:rPr>
                <a:t> </a:t>
              </a:r>
              <a:r>
                <a:rPr lang="en-US" altLang="zh-CN" sz="2000">
                  <a:solidFill>
                    <a:schemeClr val="accent2"/>
                  </a:solidFill>
                  <a:latin typeface="宋体" pitchFamily="2" charset="-122"/>
                </a:rPr>
                <a:t>Ⅱ</a:t>
              </a:r>
              <a:endParaRPr lang="en-US" altLang="zh-CN" sz="3200"/>
            </a:p>
          </p:txBody>
        </p:sp>
        <p:sp>
          <p:nvSpPr>
            <p:cNvPr id="269" name="Line 269">
              <a:extLst>
                <a:ext uri="{FF2B5EF4-FFF2-40B4-BE49-F238E27FC236}">
                  <a16:creationId xmlns:a16="http://schemas.microsoft.com/office/drawing/2014/main" id="{FFCBEEA0-7672-4E8B-A2D7-FCCBCA1275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3" y="2931"/>
              <a:ext cx="414" cy="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0" name="Rectangle 270">
              <a:extLst>
                <a:ext uri="{FF2B5EF4-FFF2-40B4-BE49-F238E27FC236}">
                  <a16:creationId xmlns:a16="http://schemas.microsoft.com/office/drawing/2014/main" id="{7CAE5384-ACBD-40ED-90DC-C4CA4857EE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5" y="2399"/>
              <a:ext cx="25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000">
                  <a:solidFill>
                    <a:schemeClr val="accent2"/>
                  </a:solidFill>
                  <a:latin typeface="ISOCPEUR" pitchFamily="34" charset="0"/>
                </a:rPr>
                <a:t>2.5:1</a:t>
              </a:r>
            </a:p>
          </p:txBody>
        </p:sp>
        <p:sp>
          <p:nvSpPr>
            <p:cNvPr id="271" name="Line 271">
              <a:extLst>
                <a:ext uri="{FF2B5EF4-FFF2-40B4-BE49-F238E27FC236}">
                  <a16:creationId xmlns:a16="http://schemas.microsoft.com/office/drawing/2014/main" id="{8CE00424-6851-4D54-BF3F-3C62E956F9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9" y="3448"/>
              <a:ext cx="507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2" name="Line 272">
              <a:extLst>
                <a:ext uri="{FF2B5EF4-FFF2-40B4-BE49-F238E27FC236}">
                  <a16:creationId xmlns:a16="http://schemas.microsoft.com/office/drawing/2014/main" id="{F051FC9F-2328-4E8C-985E-2142CCC801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86" y="2414"/>
              <a:ext cx="373" cy="1"/>
            </a:xfrm>
            <a:prstGeom prst="line">
              <a:avLst/>
            </a:prstGeom>
            <a:noFill/>
            <a:ln w="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3" name="Line 273">
              <a:extLst>
                <a:ext uri="{FF2B5EF4-FFF2-40B4-BE49-F238E27FC236}">
                  <a16:creationId xmlns:a16="http://schemas.microsoft.com/office/drawing/2014/main" id="{9DAD13E6-7090-4156-8388-2C60AAD5ED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53" y="3787"/>
              <a:ext cx="169" cy="9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4" name="Line 274">
              <a:extLst>
                <a:ext uri="{FF2B5EF4-FFF2-40B4-BE49-F238E27FC236}">
                  <a16:creationId xmlns:a16="http://schemas.microsoft.com/office/drawing/2014/main" id="{0C9CF10E-97D5-40A1-AD5E-2737D278B8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83" y="3787"/>
              <a:ext cx="339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5" name="Line 275">
              <a:extLst>
                <a:ext uri="{FF2B5EF4-FFF2-40B4-BE49-F238E27FC236}">
                  <a16:creationId xmlns:a16="http://schemas.microsoft.com/office/drawing/2014/main" id="{8B3B0818-C4A9-4C8E-A362-98A2A2142B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2" y="2982"/>
              <a:ext cx="1231" cy="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" name="Line 276">
              <a:extLst>
                <a:ext uri="{FF2B5EF4-FFF2-40B4-BE49-F238E27FC236}">
                  <a16:creationId xmlns:a16="http://schemas.microsoft.com/office/drawing/2014/main" id="{4226333C-64C8-40CB-A146-1619872288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2" y="3491"/>
              <a:ext cx="421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" name="Freeform 277">
              <a:extLst>
                <a:ext uri="{FF2B5EF4-FFF2-40B4-BE49-F238E27FC236}">
                  <a16:creationId xmlns:a16="http://schemas.microsoft.com/office/drawing/2014/main" id="{6D10E48B-7CE0-4ACE-98DC-BADAD684B0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2" y="2988"/>
              <a:ext cx="1" cy="768"/>
            </a:xfrm>
            <a:custGeom>
              <a:avLst/>
              <a:gdLst>
                <a:gd name="T0" fmla="*/ 0 w 1"/>
                <a:gd name="T1" fmla="*/ 0 h 768"/>
                <a:gd name="T2" fmla="*/ 0 w 1"/>
                <a:gd name="T3" fmla="*/ 768 h 768"/>
                <a:gd name="T4" fmla="*/ 0 60000 65536"/>
                <a:gd name="T5" fmla="*/ 0 60000 65536"/>
                <a:gd name="T6" fmla="*/ 0 w 1"/>
                <a:gd name="T7" fmla="*/ 0 h 768"/>
                <a:gd name="T8" fmla="*/ 1 w 1"/>
                <a:gd name="T9" fmla="*/ 768 h 76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768">
                  <a:moveTo>
                    <a:pt x="0" y="0"/>
                  </a:moveTo>
                  <a:lnTo>
                    <a:pt x="0" y="768"/>
                  </a:lnTo>
                </a:path>
              </a:pathLst>
            </a:cu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8" name="Line 278">
              <a:extLst>
                <a:ext uri="{FF2B5EF4-FFF2-40B4-BE49-F238E27FC236}">
                  <a16:creationId xmlns:a16="http://schemas.microsoft.com/office/drawing/2014/main" id="{E7253DC2-2AF0-44D4-B983-CA8A56C33C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32" y="3276"/>
              <a:ext cx="130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9" name="Freeform 279">
              <a:extLst>
                <a:ext uri="{FF2B5EF4-FFF2-40B4-BE49-F238E27FC236}">
                  <a16:creationId xmlns:a16="http://schemas.microsoft.com/office/drawing/2014/main" id="{FAA8712C-0BE6-4560-B4BB-D329984F46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2" y="3498"/>
              <a:ext cx="1" cy="294"/>
            </a:xfrm>
            <a:custGeom>
              <a:avLst/>
              <a:gdLst>
                <a:gd name="T0" fmla="*/ 0 w 1"/>
                <a:gd name="T1" fmla="*/ 0 h 294"/>
                <a:gd name="T2" fmla="*/ 0 w 1"/>
                <a:gd name="T3" fmla="*/ 294 h 294"/>
                <a:gd name="T4" fmla="*/ 0 60000 65536"/>
                <a:gd name="T5" fmla="*/ 0 60000 65536"/>
                <a:gd name="T6" fmla="*/ 0 w 1"/>
                <a:gd name="T7" fmla="*/ 0 h 294"/>
                <a:gd name="T8" fmla="*/ 1 w 1"/>
                <a:gd name="T9" fmla="*/ 294 h 29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294">
                  <a:moveTo>
                    <a:pt x="0" y="0"/>
                  </a:moveTo>
                  <a:lnTo>
                    <a:pt x="0" y="294"/>
                  </a:lnTo>
                </a:path>
              </a:pathLst>
            </a:custGeom>
            <a:solidFill>
              <a:srgbClr val="FFFF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0" name="Line 280">
              <a:extLst>
                <a:ext uri="{FF2B5EF4-FFF2-40B4-BE49-F238E27FC236}">
                  <a16:creationId xmlns:a16="http://schemas.microsoft.com/office/drawing/2014/main" id="{B7E665FF-66C3-43A0-B8FE-4810B480CE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83" y="3787"/>
              <a:ext cx="170" cy="9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1" name="Freeform 281">
              <a:extLst>
                <a:ext uri="{FF2B5EF4-FFF2-40B4-BE49-F238E27FC236}">
                  <a16:creationId xmlns:a16="http://schemas.microsoft.com/office/drawing/2014/main" id="{D5A63EED-5BC7-461E-878B-6B78F00421B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3" y="3689"/>
              <a:ext cx="34" cy="34"/>
            </a:xfrm>
            <a:custGeom>
              <a:avLst/>
              <a:gdLst>
                <a:gd name="T0" fmla="*/ 0 w 82"/>
                <a:gd name="T1" fmla="*/ 0 h 80"/>
                <a:gd name="T2" fmla="*/ 0 w 82"/>
                <a:gd name="T3" fmla="*/ 0 h 80"/>
                <a:gd name="T4" fmla="*/ 0 w 82"/>
                <a:gd name="T5" fmla="*/ 0 h 80"/>
                <a:gd name="T6" fmla="*/ 0 60000 65536"/>
                <a:gd name="T7" fmla="*/ 0 60000 65536"/>
                <a:gd name="T8" fmla="*/ 0 60000 65536"/>
                <a:gd name="T9" fmla="*/ 0 w 82"/>
                <a:gd name="T10" fmla="*/ 0 h 80"/>
                <a:gd name="T11" fmla="*/ 82 w 82"/>
                <a:gd name="T12" fmla="*/ 80 h 8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2" h="80">
                  <a:moveTo>
                    <a:pt x="0" y="0"/>
                  </a:moveTo>
                  <a:lnTo>
                    <a:pt x="24" y="57"/>
                  </a:lnTo>
                  <a:lnTo>
                    <a:pt x="82" y="8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2" name="Line 282">
              <a:extLst>
                <a:ext uri="{FF2B5EF4-FFF2-40B4-BE49-F238E27FC236}">
                  <a16:creationId xmlns:a16="http://schemas.microsoft.com/office/drawing/2014/main" id="{019DAADA-38F7-49C7-9A99-3DB72B97A2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2" y="2938"/>
              <a:ext cx="1" cy="51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3" name="Line 283">
              <a:extLst>
                <a:ext uri="{FF2B5EF4-FFF2-40B4-BE49-F238E27FC236}">
                  <a16:creationId xmlns:a16="http://schemas.microsoft.com/office/drawing/2014/main" id="{BE315CA9-7193-4AD0-BB58-30844A2E30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9" y="2982"/>
              <a:ext cx="1" cy="46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4" name="Freeform 284">
              <a:extLst>
                <a:ext uri="{FF2B5EF4-FFF2-40B4-BE49-F238E27FC236}">
                  <a16:creationId xmlns:a16="http://schemas.microsoft.com/office/drawing/2014/main" id="{7007050D-EE12-463A-A373-08AA26503CA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9" y="3448"/>
              <a:ext cx="34" cy="34"/>
            </a:xfrm>
            <a:custGeom>
              <a:avLst/>
              <a:gdLst>
                <a:gd name="T0" fmla="*/ 0 w 80"/>
                <a:gd name="T1" fmla="*/ 0 h 80"/>
                <a:gd name="T2" fmla="*/ 0 w 80"/>
                <a:gd name="T3" fmla="*/ 0 h 80"/>
                <a:gd name="T4" fmla="*/ 0 w 80"/>
                <a:gd name="T5" fmla="*/ 0 h 80"/>
                <a:gd name="T6" fmla="*/ 0 60000 65536"/>
                <a:gd name="T7" fmla="*/ 0 60000 65536"/>
                <a:gd name="T8" fmla="*/ 0 60000 65536"/>
                <a:gd name="T9" fmla="*/ 0 w 80"/>
                <a:gd name="T10" fmla="*/ 0 h 80"/>
                <a:gd name="T11" fmla="*/ 80 w 80"/>
                <a:gd name="T12" fmla="*/ 80 h 8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0" h="80">
                  <a:moveTo>
                    <a:pt x="80" y="80"/>
                  </a:moveTo>
                  <a:lnTo>
                    <a:pt x="57" y="24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5" name="Line 285">
              <a:extLst>
                <a:ext uri="{FF2B5EF4-FFF2-40B4-BE49-F238E27FC236}">
                  <a16:creationId xmlns:a16="http://schemas.microsoft.com/office/drawing/2014/main" id="{9DD44280-FB4B-42DC-9402-D1FF02628F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2" y="3448"/>
              <a:ext cx="1" cy="4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" name="Line 286">
              <a:extLst>
                <a:ext uri="{FF2B5EF4-FFF2-40B4-BE49-F238E27FC236}">
                  <a16:creationId xmlns:a16="http://schemas.microsoft.com/office/drawing/2014/main" id="{B6DBB9E6-9640-4D2D-A9C8-B6FAF94BE4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9" y="3448"/>
              <a:ext cx="1" cy="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" name="Line 287">
              <a:extLst>
                <a:ext uri="{FF2B5EF4-FFF2-40B4-BE49-F238E27FC236}">
                  <a16:creationId xmlns:a16="http://schemas.microsoft.com/office/drawing/2014/main" id="{7E8C9E98-426F-46A9-AAA6-4B509C6FB2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99" y="2933"/>
              <a:ext cx="49" cy="4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8" name="Line 288">
              <a:extLst>
                <a:ext uri="{FF2B5EF4-FFF2-40B4-BE49-F238E27FC236}">
                  <a16:creationId xmlns:a16="http://schemas.microsoft.com/office/drawing/2014/main" id="{1BC4EF3B-EC49-4971-A717-7E41DC3EC8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22" y="3491"/>
              <a:ext cx="534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9" name="Line 289">
              <a:extLst>
                <a:ext uri="{FF2B5EF4-FFF2-40B4-BE49-F238E27FC236}">
                  <a16:creationId xmlns:a16="http://schemas.microsoft.com/office/drawing/2014/main" id="{C2D29019-2270-4C7E-8EDA-A30C6A4C88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22" y="3482"/>
              <a:ext cx="1" cy="30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0" name="Freeform 290">
              <a:extLst>
                <a:ext uri="{FF2B5EF4-FFF2-40B4-BE49-F238E27FC236}">
                  <a16:creationId xmlns:a16="http://schemas.microsoft.com/office/drawing/2014/main" id="{775302CE-4C73-40DD-B003-448158A009E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8" y="3689"/>
              <a:ext cx="34" cy="34"/>
            </a:xfrm>
            <a:custGeom>
              <a:avLst/>
              <a:gdLst>
                <a:gd name="T0" fmla="*/ 0 w 82"/>
                <a:gd name="T1" fmla="*/ 0 h 80"/>
                <a:gd name="T2" fmla="*/ 0 w 82"/>
                <a:gd name="T3" fmla="*/ 0 h 80"/>
                <a:gd name="T4" fmla="*/ 0 w 82"/>
                <a:gd name="T5" fmla="*/ 0 h 80"/>
                <a:gd name="T6" fmla="*/ 0 60000 65536"/>
                <a:gd name="T7" fmla="*/ 0 60000 65536"/>
                <a:gd name="T8" fmla="*/ 0 60000 65536"/>
                <a:gd name="T9" fmla="*/ 0 w 82"/>
                <a:gd name="T10" fmla="*/ 0 h 80"/>
                <a:gd name="T11" fmla="*/ 82 w 82"/>
                <a:gd name="T12" fmla="*/ 80 h 8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2" h="80">
                  <a:moveTo>
                    <a:pt x="0" y="80"/>
                  </a:moveTo>
                  <a:lnTo>
                    <a:pt x="58" y="57"/>
                  </a:lnTo>
                  <a:lnTo>
                    <a:pt x="82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1" name="Line 291">
              <a:extLst>
                <a:ext uri="{FF2B5EF4-FFF2-40B4-BE49-F238E27FC236}">
                  <a16:creationId xmlns:a16="http://schemas.microsoft.com/office/drawing/2014/main" id="{3DE028CA-9763-4381-B021-3A4C4C4A98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4" y="2938"/>
              <a:ext cx="1" cy="51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2" name="Line 292">
              <a:extLst>
                <a:ext uri="{FF2B5EF4-FFF2-40B4-BE49-F238E27FC236}">
                  <a16:creationId xmlns:a16="http://schemas.microsoft.com/office/drawing/2014/main" id="{94B07BF6-5F42-4F1F-A663-5619660271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06" y="2982"/>
              <a:ext cx="1" cy="46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3" name="Freeform 293">
              <a:extLst>
                <a:ext uri="{FF2B5EF4-FFF2-40B4-BE49-F238E27FC236}">
                  <a16:creationId xmlns:a16="http://schemas.microsoft.com/office/drawing/2014/main" id="{C7CFD669-8E2C-4A06-9FB6-74D05F95587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2" y="3448"/>
              <a:ext cx="34" cy="34"/>
            </a:xfrm>
            <a:custGeom>
              <a:avLst/>
              <a:gdLst>
                <a:gd name="T0" fmla="*/ 0 w 80"/>
                <a:gd name="T1" fmla="*/ 0 h 80"/>
                <a:gd name="T2" fmla="*/ 0 w 80"/>
                <a:gd name="T3" fmla="*/ 0 h 80"/>
                <a:gd name="T4" fmla="*/ 0 w 80"/>
                <a:gd name="T5" fmla="*/ 0 h 80"/>
                <a:gd name="T6" fmla="*/ 0 60000 65536"/>
                <a:gd name="T7" fmla="*/ 0 60000 65536"/>
                <a:gd name="T8" fmla="*/ 0 60000 65536"/>
                <a:gd name="T9" fmla="*/ 0 w 80"/>
                <a:gd name="T10" fmla="*/ 0 h 80"/>
                <a:gd name="T11" fmla="*/ 80 w 80"/>
                <a:gd name="T12" fmla="*/ 80 h 8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0" h="80">
                  <a:moveTo>
                    <a:pt x="80" y="0"/>
                  </a:moveTo>
                  <a:lnTo>
                    <a:pt x="23" y="23"/>
                  </a:lnTo>
                  <a:lnTo>
                    <a:pt x="0" y="8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4" name="Line 294">
              <a:extLst>
                <a:ext uri="{FF2B5EF4-FFF2-40B4-BE49-F238E27FC236}">
                  <a16:creationId xmlns:a16="http://schemas.microsoft.com/office/drawing/2014/main" id="{DDCC217A-B90E-4B2F-9861-3338D8D922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06" y="3448"/>
              <a:ext cx="1" cy="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5" name="Line 295">
              <a:extLst>
                <a:ext uri="{FF2B5EF4-FFF2-40B4-BE49-F238E27FC236}">
                  <a16:creationId xmlns:a16="http://schemas.microsoft.com/office/drawing/2014/main" id="{4F5F0380-3119-4A12-AA3D-3BBDC8C7EF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4" y="3448"/>
              <a:ext cx="1" cy="4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6" name="Line 296">
              <a:extLst>
                <a:ext uri="{FF2B5EF4-FFF2-40B4-BE49-F238E27FC236}">
                  <a16:creationId xmlns:a16="http://schemas.microsoft.com/office/drawing/2014/main" id="{25D7BAC3-B653-4189-A41D-7B2F177771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957" y="2933"/>
              <a:ext cx="49" cy="4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" name="Freeform 297">
              <a:extLst>
                <a:ext uri="{FF2B5EF4-FFF2-40B4-BE49-F238E27FC236}">
                  <a16:creationId xmlns:a16="http://schemas.microsoft.com/office/drawing/2014/main" id="{DEB84833-3C60-43B4-AC96-430771A9AE5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8" y="3486"/>
              <a:ext cx="1008" cy="492"/>
            </a:xfrm>
            <a:custGeom>
              <a:avLst/>
              <a:gdLst>
                <a:gd name="T0" fmla="*/ 0 w 1008"/>
                <a:gd name="T1" fmla="*/ 0 h 492"/>
                <a:gd name="T2" fmla="*/ 30 w 1008"/>
                <a:gd name="T3" fmla="*/ 150 h 492"/>
                <a:gd name="T4" fmla="*/ 150 w 1008"/>
                <a:gd name="T5" fmla="*/ 300 h 492"/>
                <a:gd name="T6" fmla="*/ 270 w 1008"/>
                <a:gd name="T7" fmla="*/ 408 h 492"/>
                <a:gd name="T8" fmla="*/ 486 w 1008"/>
                <a:gd name="T9" fmla="*/ 492 h 492"/>
                <a:gd name="T10" fmla="*/ 636 w 1008"/>
                <a:gd name="T11" fmla="*/ 486 h 492"/>
                <a:gd name="T12" fmla="*/ 786 w 1008"/>
                <a:gd name="T13" fmla="*/ 426 h 492"/>
                <a:gd name="T14" fmla="*/ 852 w 1008"/>
                <a:gd name="T15" fmla="*/ 318 h 492"/>
                <a:gd name="T16" fmla="*/ 936 w 1008"/>
                <a:gd name="T17" fmla="*/ 186 h 492"/>
                <a:gd name="T18" fmla="*/ 1008 w 1008"/>
                <a:gd name="T19" fmla="*/ 6 h 49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008"/>
                <a:gd name="T31" fmla="*/ 0 h 492"/>
                <a:gd name="T32" fmla="*/ 1008 w 1008"/>
                <a:gd name="T33" fmla="*/ 492 h 492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008" h="492">
                  <a:moveTo>
                    <a:pt x="0" y="0"/>
                  </a:moveTo>
                  <a:lnTo>
                    <a:pt x="30" y="150"/>
                  </a:lnTo>
                  <a:lnTo>
                    <a:pt x="150" y="300"/>
                  </a:lnTo>
                  <a:lnTo>
                    <a:pt x="270" y="408"/>
                  </a:lnTo>
                  <a:lnTo>
                    <a:pt x="486" y="492"/>
                  </a:lnTo>
                  <a:lnTo>
                    <a:pt x="636" y="486"/>
                  </a:lnTo>
                  <a:lnTo>
                    <a:pt x="786" y="426"/>
                  </a:lnTo>
                  <a:lnTo>
                    <a:pt x="852" y="318"/>
                  </a:lnTo>
                  <a:lnTo>
                    <a:pt x="936" y="186"/>
                  </a:lnTo>
                  <a:lnTo>
                    <a:pt x="1008" y="6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8" name="Rectangle 298">
              <a:extLst>
                <a:ext uri="{FF2B5EF4-FFF2-40B4-BE49-F238E27FC236}">
                  <a16:creationId xmlns:a16="http://schemas.microsoft.com/office/drawing/2014/main" id="{EF5876E2-384D-45C1-A120-4CD0B798E0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2" y="2934"/>
              <a:ext cx="102" cy="150"/>
            </a:xfrm>
            <a:prstGeom prst="rect">
              <a:avLst/>
            </a:prstGeom>
            <a:solidFill>
              <a:schemeClr val="tx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9" name="Freeform 299">
              <a:extLst>
                <a:ext uri="{FF2B5EF4-FFF2-40B4-BE49-F238E27FC236}">
                  <a16:creationId xmlns:a16="http://schemas.microsoft.com/office/drawing/2014/main" id="{20703D3F-85FC-4DB9-A3F4-9A13187D4DD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0" y="2856"/>
              <a:ext cx="1" cy="1080"/>
            </a:xfrm>
            <a:custGeom>
              <a:avLst/>
              <a:gdLst>
                <a:gd name="T0" fmla="*/ 0 w 1"/>
                <a:gd name="T1" fmla="*/ 0 h 1080"/>
                <a:gd name="T2" fmla="*/ 0 w 1"/>
                <a:gd name="T3" fmla="*/ 1080 h 1080"/>
                <a:gd name="T4" fmla="*/ 0 60000 65536"/>
                <a:gd name="T5" fmla="*/ 0 60000 65536"/>
                <a:gd name="T6" fmla="*/ 0 w 1"/>
                <a:gd name="T7" fmla="*/ 0 h 1080"/>
                <a:gd name="T8" fmla="*/ 1 w 1"/>
                <a:gd name="T9" fmla="*/ 1080 h 108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1080">
                  <a:moveTo>
                    <a:pt x="0" y="0"/>
                  </a:moveTo>
                  <a:lnTo>
                    <a:pt x="0" y="108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prstDash val="lgDashDot"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0" name="Oval 300">
              <a:extLst>
                <a:ext uri="{FF2B5EF4-FFF2-40B4-BE49-F238E27FC236}">
                  <a16:creationId xmlns:a16="http://schemas.microsoft.com/office/drawing/2014/main" id="{0A9D24E6-51F6-4662-AE3D-0D31364DF8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2628"/>
              <a:ext cx="1452" cy="1410"/>
            </a:xfrm>
            <a:prstGeom prst="ellips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01" name="Text Box 301">
            <a:extLst>
              <a:ext uri="{FF2B5EF4-FFF2-40B4-BE49-F238E27FC236}">
                <a16:creationId xmlns:a16="http://schemas.microsoft.com/office/drawing/2014/main" id="{8E3EDD98-DDB1-4441-901F-862CE916A6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8697" y="4041937"/>
            <a:ext cx="4994600" cy="1033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zh-CN" sz="2400" dirty="0">
                <a:latin typeface="宋体" pitchFamily="2" charset="-122"/>
              </a:rPr>
              <a:t>    </a:t>
            </a:r>
            <a:r>
              <a:rPr lang="zh-CN" altLang="en-US" sz="2400" dirty="0">
                <a:solidFill>
                  <a:schemeClr val="accent2"/>
                </a:solidFill>
                <a:latin typeface="宋体" pitchFamily="2" charset="-122"/>
              </a:rPr>
              <a:t>柱端紧定螺钉</a:t>
            </a:r>
            <a:r>
              <a:rPr lang="zh-CN" altLang="en-US" sz="2400" dirty="0">
                <a:latin typeface="宋体" pitchFamily="2" charset="-122"/>
              </a:rPr>
              <a:t>利用端部小圆柱插入机件上的小孔或环槽起定位、固定作用。</a:t>
            </a:r>
          </a:p>
        </p:txBody>
      </p:sp>
      <p:sp>
        <p:nvSpPr>
          <p:cNvPr id="302" name="Text Box 302">
            <a:extLst>
              <a:ext uri="{FF2B5EF4-FFF2-40B4-BE49-F238E27FC236}">
                <a16:creationId xmlns:a16="http://schemas.microsoft.com/office/drawing/2014/main" id="{84C202C1-9DD8-4A01-B5FA-96DE6BDE2C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6949" y="2404770"/>
            <a:ext cx="4842568" cy="4062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>
              <a:lnSpc>
                <a:spcPct val="85000"/>
              </a:lnSpc>
            </a:pPr>
            <a:r>
              <a:rPr lang="zh-CN" altLang="en-US" sz="2400" dirty="0">
                <a:latin typeface="宋体" pitchFamily="2" charset="-122"/>
              </a:rPr>
              <a:t>紧定螺钉分</a:t>
            </a:r>
            <a:r>
              <a:rPr lang="zh-CN" altLang="en-US" sz="2400" dirty="0">
                <a:solidFill>
                  <a:srgbClr val="CC6600"/>
                </a:solidFill>
                <a:latin typeface="宋体" pitchFamily="2" charset="-122"/>
              </a:rPr>
              <a:t>锥端</a:t>
            </a:r>
            <a:r>
              <a:rPr lang="zh-CN" altLang="en-US" sz="2400" dirty="0">
                <a:latin typeface="宋体" pitchFamily="2" charset="-122"/>
              </a:rPr>
              <a:t>、</a:t>
            </a:r>
            <a:r>
              <a:rPr lang="zh-CN" altLang="en-US" sz="2400" dirty="0">
                <a:solidFill>
                  <a:srgbClr val="CC6600"/>
                </a:solidFill>
                <a:latin typeface="宋体" pitchFamily="2" charset="-122"/>
              </a:rPr>
              <a:t>柱端</a:t>
            </a:r>
            <a:r>
              <a:rPr lang="zh-CN" altLang="en-US" sz="2400" dirty="0">
                <a:latin typeface="宋体" pitchFamily="2" charset="-122"/>
              </a:rPr>
              <a:t>、</a:t>
            </a:r>
            <a:r>
              <a:rPr lang="zh-CN" altLang="en-US" sz="2400" dirty="0">
                <a:solidFill>
                  <a:srgbClr val="CC6600"/>
                </a:solidFill>
                <a:latin typeface="宋体" pitchFamily="2" charset="-122"/>
              </a:rPr>
              <a:t>平端</a:t>
            </a:r>
            <a:r>
              <a:rPr lang="zh-CN" altLang="en-US" sz="2400" dirty="0">
                <a:latin typeface="宋体" pitchFamily="2" charset="-122"/>
              </a:rPr>
              <a:t>三种。</a:t>
            </a:r>
          </a:p>
        </p:txBody>
      </p:sp>
      <p:sp>
        <p:nvSpPr>
          <p:cNvPr id="303" name="Text Box 303">
            <a:extLst>
              <a:ext uri="{FF2B5EF4-FFF2-40B4-BE49-F238E27FC236}">
                <a16:creationId xmlns:a16="http://schemas.microsoft.com/office/drawing/2014/main" id="{73751E36-59BD-47AE-A526-5DE9E355EC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9334" y="3069063"/>
            <a:ext cx="4927942" cy="7201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zh-CN" sz="2400" dirty="0">
                <a:latin typeface="宋体" pitchFamily="2" charset="-122"/>
              </a:rPr>
              <a:t>    </a:t>
            </a:r>
            <a:r>
              <a:rPr lang="zh-CN" altLang="en-US" sz="2400" dirty="0">
                <a:solidFill>
                  <a:schemeClr val="accent2"/>
                </a:solidFill>
                <a:latin typeface="宋体" pitchFamily="2" charset="-122"/>
              </a:rPr>
              <a:t>锥端紧定螺钉</a:t>
            </a:r>
            <a:r>
              <a:rPr lang="zh-CN" altLang="en-US" sz="2400" dirty="0">
                <a:latin typeface="宋体" pitchFamily="2" charset="-122"/>
              </a:rPr>
              <a:t>靠端部锥面顶入机件上的小锥坑起定位、固定作用。</a:t>
            </a:r>
          </a:p>
        </p:txBody>
      </p:sp>
      <p:sp>
        <p:nvSpPr>
          <p:cNvPr id="304" name="Text Box 304">
            <a:extLst>
              <a:ext uri="{FF2B5EF4-FFF2-40B4-BE49-F238E27FC236}">
                <a16:creationId xmlns:a16="http://schemas.microsoft.com/office/drawing/2014/main" id="{3597C617-5C43-4F6C-92A8-74235C6CB2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3275" y="5327704"/>
            <a:ext cx="4915937" cy="7201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zh-CN" sz="2400" dirty="0">
                <a:latin typeface="宋体" pitchFamily="2" charset="-122"/>
              </a:rPr>
              <a:t>    </a:t>
            </a:r>
            <a:r>
              <a:rPr lang="zh-CN" altLang="en-US" sz="2400" dirty="0">
                <a:solidFill>
                  <a:schemeClr val="accent2"/>
                </a:solidFill>
                <a:latin typeface="宋体" pitchFamily="2" charset="-122"/>
              </a:rPr>
              <a:t>平端紧定螺钉</a:t>
            </a:r>
            <a:r>
              <a:rPr lang="zh-CN" altLang="en-US" sz="2400" dirty="0">
                <a:latin typeface="宋体" pitchFamily="2" charset="-122"/>
              </a:rPr>
              <a:t>靠其端平面与击机件的摩擦力起定位作用。</a:t>
            </a:r>
          </a:p>
        </p:txBody>
      </p:sp>
      <p:sp>
        <p:nvSpPr>
          <p:cNvPr id="305" name="Text Box 31">
            <a:extLst>
              <a:ext uri="{FF2B5EF4-FFF2-40B4-BE49-F238E27FC236}">
                <a16:creationId xmlns:a16="http://schemas.microsoft.com/office/drawing/2014/main" id="{1A9FAF4F-2355-46C6-AD93-47FD924B3D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95700" y="260648"/>
            <a:ext cx="6076950" cy="584775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zh-CN" altLang="en-US" sz="3200" dirty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常见机械装配结构画法</a:t>
            </a:r>
          </a:p>
        </p:txBody>
      </p:sp>
      <p:sp>
        <p:nvSpPr>
          <p:cNvPr id="306" name="Text Box 3">
            <a:extLst>
              <a:ext uri="{FF2B5EF4-FFF2-40B4-BE49-F238E27FC236}">
                <a16:creationId xmlns:a16="http://schemas.microsoft.com/office/drawing/2014/main" id="{F6DE6531-AC4E-4B4F-BCD9-3B98359EDB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2191" y="1018758"/>
            <a:ext cx="4512774" cy="52322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800" dirty="0">
                <a:solidFill>
                  <a:schemeClr val="tx1"/>
                </a:solidFill>
                <a:latin typeface="黑体" pitchFamily="49" charset="-122"/>
                <a:ea typeface="黑体" pitchFamily="49" charset="-122"/>
              </a:rPr>
              <a:t>一、螺纹紧固件的联接画法</a:t>
            </a:r>
          </a:p>
        </p:txBody>
      </p:sp>
    </p:spTree>
    <p:extLst>
      <p:ext uri="{BB962C8B-B14F-4D97-AF65-F5344CB8AC3E}">
        <p14:creationId xmlns:p14="http://schemas.microsoft.com/office/powerpoint/2010/main" val="908523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9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4"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1" grpId="0" autoUpdateAnimBg="0"/>
      <p:bldP spid="302" grpId="0" autoUpdateAnimBg="0"/>
      <p:bldP spid="303" grpId="0" autoUpdateAnimBg="0"/>
      <p:bldP spid="304" grpId="0" autoUpdateAnimBg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fc21f6aaf577c8a4ddee6fc22ae1b309e19e34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_HALF" val="0.0"/>
  <p:tag name="PROBLEMSCORE" val="2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SCORE" val="1.0"/>
  <p:tag name="PROBLEMSCORE_HALF" val="0.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SCORE" val="1.0"/>
  <p:tag name="PROBLEMSCORE_HALF" val="0.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_HALF" val="0.0"/>
  <p:tag name="PROBLEMSCORE" val="2.0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_HALF" val="0.0"/>
  <p:tag name="PROBLEMSCORE" val="2.0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1_Office 主题">
  <a:themeElements>
    <a:clrScheme name="流畅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gradFill rotWithShape="0">
          <a:gsLst>
            <a:gs pos="0">
              <a:srgbClr val="DDEBCF"/>
            </a:gs>
            <a:gs pos="50000">
              <a:srgbClr val="9CB86E"/>
            </a:gs>
            <a:gs pos="100000">
              <a:srgbClr val="156B13"/>
            </a:gs>
          </a:gsLst>
          <a:lin ang="5400000"/>
        </a:gradFill>
        <a:ln w="9525">
          <a:noFill/>
          <a:miter lim="800000"/>
          <a:headEnd/>
          <a:tailEnd/>
        </a:ln>
      </a:spPr>
      <a:bodyPr anchor="ctr"/>
      <a:lstStyle>
        <a:defPPr>
          <a:defRPr sz="3600" dirty="0">
            <a:solidFill>
              <a:schemeClr val="tx2"/>
            </a:solidFill>
            <a:latin typeface="宋体" pitchFamily="2" charset="-122"/>
          </a:defRPr>
        </a:defPPr>
      </a:lstStyle>
    </a:spDef>
    <a:txDef>
      <a:spPr/>
      <a:bodyPr anchor="ctr">
        <a:spAutoFit/>
      </a:bodyPr>
      <a:lstStyle>
        <a:defPPr algn="ctr" fontAlgn="auto">
          <a:spcAft>
            <a:spcPts val="0"/>
          </a:spcAft>
          <a:defRPr kumimoji="0" sz="4400" b="1" dirty="0">
            <a:solidFill>
              <a:schemeClr val="tx2"/>
            </a:solidFill>
            <a:latin typeface="黑体" pitchFamily="2" charset="-122"/>
            <a:ea typeface="黑体" pitchFamily="2" charset="-122"/>
            <a:cs typeface="+mj-cs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4685</TotalTime>
  <Words>1296</Words>
  <Application>Microsoft Office PowerPoint</Application>
  <PresentationFormat>宽屏</PresentationFormat>
  <Paragraphs>234</Paragraphs>
  <Slides>26</Slides>
  <Notes>0</Notes>
  <HiddenSlides>3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5" baseType="lpstr">
      <vt:lpstr>黑体</vt:lpstr>
      <vt:lpstr>华文行楷</vt:lpstr>
      <vt:lpstr>宋体</vt:lpstr>
      <vt:lpstr>Microsoft Yahei</vt:lpstr>
      <vt:lpstr>Arial</vt:lpstr>
      <vt:lpstr>Calibri</vt:lpstr>
      <vt:lpstr>ISOCPEUR</vt:lpstr>
      <vt:lpstr>Italic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第9章 机件的表达 1</dc:title>
  <dc:creator>穆浩志</dc:creator>
  <cp:keywords>天津理工大学</cp:keywords>
  <cp:lastModifiedBy>Lenovo</cp:lastModifiedBy>
  <cp:revision>460</cp:revision>
  <dcterms:created xsi:type="dcterms:W3CDTF">2014-03-20T09:34:50Z</dcterms:created>
  <dcterms:modified xsi:type="dcterms:W3CDTF">2021-03-09T05:42:38Z</dcterms:modified>
</cp:coreProperties>
</file>
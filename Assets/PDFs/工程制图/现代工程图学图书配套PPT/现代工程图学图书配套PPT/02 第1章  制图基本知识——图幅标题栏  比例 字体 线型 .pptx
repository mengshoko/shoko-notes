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25"/>
  </p:notesMasterIdLst>
  <p:sldIdLst>
    <p:sldId id="376" r:id="rId2"/>
    <p:sldId id="308" r:id="rId3"/>
    <p:sldId id="309" r:id="rId4"/>
    <p:sldId id="310" r:id="rId5"/>
    <p:sldId id="377" r:id="rId6"/>
    <p:sldId id="378" r:id="rId7"/>
    <p:sldId id="379" r:id="rId8"/>
    <p:sldId id="380" r:id="rId9"/>
    <p:sldId id="314" r:id="rId10"/>
    <p:sldId id="315" r:id="rId11"/>
    <p:sldId id="316" r:id="rId12"/>
    <p:sldId id="357" r:id="rId13"/>
    <p:sldId id="317" r:id="rId14"/>
    <p:sldId id="330" r:id="rId15"/>
    <p:sldId id="319" r:id="rId16"/>
    <p:sldId id="320" r:id="rId17"/>
    <p:sldId id="322" r:id="rId18"/>
    <p:sldId id="323" r:id="rId19"/>
    <p:sldId id="324" r:id="rId20"/>
    <p:sldId id="325" r:id="rId21"/>
    <p:sldId id="326" r:id="rId22"/>
    <p:sldId id="328" r:id="rId23"/>
    <p:sldId id="329" r:id="rId24"/>
  </p:sldIdLst>
  <p:sldSz cx="12192000" cy="685800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50000" saltData="8Yo8kdu3NDk2dMO859+51A==" hashData="xjblUYhJpHbeHAhuQ7202wSKqmk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DB1"/>
    <a:srgbClr val="FF00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2621" autoAdjust="0"/>
  </p:normalViewPr>
  <p:slideViewPr>
    <p:cSldViewPr>
      <p:cViewPr varScale="1">
        <p:scale>
          <a:sx n="106" d="100"/>
          <a:sy n="106" d="100"/>
        </p:scale>
        <p:origin x="792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6A0989E8-1075-42F2-9157-17F56DA4FC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AE3FE68-9870-4B24-974B-6D4BCEB168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E04447E-CF2A-49AF-A13F-FD295E5865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1710430-5AAF-4931-B0C6-CC3D487DF2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A3B5278-FE03-474F-9ABF-E7FE99C88A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CF5AA156-E0DE-43E2-B7EF-C41B19A35E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523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12" name="TextBox 4"/>
          <p:cNvSpPr txBox="1"/>
          <p:nvPr userDrawn="1"/>
        </p:nvSpPr>
        <p:spPr>
          <a:xfrm>
            <a:off x="10661106" y="1083454"/>
            <a:ext cx="1618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800" dirty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4F0978-F5D7-4815-8731-2A796DC659A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30956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8" r:id="rId4"/>
    <p:sldLayoutId id="2147483879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95500" y="1643063"/>
            <a:ext cx="42672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本章重点内容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2095500" y="2471055"/>
            <a:ext cx="9113067" cy="46166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tabLst>
                <a:tab pos="2636838" algn="ctr"/>
                <a:tab pos="5273675" algn="r"/>
              </a:tabLst>
            </a:pPr>
            <a:r>
              <a:rPr kumimoji="1" lang="zh-CN" altLang="en-US" sz="2400" dirty="0">
                <a:latin typeface="宋体" pitchFamily="2" charset="-122"/>
              </a:rPr>
              <a:t>机械制图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国家标准</a:t>
            </a:r>
            <a:r>
              <a:rPr kumimoji="1" lang="zh-CN" altLang="en-US" sz="2400" b="1" dirty="0">
                <a:latin typeface="宋体" pitchFamily="2" charset="-122"/>
              </a:rPr>
              <a:t>有关图幅、比例、字体、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线型、尺寸</a:t>
            </a:r>
            <a:r>
              <a:rPr kumimoji="1" lang="zh-CN" altLang="en-US" sz="2400" b="1" dirty="0">
                <a:latin typeface="宋体" pitchFamily="2" charset="-122"/>
              </a:rPr>
              <a:t>的规定</a:t>
            </a:r>
            <a:endParaRPr kumimoji="1" lang="en-US" altLang="zh-CN" sz="2400" b="1" dirty="0">
              <a:solidFill>
                <a:srgbClr val="3333FF"/>
              </a:solidFill>
              <a:latin typeface="宋体" pitchFamily="2" charset="-122"/>
            </a:endParaRP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2024063" y="3214688"/>
            <a:ext cx="3409950" cy="72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学习目标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2104338" y="3972396"/>
            <a:ext cx="8960214" cy="156966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★</a:t>
            </a:r>
            <a:r>
              <a:rPr lang="zh-CN" altLang="en-US" sz="2400" dirty="0">
                <a:latin typeface="+mn-ea"/>
                <a:ea typeface="+mn-ea"/>
              </a:rPr>
              <a:t>理解掌握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国家标准</a:t>
            </a:r>
            <a:r>
              <a:rPr lang="en-US" altLang="zh-CN" sz="2400" dirty="0">
                <a:latin typeface="+mn-ea"/>
                <a:ea typeface="+mn-ea"/>
              </a:rPr>
              <a:t>《</a:t>
            </a:r>
            <a:r>
              <a:rPr lang="zh-CN" altLang="en-US" sz="2400" dirty="0">
                <a:latin typeface="+mn-ea"/>
                <a:ea typeface="+mn-ea"/>
              </a:rPr>
              <a:t>技术制图</a:t>
            </a:r>
            <a:r>
              <a:rPr lang="en-US" altLang="zh-CN" sz="2400" dirty="0">
                <a:latin typeface="+mn-ea"/>
                <a:ea typeface="+mn-ea"/>
              </a:rPr>
              <a:t>》</a:t>
            </a:r>
            <a:r>
              <a:rPr lang="zh-CN" altLang="en-US" sz="2400" dirty="0">
                <a:latin typeface="+mn-ea"/>
                <a:ea typeface="+mn-ea"/>
              </a:rPr>
              <a:t>和</a:t>
            </a:r>
            <a:r>
              <a:rPr lang="en-US" altLang="zh-CN" sz="2400" dirty="0">
                <a:latin typeface="+mn-ea"/>
                <a:ea typeface="+mn-ea"/>
              </a:rPr>
              <a:t>《</a:t>
            </a:r>
            <a:r>
              <a:rPr lang="zh-CN" altLang="en-US" sz="2400" dirty="0">
                <a:latin typeface="+mn-ea"/>
                <a:ea typeface="+mn-ea"/>
              </a:rPr>
              <a:t>机械制图</a:t>
            </a:r>
            <a:r>
              <a:rPr lang="en-US" altLang="zh-CN" sz="2400" dirty="0">
                <a:latin typeface="+mn-ea"/>
                <a:ea typeface="+mn-ea"/>
              </a:rPr>
              <a:t>》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基本规定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defRPr/>
            </a:pPr>
            <a:endParaRPr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★会</a:t>
            </a:r>
            <a:r>
              <a:rPr lang="zh-CN" altLang="en-US" sz="2400" dirty="0">
                <a:latin typeface="+mn-ea"/>
                <a:ea typeface="+mn-ea"/>
              </a:rPr>
              <a:t>将国标中关于图幅、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字体、线型、尺寸基本规定应用</a:t>
            </a:r>
            <a:r>
              <a:rPr lang="zh-CN" altLang="en-US" sz="2400" dirty="0">
                <a:latin typeface="+mn-ea"/>
                <a:ea typeface="+mn-ea"/>
              </a:rPr>
              <a:t>到制图  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过程中，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养成严谨、规范的绘图习惯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7174" name="Text Box 55"/>
          <p:cNvSpPr txBox="1">
            <a:spLocks noChangeArrowheads="1"/>
          </p:cNvSpPr>
          <p:nvPr/>
        </p:nvSpPr>
        <p:spPr bwMode="auto">
          <a:xfrm>
            <a:off x="2057400" y="3789040"/>
            <a:ext cx="7620000" cy="366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7176" name="Text Box 31"/>
          <p:cNvSpPr txBox="1">
            <a:spLocks noChangeArrowheads="1"/>
          </p:cNvSpPr>
          <p:nvPr/>
        </p:nvSpPr>
        <p:spPr bwMode="auto">
          <a:xfrm>
            <a:off x="2881314" y="357189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38378" y="928684"/>
            <a:ext cx="5143506" cy="571490"/>
          </a:xfrm>
          <a:noFill/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国家标准有关制图的基本规定</a:t>
            </a: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1441761" y="2941181"/>
            <a:ext cx="9622791" cy="9198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结合我国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具体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情况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，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制订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并颁布出相应的一系列国家标准，简称“国标”，代号“</a:t>
            </a: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GB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”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。“</a:t>
            </a: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GB/T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”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表示该国家标准为推荐性国标。 </a:t>
            </a:r>
          </a:p>
        </p:txBody>
      </p:sp>
      <p:pic>
        <p:nvPicPr>
          <p:cNvPr id="68612" name="Picture 4" descr="logo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10578" y="1428737"/>
            <a:ext cx="1439862" cy="126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441761" y="1706961"/>
            <a:ext cx="2934747" cy="428628"/>
          </a:xfrm>
          <a:prstGeom prst="rect">
            <a:avLst/>
          </a:prstGeom>
          <a:noFill/>
        </p:spPr>
        <p:txBody>
          <a:bodyPr wrap="none">
            <a:prstTxWarp prst="textCurveUp">
              <a:avLst>
                <a:gd name="adj" fmla="val 26385"/>
              </a:avLst>
            </a:prstTxWarp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40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什么是国标？</a:t>
            </a:r>
            <a:endParaRPr lang="zh-CN" altLang="en-US" sz="4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88742" y="1729926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国家标准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机构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1411831" y="2421151"/>
            <a:ext cx="59293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依据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国际标准化组织</a:t>
            </a: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(ISO)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制定的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国际标准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200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672064" y="3888556"/>
            <a:ext cx="18325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为了交流</a:t>
            </a:r>
          </a:p>
        </p:txBody>
      </p:sp>
      <p:sp>
        <p:nvSpPr>
          <p:cNvPr id="11" name="矩形 10"/>
          <p:cNvSpPr/>
          <p:nvPr/>
        </p:nvSpPr>
        <p:spPr>
          <a:xfrm>
            <a:off x="1411831" y="4581870"/>
            <a:ext cx="95087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/>
              <a:t>       工程图样作为科学技术领域中的一种通用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“语言” 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</a:t>
            </a:r>
            <a:r>
              <a:rPr lang="zh-CN" altLang="en-US" sz="2400" b="1" dirty="0"/>
              <a:t>是工程技术人员</a:t>
            </a:r>
            <a:r>
              <a:rPr lang="zh-CN" altLang="en-US" sz="2400" b="1" dirty="0">
                <a:solidFill>
                  <a:srgbClr val="FF0000"/>
                </a:solidFill>
              </a:rPr>
              <a:t>表达设计思想</a:t>
            </a:r>
            <a:r>
              <a:rPr lang="zh-CN" altLang="en-US" sz="2400" b="1" dirty="0"/>
              <a:t>、进行国内、外</a:t>
            </a:r>
            <a:r>
              <a:rPr lang="zh-CN" altLang="en-US" sz="2400" b="1" dirty="0">
                <a:solidFill>
                  <a:srgbClr val="FF0000"/>
                </a:solidFill>
              </a:rPr>
              <a:t>信息技术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交流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工具</a:t>
            </a:r>
            <a:r>
              <a:rPr lang="zh-CN" altLang="en-US" sz="2400" b="1" dirty="0"/>
              <a:t>。</a:t>
            </a:r>
          </a:p>
        </p:txBody>
      </p:sp>
      <p:sp>
        <p:nvSpPr>
          <p:cNvPr id="12" name="矩形 11"/>
          <p:cNvSpPr/>
          <p:nvPr/>
        </p:nvSpPr>
        <p:spPr>
          <a:xfrm>
            <a:off x="1466810" y="4045597"/>
            <a:ext cx="4786346" cy="428628"/>
          </a:xfrm>
          <a:prstGeom prst="rect">
            <a:avLst/>
          </a:prstGeom>
          <a:noFill/>
        </p:spPr>
        <p:txBody>
          <a:bodyPr wrap="none">
            <a:prstTxWarp prst="textWave2">
              <a:avLst>
                <a:gd name="adj1" fmla="val 17460"/>
                <a:gd name="adj2" fmla="val 0"/>
              </a:avLst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为什么要做标准规定？</a:t>
            </a:r>
            <a:endParaRPr lang="zh-CN" altLang="en-US" sz="54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466809" y="5643579"/>
            <a:ext cx="9622791" cy="9363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lang="zh-CN" altLang="en-US" sz="2400" b="1" dirty="0"/>
              <a:t>       因此对工程图样的</a:t>
            </a:r>
            <a:r>
              <a:rPr lang="zh-CN" altLang="en-US" sz="2400" b="1" dirty="0">
                <a:solidFill>
                  <a:srgbClr val="0070C0"/>
                </a:solidFill>
              </a:rPr>
              <a:t>内容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rgbClr val="0070C0"/>
                </a:solidFill>
              </a:rPr>
              <a:t>格式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0070C0"/>
                </a:solidFill>
              </a:rPr>
              <a:t>表达方法</a:t>
            </a:r>
            <a:r>
              <a:rPr lang="zh-CN" altLang="en-US" sz="2400" b="1" dirty="0"/>
              <a:t>等内容做出统一规范，这个</a:t>
            </a:r>
            <a:r>
              <a:rPr lang="zh-CN" altLang="en-US" sz="2400" b="1" dirty="0">
                <a:solidFill>
                  <a:srgbClr val="0070C0"/>
                </a:solidFill>
              </a:rPr>
              <a:t>统一的规范</a:t>
            </a:r>
            <a:r>
              <a:rPr lang="zh-CN" altLang="en-US" sz="2400" b="1" dirty="0"/>
              <a:t>就是相关的中华人民共和国国家标准。</a:t>
            </a:r>
            <a:endParaRPr kumimoji="1" lang="zh-CN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1031435" y="2151716"/>
            <a:ext cx="18573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1. </a:t>
            </a:r>
            <a:r>
              <a:rPr kumimoji="1" lang="zh-CN" altLang="en-US" sz="2400" b="1" dirty="0">
                <a:latin typeface="Times New Roman" pitchFamily="18" charset="0"/>
              </a:rPr>
              <a:t>图纸幅面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983432" y="2720994"/>
            <a:ext cx="10513168" cy="3516318"/>
            <a:chOff x="864" y="1796"/>
            <a:chExt cx="4656" cy="1728"/>
          </a:xfrm>
        </p:grpSpPr>
        <p:grpSp>
          <p:nvGrpSpPr>
            <p:cNvPr id="10248" name="Group 6"/>
            <p:cNvGrpSpPr>
              <a:grpSpLocks/>
            </p:cNvGrpSpPr>
            <p:nvPr/>
          </p:nvGrpSpPr>
          <p:grpSpPr bwMode="auto">
            <a:xfrm>
              <a:off x="864" y="1796"/>
              <a:ext cx="4656" cy="1728"/>
              <a:chOff x="748" y="1817"/>
              <a:chExt cx="4656" cy="1728"/>
            </a:xfrm>
          </p:grpSpPr>
          <p:sp>
            <p:nvSpPr>
              <p:cNvPr id="10250" name="Line 7"/>
              <p:cNvSpPr>
                <a:spLocks noChangeShapeType="1"/>
              </p:cNvSpPr>
              <p:nvPr/>
            </p:nvSpPr>
            <p:spPr bwMode="auto">
              <a:xfrm>
                <a:off x="748" y="1817"/>
                <a:ext cx="46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1" name="Line 8"/>
              <p:cNvSpPr>
                <a:spLocks noChangeShapeType="1"/>
              </p:cNvSpPr>
              <p:nvPr/>
            </p:nvSpPr>
            <p:spPr bwMode="auto">
              <a:xfrm>
                <a:off x="748" y="1817"/>
                <a:ext cx="0" cy="17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2" name="Line 9"/>
              <p:cNvSpPr>
                <a:spLocks noChangeShapeType="1"/>
              </p:cNvSpPr>
              <p:nvPr/>
            </p:nvSpPr>
            <p:spPr bwMode="auto">
              <a:xfrm>
                <a:off x="748" y="3545"/>
                <a:ext cx="46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3" name="Line 10"/>
              <p:cNvSpPr>
                <a:spLocks noChangeShapeType="1"/>
              </p:cNvSpPr>
              <p:nvPr/>
            </p:nvSpPr>
            <p:spPr bwMode="auto">
              <a:xfrm>
                <a:off x="748" y="2153"/>
                <a:ext cx="46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4" name="Line 11"/>
              <p:cNvSpPr>
                <a:spLocks noChangeShapeType="1"/>
              </p:cNvSpPr>
              <p:nvPr/>
            </p:nvSpPr>
            <p:spPr bwMode="auto">
              <a:xfrm>
                <a:off x="748" y="2489"/>
                <a:ext cx="46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5" name="Line 12"/>
              <p:cNvSpPr>
                <a:spLocks noChangeShapeType="1"/>
              </p:cNvSpPr>
              <p:nvPr/>
            </p:nvSpPr>
            <p:spPr bwMode="auto">
              <a:xfrm>
                <a:off x="748" y="2825"/>
                <a:ext cx="46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6" name="Line 13"/>
              <p:cNvSpPr>
                <a:spLocks noChangeShapeType="1"/>
              </p:cNvSpPr>
              <p:nvPr/>
            </p:nvSpPr>
            <p:spPr bwMode="auto">
              <a:xfrm>
                <a:off x="748" y="3209"/>
                <a:ext cx="46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7" name="Text Box 14"/>
              <p:cNvSpPr txBox="1">
                <a:spLocks noChangeArrowheads="1"/>
              </p:cNvSpPr>
              <p:nvPr/>
            </p:nvSpPr>
            <p:spPr bwMode="auto">
              <a:xfrm>
                <a:off x="786" y="1821"/>
                <a:ext cx="883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400" b="1">
                    <a:latin typeface="Times New Roman" pitchFamily="18" charset="0"/>
                  </a:rPr>
                  <a:t>幅面代号</a:t>
                </a:r>
              </a:p>
            </p:txBody>
          </p:sp>
          <p:sp>
            <p:nvSpPr>
              <p:cNvPr id="10258" name="Line 15"/>
              <p:cNvSpPr>
                <a:spLocks noChangeShapeType="1"/>
              </p:cNvSpPr>
              <p:nvPr/>
            </p:nvSpPr>
            <p:spPr bwMode="auto">
              <a:xfrm>
                <a:off x="1804" y="1817"/>
                <a:ext cx="0" cy="17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9" name="Text Box 16"/>
              <p:cNvSpPr txBox="1">
                <a:spLocks noChangeArrowheads="1"/>
              </p:cNvSpPr>
              <p:nvPr/>
            </p:nvSpPr>
            <p:spPr bwMode="auto">
              <a:xfrm>
                <a:off x="1797" y="2219"/>
                <a:ext cx="758" cy="18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itchFamily="18" charset="0"/>
                    <a:ea typeface="楷体_GB2312" pitchFamily="49" charset="-122"/>
                  </a:rPr>
                  <a:t>841 </a:t>
                </a:r>
                <a:r>
                  <a:rPr kumimoji="1" lang="en-US" altLang="zh-CN" b="1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kumimoji="1" lang="en-US" altLang="zh-CN" b="1">
                    <a:latin typeface="Times New Roman" pitchFamily="18" charset="0"/>
                    <a:ea typeface="楷体_GB2312" pitchFamily="49" charset="-122"/>
                  </a:rPr>
                  <a:t> 1189</a:t>
                </a:r>
                <a:endParaRPr kumimoji="1" lang="en-US" altLang="zh-CN" sz="1600" b="1"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60" name="Line 17"/>
              <p:cNvSpPr>
                <a:spLocks noChangeShapeType="1"/>
              </p:cNvSpPr>
              <p:nvPr/>
            </p:nvSpPr>
            <p:spPr bwMode="auto">
              <a:xfrm>
                <a:off x="2620" y="1817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1" name="Text Box 18"/>
              <p:cNvSpPr txBox="1">
                <a:spLocks noChangeArrowheads="1"/>
              </p:cNvSpPr>
              <p:nvPr/>
            </p:nvSpPr>
            <p:spPr bwMode="auto">
              <a:xfrm>
                <a:off x="2564" y="2219"/>
                <a:ext cx="695" cy="18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itchFamily="18" charset="0"/>
                    <a:ea typeface="楷体_GB2312" pitchFamily="49" charset="-122"/>
                  </a:rPr>
                  <a:t>594 </a:t>
                </a:r>
                <a:r>
                  <a:rPr kumimoji="1" lang="en-US" altLang="zh-CN" b="1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kumimoji="1" lang="en-US" altLang="zh-CN" b="1">
                    <a:latin typeface="Times New Roman" pitchFamily="18" charset="0"/>
                    <a:ea typeface="楷体_GB2312" pitchFamily="49" charset="-122"/>
                  </a:rPr>
                  <a:t> 841</a:t>
                </a:r>
              </a:p>
            </p:txBody>
          </p:sp>
          <p:sp>
            <p:nvSpPr>
              <p:cNvPr id="10262" name="Line 19"/>
              <p:cNvSpPr>
                <a:spLocks noChangeShapeType="1"/>
              </p:cNvSpPr>
              <p:nvPr/>
            </p:nvSpPr>
            <p:spPr bwMode="auto">
              <a:xfrm>
                <a:off x="3292" y="1817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3" name="Text Box 20"/>
              <p:cNvSpPr txBox="1">
                <a:spLocks noChangeArrowheads="1"/>
              </p:cNvSpPr>
              <p:nvPr/>
            </p:nvSpPr>
            <p:spPr bwMode="auto">
              <a:xfrm>
                <a:off x="3337" y="2219"/>
                <a:ext cx="695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b="1">
                    <a:latin typeface="Times New Roman" pitchFamily="18" charset="0"/>
                    <a:ea typeface="楷体_GB2312" pitchFamily="49" charset="-122"/>
                  </a:rPr>
                  <a:t>420 </a:t>
                </a:r>
                <a:r>
                  <a:rPr kumimoji="1" lang="en-US" altLang="zh-CN" b="1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kumimoji="1" lang="en-US" altLang="zh-CN" b="1">
                    <a:latin typeface="Times New Roman" pitchFamily="18" charset="0"/>
                    <a:ea typeface="楷体_GB2312" pitchFamily="49" charset="-122"/>
                  </a:rPr>
                  <a:t> 594</a:t>
                </a:r>
              </a:p>
            </p:txBody>
          </p:sp>
          <p:sp>
            <p:nvSpPr>
              <p:cNvPr id="10264" name="Line 21"/>
              <p:cNvSpPr>
                <a:spLocks noChangeShapeType="1"/>
              </p:cNvSpPr>
              <p:nvPr/>
            </p:nvSpPr>
            <p:spPr bwMode="auto">
              <a:xfrm>
                <a:off x="3964" y="1817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5" name="Text Box 22"/>
              <p:cNvSpPr txBox="1">
                <a:spLocks noChangeArrowheads="1"/>
              </p:cNvSpPr>
              <p:nvPr/>
            </p:nvSpPr>
            <p:spPr bwMode="auto">
              <a:xfrm>
                <a:off x="3923" y="2219"/>
                <a:ext cx="695" cy="18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b="1">
                    <a:solidFill>
                      <a:srgbClr val="FF0000"/>
                    </a:solidFill>
                    <a:latin typeface="Times New Roman" pitchFamily="18" charset="0"/>
                    <a:ea typeface="楷体_GB2312" pitchFamily="49" charset="-122"/>
                  </a:rPr>
                  <a:t>297 </a:t>
                </a:r>
                <a:r>
                  <a:rPr kumimoji="1" lang="en-US" altLang="zh-CN" b="1">
                    <a:solidFill>
                      <a:srgbClr val="FF0000"/>
                    </a:solidFill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kumimoji="1" lang="en-US" altLang="zh-CN" b="1">
                    <a:solidFill>
                      <a:srgbClr val="FF0000"/>
                    </a:solidFill>
                    <a:latin typeface="Times New Roman" pitchFamily="18" charset="0"/>
                    <a:ea typeface="楷体_GB2312" pitchFamily="49" charset="-122"/>
                  </a:rPr>
                  <a:t> 420</a:t>
                </a:r>
                <a:endParaRPr kumimoji="1" lang="en-US" altLang="zh-CN" sz="1600" b="1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66" name="Line 23"/>
              <p:cNvSpPr>
                <a:spLocks noChangeShapeType="1"/>
              </p:cNvSpPr>
              <p:nvPr/>
            </p:nvSpPr>
            <p:spPr bwMode="auto">
              <a:xfrm>
                <a:off x="4636" y="1817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7" name="Text Box 24"/>
              <p:cNvSpPr txBox="1">
                <a:spLocks noChangeArrowheads="1"/>
              </p:cNvSpPr>
              <p:nvPr/>
            </p:nvSpPr>
            <p:spPr bwMode="auto">
              <a:xfrm>
                <a:off x="4649" y="2219"/>
                <a:ext cx="695" cy="18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b="1">
                    <a:latin typeface="Times New Roman" pitchFamily="18" charset="0"/>
                    <a:ea typeface="楷体_GB2312" pitchFamily="49" charset="-122"/>
                  </a:rPr>
                  <a:t>210 </a:t>
                </a:r>
                <a:r>
                  <a:rPr kumimoji="1" lang="en-US" altLang="zh-CN" b="1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kumimoji="1" lang="en-US" altLang="zh-CN" b="1">
                    <a:latin typeface="Times New Roman" pitchFamily="18" charset="0"/>
                    <a:ea typeface="楷体_GB2312" pitchFamily="49" charset="-122"/>
                  </a:rPr>
                  <a:t> 297</a:t>
                </a:r>
                <a:endParaRPr kumimoji="1" lang="en-US" altLang="zh-CN" sz="1600" b="1"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68" name="Line 25"/>
              <p:cNvSpPr>
                <a:spLocks noChangeShapeType="1"/>
              </p:cNvSpPr>
              <p:nvPr/>
            </p:nvSpPr>
            <p:spPr bwMode="auto">
              <a:xfrm>
                <a:off x="5404" y="1817"/>
                <a:ext cx="0" cy="17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9" name="Text Box 26"/>
              <p:cNvSpPr txBox="1">
                <a:spLocks noChangeArrowheads="1"/>
              </p:cNvSpPr>
              <p:nvPr/>
            </p:nvSpPr>
            <p:spPr bwMode="auto">
              <a:xfrm>
                <a:off x="1036" y="2216"/>
                <a:ext cx="541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 i="1">
                    <a:latin typeface="Times New Roman" pitchFamily="18" charset="0"/>
                    <a:ea typeface="楷体_GB2312" pitchFamily="49" charset="-122"/>
                  </a:rPr>
                  <a:t>B </a:t>
                </a:r>
                <a:r>
                  <a:rPr kumimoji="1" lang="en-US" altLang="zh-CN" sz="2000" b="1" i="1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kumimoji="1" lang="en-US" altLang="zh-CN" sz="2400" b="1" i="1">
                    <a:latin typeface="Times New Roman" pitchFamily="18" charset="0"/>
                    <a:ea typeface="楷体_GB2312" pitchFamily="49" charset="-122"/>
                  </a:rPr>
                  <a:t> L</a:t>
                </a:r>
              </a:p>
            </p:txBody>
          </p:sp>
          <p:sp>
            <p:nvSpPr>
              <p:cNvPr id="10270" name="Text Box 27"/>
              <p:cNvSpPr txBox="1">
                <a:spLocks noChangeArrowheads="1"/>
              </p:cNvSpPr>
              <p:nvPr/>
            </p:nvSpPr>
            <p:spPr bwMode="auto">
              <a:xfrm>
                <a:off x="1170" y="2511"/>
                <a:ext cx="213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800" b="1" i="1">
                    <a:latin typeface="Times New Roman" pitchFamily="18" charset="0"/>
                    <a:ea typeface="楷体_GB2312" pitchFamily="49" charset="-122"/>
                  </a:rPr>
                  <a:t>e</a:t>
                </a:r>
              </a:p>
            </p:txBody>
          </p:sp>
          <p:sp>
            <p:nvSpPr>
              <p:cNvPr id="10271" name="Text Box 28"/>
              <p:cNvSpPr txBox="1">
                <a:spLocks noChangeArrowheads="1"/>
              </p:cNvSpPr>
              <p:nvPr/>
            </p:nvSpPr>
            <p:spPr bwMode="auto">
              <a:xfrm>
                <a:off x="1170" y="2895"/>
                <a:ext cx="213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800" b="1" i="1">
                    <a:latin typeface="Times New Roman" pitchFamily="18" charset="0"/>
                    <a:ea typeface="楷体_GB2312" pitchFamily="49" charset="-122"/>
                  </a:rPr>
                  <a:t>c</a:t>
                </a:r>
              </a:p>
            </p:txBody>
          </p:sp>
          <p:sp>
            <p:nvSpPr>
              <p:cNvPr id="10272" name="Text Box 29"/>
              <p:cNvSpPr txBox="1">
                <a:spLocks noChangeArrowheads="1"/>
              </p:cNvSpPr>
              <p:nvPr/>
            </p:nvSpPr>
            <p:spPr bwMode="auto">
              <a:xfrm>
                <a:off x="1180" y="3219"/>
                <a:ext cx="226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800" b="1" i="1">
                    <a:latin typeface="Times New Roman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0273" name="Line 30"/>
              <p:cNvSpPr>
                <a:spLocks noChangeShapeType="1"/>
              </p:cNvSpPr>
              <p:nvPr/>
            </p:nvSpPr>
            <p:spPr bwMode="auto">
              <a:xfrm>
                <a:off x="3964" y="2825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4" name="Text Box 31"/>
              <p:cNvSpPr txBox="1">
                <a:spLocks noChangeArrowheads="1"/>
              </p:cNvSpPr>
              <p:nvPr/>
            </p:nvSpPr>
            <p:spPr bwMode="auto">
              <a:xfrm>
                <a:off x="2322" y="2515"/>
                <a:ext cx="306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20</a:t>
                </a:r>
                <a:endParaRPr kumimoji="1" lang="en-US" altLang="zh-CN" sz="2000" b="1"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75" name="Text Box 32"/>
              <p:cNvSpPr txBox="1">
                <a:spLocks noChangeArrowheads="1"/>
              </p:cNvSpPr>
              <p:nvPr/>
            </p:nvSpPr>
            <p:spPr bwMode="auto">
              <a:xfrm>
                <a:off x="4059" y="2521"/>
                <a:ext cx="306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itchFamily="18" charset="0"/>
                    <a:ea typeface="楷体_GB2312" pitchFamily="49" charset="-122"/>
                  </a:rPr>
                  <a:t>10</a:t>
                </a:r>
                <a:endParaRPr kumimoji="1" lang="en-US" altLang="zh-CN" sz="2000" b="1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76" name="Text Box 33"/>
              <p:cNvSpPr txBox="1">
                <a:spLocks noChangeArrowheads="1"/>
              </p:cNvSpPr>
              <p:nvPr/>
            </p:nvSpPr>
            <p:spPr bwMode="auto">
              <a:xfrm>
                <a:off x="2706" y="2899"/>
                <a:ext cx="306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10</a:t>
                </a:r>
                <a:endParaRPr kumimoji="1" lang="en-US" altLang="zh-CN" sz="2000" b="1"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77" name="Text Box 34"/>
              <p:cNvSpPr txBox="1">
                <a:spLocks noChangeArrowheads="1"/>
              </p:cNvSpPr>
              <p:nvPr/>
            </p:nvSpPr>
            <p:spPr bwMode="auto">
              <a:xfrm>
                <a:off x="4492" y="2887"/>
                <a:ext cx="210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5</a:t>
                </a:r>
                <a:endParaRPr kumimoji="1" lang="en-US" altLang="zh-CN" sz="2000" b="1"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78" name="Text Box 35"/>
              <p:cNvSpPr txBox="1">
                <a:spLocks noChangeArrowheads="1"/>
              </p:cNvSpPr>
              <p:nvPr/>
            </p:nvSpPr>
            <p:spPr bwMode="auto">
              <a:xfrm>
                <a:off x="3288" y="3247"/>
                <a:ext cx="306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25</a:t>
                </a:r>
                <a:endParaRPr kumimoji="1" lang="en-US" altLang="zh-CN" sz="2000" b="1"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79" name="Text Box 36"/>
              <p:cNvSpPr txBox="1">
                <a:spLocks noChangeArrowheads="1"/>
              </p:cNvSpPr>
              <p:nvPr/>
            </p:nvSpPr>
            <p:spPr bwMode="auto">
              <a:xfrm>
                <a:off x="1973" y="1868"/>
                <a:ext cx="348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latin typeface="Times New Roman" pitchFamily="18" charset="0"/>
                  </a:rPr>
                  <a:t>A0</a:t>
                </a:r>
              </a:p>
            </p:txBody>
          </p:sp>
          <p:sp>
            <p:nvSpPr>
              <p:cNvPr id="10280" name="Text Box 37"/>
              <p:cNvSpPr txBox="1">
                <a:spLocks noChangeArrowheads="1"/>
              </p:cNvSpPr>
              <p:nvPr/>
            </p:nvSpPr>
            <p:spPr bwMode="auto">
              <a:xfrm>
                <a:off x="2789" y="1868"/>
                <a:ext cx="348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A1</a:t>
                </a:r>
              </a:p>
            </p:txBody>
          </p:sp>
          <p:sp>
            <p:nvSpPr>
              <p:cNvPr id="10281" name="Text Box 38"/>
              <p:cNvSpPr txBox="1">
                <a:spLocks noChangeArrowheads="1"/>
              </p:cNvSpPr>
              <p:nvPr/>
            </p:nvSpPr>
            <p:spPr bwMode="auto">
              <a:xfrm>
                <a:off x="3470" y="1888"/>
                <a:ext cx="394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endParaRPr kumimoji="1" lang="zh-CN" altLang="zh-CN" sz="2400" b="1"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82" name="Text Box 39"/>
              <p:cNvSpPr txBox="1">
                <a:spLocks noChangeArrowheads="1"/>
              </p:cNvSpPr>
              <p:nvPr/>
            </p:nvSpPr>
            <p:spPr bwMode="auto">
              <a:xfrm>
                <a:off x="4105" y="1868"/>
                <a:ext cx="348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itchFamily="18" charset="0"/>
                    <a:ea typeface="楷体_GB2312" pitchFamily="49" charset="-122"/>
                  </a:rPr>
                  <a:t>A3</a:t>
                </a:r>
              </a:p>
            </p:txBody>
          </p:sp>
          <p:sp>
            <p:nvSpPr>
              <p:cNvPr id="10283" name="Text Box 40"/>
              <p:cNvSpPr txBox="1">
                <a:spLocks noChangeArrowheads="1"/>
              </p:cNvSpPr>
              <p:nvPr/>
            </p:nvSpPr>
            <p:spPr bwMode="auto">
              <a:xfrm>
                <a:off x="4830" y="1868"/>
                <a:ext cx="348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A4</a:t>
                </a:r>
              </a:p>
            </p:txBody>
          </p:sp>
          <p:sp>
            <p:nvSpPr>
              <p:cNvPr id="10284" name="Rectangle 41"/>
              <p:cNvSpPr>
                <a:spLocks noChangeArrowheads="1"/>
              </p:cNvSpPr>
              <p:nvPr/>
            </p:nvSpPr>
            <p:spPr bwMode="auto">
              <a:xfrm>
                <a:off x="1804" y="2232"/>
                <a:ext cx="816" cy="1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249" name="Text Box 42"/>
            <p:cNvSpPr txBox="1">
              <a:spLocks noChangeArrowheads="1"/>
            </p:cNvSpPr>
            <p:nvPr/>
          </p:nvSpPr>
          <p:spPr bwMode="auto">
            <a:xfrm>
              <a:off x="3448" y="1833"/>
              <a:ext cx="479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kumimoji="1" lang="en-US" altLang="zh-CN" sz="2400" b="1" i="1">
                  <a:latin typeface="Times New Roman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400" b="1">
                  <a:latin typeface="Times New Roman" pitchFamily="18" charset="0"/>
                  <a:ea typeface="楷体_GB2312" pitchFamily="49" charset="-122"/>
                </a:rPr>
                <a:t> A2</a:t>
              </a:r>
              <a:r>
                <a:rPr kumimoji="1" lang="en-US" altLang="zh-CN" sz="2400" b="1" i="1">
                  <a:latin typeface="Times New Roman" pitchFamily="18" charset="0"/>
                  <a:ea typeface="楷体_GB2312" pitchFamily="49" charset="-122"/>
                </a:rPr>
                <a:t> </a:t>
              </a:r>
            </a:p>
          </p:txBody>
        </p:sp>
      </p:grpSp>
      <p:sp>
        <p:nvSpPr>
          <p:cNvPr id="10246" name="Rectangle 43"/>
          <p:cNvSpPr>
            <a:spLocks noChangeArrowheads="1"/>
          </p:cNvSpPr>
          <p:nvPr/>
        </p:nvSpPr>
        <p:spPr bwMode="auto">
          <a:xfrm>
            <a:off x="1031435" y="1528107"/>
            <a:ext cx="7488238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itchFamily="18" charset="0"/>
              </a:rPr>
              <a:t>一、图纸幅面和格式（</a:t>
            </a:r>
            <a:r>
              <a:rPr kumimoji="1" lang="en-US" altLang="zh-CN" sz="2400" b="1" dirty="0">
                <a:latin typeface="Times New Roman" pitchFamily="18" charset="0"/>
              </a:rPr>
              <a:t>GB/T 14689</a:t>
            </a:r>
            <a:r>
              <a:rPr kumimoji="1" lang="zh-CN" altLang="en-US" sz="2400" b="1" dirty="0">
                <a:latin typeface="Times New Roman" pitchFamily="18" charset="0"/>
              </a:rPr>
              <a:t>－</a:t>
            </a:r>
            <a:r>
              <a:rPr kumimoji="1" lang="en-US" altLang="zh-CN" sz="2400" b="1" dirty="0">
                <a:latin typeface="Times New Roman" pitchFamily="18" charset="0"/>
              </a:rPr>
              <a:t>2008</a:t>
            </a:r>
            <a:r>
              <a:rPr kumimoji="1" lang="zh-CN" altLang="en-US" sz="2400" b="1" dirty="0">
                <a:latin typeface="Times New Roman" pitchFamily="18" charset="0"/>
              </a:rPr>
              <a:t>）</a:t>
            </a:r>
          </a:p>
        </p:txBody>
      </p:sp>
      <p:sp>
        <p:nvSpPr>
          <p:cNvPr id="45" name="Rectangle 2"/>
          <p:cNvSpPr txBox="1">
            <a:spLocks noChangeArrowheads="1"/>
          </p:cNvSpPr>
          <p:nvPr/>
        </p:nvSpPr>
        <p:spPr bwMode="auto">
          <a:xfrm>
            <a:off x="2238378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  <a:cs typeface="+mj-cs"/>
            </a:endParaRPr>
          </a:p>
        </p:txBody>
      </p:sp>
      <p:sp>
        <p:nvSpPr>
          <p:cNvPr id="46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932557" y="919187"/>
            <a:ext cx="3011487" cy="3355975"/>
            <a:chOff x="685" y="528"/>
            <a:chExt cx="1897" cy="2114"/>
          </a:xfrm>
        </p:grpSpPr>
        <p:sp>
          <p:nvSpPr>
            <p:cNvPr id="11382" name="Freeform 3"/>
            <p:cNvSpPr>
              <a:spLocks/>
            </p:cNvSpPr>
            <p:nvPr/>
          </p:nvSpPr>
          <p:spPr bwMode="auto">
            <a:xfrm>
              <a:off x="1430" y="2303"/>
              <a:ext cx="2" cy="75"/>
            </a:xfrm>
            <a:custGeom>
              <a:avLst/>
              <a:gdLst>
                <a:gd name="T0" fmla="*/ 0 w 2"/>
                <a:gd name="T1" fmla="*/ 0 h 447"/>
                <a:gd name="T2" fmla="*/ 0 w 2"/>
                <a:gd name="T3" fmla="*/ 0 h 447"/>
                <a:gd name="T4" fmla="*/ 2 w 2"/>
                <a:gd name="T5" fmla="*/ 0 h 447"/>
                <a:gd name="T6" fmla="*/ 0 60000 65536"/>
                <a:gd name="T7" fmla="*/ 0 60000 65536"/>
                <a:gd name="T8" fmla="*/ 0 60000 65536"/>
                <a:gd name="T9" fmla="*/ 0 w 2"/>
                <a:gd name="T10" fmla="*/ 0 h 447"/>
                <a:gd name="T11" fmla="*/ 2 w 2"/>
                <a:gd name="T12" fmla="*/ 447 h 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447">
                  <a:moveTo>
                    <a:pt x="0" y="44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3" name="Freeform 4"/>
            <p:cNvSpPr>
              <a:spLocks/>
            </p:cNvSpPr>
            <p:nvPr/>
          </p:nvSpPr>
          <p:spPr bwMode="auto">
            <a:xfrm>
              <a:off x="1430" y="2017"/>
              <a:ext cx="2" cy="95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2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4" name="Freeform 5"/>
            <p:cNvSpPr>
              <a:spLocks/>
            </p:cNvSpPr>
            <p:nvPr/>
          </p:nvSpPr>
          <p:spPr bwMode="auto">
            <a:xfrm>
              <a:off x="1430" y="1873"/>
              <a:ext cx="2" cy="95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2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5" name="Freeform 6"/>
            <p:cNvSpPr>
              <a:spLocks/>
            </p:cNvSpPr>
            <p:nvPr/>
          </p:nvSpPr>
          <p:spPr bwMode="auto">
            <a:xfrm>
              <a:off x="1430" y="1729"/>
              <a:ext cx="2" cy="97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2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6" name="Freeform 7"/>
            <p:cNvSpPr>
              <a:spLocks/>
            </p:cNvSpPr>
            <p:nvPr/>
          </p:nvSpPr>
          <p:spPr bwMode="auto">
            <a:xfrm>
              <a:off x="1430" y="1585"/>
              <a:ext cx="2" cy="97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2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7" name="Freeform 8"/>
            <p:cNvSpPr>
              <a:spLocks/>
            </p:cNvSpPr>
            <p:nvPr/>
          </p:nvSpPr>
          <p:spPr bwMode="auto">
            <a:xfrm>
              <a:off x="1430" y="1442"/>
              <a:ext cx="2" cy="96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2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8" name="Freeform 9"/>
            <p:cNvSpPr>
              <a:spLocks/>
            </p:cNvSpPr>
            <p:nvPr/>
          </p:nvSpPr>
          <p:spPr bwMode="auto">
            <a:xfrm>
              <a:off x="1430" y="1321"/>
              <a:ext cx="2" cy="73"/>
            </a:xfrm>
            <a:custGeom>
              <a:avLst/>
              <a:gdLst>
                <a:gd name="T0" fmla="*/ 0 w 2"/>
                <a:gd name="T1" fmla="*/ 0 h 447"/>
                <a:gd name="T2" fmla="*/ 0 w 2"/>
                <a:gd name="T3" fmla="*/ 0 h 447"/>
                <a:gd name="T4" fmla="*/ 2 w 2"/>
                <a:gd name="T5" fmla="*/ 0 h 447"/>
                <a:gd name="T6" fmla="*/ 0 60000 65536"/>
                <a:gd name="T7" fmla="*/ 0 60000 65536"/>
                <a:gd name="T8" fmla="*/ 0 60000 65536"/>
                <a:gd name="T9" fmla="*/ 0 w 2"/>
                <a:gd name="T10" fmla="*/ 0 h 447"/>
                <a:gd name="T11" fmla="*/ 2 w 2"/>
                <a:gd name="T12" fmla="*/ 447 h 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447">
                  <a:moveTo>
                    <a:pt x="0" y="44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9" name="Freeform 10"/>
            <p:cNvSpPr>
              <a:spLocks/>
            </p:cNvSpPr>
            <p:nvPr/>
          </p:nvSpPr>
          <p:spPr bwMode="auto">
            <a:xfrm>
              <a:off x="1056" y="2114"/>
              <a:ext cx="62" cy="1"/>
            </a:xfrm>
            <a:custGeom>
              <a:avLst/>
              <a:gdLst>
                <a:gd name="T0" fmla="*/ 0 w 379"/>
                <a:gd name="T1" fmla="*/ 0 h 1"/>
                <a:gd name="T2" fmla="*/ 0 w 379"/>
                <a:gd name="T3" fmla="*/ 0 h 1"/>
                <a:gd name="T4" fmla="*/ 0 w 379"/>
                <a:gd name="T5" fmla="*/ 0 h 1"/>
                <a:gd name="T6" fmla="*/ 0 60000 65536"/>
                <a:gd name="T7" fmla="*/ 0 60000 65536"/>
                <a:gd name="T8" fmla="*/ 0 60000 65536"/>
                <a:gd name="T9" fmla="*/ 0 w 379"/>
                <a:gd name="T10" fmla="*/ 0 h 1"/>
                <a:gd name="T11" fmla="*/ 379 w 37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1">
                  <a:moveTo>
                    <a:pt x="0" y="0"/>
                  </a:moveTo>
                  <a:lnTo>
                    <a:pt x="378" y="0"/>
                  </a:lnTo>
                  <a:lnTo>
                    <a:pt x="379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0" name="Freeform 11"/>
            <p:cNvSpPr>
              <a:spLocks/>
            </p:cNvSpPr>
            <p:nvPr/>
          </p:nvSpPr>
          <p:spPr bwMode="auto">
            <a:xfrm>
              <a:off x="1165" y="2114"/>
              <a:ext cx="97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1" name="Freeform 12"/>
            <p:cNvSpPr>
              <a:spLocks/>
            </p:cNvSpPr>
            <p:nvPr/>
          </p:nvSpPr>
          <p:spPr bwMode="auto">
            <a:xfrm>
              <a:off x="1309" y="2114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2" name="Freeform 13"/>
            <p:cNvSpPr>
              <a:spLocks/>
            </p:cNvSpPr>
            <p:nvPr/>
          </p:nvSpPr>
          <p:spPr bwMode="auto">
            <a:xfrm>
              <a:off x="1444" y="2114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3" name="Freeform 14"/>
            <p:cNvSpPr>
              <a:spLocks/>
            </p:cNvSpPr>
            <p:nvPr/>
          </p:nvSpPr>
          <p:spPr bwMode="auto">
            <a:xfrm>
              <a:off x="1594" y="2114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4" name="Freeform 15"/>
            <p:cNvSpPr>
              <a:spLocks/>
            </p:cNvSpPr>
            <p:nvPr/>
          </p:nvSpPr>
          <p:spPr bwMode="auto">
            <a:xfrm>
              <a:off x="1755" y="2114"/>
              <a:ext cx="62" cy="1"/>
            </a:xfrm>
            <a:custGeom>
              <a:avLst/>
              <a:gdLst>
                <a:gd name="T0" fmla="*/ 0 w 379"/>
                <a:gd name="T1" fmla="*/ 0 h 1"/>
                <a:gd name="T2" fmla="*/ 0 w 379"/>
                <a:gd name="T3" fmla="*/ 0 h 1"/>
                <a:gd name="T4" fmla="*/ 0 w 379"/>
                <a:gd name="T5" fmla="*/ 0 h 1"/>
                <a:gd name="T6" fmla="*/ 0 60000 65536"/>
                <a:gd name="T7" fmla="*/ 0 60000 65536"/>
                <a:gd name="T8" fmla="*/ 0 60000 65536"/>
                <a:gd name="T9" fmla="*/ 0 w 379"/>
                <a:gd name="T10" fmla="*/ 0 h 1"/>
                <a:gd name="T11" fmla="*/ 379 w 37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1">
                  <a:moveTo>
                    <a:pt x="0" y="0"/>
                  </a:moveTo>
                  <a:lnTo>
                    <a:pt x="378" y="0"/>
                  </a:lnTo>
                  <a:lnTo>
                    <a:pt x="379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5" name="Freeform 16"/>
            <p:cNvSpPr>
              <a:spLocks/>
            </p:cNvSpPr>
            <p:nvPr/>
          </p:nvSpPr>
          <p:spPr bwMode="auto">
            <a:xfrm>
              <a:off x="1194" y="1849"/>
              <a:ext cx="96" cy="2"/>
            </a:xfrm>
            <a:custGeom>
              <a:avLst/>
              <a:gdLst>
                <a:gd name="T0" fmla="*/ 0 w 581"/>
                <a:gd name="T1" fmla="*/ 0 h 2"/>
                <a:gd name="T2" fmla="*/ 0 w 581"/>
                <a:gd name="T3" fmla="*/ 0 h 2"/>
                <a:gd name="T4" fmla="*/ 0 w 581"/>
                <a:gd name="T5" fmla="*/ 0 h 2"/>
                <a:gd name="T6" fmla="*/ 0 60000 65536"/>
                <a:gd name="T7" fmla="*/ 0 60000 65536"/>
                <a:gd name="T8" fmla="*/ 0 60000 65536"/>
                <a:gd name="T9" fmla="*/ 0 w 581"/>
                <a:gd name="T10" fmla="*/ 0 h 2"/>
                <a:gd name="T11" fmla="*/ 581 w 581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2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6" name="Freeform 17"/>
            <p:cNvSpPr>
              <a:spLocks/>
            </p:cNvSpPr>
            <p:nvPr/>
          </p:nvSpPr>
          <p:spPr bwMode="auto">
            <a:xfrm>
              <a:off x="1337" y="1849"/>
              <a:ext cx="92" cy="2"/>
            </a:xfrm>
            <a:custGeom>
              <a:avLst/>
              <a:gdLst>
                <a:gd name="T0" fmla="*/ 0 w 554"/>
                <a:gd name="T1" fmla="*/ 0 h 2"/>
                <a:gd name="T2" fmla="*/ 0 w 554"/>
                <a:gd name="T3" fmla="*/ 0 h 2"/>
                <a:gd name="T4" fmla="*/ 0 w 554"/>
                <a:gd name="T5" fmla="*/ 0 h 2"/>
                <a:gd name="T6" fmla="*/ 0 60000 65536"/>
                <a:gd name="T7" fmla="*/ 0 60000 65536"/>
                <a:gd name="T8" fmla="*/ 0 60000 65536"/>
                <a:gd name="T9" fmla="*/ 0 w 554"/>
                <a:gd name="T10" fmla="*/ 0 h 2"/>
                <a:gd name="T11" fmla="*/ 554 w 554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2">
                  <a:moveTo>
                    <a:pt x="0" y="0"/>
                  </a:moveTo>
                  <a:lnTo>
                    <a:pt x="552" y="0"/>
                  </a:lnTo>
                  <a:lnTo>
                    <a:pt x="554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7" name="Freeform 18"/>
            <p:cNvSpPr>
              <a:spLocks/>
            </p:cNvSpPr>
            <p:nvPr/>
          </p:nvSpPr>
          <p:spPr bwMode="auto">
            <a:xfrm>
              <a:off x="1056" y="1584"/>
              <a:ext cx="77" cy="1"/>
            </a:xfrm>
            <a:custGeom>
              <a:avLst/>
              <a:gdLst>
                <a:gd name="T0" fmla="*/ 0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  <a:gd name="T9" fmla="*/ 0 w 466"/>
                <a:gd name="T10" fmla="*/ 0 h 1"/>
                <a:gd name="T11" fmla="*/ 466 w 4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1">
                  <a:moveTo>
                    <a:pt x="0" y="0"/>
                  </a:moveTo>
                  <a:lnTo>
                    <a:pt x="465" y="0"/>
                  </a:lnTo>
                  <a:lnTo>
                    <a:pt x="466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8" name="Freeform 19"/>
            <p:cNvSpPr>
              <a:spLocks/>
            </p:cNvSpPr>
            <p:nvPr/>
          </p:nvSpPr>
          <p:spPr bwMode="auto">
            <a:xfrm>
              <a:off x="1180" y="1584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9" name="Freeform 20"/>
            <p:cNvSpPr>
              <a:spLocks/>
            </p:cNvSpPr>
            <p:nvPr/>
          </p:nvSpPr>
          <p:spPr bwMode="auto">
            <a:xfrm>
              <a:off x="1322" y="1584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0" name="Freeform 21"/>
            <p:cNvSpPr>
              <a:spLocks/>
            </p:cNvSpPr>
            <p:nvPr/>
          </p:nvSpPr>
          <p:spPr bwMode="auto">
            <a:xfrm>
              <a:off x="1458" y="1584"/>
              <a:ext cx="96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1" name="Freeform 22"/>
            <p:cNvSpPr>
              <a:spLocks/>
            </p:cNvSpPr>
            <p:nvPr/>
          </p:nvSpPr>
          <p:spPr bwMode="auto">
            <a:xfrm>
              <a:off x="1609" y="1584"/>
              <a:ext cx="95" cy="1"/>
            </a:xfrm>
            <a:custGeom>
              <a:avLst/>
              <a:gdLst>
                <a:gd name="T0" fmla="*/ 0 w 580"/>
                <a:gd name="T1" fmla="*/ 0 h 1"/>
                <a:gd name="T2" fmla="*/ 0 w 580"/>
                <a:gd name="T3" fmla="*/ 0 h 1"/>
                <a:gd name="T4" fmla="*/ 0 w 580"/>
                <a:gd name="T5" fmla="*/ 0 h 1"/>
                <a:gd name="T6" fmla="*/ 0 60000 65536"/>
                <a:gd name="T7" fmla="*/ 0 60000 65536"/>
                <a:gd name="T8" fmla="*/ 0 60000 65536"/>
                <a:gd name="T9" fmla="*/ 0 w 580"/>
                <a:gd name="T10" fmla="*/ 0 h 1"/>
                <a:gd name="T11" fmla="*/ 580 w 58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0" h="1">
                  <a:moveTo>
                    <a:pt x="0" y="0"/>
                  </a:moveTo>
                  <a:lnTo>
                    <a:pt x="579" y="0"/>
                  </a:lnTo>
                  <a:lnTo>
                    <a:pt x="580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2" name="Freeform 23"/>
            <p:cNvSpPr>
              <a:spLocks/>
            </p:cNvSpPr>
            <p:nvPr/>
          </p:nvSpPr>
          <p:spPr bwMode="auto">
            <a:xfrm>
              <a:off x="1770" y="1584"/>
              <a:ext cx="94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3" name="Freeform 24"/>
            <p:cNvSpPr>
              <a:spLocks/>
            </p:cNvSpPr>
            <p:nvPr/>
          </p:nvSpPr>
          <p:spPr bwMode="auto">
            <a:xfrm>
              <a:off x="1895" y="1584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4" name="Freeform 25"/>
            <p:cNvSpPr>
              <a:spLocks/>
            </p:cNvSpPr>
            <p:nvPr/>
          </p:nvSpPr>
          <p:spPr bwMode="auto">
            <a:xfrm>
              <a:off x="2038" y="1584"/>
              <a:ext cx="96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5" name="Freeform 26"/>
            <p:cNvSpPr>
              <a:spLocks/>
            </p:cNvSpPr>
            <p:nvPr/>
          </p:nvSpPr>
          <p:spPr bwMode="auto">
            <a:xfrm>
              <a:off x="2181" y="1584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6" name="Freeform 27"/>
            <p:cNvSpPr>
              <a:spLocks/>
            </p:cNvSpPr>
            <p:nvPr/>
          </p:nvSpPr>
          <p:spPr bwMode="auto">
            <a:xfrm>
              <a:off x="2323" y="1584"/>
              <a:ext cx="97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7" name="Freeform 28"/>
            <p:cNvSpPr>
              <a:spLocks/>
            </p:cNvSpPr>
            <p:nvPr/>
          </p:nvSpPr>
          <p:spPr bwMode="auto">
            <a:xfrm>
              <a:off x="2504" y="1584"/>
              <a:ext cx="77" cy="1"/>
            </a:xfrm>
            <a:custGeom>
              <a:avLst/>
              <a:gdLst>
                <a:gd name="T0" fmla="*/ 0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  <a:gd name="T9" fmla="*/ 0 w 466"/>
                <a:gd name="T10" fmla="*/ 0 h 1"/>
                <a:gd name="T11" fmla="*/ 466 w 4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1">
                  <a:moveTo>
                    <a:pt x="0" y="0"/>
                  </a:moveTo>
                  <a:lnTo>
                    <a:pt x="465" y="0"/>
                  </a:lnTo>
                  <a:lnTo>
                    <a:pt x="466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8" name="Freeform 29"/>
            <p:cNvSpPr>
              <a:spLocks/>
            </p:cNvSpPr>
            <p:nvPr/>
          </p:nvSpPr>
          <p:spPr bwMode="auto">
            <a:xfrm>
              <a:off x="1056" y="1321"/>
              <a:ext cx="90" cy="2"/>
            </a:xfrm>
            <a:custGeom>
              <a:avLst/>
              <a:gdLst>
                <a:gd name="T0" fmla="*/ 0 w 553"/>
                <a:gd name="T1" fmla="*/ 0 h 2"/>
                <a:gd name="T2" fmla="*/ 0 w 553"/>
                <a:gd name="T3" fmla="*/ 0 h 2"/>
                <a:gd name="T4" fmla="*/ 0 w 553"/>
                <a:gd name="T5" fmla="*/ 0 h 2"/>
                <a:gd name="T6" fmla="*/ 0 60000 65536"/>
                <a:gd name="T7" fmla="*/ 0 60000 65536"/>
                <a:gd name="T8" fmla="*/ 0 60000 65536"/>
                <a:gd name="T9" fmla="*/ 0 w 553"/>
                <a:gd name="T10" fmla="*/ 0 h 2"/>
                <a:gd name="T11" fmla="*/ 553 w 553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3" h="2">
                  <a:moveTo>
                    <a:pt x="0" y="0"/>
                  </a:moveTo>
                  <a:lnTo>
                    <a:pt x="552" y="0"/>
                  </a:lnTo>
                  <a:lnTo>
                    <a:pt x="553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9" name="Freeform 30"/>
            <p:cNvSpPr>
              <a:spLocks/>
            </p:cNvSpPr>
            <p:nvPr/>
          </p:nvSpPr>
          <p:spPr bwMode="auto">
            <a:xfrm>
              <a:off x="1194" y="1321"/>
              <a:ext cx="96" cy="2"/>
            </a:xfrm>
            <a:custGeom>
              <a:avLst/>
              <a:gdLst>
                <a:gd name="T0" fmla="*/ 0 w 581"/>
                <a:gd name="T1" fmla="*/ 0 h 2"/>
                <a:gd name="T2" fmla="*/ 0 w 581"/>
                <a:gd name="T3" fmla="*/ 0 h 2"/>
                <a:gd name="T4" fmla="*/ 0 w 581"/>
                <a:gd name="T5" fmla="*/ 0 h 2"/>
                <a:gd name="T6" fmla="*/ 0 60000 65536"/>
                <a:gd name="T7" fmla="*/ 0 60000 65536"/>
                <a:gd name="T8" fmla="*/ 0 60000 65536"/>
                <a:gd name="T9" fmla="*/ 0 w 581"/>
                <a:gd name="T10" fmla="*/ 0 h 2"/>
                <a:gd name="T11" fmla="*/ 581 w 581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2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0" name="Freeform 31"/>
            <p:cNvSpPr>
              <a:spLocks/>
            </p:cNvSpPr>
            <p:nvPr/>
          </p:nvSpPr>
          <p:spPr bwMode="auto">
            <a:xfrm>
              <a:off x="1337" y="1321"/>
              <a:ext cx="92" cy="2"/>
            </a:xfrm>
            <a:custGeom>
              <a:avLst/>
              <a:gdLst>
                <a:gd name="T0" fmla="*/ 0 w 554"/>
                <a:gd name="T1" fmla="*/ 0 h 2"/>
                <a:gd name="T2" fmla="*/ 0 w 554"/>
                <a:gd name="T3" fmla="*/ 0 h 2"/>
                <a:gd name="T4" fmla="*/ 0 w 554"/>
                <a:gd name="T5" fmla="*/ 0 h 2"/>
                <a:gd name="T6" fmla="*/ 0 60000 65536"/>
                <a:gd name="T7" fmla="*/ 0 60000 65536"/>
                <a:gd name="T8" fmla="*/ 0 60000 65536"/>
                <a:gd name="T9" fmla="*/ 0 w 554"/>
                <a:gd name="T10" fmla="*/ 0 h 2"/>
                <a:gd name="T11" fmla="*/ 554 w 554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2">
                  <a:moveTo>
                    <a:pt x="0" y="0"/>
                  </a:moveTo>
                  <a:lnTo>
                    <a:pt x="552" y="0"/>
                  </a:lnTo>
                  <a:lnTo>
                    <a:pt x="554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1" name="Freeform 32"/>
            <p:cNvSpPr>
              <a:spLocks/>
            </p:cNvSpPr>
            <p:nvPr/>
          </p:nvSpPr>
          <p:spPr bwMode="auto">
            <a:xfrm>
              <a:off x="1056" y="1057"/>
              <a:ext cx="62" cy="2"/>
            </a:xfrm>
            <a:custGeom>
              <a:avLst/>
              <a:gdLst>
                <a:gd name="T0" fmla="*/ 0 w 379"/>
                <a:gd name="T1" fmla="*/ 0 h 2"/>
                <a:gd name="T2" fmla="*/ 0 w 379"/>
                <a:gd name="T3" fmla="*/ 0 h 2"/>
                <a:gd name="T4" fmla="*/ 0 w 379"/>
                <a:gd name="T5" fmla="*/ 0 h 2"/>
                <a:gd name="T6" fmla="*/ 0 60000 65536"/>
                <a:gd name="T7" fmla="*/ 0 60000 65536"/>
                <a:gd name="T8" fmla="*/ 0 60000 65536"/>
                <a:gd name="T9" fmla="*/ 0 w 379"/>
                <a:gd name="T10" fmla="*/ 0 h 2"/>
                <a:gd name="T11" fmla="*/ 379 w 379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2">
                  <a:moveTo>
                    <a:pt x="0" y="0"/>
                  </a:moveTo>
                  <a:lnTo>
                    <a:pt x="378" y="0"/>
                  </a:lnTo>
                  <a:lnTo>
                    <a:pt x="379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2" name="Freeform 33"/>
            <p:cNvSpPr>
              <a:spLocks/>
            </p:cNvSpPr>
            <p:nvPr/>
          </p:nvSpPr>
          <p:spPr bwMode="auto">
            <a:xfrm>
              <a:off x="1165" y="1057"/>
              <a:ext cx="97" cy="2"/>
            </a:xfrm>
            <a:custGeom>
              <a:avLst/>
              <a:gdLst>
                <a:gd name="T0" fmla="*/ 0 w 582"/>
                <a:gd name="T1" fmla="*/ 0 h 2"/>
                <a:gd name="T2" fmla="*/ 0 w 582"/>
                <a:gd name="T3" fmla="*/ 0 h 2"/>
                <a:gd name="T4" fmla="*/ 0 w 582"/>
                <a:gd name="T5" fmla="*/ 0 h 2"/>
                <a:gd name="T6" fmla="*/ 0 60000 65536"/>
                <a:gd name="T7" fmla="*/ 0 60000 65536"/>
                <a:gd name="T8" fmla="*/ 0 60000 65536"/>
                <a:gd name="T9" fmla="*/ 0 w 582"/>
                <a:gd name="T10" fmla="*/ 0 h 2"/>
                <a:gd name="T11" fmla="*/ 582 w 58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2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3" name="Freeform 34"/>
            <p:cNvSpPr>
              <a:spLocks/>
            </p:cNvSpPr>
            <p:nvPr/>
          </p:nvSpPr>
          <p:spPr bwMode="auto">
            <a:xfrm>
              <a:off x="1309" y="1057"/>
              <a:ext cx="95" cy="2"/>
            </a:xfrm>
            <a:custGeom>
              <a:avLst/>
              <a:gdLst>
                <a:gd name="T0" fmla="*/ 0 w 581"/>
                <a:gd name="T1" fmla="*/ 0 h 2"/>
                <a:gd name="T2" fmla="*/ 0 w 581"/>
                <a:gd name="T3" fmla="*/ 0 h 2"/>
                <a:gd name="T4" fmla="*/ 0 w 581"/>
                <a:gd name="T5" fmla="*/ 0 h 2"/>
                <a:gd name="T6" fmla="*/ 0 60000 65536"/>
                <a:gd name="T7" fmla="*/ 0 60000 65536"/>
                <a:gd name="T8" fmla="*/ 0 60000 65536"/>
                <a:gd name="T9" fmla="*/ 0 w 581"/>
                <a:gd name="T10" fmla="*/ 0 h 2"/>
                <a:gd name="T11" fmla="*/ 581 w 581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2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4" name="Freeform 35"/>
            <p:cNvSpPr>
              <a:spLocks/>
            </p:cNvSpPr>
            <p:nvPr/>
          </p:nvSpPr>
          <p:spPr bwMode="auto">
            <a:xfrm>
              <a:off x="1452" y="1057"/>
              <a:ext cx="95" cy="2"/>
            </a:xfrm>
            <a:custGeom>
              <a:avLst/>
              <a:gdLst>
                <a:gd name="T0" fmla="*/ 0 w 581"/>
                <a:gd name="T1" fmla="*/ 0 h 2"/>
                <a:gd name="T2" fmla="*/ 0 w 581"/>
                <a:gd name="T3" fmla="*/ 0 h 2"/>
                <a:gd name="T4" fmla="*/ 0 w 581"/>
                <a:gd name="T5" fmla="*/ 0 h 2"/>
                <a:gd name="T6" fmla="*/ 0 60000 65536"/>
                <a:gd name="T7" fmla="*/ 0 60000 65536"/>
                <a:gd name="T8" fmla="*/ 0 60000 65536"/>
                <a:gd name="T9" fmla="*/ 0 w 581"/>
                <a:gd name="T10" fmla="*/ 0 h 2"/>
                <a:gd name="T11" fmla="*/ 581 w 581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2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5" name="Freeform 36"/>
            <p:cNvSpPr>
              <a:spLocks/>
            </p:cNvSpPr>
            <p:nvPr/>
          </p:nvSpPr>
          <p:spPr bwMode="auto">
            <a:xfrm>
              <a:off x="1594" y="1057"/>
              <a:ext cx="96" cy="2"/>
            </a:xfrm>
            <a:custGeom>
              <a:avLst/>
              <a:gdLst>
                <a:gd name="T0" fmla="*/ 0 w 582"/>
                <a:gd name="T1" fmla="*/ 0 h 2"/>
                <a:gd name="T2" fmla="*/ 0 w 582"/>
                <a:gd name="T3" fmla="*/ 0 h 2"/>
                <a:gd name="T4" fmla="*/ 0 w 582"/>
                <a:gd name="T5" fmla="*/ 0 h 2"/>
                <a:gd name="T6" fmla="*/ 0 60000 65536"/>
                <a:gd name="T7" fmla="*/ 0 60000 65536"/>
                <a:gd name="T8" fmla="*/ 0 60000 65536"/>
                <a:gd name="T9" fmla="*/ 0 w 582"/>
                <a:gd name="T10" fmla="*/ 0 h 2"/>
                <a:gd name="T11" fmla="*/ 582 w 58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2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6" name="Freeform 37"/>
            <p:cNvSpPr>
              <a:spLocks/>
            </p:cNvSpPr>
            <p:nvPr/>
          </p:nvSpPr>
          <p:spPr bwMode="auto">
            <a:xfrm>
              <a:off x="1755" y="1057"/>
              <a:ext cx="62" cy="2"/>
            </a:xfrm>
            <a:custGeom>
              <a:avLst/>
              <a:gdLst>
                <a:gd name="T0" fmla="*/ 0 w 379"/>
                <a:gd name="T1" fmla="*/ 0 h 2"/>
                <a:gd name="T2" fmla="*/ 0 w 379"/>
                <a:gd name="T3" fmla="*/ 0 h 2"/>
                <a:gd name="T4" fmla="*/ 0 w 379"/>
                <a:gd name="T5" fmla="*/ 0 h 2"/>
                <a:gd name="T6" fmla="*/ 0 60000 65536"/>
                <a:gd name="T7" fmla="*/ 0 60000 65536"/>
                <a:gd name="T8" fmla="*/ 0 60000 65536"/>
                <a:gd name="T9" fmla="*/ 0 w 379"/>
                <a:gd name="T10" fmla="*/ 0 h 2"/>
                <a:gd name="T11" fmla="*/ 379 w 379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2">
                  <a:moveTo>
                    <a:pt x="0" y="0"/>
                  </a:moveTo>
                  <a:lnTo>
                    <a:pt x="378" y="0"/>
                  </a:lnTo>
                  <a:lnTo>
                    <a:pt x="379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7" name="Freeform 38"/>
            <p:cNvSpPr>
              <a:spLocks/>
            </p:cNvSpPr>
            <p:nvPr/>
          </p:nvSpPr>
          <p:spPr bwMode="auto">
            <a:xfrm>
              <a:off x="1056" y="528"/>
              <a:ext cx="77" cy="1"/>
            </a:xfrm>
            <a:custGeom>
              <a:avLst/>
              <a:gdLst>
                <a:gd name="T0" fmla="*/ 0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  <a:gd name="T9" fmla="*/ 0 w 466"/>
                <a:gd name="T10" fmla="*/ 0 h 1"/>
                <a:gd name="T11" fmla="*/ 466 w 4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1">
                  <a:moveTo>
                    <a:pt x="0" y="0"/>
                  </a:moveTo>
                  <a:lnTo>
                    <a:pt x="465" y="0"/>
                  </a:lnTo>
                  <a:lnTo>
                    <a:pt x="466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8" name="Freeform 39"/>
            <p:cNvSpPr>
              <a:spLocks/>
            </p:cNvSpPr>
            <p:nvPr/>
          </p:nvSpPr>
          <p:spPr bwMode="auto">
            <a:xfrm>
              <a:off x="1180" y="528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9" name="Freeform 40"/>
            <p:cNvSpPr>
              <a:spLocks/>
            </p:cNvSpPr>
            <p:nvPr/>
          </p:nvSpPr>
          <p:spPr bwMode="auto">
            <a:xfrm>
              <a:off x="1322" y="528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0" name="Freeform 41"/>
            <p:cNvSpPr>
              <a:spLocks/>
            </p:cNvSpPr>
            <p:nvPr/>
          </p:nvSpPr>
          <p:spPr bwMode="auto">
            <a:xfrm>
              <a:off x="1466" y="528"/>
              <a:ext cx="96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1" name="Freeform 42"/>
            <p:cNvSpPr>
              <a:spLocks/>
            </p:cNvSpPr>
            <p:nvPr/>
          </p:nvSpPr>
          <p:spPr bwMode="auto">
            <a:xfrm>
              <a:off x="1609" y="528"/>
              <a:ext cx="95" cy="1"/>
            </a:xfrm>
            <a:custGeom>
              <a:avLst/>
              <a:gdLst>
                <a:gd name="T0" fmla="*/ 0 w 580"/>
                <a:gd name="T1" fmla="*/ 0 h 1"/>
                <a:gd name="T2" fmla="*/ 0 w 580"/>
                <a:gd name="T3" fmla="*/ 0 h 1"/>
                <a:gd name="T4" fmla="*/ 0 w 580"/>
                <a:gd name="T5" fmla="*/ 0 h 1"/>
                <a:gd name="T6" fmla="*/ 0 60000 65536"/>
                <a:gd name="T7" fmla="*/ 0 60000 65536"/>
                <a:gd name="T8" fmla="*/ 0 60000 65536"/>
                <a:gd name="T9" fmla="*/ 0 w 580"/>
                <a:gd name="T10" fmla="*/ 0 h 1"/>
                <a:gd name="T11" fmla="*/ 580 w 58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0" h="1">
                  <a:moveTo>
                    <a:pt x="0" y="0"/>
                  </a:moveTo>
                  <a:lnTo>
                    <a:pt x="579" y="0"/>
                  </a:lnTo>
                  <a:lnTo>
                    <a:pt x="580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2" name="Freeform 43"/>
            <p:cNvSpPr>
              <a:spLocks/>
            </p:cNvSpPr>
            <p:nvPr/>
          </p:nvSpPr>
          <p:spPr bwMode="auto">
            <a:xfrm>
              <a:off x="1753" y="528"/>
              <a:ext cx="94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3" name="Freeform 44"/>
            <p:cNvSpPr>
              <a:spLocks/>
            </p:cNvSpPr>
            <p:nvPr/>
          </p:nvSpPr>
          <p:spPr bwMode="auto">
            <a:xfrm>
              <a:off x="1895" y="528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4" name="Freeform 45"/>
            <p:cNvSpPr>
              <a:spLocks/>
            </p:cNvSpPr>
            <p:nvPr/>
          </p:nvSpPr>
          <p:spPr bwMode="auto">
            <a:xfrm>
              <a:off x="2038" y="528"/>
              <a:ext cx="96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5" name="Freeform 46"/>
            <p:cNvSpPr>
              <a:spLocks/>
            </p:cNvSpPr>
            <p:nvPr/>
          </p:nvSpPr>
          <p:spPr bwMode="auto">
            <a:xfrm>
              <a:off x="2181" y="528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6" name="Freeform 47"/>
            <p:cNvSpPr>
              <a:spLocks/>
            </p:cNvSpPr>
            <p:nvPr/>
          </p:nvSpPr>
          <p:spPr bwMode="auto">
            <a:xfrm>
              <a:off x="2323" y="528"/>
              <a:ext cx="97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7" name="Freeform 48"/>
            <p:cNvSpPr>
              <a:spLocks/>
            </p:cNvSpPr>
            <p:nvPr/>
          </p:nvSpPr>
          <p:spPr bwMode="auto">
            <a:xfrm>
              <a:off x="2504" y="528"/>
              <a:ext cx="77" cy="1"/>
            </a:xfrm>
            <a:custGeom>
              <a:avLst/>
              <a:gdLst>
                <a:gd name="T0" fmla="*/ 0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  <a:gd name="T9" fmla="*/ 0 w 466"/>
                <a:gd name="T10" fmla="*/ 0 h 1"/>
                <a:gd name="T11" fmla="*/ 466 w 4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1">
                  <a:moveTo>
                    <a:pt x="0" y="0"/>
                  </a:moveTo>
                  <a:lnTo>
                    <a:pt x="465" y="0"/>
                  </a:lnTo>
                  <a:lnTo>
                    <a:pt x="466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8" name="Freeform 49"/>
            <p:cNvSpPr>
              <a:spLocks/>
            </p:cNvSpPr>
            <p:nvPr/>
          </p:nvSpPr>
          <p:spPr bwMode="auto">
            <a:xfrm>
              <a:off x="1056" y="2142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9" name="Freeform 50"/>
            <p:cNvSpPr>
              <a:spLocks/>
            </p:cNvSpPr>
            <p:nvPr/>
          </p:nvSpPr>
          <p:spPr bwMode="auto">
            <a:xfrm>
              <a:off x="1056" y="1998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0" name="Freeform 51"/>
            <p:cNvSpPr>
              <a:spLocks/>
            </p:cNvSpPr>
            <p:nvPr/>
          </p:nvSpPr>
          <p:spPr bwMode="auto">
            <a:xfrm>
              <a:off x="1056" y="1854"/>
              <a:ext cx="1" cy="95"/>
            </a:xfrm>
            <a:custGeom>
              <a:avLst/>
              <a:gdLst>
                <a:gd name="T0" fmla="*/ 0 w 1"/>
                <a:gd name="T1" fmla="*/ 0 h 580"/>
                <a:gd name="T2" fmla="*/ 0 w 1"/>
                <a:gd name="T3" fmla="*/ 0 h 580"/>
                <a:gd name="T4" fmla="*/ 1 w 1"/>
                <a:gd name="T5" fmla="*/ 0 h 580"/>
                <a:gd name="T6" fmla="*/ 0 60000 65536"/>
                <a:gd name="T7" fmla="*/ 0 60000 65536"/>
                <a:gd name="T8" fmla="*/ 0 60000 65536"/>
                <a:gd name="T9" fmla="*/ 0 w 1"/>
                <a:gd name="T10" fmla="*/ 0 h 580"/>
                <a:gd name="T11" fmla="*/ 1 w 1"/>
                <a:gd name="T12" fmla="*/ 580 h 5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0">
                  <a:moveTo>
                    <a:pt x="0" y="58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1" name="Freeform 52"/>
            <p:cNvSpPr>
              <a:spLocks/>
            </p:cNvSpPr>
            <p:nvPr/>
          </p:nvSpPr>
          <p:spPr bwMode="auto">
            <a:xfrm>
              <a:off x="1056" y="1710"/>
              <a:ext cx="1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2" name="Freeform 53"/>
            <p:cNvSpPr>
              <a:spLocks/>
            </p:cNvSpPr>
            <p:nvPr/>
          </p:nvSpPr>
          <p:spPr bwMode="auto">
            <a:xfrm>
              <a:off x="1056" y="1424"/>
              <a:ext cx="1" cy="95"/>
            </a:xfrm>
            <a:custGeom>
              <a:avLst/>
              <a:gdLst>
                <a:gd name="T0" fmla="*/ 0 w 1"/>
                <a:gd name="T1" fmla="*/ 0 h 580"/>
                <a:gd name="T2" fmla="*/ 0 w 1"/>
                <a:gd name="T3" fmla="*/ 0 h 580"/>
                <a:gd name="T4" fmla="*/ 1 w 1"/>
                <a:gd name="T5" fmla="*/ 0 h 580"/>
                <a:gd name="T6" fmla="*/ 0 60000 65536"/>
                <a:gd name="T7" fmla="*/ 0 60000 65536"/>
                <a:gd name="T8" fmla="*/ 0 60000 65536"/>
                <a:gd name="T9" fmla="*/ 0 w 1"/>
                <a:gd name="T10" fmla="*/ 0 h 580"/>
                <a:gd name="T11" fmla="*/ 1 w 1"/>
                <a:gd name="T12" fmla="*/ 580 h 5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0">
                  <a:moveTo>
                    <a:pt x="0" y="58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3" name="Freeform 54"/>
            <p:cNvSpPr>
              <a:spLocks/>
            </p:cNvSpPr>
            <p:nvPr/>
          </p:nvSpPr>
          <p:spPr bwMode="auto">
            <a:xfrm>
              <a:off x="1056" y="1280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4" name="Freeform 55"/>
            <p:cNvSpPr>
              <a:spLocks/>
            </p:cNvSpPr>
            <p:nvPr/>
          </p:nvSpPr>
          <p:spPr bwMode="auto">
            <a:xfrm>
              <a:off x="1056" y="1136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5" name="Freeform 56"/>
            <p:cNvSpPr>
              <a:spLocks/>
            </p:cNvSpPr>
            <p:nvPr/>
          </p:nvSpPr>
          <p:spPr bwMode="auto">
            <a:xfrm>
              <a:off x="1056" y="992"/>
              <a:ext cx="1" cy="97"/>
            </a:xfrm>
            <a:custGeom>
              <a:avLst/>
              <a:gdLst>
                <a:gd name="T0" fmla="*/ 0 w 1"/>
                <a:gd name="T1" fmla="*/ 0 h 580"/>
                <a:gd name="T2" fmla="*/ 0 w 1"/>
                <a:gd name="T3" fmla="*/ 0 h 580"/>
                <a:gd name="T4" fmla="*/ 1 w 1"/>
                <a:gd name="T5" fmla="*/ 0 h 580"/>
                <a:gd name="T6" fmla="*/ 0 60000 65536"/>
                <a:gd name="T7" fmla="*/ 0 60000 65536"/>
                <a:gd name="T8" fmla="*/ 0 60000 65536"/>
                <a:gd name="T9" fmla="*/ 0 w 1"/>
                <a:gd name="T10" fmla="*/ 0 h 580"/>
                <a:gd name="T11" fmla="*/ 1 w 1"/>
                <a:gd name="T12" fmla="*/ 580 h 5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0">
                  <a:moveTo>
                    <a:pt x="0" y="58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6" name="Freeform 57"/>
            <p:cNvSpPr>
              <a:spLocks/>
            </p:cNvSpPr>
            <p:nvPr/>
          </p:nvSpPr>
          <p:spPr bwMode="auto">
            <a:xfrm>
              <a:off x="1056" y="848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7" name="Freeform 58"/>
            <p:cNvSpPr>
              <a:spLocks/>
            </p:cNvSpPr>
            <p:nvPr/>
          </p:nvSpPr>
          <p:spPr bwMode="auto">
            <a:xfrm>
              <a:off x="1056" y="706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8" name="Freeform 59"/>
            <p:cNvSpPr>
              <a:spLocks/>
            </p:cNvSpPr>
            <p:nvPr/>
          </p:nvSpPr>
          <p:spPr bwMode="auto">
            <a:xfrm>
              <a:off x="1056" y="565"/>
              <a:ext cx="1" cy="92"/>
            </a:xfrm>
            <a:custGeom>
              <a:avLst/>
              <a:gdLst>
                <a:gd name="T0" fmla="*/ 0 w 1"/>
                <a:gd name="T1" fmla="*/ 0 h 563"/>
                <a:gd name="T2" fmla="*/ 0 w 1"/>
                <a:gd name="T3" fmla="*/ 0 h 563"/>
                <a:gd name="T4" fmla="*/ 1 w 1"/>
                <a:gd name="T5" fmla="*/ 0 h 563"/>
                <a:gd name="T6" fmla="*/ 0 60000 65536"/>
                <a:gd name="T7" fmla="*/ 0 60000 65536"/>
                <a:gd name="T8" fmla="*/ 0 60000 65536"/>
                <a:gd name="T9" fmla="*/ 0 w 1"/>
                <a:gd name="T10" fmla="*/ 0 h 563"/>
                <a:gd name="T11" fmla="*/ 1 w 1"/>
                <a:gd name="T12" fmla="*/ 563 h 5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63">
                  <a:moveTo>
                    <a:pt x="0" y="56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9" name="Freeform 60"/>
            <p:cNvSpPr>
              <a:spLocks/>
            </p:cNvSpPr>
            <p:nvPr/>
          </p:nvSpPr>
          <p:spPr bwMode="auto">
            <a:xfrm>
              <a:off x="1817" y="2591"/>
              <a:ext cx="1" cy="51"/>
            </a:xfrm>
            <a:custGeom>
              <a:avLst/>
              <a:gdLst>
                <a:gd name="T0" fmla="*/ 0 w 1"/>
                <a:gd name="T1" fmla="*/ 0 h 304"/>
                <a:gd name="T2" fmla="*/ 0 w 1"/>
                <a:gd name="T3" fmla="*/ 0 h 304"/>
                <a:gd name="T4" fmla="*/ 1 w 1"/>
                <a:gd name="T5" fmla="*/ 0 h 304"/>
                <a:gd name="T6" fmla="*/ 0 60000 65536"/>
                <a:gd name="T7" fmla="*/ 0 60000 65536"/>
                <a:gd name="T8" fmla="*/ 0 60000 65536"/>
                <a:gd name="T9" fmla="*/ 0 w 1"/>
                <a:gd name="T10" fmla="*/ 0 h 304"/>
                <a:gd name="T11" fmla="*/ 1 w 1"/>
                <a:gd name="T12" fmla="*/ 304 h 3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4">
                  <a:moveTo>
                    <a:pt x="0" y="3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0" name="Freeform 61"/>
            <p:cNvSpPr>
              <a:spLocks/>
            </p:cNvSpPr>
            <p:nvPr/>
          </p:nvSpPr>
          <p:spPr bwMode="auto">
            <a:xfrm>
              <a:off x="1817" y="2447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1" name="Freeform 62"/>
            <p:cNvSpPr>
              <a:spLocks/>
            </p:cNvSpPr>
            <p:nvPr/>
          </p:nvSpPr>
          <p:spPr bwMode="auto">
            <a:xfrm>
              <a:off x="1817" y="2303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2" name="Freeform 63"/>
            <p:cNvSpPr>
              <a:spLocks/>
            </p:cNvSpPr>
            <p:nvPr/>
          </p:nvSpPr>
          <p:spPr bwMode="auto">
            <a:xfrm>
              <a:off x="1817" y="2161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3" name="Freeform 64"/>
            <p:cNvSpPr>
              <a:spLocks/>
            </p:cNvSpPr>
            <p:nvPr/>
          </p:nvSpPr>
          <p:spPr bwMode="auto">
            <a:xfrm>
              <a:off x="1817" y="2017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4" name="Freeform 65"/>
            <p:cNvSpPr>
              <a:spLocks/>
            </p:cNvSpPr>
            <p:nvPr/>
          </p:nvSpPr>
          <p:spPr bwMode="auto">
            <a:xfrm>
              <a:off x="1817" y="1873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5" name="Freeform 66"/>
            <p:cNvSpPr>
              <a:spLocks/>
            </p:cNvSpPr>
            <p:nvPr/>
          </p:nvSpPr>
          <p:spPr bwMode="auto">
            <a:xfrm>
              <a:off x="1817" y="1729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6" name="Freeform 67"/>
            <p:cNvSpPr>
              <a:spLocks/>
            </p:cNvSpPr>
            <p:nvPr/>
          </p:nvSpPr>
          <p:spPr bwMode="auto">
            <a:xfrm>
              <a:off x="1817" y="1585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7" name="Freeform 68"/>
            <p:cNvSpPr>
              <a:spLocks/>
            </p:cNvSpPr>
            <p:nvPr/>
          </p:nvSpPr>
          <p:spPr bwMode="auto">
            <a:xfrm>
              <a:off x="1817" y="1442"/>
              <a:ext cx="1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8" name="Freeform 69"/>
            <p:cNvSpPr>
              <a:spLocks/>
            </p:cNvSpPr>
            <p:nvPr/>
          </p:nvSpPr>
          <p:spPr bwMode="auto">
            <a:xfrm>
              <a:off x="1817" y="1299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9" name="Freeform 70"/>
            <p:cNvSpPr>
              <a:spLocks/>
            </p:cNvSpPr>
            <p:nvPr/>
          </p:nvSpPr>
          <p:spPr bwMode="auto">
            <a:xfrm>
              <a:off x="1817" y="1155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0" name="Freeform 71"/>
            <p:cNvSpPr>
              <a:spLocks/>
            </p:cNvSpPr>
            <p:nvPr/>
          </p:nvSpPr>
          <p:spPr bwMode="auto">
            <a:xfrm>
              <a:off x="1817" y="1057"/>
              <a:ext cx="1" cy="51"/>
            </a:xfrm>
            <a:custGeom>
              <a:avLst/>
              <a:gdLst>
                <a:gd name="T0" fmla="*/ 0 w 1"/>
                <a:gd name="T1" fmla="*/ 0 h 305"/>
                <a:gd name="T2" fmla="*/ 0 w 1"/>
                <a:gd name="T3" fmla="*/ 0 h 305"/>
                <a:gd name="T4" fmla="*/ 1 w 1"/>
                <a:gd name="T5" fmla="*/ 0 h 305"/>
                <a:gd name="T6" fmla="*/ 0 60000 65536"/>
                <a:gd name="T7" fmla="*/ 0 60000 65536"/>
                <a:gd name="T8" fmla="*/ 0 60000 65536"/>
                <a:gd name="T9" fmla="*/ 0 w 1"/>
                <a:gd name="T10" fmla="*/ 0 h 305"/>
                <a:gd name="T11" fmla="*/ 1 w 1"/>
                <a:gd name="T12" fmla="*/ 305 h 3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5">
                  <a:moveTo>
                    <a:pt x="0" y="30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1" name="Freeform 72"/>
            <p:cNvSpPr>
              <a:spLocks/>
            </p:cNvSpPr>
            <p:nvPr/>
          </p:nvSpPr>
          <p:spPr bwMode="auto">
            <a:xfrm>
              <a:off x="2581" y="2542"/>
              <a:ext cx="1" cy="100"/>
            </a:xfrm>
            <a:custGeom>
              <a:avLst/>
              <a:gdLst>
                <a:gd name="T0" fmla="*/ 0 w 1"/>
                <a:gd name="T1" fmla="*/ 0 h 602"/>
                <a:gd name="T2" fmla="*/ 0 w 1"/>
                <a:gd name="T3" fmla="*/ 0 h 602"/>
                <a:gd name="T4" fmla="*/ 1 w 1"/>
                <a:gd name="T5" fmla="*/ 0 h 602"/>
                <a:gd name="T6" fmla="*/ 0 60000 65536"/>
                <a:gd name="T7" fmla="*/ 0 60000 65536"/>
                <a:gd name="T8" fmla="*/ 0 60000 65536"/>
                <a:gd name="T9" fmla="*/ 0 w 1"/>
                <a:gd name="T10" fmla="*/ 0 h 602"/>
                <a:gd name="T11" fmla="*/ 1 w 1"/>
                <a:gd name="T12" fmla="*/ 602 h 6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02">
                  <a:moveTo>
                    <a:pt x="0" y="60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2" name="Freeform 73"/>
            <p:cNvSpPr>
              <a:spLocks/>
            </p:cNvSpPr>
            <p:nvPr/>
          </p:nvSpPr>
          <p:spPr bwMode="auto">
            <a:xfrm>
              <a:off x="2581" y="2398"/>
              <a:ext cx="1" cy="97"/>
            </a:xfrm>
            <a:custGeom>
              <a:avLst/>
              <a:gdLst>
                <a:gd name="T0" fmla="*/ 0 w 1"/>
                <a:gd name="T1" fmla="*/ 0 h 580"/>
                <a:gd name="T2" fmla="*/ 0 w 1"/>
                <a:gd name="T3" fmla="*/ 0 h 580"/>
                <a:gd name="T4" fmla="*/ 1 w 1"/>
                <a:gd name="T5" fmla="*/ 0 h 580"/>
                <a:gd name="T6" fmla="*/ 0 60000 65536"/>
                <a:gd name="T7" fmla="*/ 0 60000 65536"/>
                <a:gd name="T8" fmla="*/ 0 60000 65536"/>
                <a:gd name="T9" fmla="*/ 0 w 1"/>
                <a:gd name="T10" fmla="*/ 0 h 580"/>
                <a:gd name="T11" fmla="*/ 1 w 1"/>
                <a:gd name="T12" fmla="*/ 580 h 5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0">
                  <a:moveTo>
                    <a:pt x="0" y="58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3" name="Freeform 74"/>
            <p:cNvSpPr>
              <a:spLocks/>
            </p:cNvSpPr>
            <p:nvPr/>
          </p:nvSpPr>
          <p:spPr bwMode="auto">
            <a:xfrm>
              <a:off x="2581" y="2254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4" name="Freeform 75"/>
            <p:cNvSpPr>
              <a:spLocks/>
            </p:cNvSpPr>
            <p:nvPr/>
          </p:nvSpPr>
          <p:spPr bwMode="auto">
            <a:xfrm>
              <a:off x="2581" y="2112"/>
              <a:ext cx="1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5" name="Freeform 76"/>
            <p:cNvSpPr>
              <a:spLocks/>
            </p:cNvSpPr>
            <p:nvPr/>
          </p:nvSpPr>
          <p:spPr bwMode="auto">
            <a:xfrm>
              <a:off x="2581" y="1968"/>
              <a:ext cx="1" cy="95"/>
            </a:xfrm>
            <a:custGeom>
              <a:avLst/>
              <a:gdLst>
                <a:gd name="T0" fmla="*/ 0 w 1"/>
                <a:gd name="T1" fmla="*/ 0 h 580"/>
                <a:gd name="T2" fmla="*/ 0 w 1"/>
                <a:gd name="T3" fmla="*/ 0 h 580"/>
                <a:gd name="T4" fmla="*/ 1 w 1"/>
                <a:gd name="T5" fmla="*/ 0 h 580"/>
                <a:gd name="T6" fmla="*/ 0 60000 65536"/>
                <a:gd name="T7" fmla="*/ 0 60000 65536"/>
                <a:gd name="T8" fmla="*/ 0 60000 65536"/>
                <a:gd name="T9" fmla="*/ 0 w 1"/>
                <a:gd name="T10" fmla="*/ 0 h 580"/>
                <a:gd name="T11" fmla="*/ 1 w 1"/>
                <a:gd name="T12" fmla="*/ 580 h 5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0">
                  <a:moveTo>
                    <a:pt x="0" y="58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6" name="Freeform 77"/>
            <p:cNvSpPr>
              <a:spLocks/>
            </p:cNvSpPr>
            <p:nvPr/>
          </p:nvSpPr>
          <p:spPr bwMode="auto">
            <a:xfrm>
              <a:off x="2581" y="1824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7" name="Freeform 78"/>
            <p:cNvSpPr>
              <a:spLocks/>
            </p:cNvSpPr>
            <p:nvPr/>
          </p:nvSpPr>
          <p:spPr bwMode="auto">
            <a:xfrm>
              <a:off x="2581" y="1680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8" name="Freeform 79"/>
            <p:cNvSpPr>
              <a:spLocks/>
            </p:cNvSpPr>
            <p:nvPr/>
          </p:nvSpPr>
          <p:spPr bwMode="auto">
            <a:xfrm>
              <a:off x="2581" y="1537"/>
              <a:ext cx="1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9" name="Freeform 80"/>
            <p:cNvSpPr>
              <a:spLocks/>
            </p:cNvSpPr>
            <p:nvPr/>
          </p:nvSpPr>
          <p:spPr bwMode="auto">
            <a:xfrm>
              <a:off x="2581" y="1393"/>
              <a:ext cx="1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0" name="Freeform 81"/>
            <p:cNvSpPr>
              <a:spLocks/>
            </p:cNvSpPr>
            <p:nvPr/>
          </p:nvSpPr>
          <p:spPr bwMode="auto">
            <a:xfrm>
              <a:off x="2581" y="1250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1" name="Freeform 82"/>
            <p:cNvSpPr>
              <a:spLocks/>
            </p:cNvSpPr>
            <p:nvPr/>
          </p:nvSpPr>
          <p:spPr bwMode="auto">
            <a:xfrm>
              <a:off x="2581" y="1106"/>
              <a:ext cx="1" cy="95"/>
            </a:xfrm>
            <a:custGeom>
              <a:avLst/>
              <a:gdLst>
                <a:gd name="T0" fmla="*/ 0 w 1"/>
                <a:gd name="T1" fmla="*/ 0 h 580"/>
                <a:gd name="T2" fmla="*/ 0 w 1"/>
                <a:gd name="T3" fmla="*/ 0 h 580"/>
                <a:gd name="T4" fmla="*/ 1 w 1"/>
                <a:gd name="T5" fmla="*/ 0 h 580"/>
                <a:gd name="T6" fmla="*/ 0 60000 65536"/>
                <a:gd name="T7" fmla="*/ 0 60000 65536"/>
                <a:gd name="T8" fmla="*/ 0 60000 65536"/>
                <a:gd name="T9" fmla="*/ 0 w 1"/>
                <a:gd name="T10" fmla="*/ 0 h 580"/>
                <a:gd name="T11" fmla="*/ 1 w 1"/>
                <a:gd name="T12" fmla="*/ 580 h 5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0">
                  <a:moveTo>
                    <a:pt x="0" y="58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2" name="Freeform 83"/>
            <p:cNvSpPr>
              <a:spLocks/>
            </p:cNvSpPr>
            <p:nvPr/>
          </p:nvSpPr>
          <p:spPr bwMode="auto">
            <a:xfrm>
              <a:off x="2581" y="963"/>
              <a:ext cx="1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3" name="Freeform 84"/>
            <p:cNvSpPr>
              <a:spLocks/>
            </p:cNvSpPr>
            <p:nvPr/>
          </p:nvSpPr>
          <p:spPr bwMode="auto">
            <a:xfrm>
              <a:off x="2581" y="819"/>
              <a:ext cx="1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4" name="Freeform 85"/>
            <p:cNvSpPr>
              <a:spLocks/>
            </p:cNvSpPr>
            <p:nvPr/>
          </p:nvSpPr>
          <p:spPr bwMode="auto">
            <a:xfrm>
              <a:off x="2581" y="675"/>
              <a:ext cx="1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5" name="Freeform 86"/>
            <p:cNvSpPr>
              <a:spLocks/>
            </p:cNvSpPr>
            <p:nvPr/>
          </p:nvSpPr>
          <p:spPr bwMode="auto">
            <a:xfrm>
              <a:off x="2581" y="528"/>
              <a:ext cx="1" cy="99"/>
            </a:xfrm>
            <a:custGeom>
              <a:avLst/>
              <a:gdLst>
                <a:gd name="T0" fmla="*/ 0 w 1"/>
                <a:gd name="T1" fmla="*/ 0 h 602"/>
                <a:gd name="T2" fmla="*/ 0 w 1"/>
                <a:gd name="T3" fmla="*/ 0 h 602"/>
                <a:gd name="T4" fmla="*/ 1 w 1"/>
                <a:gd name="T5" fmla="*/ 0 h 602"/>
                <a:gd name="T6" fmla="*/ 0 60000 65536"/>
                <a:gd name="T7" fmla="*/ 0 60000 65536"/>
                <a:gd name="T8" fmla="*/ 0 60000 65536"/>
                <a:gd name="T9" fmla="*/ 0 w 1"/>
                <a:gd name="T10" fmla="*/ 0 h 602"/>
                <a:gd name="T11" fmla="*/ 1 w 1"/>
                <a:gd name="T12" fmla="*/ 602 h 6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02">
                  <a:moveTo>
                    <a:pt x="0" y="60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6" name="Rectangle 87"/>
            <p:cNvSpPr>
              <a:spLocks noChangeArrowheads="1"/>
            </p:cNvSpPr>
            <p:nvPr/>
          </p:nvSpPr>
          <p:spPr bwMode="auto">
            <a:xfrm>
              <a:off x="696" y="1993"/>
              <a:ext cx="405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1261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  <p:sp>
          <p:nvSpPr>
            <p:cNvPr id="11467" name="Rectangle 88"/>
            <p:cNvSpPr>
              <a:spLocks noChangeArrowheads="1"/>
            </p:cNvSpPr>
            <p:nvPr/>
          </p:nvSpPr>
          <p:spPr bwMode="auto">
            <a:xfrm>
              <a:off x="685" y="1753"/>
              <a:ext cx="4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1471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</p:grp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1911918" y="766786"/>
            <a:ext cx="750888" cy="1922462"/>
            <a:chOff x="672" y="432"/>
            <a:chExt cx="473" cy="1211"/>
          </a:xfrm>
        </p:grpSpPr>
        <p:sp>
          <p:nvSpPr>
            <p:cNvPr id="11378" name="Rectangle 90"/>
            <p:cNvSpPr>
              <a:spLocks noChangeArrowheads="1"/>
            </p:cNvSpPr>
            <p:nvPr/>
          </p:nvSpPr>
          <p:spPr bwMode="auto">
            <a:xfrm>
              <a:off x="673" y="1470"/>
              <a:ext cx="43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1682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  <p:sp>
          <p:nvSpPr>
            <p:cNvPr id="11379" name="Rectangle 91"/>
            <p:cNvSpPr>
              <a:spLocks noChangeArrowheads="1"/>
            </p:cNvSpPr>
            <p:nvPr/>
          </p:nvSpPr>
          <p:spPr bwMode="auto">
            <a:xfrm>
              <a:off x="672" y="1207"/>
              <a:ext cx="43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1982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  <p:sp>
          <p:nvSpPr>
            <p:cNvPr id="11380" name="Rectangle 92"/>
            <p:cNvSpPr>
              <a:spLocks noChangeArrowheads="1"/>
            </p:cNvSpPr>
            <p:nvPr/>
          </p:nvSpPr>
          <p:spPr bwMode="auto">
            <a:xfrm>
              <a:off x="673" y="947"/>
              <a:ext cx="43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2102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  <p:sp>
          <p:nvSpPr>
            <p:cNvPr id="11381" name="Rectangle 93"/>
            <p:cNvSpPr>
              <a:spLocks noChangeArrowheads="1"/>
            </p:cNvSpPr>
            <p:nvPr/>
          </p:nvSpPr>
          <p:spPr bwMode="auto">
            <a:xfrm>
              <a:off x="674" y="432"/>
              <a:ext cx="47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2523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1988118" y="3652838"/>
            <a:ext cx="1036638" cy="1281112"/>
            <a:chOff x="720" y="2256"/>
            <a:chExt cx="653" cy="807"/>
          </a:xfrm>
        </p:grpSpPr>
        <p:sp>
          <p:nvSpPr>
            <p:cNvPr id="11373" name="Rectangle 95"/>
            <p:cNvSpPr>
              <a:spLocks noChangeArrowheads="1"/>
            </p:cNvSpPr>
            <p:nvPr/>
          </p:nvSpPr>
          <p:spPr bwMode="auto">
            <a:xfrm>
              <a:off x="756" y="2779"/>
              <a:ext cx="3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630</a:t>
              </a:r>
              <a:endParaRPr kumimoji="1" lang="en-US" altLang="zh-CN" sz="1400">
                <a:latin typeface="ItalicT" pitchFamily="2" charset="0"/>
              </a:endParaRPr>
            </a:p>
          </p:txBody>
        </p:sp>
        <p:sp>
          <p:nvSpPr>
            <p:cNvPr id="11374" name="Rectangle 96"/>
            <p:cNvSpPr>
              <a:spLocks noChangeArrowheads="1"/>
            </p:cNvSpPr>
            <p:nvPr/>
          </p:nvSpPr>
          <p:spPr bwMode="auto">
            <a:xfrm>
              <a:off x="720" y="2256"/>
              <a:ext cx="41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1051</a:t>
              </a:r>
              <a:endParaRPr kumimoji="1" lang="en-US" altLang="zh-CN" sz="1400">
                <a:latin typeface="ItalicT" pitchFamily="2" charset="0"/>
              </a:endParaRPr>
            </a:p>
          </p:txBody>
        </p:sp>
        <p:sp>
          <p:nvSpPr>
            <p:cNvPr id="11375" name="Rectangle 97"/>
            <p:cNvSpPr>
              <a:spLocks noChangeArrowheads="1"/>
            </p:cNvSpPr>
            <p:nvPr/>
          </p:nvSpPr>
          <p:spPr bwMode="auto">
            <a:xfrm>
              <a:off x="1104" y="2400"/>
              <a:ext cx="257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A4</a:t>
              </a:r>
              <a:r>
                <a:rPr kumimoji="1" lang="en-US" altLang="zh-CN" sz="1400" b="1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kumimoji="1" lang="en-US" altLang="zh-CN" sz="1400" b="1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1376" name="Rectangle 98"/>
            <p:cNvSpPr>
              <a:spLocks noChangeArrowheads="1"/>
            </p:cNvSpPr>
            <p:nvPr/>
          </p:nvSpPr>
          <p:spPr bwMode="auto">
            <a:xfrm>
              <a:off x="1116" y="2657"/>
              <a:ext cx="257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A4</a:t>
              </a:r>
              <a:r>
                <a:rPr kumimoji="1" lang="en-US" altLang="zh-CN" sz="1400" b="1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kumimoji="1" lang="en-US" altLang="zh-CN" sz="1400" b="1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1377" name="Rectangle 99"/>
            <p:cNvSpPr>
              <a:spLocks noChangeArrowheads="1"/>
            </p:cNvSpPr>
            <p:nvPr/>
          </p:nvSpPr>
          <p:spPr bwMode="auto">
            <a:xfrm>
              <a:off x="1104" y="2927"/>
              <a:ext cx="257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A4</a:t>
              </a:r>
              <a:r>
                <a:rPr kumimoji="1" lang="en-US" altLang="zh-CN" sz="1400" b="1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kumimoji="1" lang="en-US" altLang="zh-CN" sz="1400" b="1"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11269" name="Group 100"/>
          <p:cNvGrpSpPr>
            <a:grpSpLocks/>
          </p:cNvGrpSpPr>
          <p:nvPr/>
        </p:nvGrpSpPr>
        <p:grpSpPr bwMode="auto">
          <a:xfrm>
            <a:off x="1911918" y="4033840"/>
            <a:ext cx="3384550" cy="2290763"/>
            <a:chOff x="672" y="2496"/>
            <a:chExt cx="2132" cy="1443"/>
          </a:xfrm>
        </p:grpSpPr>
        <p:sp>
          <p:nvSpPr>
            <p:cNvPr id="11368" name="Rectangle 101"/>
            <p:cNvSpPr>
              <a:spLocks noChangeArrowheads="1"/>
            </p:cNvSpPr>
            <p:nvPr/>
          </p:nvSpPr>
          <p:spPr bwMode="auto">
            <a:xfrm>
              <a:off x="1066" y="2640"/>
              <a:ext cx="1488" cy="1056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zh-CN" sz="2400" i="1">
                <a:latin typeface="Times New Roman" pitchFamily="18" charset="0"/>
              </a:endParaRPr>
            </a:p>
          </p:txBody>
        </p:sp>
        <p:sp>
          <p:nvSpPr>
            <p:cNvPr id="11369" name="Text Box 102"/>
            <p:cNvSpPr txBox="1">
              <a:spLocks noChangeArrowheads="1"/>
            </p:cNvSpPr>
            <p:nvPr/>
          </p:nvSpPr>
          <p:spPr bwMode="auto">
            <a:xfrm>
              <a:off x="2170" y="2671"/>
              <a:ext cx="25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A0</a:t>
              </a:r>
            </a:p>
          </p:txBody>
        </p:sp>
        <p:sp>
          <p:nvSpPr>
            <p:cNvPr id="11370" name="Text Box 103"/>
            <p:cNvSpPr txBox="1">
              <a:spLocks noChangeArrowheads="1"/>
            </p:cNvSpPr>
            <p:nvPr/>
          </p:nvSpPr>
          <p:spPr bwMode="auto">
            <a:xfrm>
              <a:off x="672" y="2496"/>
              <a:ext cx="3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841</a:t>
              </a:r>
              <a:endParaRPr kumimoji="1" lang="en-US" altLang="zh-CN" sz="1400" b="1">
                <a:latin typeface="ItalicT" pitchFamily="2" charset="0"/>
              </a:endParaRPr>
            </a:p>
          </p:txBody>
        </p:sp>
        <p:sp>
          <p:nvSpPr>
            <p:cNvPr id="11371" name="Text Box 104"/>
            <p:cNvSpPr txBox="1">
              <a:spLocks noChangeArrowheads="1"/>
            </p:cNvSpPr>
            <p:nvPr/>
          </p:nvSpPr>
          <p:spPr bwMode="auto">
            <a:xfrm>
              <a:off x="2400" y="3653"/>
              <a:ext cx="4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1189</a:t>
              </a:r>
              <a:endParaRPr kumimoji="1" lang="en-US" altLang="zh-CN" sz="1400">
                <a:latin typeface="ItalicT" pitchFamily="2" charset="0"/>
              </a:endParaRPr>
            </a:p>
          </p:txBody>
        </p:sp>
        <p:sp>
          <p:nvSpPr>
            <p:cNvPr id="11372" name="Text Box 105"/>
            <p:cNvSpPr txBox="1">
              <a:spLocks noChangeArrowheads="1"/>
            </p:cNvSpPr>
            <p:nvPr/>
          </p:nvSpPr>
          <p:spPr bwMode="auto">
            <a:xfrm>
              <a:off x="768" y="3648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0</a:t>
              </a:r>
              <a:endParaRPr kumimoji="1" lang="en-US" altLang="zh-CN" sz="2400" i="1">
                <a:latin typeface="宋体" pitchFamily="2" charset="-122"/>
              </a:endParaRPr>
            </a:p>
          </p:txBody>
        </p:sp>
      </p:grpSp>
      <p:grpSp>
        <p:nvGrpSpPr>
          <p:cNvPr id="6" name="Group 106"/>
          <p:cNvGrpSpPr>
            <a:grpSpLocks/>
          </p:cNvGrpSpPr>
          <p:nvPr/>
        </p:nvGrpSpPr>
        <p:grpSpPr bwMode="auto">
          <a:xfrm>
            <a:off x="2521518" y="4271987"/>
            <a:ext cx="1460500" cy="1990725"/>
            <a:chOff x="1056" y="2640"/>
            <a:chExt cx="920" cy="1254"/>
          </a:xfrm>
        </p:grpSpPr>
        <p:sp>
          <p:nvSpPr>
            <p:cNvPr id="11365" name="Freeform 107"/>
            <p:cNvSpPr>
              <a:spLocks/>
            </p:cNvSpPr>
            <p:nvPr/>
          </p:nvSpPr>
          <p:spPr bwMode="auto">
            <a:xfrm>
              <a:off x="1056" y="2640"/>
              <a:ext cx="757" cy="1061"/>
            </a:xfrm>
            <a:custGeom>
              <a:avLst/>
              <a:gdLst>
                <a:gd name="T0" fmla="*/ 0 w 4528"/>
                <a:gd name="T1" fmla="*/ 0 h 6410"/>
                <a:gd name="T2" fmla="*/ 0 w 4528"/>
                <a:gd name="T3" fmla="*/ 0 h 6410"/>
                <a:gd name="T4" fmla="*/ 0 w 4528"/>
                <a:gd name="T5" fmla="*/ 0 h 6410"/>
                <a:gd name="T6" fmla="*/ 0 w 4528"/>
                <a:gd name="T7" fmla="*/ 0 h 6410"/>
                <a:gd name="T8" fmla="*/ 0 w 4528"/>
                <a:gd name="T9" fmla="*/ 0 h 6410"/>
                <a:gd name="T10" fmla="*/ 0 w 4528"/>
                <a:gd name="T11" fmla="*/ 0 h 64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528"/>
                <a:gd name="T19" fmla="*/ 0 h 6410"/>
                <a:gd name="T20" fmla="*/ 4528 w 4528"/>
                <a:gd name="T21" fmla="*/ 6410 h 64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528" h="6410">
                  <a:moveTo>
                    <a:pt x="4527" y="0"/>
                  </a:moveTo>
                  <a:lnTo>
                    <a:pt x="0" y="0"/>
                  </a:lnTo>
                  <a:lnTo>
                    <a:pt x="0" y="6410"/>
                  </a:lnTo>
                  <a:lnTo>
                    <a:pt x="4527" y="6410"/>
                  </a:lnTo>
                  <a:lnTo>
                    <a:pt x="4527" y="0"/>
                  </a:lnTo>
                  <a:lnTo>
                    <a:pt x="4528" y="0"/>
                  </a:lnTo>
                </a:path>
              </a:pathLst>
            </a:custGeom>
            <a:solidFill>
              <a:srgbClr val="CCECFF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6" name="Rectangle 108"/>
            <p:cNvSpPr>
              <a:spLocks noChangeArrowheads="1"/>
            </p:cNvSpPr>
            <p:nvPr/>
          </p:nvSpPr>
          <p:spPr bwMode="auto">
            <a:xfrm>
              <a:off x="1590" y="2671"/>
              <a:ext cx="24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A1</a:t>
              </a:r>
            </a:p>
          </p:txBody>
        </p:sp>
        <p:sp>
          <p:nvSpPr>
            <p:cNvPr id="11367" name="Rectangle 109"/>
            <p:cNvSpPr>
              <a:spLocks noChangeArrowheads="1"/>
            </p:cNvSpPr>
            <p:nvPr/>
          </p:nvSpPr>
          <p:spPr bwMode="auto">
            <a:xfrm>
              <a:off x="1760" y="3721"/>
              <a:ext cx="21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594</a:t>
              </a:r>
            </a:p>
          </p:txBody>
        </p:sp>
      </p:grpSp>
      <p:grpSp>
        <p:nvGrpSpPr>
          <p:cNvPr id="7" name="Group 110"/>
          <p:cNvGrpSpPr>
            <a:grpSpLocks/>
          </p:cNvGrpSpPr>
          <p:nvPr/>
        </p:nvGrpSpPr>
        <p:grpSpPr bwMode="auto">
          <a:xfrm>
            <a:off x="2521518" y="3016274"/>
            <a:ext cx="596900" cy="646113"/>
            <a:chOff x="1056" y="1849"/>
            <a:chExt cx="376" cy="407"/>
          </a:xfrm>
        </p:grpSpPr>
        <p:sp>
          <p:nvSpPr>
            <p:cNvPr id="11363" name="Freeform 111"/>
            <p:cNvSpPr>
              <a:spLocks/>
            </p:cNvSpPr>
            <p:nvPr/>
          </p:nvSpPr>
          <p:spPr bwMode="auto">
            <a:xfrm>
              <a:off x="1430" y="2161"/>
              <a:ext cx="2" cy="95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2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4" name="Freeform 112"/>
            <p:cNvSpPr>
              <a:spLocks/>
            </p:cNvSpPr>
            <p:nvPr/>
          </p:nvSpPr>
          <p:spPr bwMode="auto">
            <a:xfrm>
              <a:off x="1056" y="1849"/>
              <a:ext cx="90" cy="2"/>
            </a:xfrm>
            <a:custGeom>
              <a:avLst/>
              <a:gdLst>
                <a:gd name="T0" fmla="*/ 0 w 553"/>
                <a:gd name="T1" fmla="*/ 0 h 2"/>
                <a:gd name="T2" fmla="*/ 0 w 553"/>
                <a:gd name="T3" fmla="*/ 0 h 2"/>
                <a:gd name="T4" fmla="*/ 0 w 553"/>
                <a:gd name="T5" fmla="*/ 0 h 2"/>
                <a:gd name="T6" fmla="*/ 0 60000 65536"/>
                <a:gd name="T7" fmla="*/ 0 60000 65536"/>
                <a:gd name="T8" fmla="*/ 0 60000 65536"/>
                <a:gd name="T9" fmla="*/ 0 w 553"/>
                <a:gd name="T10" fmla="*/ 0 h 2"/>
                <a:gd name="T11" fmla="*/ 553 w 553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3" h="2">
                  <a:moveTo>
                    <a:pt x="0" y="0"/>
                  </a:moveTo>
                  <a:lnTo>
                    <a:pt x="552" y="0"/>
                  </a:lnTo>
                  <a:lnTo>
                    <a:pt x="553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13"/>
          <p:cNvGrpSpPr>
            <a:grpSpLocks/>
          </p:cNvGrpSpPr>
          <p:nvPr/>
        </p:nvGrpSpPr>
        <p:grpSpPr bwMode="auto">
          <a:xfrm>
            <a:off x="2521518" y="2567011"/>
            <a:ext cx="1588" cy="1289050"/>
            <a:chOff x="1056" y="1566"/>
            <a:chExt cx="1" cy="812"/>
          </a:xfrm>
        </p:grpSpPr>
        <p:sp>
          <p:nvSpPr>
            <p:cNvPr id="11361" name="Freeform 114"/>
            <p:cNvSpPr>
              <a:spLocks/>
            </p:cNvSpPr>
            <p:nvPr/>
          </p:nvSpPr>
          <p:spPr bwMode="auto">
            <a:xfrm>
              <a:off x="1056" y="2284"/>
              <a:ext cx="1" cy="94"/>
            </a:xfrm>
            <a:custGeom>
              <a:avLst/>
              <a:gdLst>
                <a:gd name="T0" fmla="*/ 0 w 1"/>
                <a:gd name="T1" fmla="*/ 0 h 562"/>
                <a:gd name="T2" fmla="*/ 0 w 1"/>
                <a:gd name="T3" fmla="*/ 0 h 562"/>
                <a:gd name="T4" fmla="*/ 1 w 1"/>
                <a:gd name="T5" fmla="*/ 0 h 562"/>
                <a:gd name="T6" fmla="*/ 0 60000 65536"/>
                <a:gd name="T7" fmla="*/ 0 60000 65536"/>
                <a:gd name="T8" fmla="*/ 0 60000 65536"/>
                <a:gd name="T9" fmla="*/ 0 w 1"/>
                <a:gd name="T10" fmla="*/ 0 h 562"/>
                <a:gd name="T11" fmla="*/ 1 w 1"/>
                <a:gd name="T12" fmla="*/ 562 h 5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62">
                  <a:moveTo>
                    <a:pt x="0" y="56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2" name="Freeform 115"/>
            <p:cNvSpPr>
              <a:spLocks/>
            </p:cNvSpPr>
            <p:nvPr/>
          </p:nvSpPr>
          <p:spPr bwMode="auto">
            <a:xfrm>
              <a:off x="1056" y="1566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16"/>
          <p:cNvGrpSpPr>
            <a:grpSpLocks/>
          </p:cNvGrpSpPr>
          <p:nvPr/>
        </p:nvGrpSpPr>
        <p:grpSpPr bwMode="auto">
          <a:xfrm>
            <a:off x="4875781" y="4275162"/>
            <a:ext cx="2736850" cy="1976437"/>
            <a:chOff x="2544" y="2642"/>
            <a:chExt cx="1724" cy="1245"/>
          </a:xfrm>
        </p:grpSpPr>
        <p:sp>
          <p:nvSpPr>
            <p:cNvPr id="11303" name="Freeform 117"/>
            <p:cNvSpPr>
              <a:spLocks/>
            </p:cNvSpPr>
            <p:nvPr/>
          </p:nvSpPr>
          <p:spPr bwMode="auto">
            <a:xfrm>
              <a:off x="2915" y="3601"/>
              <a:ext cx="1" cy="97"/>
            </a:xfrm>
            <a:custGeom>
              <a:avLst/>
              <a:gdLst>
                <a:gd name="T0" fmla="*/ 0 w 1"/>
                <a:gd name="T1" fmla="*/ 0 h 586"/>
                <a:gd name="T2" fmla="*/ 0 w 1"/>
                <a:gd name="T3" fmla="*/ 0 h 586"/>
                <a:gd name="T4" fmla="*/ 1 w 1"/>
                <a:gd name="T5" fmla="*/ 0 h 586"/>
                <a:gd name="T6" fmla="*/ 0 60000 65536"/>
                <a:gd name="T7" fmla="*/ 0 60000 65536"/>
                <a:gd name="T8" fmla="*/ 0 60000 65536"/>
                <a:gd name="T9" fmla="*/ 0 w 1"/>
                <a:gd name="T10" fmla="*/ 0 h 586"/>
                <a:gd name="T11" fmla="*/ 1 w 1"/>
                <a:gd name="T12" fmla="*/ 586 h 5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6">
                  <a:moveTo>
                    <a:pt x="0" y="58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4" name="Freeform 118"/>
            <p:cNvSpPr>
              <a:spLocks/>
            </p:cNvSpPr>
            <p:nvPr/>
          </p:nvSpPr>
          <p:spPr bwMode="auto">
            <a:xfrm>
              <a:off x="2915" y="3457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5" name="Freeform 119"/>
            <p:cNvSpPr>
              <a:spLocks/>
            </p:cNvSpPr>
            <p:nvPr/>
          </p:nvSpPr>
          <p:spPr bwMode="auto">
            <a:xfrm>
              <a:off x="2915" y="3313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6" name="Freeform 120"/>
            <p:cNvSpPr>
              <a:spLocks/>
            </p:cNvSpPr>
            <p:nvPr/>
          </p:nvSpPr>
          <p:spPr bwMode="auto">
            <a:xfrm>
              <a:off x="2915" y="3162"/>
              <a:ext cx="1" cy="96"/>
            </a:xfrm>
            <a:custGeom>
              <a:avLst/>
              <a:gdLst>
                <a:gd name="T0" fmla="*/ 0 w 1"/>
                <a:gd name="T1" fmla="*/ 0 h 585"/>
                <a:gd name="T2" fmla="*/ 0 w 1"/>
                <a:gd name="T3" fmla="*/ 0 h 585"/>
                <a:gd name="T4" fmla="*/ 1 w 1"/>
                <a:gd name="T5" fmla="*/ 0 h 585"/>
                <a:gd name="T6" fmla="*/ 0 60000 65536"/>
                <a:gd name="T7" fmla="*/ 0 60000 65536"/>
                <a:gd name="T8" fmla="*/ 0 60000 65536"/>
                <a:gd name="T9" fmla="*/ 0 w 1"/>
                <a:gd name="T10" fmla="*/ 0 h 585"/>
                <a:gd name="T11" fmla="*/ 1 w 1"/>
                <a:gd name="T12" fmla="*/ 585 h 5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5">
                  <a:moveTo>
                    <a:pt x="0" y="5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7" name="Freeform 121"/>
            <p:cNvSpPr>
              <a:spLocks/>
            </p:cNvSpPr>
            <p:nvPr/>
          </p:nvSpPr>
          <p:spPr bwMode="auto">
            <a:xfrm>
              <a:off x="3286" y="3623"/>
              <a:ext cx="2" cy="75"/>
            </a:xfrm>
            <a:custGeom>
              <a:avLst/>
              <a:gdLst>
                <a:gd name="T0" fmla="*/ 0 w 1"/>
                <a:gd name="T1" fmla="*/ 0 h 446"/>
                <a:gd name="T2" fmla="*/ 0 w 1"/>
                <a:gd name="T3" fmla="*/ 0 h 446"/>
                <a:gd name="T4" fmla="*/ 262144 w 1"/>
                <a:gd name="T5" fmla="*/ 0 h 446"/>
                <a:gd name="T6" fmla="*/ 0 60000 65536"/>
                <a:gd name="T7" fmla="*/ 0 60000 65536"/>
                <a:gd name="T8" fmla="*/ 0 60000 65536"/>
                <a:gd name="T9" fmla="*/ 0 w 1"/>
                <a:gd name="T10" fmla="*/ 0 h 446"/>
                <a:gd name="T11" fmla="*/ 1 w 1"/>
                <a:gd name="T12" fmla="*/ 446 h 4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46">
                  <a:moveTo>
                    <a:pt x="0" y="4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8" name="Freeform 122"/>
            <p:cNvSpPr>
              <a:spLocks/>
            </p:cNvSpPr>
            <p:nvPr/>
          </p:nvSpPr>
          <p:spPr bwMode="auto">
            <a:xfrm>
              <a:off x="3286" y="3479"/>
              <a:ext cx="2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262144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Freeform 123"/>
            <p:cNvSpPr>
              <a:spLocks/>
            </p:cNvSpPr>
            <p:nvPr/>
          </p:nvSpPr>
          <p:spPr bwMode="auto">
            <a:xfrm>
              <a:off x="3286" y="3337"/>
              <a:ext cx="2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262144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0" name="Freeform 124"/>
            <p:cNvSpPr>
              <a:spLocks/>
            </p:cNvSpPr>
            <p:nvPr/>
          </p:nvSpPr>
          <p:spPr bwMode="auto">
            <a:xfrm>
              <a:off x="3286" y="3185"/>
              <a:ext cx="2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262144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Freeform 125"/>
            <p:cNvSpPr>
              <a:spLocks/>
            </p:cNvSpPr>
            <p:nvPr/>
          </p:nvSpPr>
          <p:spPr bwMode="auto">
            <a:xfrm>
              <a:off x="3286" y="3049"/>
              <a:ext cx="2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262144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Freeform 126"/>
            <p:cNvSpPr>
              <a:spLocks/>
            </p:cNvSpPr>
            <p:nvPr/>
          </p:nvSpPr>
          <p:spPr bwMode="auto">
            <a:xfrm>
              <a:off x="3286" y="2906"/>
              <a:ext cx="2" cy="96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262144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Freeform 127"/>
            <p:cNvSpPr>
              <a:spLocks/>
            </p:cNvSpPr>
            <p:nvPr/>
          </p:nvSpPr>
          <p:spPr bwMode="auto">
            <a:xfrm>
              <a:off x="3286" y="2763"/>
              <a:ext cx="2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262144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Freeform 128"/>
            <p:cNvSpPr>
              <a:spLocks/>
            </p:cNvSpPr>
            <p:nvPr/>
          </p:nvSpPr>
          <p:spPr bwMode="auto">
            <a:xfrm>
              <a:off x="3286" y="2642"/>
              <a:ext cx="2" cy="72"/>
            </a:xfrm>
            <a:custGeom>
              <a:avLst/>
              <a:gdLst>
                <a:gd name="T0" fmla="*/ 0 w 1"/>
                <a:gd name="T1" fmla="*/ 0 h 446"/>
                <a:gd name="T2" fmla="*/ 0 w 1"/>
                <a:gd name="T3" fmla="*/ 0 h 446"/>
                <a:gd name="T4" fmla="*/ 262144 w 1"/>
                <a:gd name="T5" fmla="*/ 0 h 446"/>
                <a:gd name="T6" fmla="*/ 0 60000 65536"/>
                <a:gd name="T7" fmla="*/ 0 60000 65536"/>
                <a:gd name="T8" fmla="*/ 0 60000 65536"/>
                <a:gd name="T9" fmla="*/ 0 w 1"/>
                <a:gd name="T10" fmla="*/ 0 h 446"/>
                <a:gd name="T11" fmla="*/ 1 w 1"/>
                <a:gd name="T12" fmla="*/ 446 h 4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46">
                  <a:moveTo>
                    <a:pt x="0" y="4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5" name="Freeform 129"/>
            <p:cNvSpPr>
              <a:spLocks/>
            </p:cNvSpPr>
            <p:nvPr/>
          </p:nvSpPr>
          <p:spPr bwMode="auto">
            <a:xfrm>
              <a:off x="3659" y="3601"/>
              <a:ext cx="1" cy="97"/>
            </a:xfrm>
            <a:custGeom>
              <a:avLst/>
              <a:gdLst>
                <a:gd name="T0" fmla="*/ 0 w 1"/>
                <a:gd name="T1" fmla="*/ 0 h 586"/>
                <a:gd name="T2" fmla="*/ 0 w 1"/>
                <a:gd name="T3" fmla="*/ 0 h 586"/>
                <a:gd name="T4" fmla="*/ 1 w 1"/>
                <a:gd name="T5" fmla="*/ 0 h 586"/>
                <a:gd name="T6" fmla="*/ 0 60000 65536"/>
                <a:gd name="T7" fmla="*/ 0 60000 65536"/>
                <a:gd name="T8" fmla="*/ 0 60000 65536"/>
                <a:gd name="T9" fmla="*/ 0 w 1"/>
                <a:gd name="T10" fmla="*/ 0 h 586"/>
                <a:gd name="T11" fmla="*/ 1 w 1"/>
                <a:gd name="T12" fmla="*/ 586 h 5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6">
                  <a:moveTo>
                    <a:pt x="0" y="58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6" name="Freeform 130"/>
            <p:cNvSpPr>
              <a:spLocks/>
            </p:cNvSpPr>
            <p:nvPr/>
          </p:nvSpPr>
          <p:spPr bwMode="auto">
            <a:xfrm>
              <a:off x="3659" y="3457"/>
              <a:ext cx="1" cy="95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Freeform 131"/>
            <p:cNvSpPr>
              <a:spLocks/>
            </p:cNvSpPr>
            <p:nvPr/>
          </p:nvSpPr>
          <p:spPr bwMode="auto">
            <a:xfrm>
              <a:off x="3659" y="3313"/>
              <a:ext cx="1" cy="97"/>
            </a:xfrm>
            <a:custGeom>
              <a:avLst/>
              <a:gdLst>
                <a:gd name="T0" fmla="*/ 0 w 1"/>
                <a:gd name="T1" fmla="*/ 0 h 581"/>
                <a:gd name="T2" fmla="*/ 0 w 1"/>
                <a:gd name="T3" fmla="*/ 0 h 581"/>
                <a:gd name="T4" fmla="*/ 1 w 1"/>
                <a:gd name="T5" fmla="*/ 0 h 581"/>
                <a:gd name="T6" fmla="*/ 0 60000 65536"/>
                <a:gd name="T7" fmla="*/ 0 60000 65536"/>
                <a:gd name="T8" fmla="*/ 0 60000 65536"/>
                <a:gd name="T9" fmla="*/ 0 w 1"/>
                <a:gd name="T10" fmla="*/ 0 h 581"/>
                <a:gd name="T11" fmla="*/ 1 w 1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1">
                  <a:moveTo>
                    <a:pt x="0" y="5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8" name="Freeform 132"/>
            <p:cNvSpPr>
              <a:spLocks/>
            </p:cNvSpPr>
            <p:nvPr/>
          </p:nvSpPr>
          <p:spPr bwMode="auto">
            <a:xfrm>
              <a:off x="3659" y="3162"/>
              <a:ext cx="1" cy="96"/>
            </a:xfrm>
            <a:custGeom>
              <a:avLst/>
              <a:gdLst>
                <a:gd name="T0" fmla="*/ 0 w 1"/>
                <a:gd name="T1" fmla="*/ 0 h 585"/>
                <a:gd name="T2" fmla="*/ 0 w 1"/>
                <a:gd name="T3" fmla="*/ 0 h 585"/>
                <a:gd name="T4" fmla="*/ 1 w 1"/>
                <a:gd name="T5" fmla="*/ 0 h 585"/>
                <a:gd name="T6" fmla="*/ 0 60000 65536"/>
                <a:gd name="T7" fmla="*/ 0 60000 65536"/>
                <a:gd name="T8" fmla="*/ 0 60000 65536"/>
                <a:gd name="T9" fmla="*/ 0 w 1"/>
                <a:gd name="T10" fmla="*/ 0 h 585"/>
                <a:gd name="T11" fmla="*/ 1 w 1"/>
                <a:gd name="T12" fmla="*/ 585 h 5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5">
                  <a:moveTo>
                    <a:pt x="0" y="5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9" name="Freeform 133"/>
            <p:cNvSpPr>
              <a:spLocks/>
            </p:cNvSpPr>
            <p:nvPr/>
          </p:nvSpPr>
          <p:spPr bwMode="auto">
            <a:xfrm>
              <a:off x="4032" y="3623"/>
              <a:ext cx="1" cy="75"/>
            </a:xfrm>
            <a:custGeom>
              <a:avLst/>
              <a:gdLst>
                <a:gd name="T0" fmla="*/ 0 w 2"/>
                <a:gd name="T1" fmla="*/ 0 h 446"/>
                <a:gd name="T2" fmla="*/ 0 w 2"/>
                <a:gd name="T3" fmla="*/ 0 h 446"/>
                <a:gd name="T4" fmla="*/ 1 w 2"/>
                <a:gd name="T5" fmla="*/ 0 h 446"/>
                <a:gd name="T6" fmla="*/ 0 60000 65536"/>
                <a:gd name="T7" fmla="*/ 0 60000 65536"/>
                <a:gd name="T8" fmla="*/ 0 60000 65536"/>
                <a:gd name="T9" fmla="*/ 0 w 2"/>
                <a:gd name="T10" fmla="*/ 0 h 446"/>
                <a:gd name="T11" fmla="*/ 2 w 2"/>
                <a:gd name="T12" fmla="*/ 446 h 4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446">
                  <a:moveTo>
                    <a:pt x="0" y="44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Freeform 134"/>
            <p:cNvSpPr>
              <a:spLocks/>
            </p:cNvSpPr>
            <p:nvPr/>
          </p:nvSpPr>
          <p:spPr bwMode="auto">
            <a:xfrm>
              <a:off x="4032" y="3479"/>
              <a:ext cx="1" cy="97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1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1" name="Freeform 135"/>
            <p:cNvSpPr>
              <a:spLocks/>
            </p:cNvSpPr>
            <p:nvPr/>
          </p:nvSpPr>
          <p:spPr bwMode="auto">
            <a:xfrm>
              <a:off x="4032" y="3337"/>
              <a:ext cx="1" cy="95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1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2" name="Freeform 136"/>
            <p:cNvSpPr>
              <a:spLocks/>
            </p:cNvSpPr>
            <p:nvPr/>
          </p:nvSpPr>
          <p:spPr bwMode="auto">
            <a:xfrm>
              <a:off x="4032" y="3193"/>
              <a:ext cx="1" cy="95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1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3" name="Freeform 137"/>
            <p:cNvSpPr>
              <a:spLocks/>
            </p:cNvSpPr>
            <p:nvPr/>
          </p:nvSpPr>
          <p:spPr bwMode="auto">
            <a:xfrm>
              <a:off x="4032" y="3049"/>
              <a:ext cx="1" cy="97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1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4" name="Freeform 138"/>
            <p:cNvSpPr>
              <a:spLocks/>
            </p:cNvSpPr>
            <p:nvPr/>
          </p:nvSpPr>
          <p:spPr bwMode="auto">
            <a:xfrm>
              <a:off x="4032" y="2906"/>
              <a:ext cx="1" cy="96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1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5" name="Freeform 139"/>
            <p:cNvSpPr>
              <a:spLocks/>
            </p:cNvSpPr>
            <p:nvPr/>
          </p:nvSpPr>
          <p:spPr bwMode="auto">
            <a:xfrm>
              <a:off x="4032" y="2763"/>
              <a:ext cx="1" cy="95"/>
            </a:xfrm>
            <a:custGeom>
              <a:avLst/>
              <a:gdLst>
                <a:gd name="T0" fmla="*/ 0 w 2"/>
                <a:gd name="T1" fmla="*/ 0 h 581"/>
                <a:gd name="T2" fmla="*/ 0 w 2"/>
                <a:gd name="T3" fmla="*/ 0 h 581"/>
                <a:gd name="T4" fmla="*/ 1 w 2"/>
                <a:gd name="T5" fmla="*/ 0 h 581"/>
                <a:gd name="T6" fmla="*/ 0 60000 65536"/>
                <a:gd name="T7" fmla="*/ 0 60000 65536"/>
                <a:gd name="T8" fmla="*/ 0 60000 65536"/>
                <a:gd name="T9" fmla="*/ 0 w 2"/>
                <a:gd name="T10" fmla="*/ 0 h 581"/>
                <a:gd name="T11" fmla="*/ 2 w 2"/>
                <a:gd name="T12" fmla="*/ 581 h 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81">
                  <a:moveTo>
                    <a:pt x="0" y="58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6" name="Freeform 140"/>
            <p:cNvSpPr>
              <a:spLocks/>
            </p:cNvSpPr>
            <p:nvPr/>
          </p:nvSpPr>
          <p:spPr bwMode="auto">
            <a:xfrm>
              <a:off x="4032" y="2642"/>
              <a:ext cx="1" cy="72"/>
            </a:xfrm>
            <a:custGeom>
              <a:avLst/>
              <a:gdLst>
                <a:gd name="T0" fmla="*/ 0 w 2"/>
                <a:gd name="T1" fmla="*/ 0 h 446"/>
                <a:gd name="T2" fmla="*/ 0 w 2"/>
                <a:gd name="T3" fmla="*/ 0 h 446"/>
                <a:gd name="T4" fmla="*/ 1 w 2"/>
                <a:gd name="T5" fmla="*/ 0 h 446"/>
                <a:gd name="T6" fmla="*/ 0 60000 65536"/>
                <a:gd name="T7" fmla="*/ 0 60000 65536"/>
                <a:gd name="T8" fmla="*/ 0 60000 65536"/>
                <a:gd name="T9" fmla="*/ 0 w 2"/>
                <a:gd name="T10" fmla="*/ 0 h 446"/>
                <a:gd name="T11" fmla="*/ 2 w 2"/>
                <a:gd name="T12" fmla="*/ 446 h 4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446">
                  <a:moveTo>
                    <a:pt x="0" y="44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7" name="Freeform 141"/>
            <p:cNvSpPr>
              <a:spLocks/>
            </p:cNvSpPr>
            <p:nvPr/>
          </p:nvSpPr>
          <p:spPr bwMode="auto">
            <a:xfrm>
              <a:off x="2581" y="2642"/>
              <a:ext cx="77" cy="1"/>
            </a:xfrm>
            <a:custGeom>
              <a:avLst/>
              <a:gdLst>
                <a:gd name="T0" fmla="*/ 0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  <a:gd name="T9" fmla="*/ 0 w 466"/>
                <a:gd name="T10" fmla="*/ 0 h 1"/>
                <a:gd name="T11" fmla="*/ 466 w 4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1">
                  <a:moveTo>
                    <a:pt x="0" y="0"/>
                  </a:moveTo>
                  <a:lnTo>
                    <a:pt x="465" y="0"/>
                  </a:lnTo>
                  <a:lnTo>
                    <a:pt x="466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8" name="Freeform 142"/>
            <p:cNvSpPr>
              <a:spLocks/>
            </p:cNvSpPr>
            <p:nvPr/>
          </p:nvSpPr>
          <p:spPr bwMode="auto">
            <a:xfrm>
              <a:off x="2668" y="2642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9" name="Freeform 143"/>
            <p:cNvSpPr>
              <a:spLocks/>
            </p:cNvSpPr>
            <p:nvPr/>
          </p:nvSpPr>
          <p:spPr bwMode="auto">
            <a:xfrm>
              <a:off x="2810" y="2642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0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0" name="Freeform 144"/>
            <p:cNvSpPr>
              <a:spLocks/>
            </p:cNvSpPr>
            <p:nvPr/>
          </p:nvSpPr>
          <p:spPr bwMode="auto">
            <a:xfrm>
              <a:off x="2953" y="2642"/>
              <a:ext cx="97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1" name="Freeform 145"/>
            <p:cNvSpPr>
              <a:spLocks/>
            </p:cNvSpPr>
            <p:nvPr/>
          </p:nvSpPr>
          <p:spPr bwMode="auto">
            <a:xfrm>
              <a:off x="3097" y="2642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2" name="Freeform 146"/>
            <p:cNvSpPr>
              <a:spLocks/>
            </p:cNvSpPr>
            <p:nvPr/>
          </p:nvSpPr>
          <p:spPr bwMode="auto">
            <a:xfrm>
              <a:off x="3239" y="2642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3" name="Freeform 147"/>
            <p:cNvSpPr>
              <a:spLocks/>
            </p:cNvSpPr>
            <p:nvPr/>
          </p:nvSpPr>
          <p:spPr bwMode="auto">
            <a:xfrm>
              <a:off x="3382" y="2642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4" name="Freeform 148"/>
            <p:cNvSpPr>
              <a:spLocks/>
            </p:cNvSpPr>
            <p:nvPr/>
          </p:nvSpPr>
          <p:spPr bwMode="auto">
            <a:xfrm>
              <a:off x="3526" y="2642"/>
              <a:ext cx="94" cy="1"/>
            </a:xfrm>
            <a:custGeom>
              <a:avLst/>
              <a:gdLst>
                <a:gd name="T0" fmla="*/ 0 w 580"/>
                <a:gd name="T1" fmla="*/ 0 h 1"/>
                <a:gd name="T2" fmla="*/ 0 w 580"/>
                <a:gd name="T3" fmla="*/ 0 h 1"/>
                <a:gd name="T4" fmla="*/ 0 w 580"/>
                <a:gd name="T5" fmla="*/ 0 h 1"/>
                <a:gd name="T6" fmla="*/ 0 60000 65536"/>
                <a:gd name="T7" fmla="*/ 0 60000 65536"/>
                <a:gd name="T8" fmla="*/ 0 60000 65536"/>
                <a:gd name="T9" fmla="*/ 0 w 580"/>
                <a:gd name="T10" fmla="*/ 0 h 1"/>
                <a:gd name="T11" fmla="*/ 580 w 58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0" h="1">
                  <a:moveTo>
                    <a:pt x="0" y="0"/>
                  </a:moveTo>
                  <a:lnTo>
                    <a:pt x="579" y="0"/>
                  </a:lnTo>
                  <a:lnTo>
                    <a:pt x="580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5" name="Freeform 149"/>
            <p:cNvSpPr>
              <a:spLocks/>
            </p:cNvSpPr>
            <p:nvPr/>
          </p:nvSpPr>
          <p:spPr bwMode="auto">
            <a:xfrm>
              <a:off x="3669" y="2642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6" name="Freeform 150"/>
            <p:cNvSpPr>
              <a:spLocks/>
            </p:cNvSpPr>
            <p:nvPr/>
          </p:nvSpPr>
          <p:spPr bwMode="auto">
            <a:xfrm>
              <a:off x="3811" y="2642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7" name="Freeform 151"/>
            <p:cNvSpPr>
              <a:spLocks/>
            </p:cNvSpPr>
            <p:nvPr/>
          </p:nvSpPr>
          <p:spPr bwMode="auto">
            <a:xfrm>
              <a:off x="3955" y="2642"/>
              <a:ext cx="77" cy="1"/>
            </a:xfrm>
            <a:custGeom>
              <a:avLst/>
              <a:gdLst>
                <a:gd name="T0" fmla="*/ 0 w 467"/>
                <a:gd name="T1" fmla="*/ 0 h 1"/>
                <a:gd name="T2" fmla="*/ 0 w 467"/>
                <a:gd name="T3" fmla="*/ 0 h 1"/>
                <a:gd name="T4" fmla="*/ 0 w 467"/>
                <a:gd name="T5" fmla="*/ 0 h 1"/>
                <a:gd name="T6" fmla="*/ 0 60000 65536"/>
                <a:gd name="T7" fmla="*/ 0 60000 65536"/>
                <a:gd name="T8" fmla="*/ 0 60000 65536"/>
                <a:gd name="T9" fmla="*/ 0 w 467"/>
                <a:gd name="T10" fmla="*/ 0 h 1"/>
                <a:gd name="T11" fmla="*/ 467 w 46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7" h="1">
                  <a:moveTo>
                    <a:pt x="0" y="0"/>
                  </a:moveTo>
                  <a:lnTo>
                    <a:pt x="465" y="0"/>
                  </a:lnTo>
                  <a:lnTo>
                    <a:pt x="467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8" name="Freeform 152"/>
            <p:cNvSpPr>
              <a:spLocks/>
            </p:cNvSpPr>
            <p:nvPr/>
          </p:nvSpPr>
          <p:spPr bwMode="auto">
            <a:xfrm>
              <a:off x="2544" y="3698"/>
              <a:ext cx="77" cy="1"/>
            </a:xfrm>
            <a:custGeom>
              <a:avLst/>
              <a:gdLst>
                <a:gd name="T0" fmla="*/ 0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  <a:gd name="T9" fmla="*/ 0 w 466"/>
                <a:gd name="T10" fmla="*/ 0 h 1"/>
                <a:gd name="T11" fmla="*/ 466 w 4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1">
                  <a:moveTo>
                    <a:pt x="0" y="0"/>
                  </a:moveTo>
                  <a:lnTo>
                    <a:pt x="465" y="0"/>
                  </a:lnTo>
                  <a:lnTo>
                    <a:pt x="466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9" name="Freeform 153"/>
            <p:cNvSpPr>
              <a:spLocks/>
            </p:cNvSpPr>
            <p:nvPr/>
          </p:nvSpPr>
          <p:spPr bwMode="auto">
            <a:xfrm>
              <a:off x="2668" y="3698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0" name="Freeform 154"/>
            <p:cNvSpPr>
              <a:spLocks/>
            </p:cNvSpPr>
            <p:nvPr/>
          </p:nvSpPr>
          <p:spPr bwMode="auto">
            <a:xfrm>
              <a:off x="2810" y="3698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0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1" name="Freeform 155"/>
            <p:cNvSpPr>
              <a:spLocks/>
            </p:cNvSpPr>
            <p:nvPr/>
          </p:nvSpPr>
          <p:spPr bwMode="auto">
            <a:xfrm>
              <a:off x="2953" y="3698"/>
              <a:ext cx="97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2" name="Freeform 156"/>
            <p:cNvSpPr>
              <a:spLocks/>
            </p:cNvSpPr>
            <p:nvPr/>
          </p:nvSpPr>
          <p:spPr bwMode="auto">
            <a:xfrm>
              <a:off x="3097" y="3698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Freeform 157"/>
            <p:cNvSpPr>
              <a:spLocks/>
            </p:cNvSpPr>
            <p:nvPr/>
          </p:nvSpPr>
          <p:spPr bwMode="auto">
            <a:xfrm>
              <a:off x="3239" y="3698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4" name="Freeform 158"/>
            <p:cNvSpPr>
              <a:spLocks/>
            </p:cNvSpPr>
            <p:nvPr/>
          </p:nvSpPr>
          <p:spPr bwMode="auto">
            <a:xfrm>
              <a:off x="3382" y="3698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5" name="Freeform 159"/>
            <p:cNvSpPr>
              <a:spLocks/>
            </p:cNvSpPr>
            <p:nvPr/>
          </p:nvSpPr>
          <p:spPr bwMode="auto">
            <a:xfrm>
              <a:off x="3526" y="3698"/>
              <a:ext cx="94" cy="1"/>
            </a:xfrm>
            <a:custGeom>
              <a:avLst/>
              <a:gdLst>
                <a:gd name="T0" fmla="*/ 0 w 580"/>
                <a:gd name="T1" fmla="*/ 0 h 1"/>
                <a:gd name="T2" fmla="*/ 0 w 580"/>
                <a:gd name="T3" fmla="*/ 0 h 1"/>
                <a:gd name="T4" fmla="*/ 0 w 580"/>
                <a:gd name="T5" fmla="*/ 0 h 1"/>
                <a:gd name="T6" fmla="*/ 0 60000 65536"/>
                <a:gd name="T7" fmla="*/ 0 60000 65536"/>
                <a:gd name="T8" fmla="*/ 0 60000 65536"/>
                <a:gd name="T9" fmla="*/ 0 w 580"/>
                <a:gd name="T10" fmla="*/ 0 h 1"/>
                <a:gd name="T11" fmla="*/ 580 w 58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0" h="1">
                  <a:moveTo>
                    <a:pt x="0" y="0"/>
                  </a:moveTo>
                  <a:lnTo>
                    <a:pt x="579" y="0"/>
                  </a:lnTo>
                  <a:lnTo>
                    <a:pt x="580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6" name="Freeform 160"/>
            <p:cNvSpPr>
              <a:spLocks/>
            </p:cNvSpPr>
            <p:nvPr/>
          </p:nvSpPr>
          <p:spPr bwMode="auto">
            <a:xfrm>
              <a:off x="3669" y="3698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7" name="Freeform 161"/>
            <p:cNvSpPr>
              <a:spLocks/>
            </p:cNvSpPr>
            <p:nvPr/>
          </p:nvSpPr>
          <p:spPr bwMode="auto">
            <a:xfrm>
              <a:off x="3811" y="3698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8" name="Freeform 162"/>
            <p:cNvSpPr>
              <a:spLocks/>
            </p:cNvSpPr>
            <p:nvPr/>
          </p:nvSpPr>
          <p:spPr bwMode="auto">
            <a:xfrm>
              <a:off x="3955" y="3698"/>
              <a:ext cx="77" cy="1"/>
            </a:xfrm>
            <a:custGeom>
              <a:avLst/>
              <a:gdLst>
                <a:gd name="T0" fmla="*/ 0 w 467"/>
                <a:gd name="T1" fmla="*/ 0 h 1"/>
                <a:gd name="T2" fmla="*/ 0 w 467"/>
                <a:gd name="T3" fmla="*/ 0 h 1"/>
                <a:gd name="T4" fmla="*/ 0 w 467"/>
                <a:gd name="T5" fmla="*/ 0 h 1"/>
                <a:gd name="T6" fmla="*/ 0 60000 65536"/>
                <a:gd name="T7" fmla="*/ 0 60000 65536"/>
                <a:gd name="T8" fmla="*/ 0 60000 65536"/>
                <a:gd name="T9" fmla="*/ 0 w 467"/>
                <a:gd name="T10" fmla="*/ 0 h 1"/>
                <a:gd name="T11" fmla="*/ 467 w 46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7" h="1">
                  <a:moveTo>
                    <a:pt x="0" y="0"/>
                  </a:moveTo>
                  <a:lnTo>
                    <a:pt x="465" y="0"/>
                  </a:lnTo>
                  <a:lnTo>
                    <a:pt x="467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9" name="Freeform 163"/>
            <p:cNvSpPr>
              <a:spLocks/>
            </p:cNvSpPr>
            <p:nvPr/>
          </p:nvSpPr>
          <p:spPr bwMode="auto">
            <a:xfrm>
              <a:off x="2544" y="3162"/>
              <a:ext cx="105" cy="1"/>
            </a:xfrm>
            <a:custGeom>
              <a:avLst/>
              <a:gdLst>
                <a:gd name="T0" fmla="*/ 0 w 637"/>
                <a:gd name="T1" fmla="*/ 0 h 1"/>
                <a:gd name="T2" fmla="*/ 0 w 637"/>
                <a:gd name="T3" fmla="*/ 0 h 1"/>
                <a:gd name="T4" fmla="*/ 0 w 637"/>
                <a:gd name="T5" fmla="*/ 0 h 1"/>
                <a:gd name="T6" fmla="*/ 0 60000 65536"/>
                <a:gd name="T7" fmla="*/ 0 60000 65536"/>
                <a:gd name="T8" fmla="*/ 0 60000 65536"/>
                <a:gd name="T9" fmla="*/ 0 w 637"/>
                <a:gd name="T10" fmla="*/ 0 h 1"/>
                <a:gd name="T11" fmla="*/ 637 w 63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7" h="1">
                  <a:moveTo>
                    <a:pt x="0" y="0"/>
                  </a:moveTo>
                  <a:lnTo>
                    <a:pt x="636" y="0"/>
                  </a:lnTo>
                  <a:lnTo>
                    <a:pt x="637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0" name="Freeform 164"/>
            <p:cNvSpPr>
              <a:spLocks/>
            </p:cNvSpPr>
            <p:nvPr/>
          </p:nvSpPr>
          <p:spPr bwMode="auto">
            <a:xfrm>
              <a:off x="2696" y="3162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1" name="Freeform 165"/>
            <p:cNvSpPr>
              <a:spLocks/>
            </p:cNvSpPr>
            <p:nvPr/>
          </p:nvSpPr>
          <p:spPr bwMode="auto">
            <a:xfrm>
              <a:off x="2838" y="3162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2" name="Freeform 166"/>
            <p:cNvSpPr>
              <a:spLocks/>
            </p:cNvSpPr>
            <p:nvPr/>
          </p:nvSpPr>
          <p:spPr bwMode="auto">
            <a:xfrm>
              <a:off x="2982" y="3162"/>
              <a:ext cx="96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3" name="Freeform 167"/>
            <p:cNvSpPr>
              <a:spLocks/>
            </p:cNvSpPr>
            <p:nvPr/>
          </p:nvSpPr>
          <p:spPr bwMode="auto">
            <a:xfrm>
              <a:off x="3125" y="3162"/>
              <a:ext cx="95" cy="1"/>
            </a:xfrm>
            <a:custGeom>
              <a:avLst/>
              <a:gdLst>
                <a:gd name="T0" fmla="*/ 0 w 580"/>
                <a:gd name="T1" fmla="*/ 0 h 1"/>
                <a:gd name="T2" fmla="*/ 0 w 580"/>
                <a:gd name="T3" fmla="*/ 0 h 1"/>
                <a:gd name="T4" fmla="*/ 0 w 580"/>
                <a:gd name="T5" fmla="*/ 0 h 1"/>
                <a:gd name="T6" fmla="*/ 0 60000 65536"/>
                <a:gd name="T7" fmla="*/ 0 60000 65536"/>
                <a:gd name="T8" fmla="*/ 0 60000 65536"/>
                <a:gd name="T9" fmla="*/ 0 w 580"/>
                <a:gd name="T10" fmla="*/ 0 h 1"/>
                <a:gd name="T11" fmla="*/ 580 w 58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0" h="1">
                  <a:moveTo>
                    <a:pt x="0" y="0"/>
                  </a:moveTo>
                  <a:lnTo>
                    <a:pt x="579" y="0"/>
                  </a:lnTo>
                  <a:lnTo>
                    <a:pt x="580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4" name="Freeform 168"/>
            <p:cNvSpPr>
              <a:spLocks/>
            </p:cNvSpPr>
            <p:nvPr/>
          </p:nvSpPr>
          <p:spPr bwMode="auto">
            <a:xfrm>
              <a:off x="3268" y="3162"/>
              <a:ext cx="95" cy="1"/>
            </a:xfrm>
            <a:custGeom>
              <a:avLst/>
              <a:gdLst>
                <a:gd name="T0" fmla="*/ 0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0" y="0"/>
                  </a:moveTo>
                  <a:lnTo>
                    <a:pt x="580" y="0"/>
                  </a:lnTo>
                  <a:lnTo>
                    <a:pt x="58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5" name="Freeform 169"/>
            <p:cNvSpPr>
              <a:spLocks/>
            </p:cNvSpPr>
            <p:nvPr/>
          </p:nvSpPr>
          <p:spPr bwMode="auto">
            <a:xfrm>
              <a:off x="3410" y="3162"/>
              <a:ext cx="97" cy="1"/>
            </a:xfrm>
            <a:custGeom>
              <a:avLst/>
              <a:gdLst>
                <a:gd name="T0" fmla="*/ 0 w 582"/>
                <a:gd name="T1" fmla="*/ 0 h 1"/>
                <a:gd name="T2" fmla="*/ 0 w 582"/>
                <a:gd name="T3" fmla="*/ 0 h 1"/>
                <a:gd name="T4" fmla="*/ 0 w 582"/>
                <a:gd name="T5" fmla="*/ 0 h 1"/>
                <a:gd name="T6" fmla="*/ 0 60000 65536"/>
                <a:gd name="T7" fmla="*/ 0 60000 65536"/>
                <a:gd name="T8" fmla="*/ 0 60000 65536"/>
                <a:gd name="T9" fmla="*/ 0 w 582"/>
                <a:gd name="T10" fmla="*/ 0 h 1"/>
                <a:gd name="T11" fmla="*/ 582 w 5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1">
                  <a:moveTo>
                    <a:pt x="0" y="0"/>
                  </a:moveTo>
                  <a:lnTo>
                    <a:pt x="581" y="0"/>
                  </a:lnTo>
                  <a:lnTo>
                    <a:pt x="58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6" name="Freeform 170"/>
            <p:cNvSpPr>
              <a:spLocks/>
            </p:cNvSpPr>
            <p:nvPr/>
          </p:nvSpPr>
          <p:spPr bwMode="auto">
            <a:xfrm>
              <a:off x="3554" y="3162"/>
              <a:ext cx="105" cy="1"/>
            </a:xfrm>
            <a:custGeom>
              <a:avLst/>
              <a:gdLst>
                <a:gd name="T0" fmla="*/ 0 w 637"/>
                <a:gd name="T1" fmla="*/ 0 h 1"/>
                <a:gd name="T2" fmla="*/ 0 w 637"/>
                <a:gd name="T3" fmla="*/ 0 h 1"/>
                <a:gd name="T4" fmla="*/ 0 w 637"/>
                <a:gd name="T5" fmla="*/ 0 h 1"/>
                <a:gd name="T6" fmla="*/ 0 60000 65536"/>
                <a:gd name="T7" fmla="*/ 0 60000 65536"/>
                <a:gd name="T8" fmla="*/ 0 60000 65536"/>
                <a:gd name="T9" fmla="*/ 0 w 637"/>
                <a:gd name="T10" fmla="*/ 0 h 1"/>
                <a:gd name="T11" fmla="*/ 637 w 63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7" h="1">
                  <a:moveTo>
                    <a:pt x="0" y="0"/>
                  </a:moveTo>
                  <a:lnTo>
                    <a:pt x="636" y="0"/>
                  </a:lnTo>
                  <a:lnTo>
                    <a:pt x="637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7" name="Rectangle 171"/>
            <p:cNvSpPr>
              <a:spLocks noChangeArrowheads="1"/>
            </p:cNvSpPr>
            <p:nvPr/>
          </p:nvSpPr>
          <p:spPr bwMode="auto">
            <a:xfrm>
              <a:off x="2863" y="3713"/>
              <a:ext cx="2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1486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  <p:sp>
          <p:nvSpPr>
            <p:cNvPr id="11358" name="Rectangle 172"/>
            <p:cNvSpPr>
              <a:spLocks noChangeArrowheads="1"/>
            </p:cNvSpPr>
            <p:nvPr/>
          </p:nvSpPr>
          <p:spPr bwMode="auto">
            <a:xfrm>
              <a:off x="3238" y="3714"/>
              <a:ext cx="2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1783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  <p:sp>
          <p:nvSpPr>
            <p:cNvPr id="11359" name="Rectangle 173"/>
            <p:cNvSpPr>
              <a:spLocks noChangeArrowheads="1"/>
            </p:cNvSpPr>
            <p:nvPr/>
          </p:nvSpPr>
          <p:spPr bwMode="auto">
            <a:xfrm>
              <a:off x="3605" y="3714"/>
              <a:ext cx="2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2080</a:t>
              </a:r>
            </a:p>
          </p:txBody>
        </p:sp>
        <p:sp>
          <p:nvSpPr>
            <p:cNvPr id="11360" name="Rectangle 174"/>
            <p:cNvSpPr>
              <a:spLocks noChangeArrowheads="1"/>
            </p:cNvSpPr>
            <p:nvPr/>
          </p:nvSpPr>
          <p:spPr bwMode="auto">
            <a:xfrm>
              <a:off x="3980" y="3714"/>
              <a:ext cx="2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66"/>
                  </a:solidFill>
                  <a:latin typeface="Times New Roman" pitchFamily="18" charset="0"/>
                </a:rPr>
                <a:t>2378</a:t>
              </a:r>
              <a:endParaRPr kumimoji="1" lang="en-US" altLang="zh-CN" sz="1400">
                <a:solidFill>
                  <a:srgbClr val="000066"/>
                </a:solidFill>
                <a:latin typeface="ItalicT" pitchFamily="2" charset="0"/>
              </a:endParaRPr>
            </a:p>
          </p:txBody>
        </p:sp>
      </p:grpSp>
      <p:grpSp>
        <p:nvGrpSpPr>
          <p:cNvPr id="10" name="Group 175"/>
          <p:cNvGrpSpPr>
            <a:grpSpLocks/>
          </p:cNvGrpSpPr>
          <p:nvPr/>
        </p:nvGrpSpPr>
        <p:grpSpPr bwMode="auto">
          <a:xfrm>
            <a:off x="3812156" y="5110186"/>
            <a:ext cx="965200" cy="215900"/>
            <a:chOff x="1869" y="3168"/>
            <a:chExt cx="608" cy="136"/>
          </a:xfrm>
        </p:grpSpPr>
        <p:sp>
          <p:nvSpPr>
            <p:cNvPr id="11301" name="Rectangle 176"/>
            <p:cNvSpPr>
              <a:spLocks noChangeArrowheads="1"/>
            </p:cNvSpPr>
            <p:nvPr/>
          </p:nvSpPr>
          <p:spPr bwMode="auto">
            <a:xfrm>
              <a:off x="1869" y="3168"/>
              <a:ext cx="257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A3</a:t>
              </a:r>
              <a:r>
                <a:rPr kumimoji="1" lang="en-US" altLang="zh-CN" sz="1400" b="1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kumimoji="1" lang="en-US" altLang="zh-CN" sz="14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1302" name="Rectangle 177"/>
            <p:cNvSpPr>
              <a:spLocks noChangeArrowheads="1"/>
            </p:cNvSpPr>
            <p:nvPr/>
          </p:nvSpPr>
          <p:spPr bwMode="auto">
            <a:xfrm>
              <a:off x="2220" y="3168"/>
              <a:ext cx="257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A3</a:t>
              </a:r>
              <a:r>
                <a:rPr kumimoji="1" lang="en-US" altLang="zh-CN" sz="1400" b="1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kumimoji="1" lang="en-US" altLang="zh-CN" sz="1400" b="1">
                  <a:latin typeface="Times New Roman" pitchFamily="18" charset="0"/>
                </a:rPr>
                <a:t>4</a:t>
              </a:r>
            </a:p>
          </p:txBody>
        </p:sp>
      </p:grpSp>
      <p:sp>
        <p:nvSpPr>
          <p:cNvPr id="70834" name="Rectangle 178"/>
          <p:cNvSpPr>
            <a:spLocks noChangeArrowheads="1"/>
          </p:cNvSpPr>
          <p:nvPr/>
        </p:nvSpPr>
        <p:spPr bwMode="auto">
          <a:xfrm>
            <a:off x="4245543" y="5989662"/>
            <a:ext cx="342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>
                <a:latin typeface="Times New Roman" pitchFamily="18" charset="0"/>
              </a:rPr>
              <a:t>891</a:t>
            </a:r>
            <a:endParaRPr kumimoji="1" lang="en-US" altLang="zh-CN" sz="1400">
              <a:latin typeface="ItalicT" pitchFamily="2" charset="0"/>
            </a:endParaRPr>
          </a:p>
        </p:txBody>
      </p:sp>
      <p:grpSp>
        <p:nvGrpSpPr>
          <p:cNvPr id="11" name="Group 179"/>
          <p:cNvGrpSpPr>
            <a:grpSpLocks/>
          </p:cNvGrpSpPr>
          <p:nvPr/>
        </p:nvGrpSpPr>
        <p:grpSpPr bwMode="auto">
          <a:xfrm>
            <a:off x="2521519" y="3805238"/>
            <a:ext cx="2409825" cy="2138362"/>
            <a:chOff x="1953" y="2332"/>
            <a:chExt cx="1006" cy="890"/>
          </a:xfrm>
        </p:grpSpPr>
        <p:sp>
          <p:nvSpPr>
            <p:cNvPr id="11294" name="Freeform 180"/>
            <p:cNvSpPr>
              <a:spLocks/>
            </p:cNvSpPr>
            <p:nvPr/>
          </p:nvSpPr>
          <p:spPr bwMode="auto">
            <a:xfrm>
              <a:off x="2204" y="2510"/>
              <a:ext cx="1" cy="356"/>
            </a:xfrm>
            <a:custGeom>
              <a:avLst/>
              <a:gdLst>
                <a:gd name="T0" fmla="*/ 0 w 2"/>
                <a:gd name="T1" fmla="*/ 0 h 3206"/>
                <a:gd name="T2" fmla="*/ 0 w 2"/>
                <a:gd name="T3" fmla="*/ 0 h 3206"/>
                <a:gd name="T4" fmla="*/ 1 w 2"/>
                <a:gd name="T5" fmla="*/ 0 h 3206"/>
                <a:gd name="T6" fmla="*/ 0 60000 65536"/>
                <a:gd name="T7" fmla="*/ 0 60000 65536"/>
                <a:gd name="T8" fmla="*/ 0 60000 65536"/>
                <a:gd name="T9" fmla="*/ 0 w 2"/>
                <a:gd name="T10" fmla="*/ 0 h 3206"/>
                <a:gd name="T11" fmla="*/ 2 w 2"/>
                <a:gd name="T12" fmla="*/ 3206 h 32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3206">
                  <a:moveTo>
                    <a:pt x="0" y="320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Freeform 181"/>
            <p:cNvSpPr>
              <a:spLocks/>
            </p:cNvSpPr>
            <p:nvPr/>
          </p:nvSpPr>
          <p:spPr bwMode="auto">
            <a:xfrm>
              <a:off x="1953" y="2688"/>
              <a:ext cx="251" cy="1"/>
            </a:xfrm>
            <a:custGeom>
              <a:avLst/>
              <a:gdLst>
                <a:gd name="T0" fmla="*/ 0 w 2263"/>
                <a:gd name="T1" fmla="*/ 0 h 1"/>
                <a:gd name="T2" fmla="*/ 0 w 2263"/>
                <a:gd name="T3" fmla="*/ 0 h 1"/>
                <a:gd name="T4" fmla="*/ 0 w 2263"/>
                <a:gd name="T5" fmla="*/ 0 h 1"/>
                <a:gd name="T6" fmla="*/ 0 60000 65536"/>
                <a:gd name="T7" fmla="*/ 0 60000 65536"/>
                <a:gd name="T8" fmla="*/ 0 60000 65536"/>
                <a:gd name="T9" fmla="*/ 0 w 2263"/>
                <a:gd name="T10" fmla="*/ 0 h 1"/>
                <a:gd name="T11" fmla="*/ 2263 w 226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3" h="1">
                  <a:moveTo>
                    <a:pt x="226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Freeform 182"/>
            <p:cNvSpPr>
              <a:spLocks/>
            </p:cNvSpPr>
            <p:nvPr/>
          </p:nvSpPr>
          <p:spPr bwMode="auto">
            <a:xfrm>
              <a:off x="2456" y="2866"/>
              <a:ext cx="503" cy="1"/>
            </a:xfrm>
            <a:custGeom>
              <a:avLst/>
              <a:gdLst>
                <a:gd name="T0" fmla="*/ 0 w 4527"/>
                <a:gd name="T1" fmla="*/ 0 h 1"/>
                <a:gd name="T2" fmla="*/ 0 w 4527"/>
                <a:gd name="T3" fmla="*/ 0 h 1"/>
                <a:gd name="T4" fmla="*/ 0 w 4527"/>
                <a:gd name="T5" fmla="*/ 0 h 1"/>
                <a:gd name="T6" fmla="*/ 0 60000 65536"/>
                <a:gd name="T7" fmla="*/ 0 60000 65536"/>
                <a:gd name="T8" fmla="*/ 0 60000 65536"/>
                <a:gd name="T9" fmla="*/ 0 w 4527"/>
                <a:gd name="T10" fmla="*/ 0 h 1"/>
                <a:gd name="T11" fmla="*/ 4527 w 452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27" h="1">
                  <a:moveTo>
                    <a:pt x="0" y="0"/>
                  </a:moveTo>
                  <a:lnTo>
                    <a:pt x="4526" y="0"/>
                  </a:lnTo>
                  <a:lnTo>
                    <a:pt x="4527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Freeform 183"/>
            <p:cNvSpPr>
              <a:spLocks/>
            </p:cNvSpPr>
            <p:nvPr/>
          </p:nvSpPr>
          <p:spPr bwMode="auto">
            <a:xfrm>
              <a:off x="2707" y="2866"/>
              <a:ext cx="1" cy="356"/>
            </a:xfrm>
            <a:custGeom>
              <a:avLst/>
              <a:gdLst>
                <a:gd name="T0" fmla="*/ 0 w 1"/>
                <a:gd name="T1" fmla="*/ 0 h 3204"/>
                <a:gd name="T2" fmla="*/ 0 w 1"/>
                <a:gd name="T3" fmla="*/ 0 h 3204"/>
                <a:gd name="T4" fmla="*/ 1 w 1"/>
                <a:gd name="T5" fmla="*/ 0 h 3204"/>
                <a:gd name="T6" fmla="*/ 0 60000 65536"/>
                <a:gd name="T7" fmla="*/ 0 60000 65536"/>
                <a:gd name="T8" fmla="*/ 0 60000 65536"/>
                <a:gd name="T9" fmla="*/ 0 w 1"/>
                <a:gd name="T10" fmla="*/ 0 h 3204"/>
                <a:gd name="T11" fmla="*/ 1 w 1"/>
                <a:gd name="T12" fmla="*/ 3204 h 3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204">
                  <a:moveTo>
                    <a:pt x="0" y="0"/>
                  </a:moveTo>
                  <a:lnTo>
                    <a:pt x="0" y="3204"/>
                  </a:lnTo>
                  <a:lnTo>
                    <a:pt x="1" y="3204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Freeform 184"/>
            <p:cNvSpPr>
              <a:spLocks/>
            </p:cNvSpPr>
            <p:nvPr/>
          </p:nvSpPr>
          <p:spPr bwMode="auto">
            <a:xfrm>
              <a:off x="1953" y="2332"/>
              <a:ext cx="252" cy="1"/>
            </a:xfrm>
            <a:custGeom>
              <a:avLst/>
              <a:gdLst>
                <a:gd name="T0" fmla="*/ 0 w 2265"/>
                <a:gd name="T1" fmla="*/ 0 h 1"/>
                <a:gd name="T2" fmla="*/ 0 w 2265"/>
                <a:gd name="T3" fmla="*/ 0 h 1"/>
                <a:gd name="T4" fmla="*/ 0 w 2265"/>
                <a:gd name="T5" fmla="*/ 0 h 1"/>
                <a:gd name="T6" fmla="*/ 0 60000 65536"/>
                <a:gd name="T7" fmla="*/ 0 60000 65536"/>
                <a:gd name="T8" fmla="*/ 0 60000 65536"/>
                <a:gd name="T9" fmla="*/ 0 w 2265"/>
                <a:gd name="T10" fmla="*/ 0 h 1"/>
                <a:gd name="T11" fmla="*/ 2265 w 22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5" h="1">
                  <a:moveTo>
                    <a:pt x="0" y="0"/>
                  </a:moveTo>
                  <a:lnTo>
                    <a:pt x="2263" y="0"/>
                  </a:lnTo>
                  <a:lnTo>
                    <a:pt x="2265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9" name="Freeform 185"/>
            <p:cNvSpPr>
              <a:spLocks/>
            </p:cNvSpPr>
            <p:nvPr/>
          </p:nvSpPr>
          <p:spPr bwMode="auto">
            <a:xfrm>
              <a:off x="1953" y="2332"/>
              <a:ext cx="1" cy="178"/>
            </a:xfrm>
            <a:custGeom>
              <a:avLst/>
              <a:gdLst>
                <a:gd name="T0" fmla="*/ 0 w 1"/>
                <a:gd name="T1" fmla="*/ 0 h 1600"/>
                <a:gd name="T2" fmla="*/ 0 w 1"/>
                <a:gd name="T3" fmla="*/ 0 h 1600"/>
                <a:gd name="T4" fmla="*/ 1 w 1"/>
                <a:gd name="T5" fmla="*/ 0 h 1600"/>
                <a:gd name="T6" fmla="*/ 0 60000 65536"/>
                <a:gd name="T7" fmla="*/ 0 60000 65536"/>
                <a:gd name="T8" fmla="*/ 0 60000 65536"/>
                <a:gd name="T9" fmla="*/ 0 w 1"/>
                <a:gd name="T10" fmla="*/ 0 h 1600"/>
                <a:gd name="T11" fmla="*/ 1 w 1"/>
                <a:gd name="T12" fmla="*/ 1600 h 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00">
                  <a:moveTo>
                    <a:pt x="0" y="16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0" name="Freeform 186"/>
            <p:cNvSpPr>
              <a:spLocks/>
            </p:cNvSpPr>
            <p:nvPr/>
          </p:nvSpPr>
          <p:spPr bwMode="auto">
            <a:xfrm>
              <a:off x="2204" y="2332"/>
              <a:ext cx="1" cy="178"/>
            </a:xfrm>
            <a:custGeom>
              <a:avLst/>
              <a:gdLst>
                <a:gd name="T0" fmla="*/ 0 w 2"/>
                <a:gd name="T1" fmla="*/ 0 h 1600"/>
                <a:gd name="T2" fmla="*/ 0 w 2"/>
                <a:gd name="T3" fmla="*/ 0 h 1600"/>
                <a:gd name="T4" fmla="*/ 1 w 2"/>
                <a:gd name="T5" fmla="*/ 0 h 1600"/>
                <a:gd name="T6" fmla="*/ 0 60000 65536"/>
                <a:gd name="T7" fmla="*/ 0 60000 65536"/>
                <a:gd name="T8" fmla="*/ 0 60000 65536"/>
                <a:gd name="T9" fmla="*/ 0 w 2"/>
                <a:gd name="T10" fmla="*/ 0 h 1600"/>
                <a:gd name="T11" fmla="*/ 2 w 2"/>
                <a:gd name="T12" fmla="*/ 1600 h 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600">
                  <a:moveTo>
                    <a:pt x="0" y="0"/>
                  </a:moveTo>
                  <a:lnTo>
                    <a:pt x="0" y="1600"/>
                  </a:lnTo>
                  <a:lnTo>
                    <a:pt x="2" y="160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87"/>
          <p:cNvGrpSpPr>
            <a:grpSpLocks/>
          </p:cNvGrpSpPr>
          <p:nvPr/>
        </p:nvGrpSpPr>
        <p:grpSpPr bwMode="auto">
          <a:xfrm>
            <a:off x="2027807" y="4951436"/>
            <a:ext cx="1766887" cy="989012"/>
            <a:chOff x="745" y="3068"/>
            <a:chExt cx="1113" cy="623"/>
          </a:xfrm>
        </p:grpSpPr>
        <p:sp>
          <p:nvSpPr>
            <p:cNvPr id="11291" name="Rectangle 188"/>
            <p:cNvSpPr>
              <a:spLocks noChangeArrowheads="1"/>
            </p:cNvSpPr>
            <p:nvPr/>
          </p:nvSpPr>
          <p:spPr bwMode="auto">
            <a:xfrm>
              <a:off x="745" y="3068"/>
              <a:ext cx="36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420</a:t>
              </a:r>
              <a:endParaRPr kumimoji="1" lang="en-US" altLang="zh-CN" sz="1400" b="1">
                <a:latin typeface="ItalicT" pitchFamily="2" charset="0"/>
              </a:endParaRPr>
            </a:p>
          </p:txBody>
        </p:sp>
        <p:sp>
          <p:nvSpPr>
            <p:cNvPr id="11292" name="Freeform 189"/>
            <p:cNvSpPr>
              <a:spLocks/>
            </p:cNvSpPr>
            <p:nvPr/>
          </p:nvSpPr>
          <p:spPr bwMode="auto">
            <a:xfrm>
              <a:off x="1056" y="3168"/>
              <a:ext cx="756" cy="523"/>
            </a:xfrm>
            <a:custGeom>
              <a:avLst/>
              <a:gdLst>
                <a:gd name="T0" fmla="*/ 0 w 4527"/>
                <a:gd name="T1" fmla="*/ 0 h 3204"/>
                <a:gd name="T2" fmla="*/ 0 w 4527"/>
                <a:gd name="T3" fmla="*/ 0 h 3204"/>
                <a:gd name="T4" fmla="*/ 0 w 4527"/>
                <a:gd name="T5" fmla="*/ 0 h 3204"/>
                <a:gd name="T6" fmla="*/ 0 w 4527"/>
                <a:gd name="T7" fmla="*/ 0 h 3204"/>
                <a:gd name="T8" fmla="*/ 0 w 4527"/>
                <a:gd name="T9" fmla="*/ 0 h 3204"/>
                <a:gd name="T10" fmla="*/ 0 w 4527"/>
                <a:gd name="T11" fmla="*/ 0 h 3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527"/>
                <a:gd name="T19" fmla="*/ 0 h 3204"/>
                <a:gd name="T20" fmla="*/ 4527 w 4527"/>
                <a:gd name="T21" fmla="*/ 3204 h 32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527" h="3204">
                  <a:moveTo>
                    <a:pt x="0" y="0"/>
                  </a:moveTo>
                  <a:lnTo>
                    <a:pt x="4527" y="0"/>
                  </a:lnTo>
                  <a:lnTo>
                    <a:pt x="4527" y="3204"/>
                  </a:lnTo>
                  <a:lnTo>
                    <a:pt x="0" y="3204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ECEDB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Rectangle 190"/>
            <p:cNvSpPr>
              <a:spLocks noChangeArrowheads="1"/>
            </p:cNvSpPr>
            <p:nvPr/>
          </p:nvSpPr>
          <p:spPr bwMode="auto">
            <a:xfrm>
              <a:off x="1560" y="3185"/>
              <a:ext cx="298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A2</a:t>
              </a:r>
            </a:p>
          </p:txBody>
        </p:sp>
      </p:grpSp>
      <p:grpSp>
        <p:nvGrpSpPr>
          <p:cNvPr id="13" name="Group 191"/>
          <p:cNvGrpSpPr>
            <a:grpSpLocks/>
          </p:cNvGrpSpPr>
          <p:nvPr/>
        </p:nvGrpSpPr>
        <p:grpSpPr bwMode="auto">
          <a:xfrm>
            <a:off x="2521518" y="5110187"/>
            <a:ext cx="827088" cy="1150937"/>
            <a:chOff x="1056" y="3168"/>
            <a:chExt cx="521" cy="725"/>
          </a:xfrm>
        </p:grpSpPr>
        <p:sp>
          <p:nvSpPr>
            <p:cNvPr id="11288" name="Rectangle 192"/>
            <p:cNvSpPr>
              <a:spLocks noChangeArrowheads="1"/>
            </p:cNvSpPr>
            <p:nvPr/>
          </p:nvSpPr>
          <p:spPr bwMode="auto">
            <a:xfrm>
              <a:off x="1361" y="3720"/>
              <a:ext cx="21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b="1">
                  <a:latin typeface="Times New Roman" pitchFamily="18" charset="0"/>
                </a:rPr>
                <a:t>297</a:t>
              </a:r>
              <a:endParaRPr kumimoji="1" lang="en-US" altLang="zh-CN" sz="1400" b="1">
                <a:latin typeface="ItalicT" pitchFamily="2" charset="0"/>
              </a:endParaRPr>
            </a:p>
          </p:txBody>
        </p:sp>
        <p:sp>
          <p:nvSpPr>
            <p:cNvPr id="11289" name="Freeform 193"/>
            <p:cNvSpPr>
              <a:spLocks/>
            </p:cNvSpPr>
            <p:nvPr/>
          </p:nvSpPr>
          <p:spPr bwMode="auto">
            <a:xfrm>
              <a:off x="1056" y="3168"/>
              <a:ext cx="384" cy="533"/>
            </a:xfrm>
            <a:custGeom>
              <a:avLst/>
              <a:gdLst>
                <a:gd name="T0" fmla="*/ 0 w 2263"/>
                <a:gd name="T1" fmla="*/ 0 h 3204"/>
                <a:gd name="T2" fmla="*/ 0 w 2263"/>
                <a:gd name="T3" fmla="*/ 0 h 3204"/>
                <a:gd name="T4" fmla="*/ 0 w 2263"/>
                <a:gd name="T5" fmla="*/ 0 h 3204"/>
                <a:gd name="T6" fmla="*/ 0 w 2263"/>
                <a:gd name="T7" fmla="*/ 0 h 3204"/>
                <a:gd name="T8" fmla="*/ 0 w 2263"/>
                <a:gd name="T9" fmla="*/ 0 h 3204"/>
                <a:gd name="T10" fmla="*/ 0 w 2263"/>
                <a:gd name="T11" fmla="*/ 0 h 3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63"/>
                <a:gd name="T19" fmla="*/ 0 h 3204"/>
                <a:gd name="T20" fmla="*/ 2263 w 2263"/>
                <a:gd name="T21" fmla="*/ 3204 h 32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63" h="3204">
                  <a:moveTo>
                    <a:pt x="0" y="0"/>
                  </a:moveTo>
                  <a:lnTo>
                    <a:pt x="2263" y="0"/>
                  </a:lnTo>
                  <a:lnTo>
                    <a:pt x="2263" y="3204"/>
                  </a:lnTo>
                  <a:lnTo>
                    <a:pt x="0" y="3204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81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Rectangle 194"/>
            <p:cNvSpPr>
              <a:spLocks noChangeArrowheads="1"/>
            </p:cNvSpPr>
            <p:nvPr/>
          </p:nvSpPr>
          <p:spPr bwMode="auto">
            <a:xfrm>
              <a:off x="1228" y="3172"/>
              <a:ext cx="138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A3</a:t>
              </a:r>
            </a:p>
          </p:txBody>
        </p:sp>
      </p:grpSp>
      <p:grpSp>
        <p:nvGrpSpPr>
          <p:cNvPr id="14" name="Group 195"/>
          <p:cNvGrpSpPr>
            <a:grpSpLocks/>
          </p:cNvGrpSpPr>
          <p:nvPr/>
        </p:nvGrpSpPr>
        <p:grpSpPr bwMode="auto">
          <a:xfrm>
            <a:off x="2051618" y="5338786"/>
            <a:ext cx="1074738" cy="609600"/>
            <a:chOff x="760" y="3312"/>
            <a:chExt cx="677" cy="384"/>
          </a:xfrm>
        </p:grpSpPr>
        <p:sp>
          <p:nvSpPr>
            <p:cNvPr id="11285" name="Rectangle 196"/>
            <p:cNvSpPr>
              <a:spLocks noChangeArrowheads="1"/>
            </p:cNvSpPr>
            <p:nvPr/>
          </p:nvSpPr>
          <p:spPr bwMode="auto">
            <a:xfrm>
              <a:off x="760" y="3312"/>
              <a:ext cx="32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210</a:t>
              </a:r>
              <a:endParaRPr kumimoji="1" lang="en-US" altLang="zh-CN">
                <a:latin typeface="宋体" pitchFamily="2" charset="-122"/>
              </a:endParaRPr>
            </a:p>
          </p:txBody>
        </p:sp>
        <p:sp>
          <p:nvSpPr>
            <p:cNvPr id="14358" name="Freeform 197"/>
            <p:cNvSpPr>
              <a:spLocks/>
            </p:cNvSpPr>
            <p:nvPr/>
          </p:nvSpPr>
          <p:spPr bwMode="auto">
            <a:xfrm>
              <a:off x="1061" y="3421"/>
              <a:ext cx="376" cy="275"/>
            </a:xfrm>
            <a:custGeom>
              <a:avLst/>
              <a:gdLst>
                <a:gd name="T0" fmla="*/ 0 w 2263"/>
                <a:gd name="T1" fmla="*/ 0 h 1602"/>
                <a:gd name="T2" fmla="*/ 0 w 2263"/>
                <a:gd name="T3" fmla="*/ 0 h 1602"/>
                <a:gd name="T4" fmla="*/ 0 w 2263"/>
                <a:gd name="T5" fmla="*/ 0 h 1602"/>
                <a:gd name="T6" fmla="*/ 0 w 2263"/>
                <a:gd name="T7" fmla="*/ 0 h 1602"/>
                <a:gd name="T8" fmla="*/ 0 w 2263"/>
                <a:gd name="T9" fmla="*/ 0 h 1602"/>
                <a:gd name="T10" fmla="*/ 0 w 2263"/>
                <a:gd name="T11" fmla="*/ 0 h 16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63"/>
                <a:gd name="T19" fmla="*/ 0 h 1602"/>
                <a:gd name="T20" fmla="*/ 2263 w 2263"/>
                <a:gd name="T21" fmla="*/ 1602 h 160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63" h="1602">
                  <a:moveTo>
                    <a:pt x="0" y="0"/>
                  </a:moveTo>
                  <a:lnTo>
                    <a:pt x="2263" y="0"/>
                  </a:lnTo>
                  <a:lnTo>
                    <a:pt x="2263" y="1602"/>
                  </a:lnTo>
                  <a:lnTo>
                    <a:pt x="0" y="160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8100000" scaled="0"/>
            </a:gra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287" name="Rectangle 198"/>
            <p:cNvSpPr>
              <a:spLocks noChangeArrowheads="1"/>
            </p:cNvSpPr>
            <p:nvPr/>
          </p:nvSpPr>
          <p:spPr bwMode="auto">
            <a:xfrm>
              <a:off x="1228" y="3424"/>
              <a:ext cx="138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400" b="1">
                  <a:latin typeface="Times New Roman" pitchFamily="18" charset="0"/>
                </a:rPr>
                <a:t>A4</a:t>
              </a:r>
            </a:p>
          </p:txBody>
        </p:sp>
      </p:grpSp>
      <p:sp>
        <p:nvSpPr>
          <p:cNvPr id="70855" name="Text Box 199"/>
          <p:cNvSpPr txBox="1">
            <a:spLocks noChangeArrowheads="1"/>
          </p:cNvSpPr>
          <p:nvPr/>
        </p:nvSpPr>
        <p:spPr bwMode="auto">
          <a:xfrm>
            <a:off x="5382194" y="1746006"/>
            <a:ext cx="6412411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sz="2400" b="1" dirty="0">
                <a:latin typeface="宋体" pitchFamily="2" charset="-122"/>
              </a:rPr>
              <a:t>必要时，可以按规定加长图纸的幅面。幅面的尺寸由基本幅面的短边成整数倍增加后得出。</a:t>
            </a:r>
          </a:p>
        </p:txBody>
      </p:sp>
      <p:sp>
        <p:nvSpPr>
          <p:cNvPr id="70856" name="Text Box 200"/>
          <p:cNvSpPr txBox="1">
            <a:spLocks noChangeArrowheads="1"/>
          </p:cNvSpPr>
          <p:nvPr/>
        </p:nvSpPr>
        <p:spPr bwMode="auto">
          <a:xfrm>
            <a:off x="6603722" y="2576813"/>
            <a:ext cx="4071964" cy="448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图中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粗实线幅面为第一选择</a:t>
            </a:r>
          </a:p>
        </p:txBody>
      </p:sp>
      <p:sp>
        <p:nvSpPr>
          <p:cNvPr id="11282" name="Rectangle 201"/>
          <p:cNvSpPr>
            <a:spLocks noChangeArrowheads="1"/>
          </p:cNvSpPr>
          <p:nvPr/>
        </p:nvSpPr>
        <p:spPr bwMode="auto">
          <a:xfrm>
            <a:off x="4872038" y="6318274"/>
            <a:ext cx="3097212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0" hangingPunct="0"/>
            <a:r>
              <a:rPr kumimoji="1" lang="zh-CN" altLang="en-US" sz="2000" b="1">
                <a:latin typeface="宋体" pitchFamily="2" charset="-122"/>
              </a:rPr>
              <a:t>图纸幅面</a:t>
            </a:r>
          </a:p>
        </p:txBody>
      </p:sp>
      <p:sp>
        <p:nvSpPr>
          <p:cNvPr id="202" name="Text Box 200"/>
          <p:cNvSpPr txBox="1">
            <a:spLocks noChangeArrowheads="1"/>
          </p:cNvSpPr>
          <p:nvPr/>
        </p:nvSpPr>
        <p:spPr bwMode="auto">
          <a:xfrm>
            <a:off x="6624670" y="3071811"/>
            <a:ext cx="3471858" cy="448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细实线幅面为第二选择</a:t>
            </a:r>
          </a:p>
        </p:txBody>
      </p:sp>
      <p:sp>
        <p:nvSpPr>
          <p:cNvPr id="203" name="Text Box 200"/>
          <p:cNvSpPr txBox="1">
            <a:spLocks noChangeArrowheads="1"/>
          </p:cNvSpPr>
          <p:nvPr/>
        </p:nvSpPr>
        <p:spPr bwMode="auto">
          <a:xfrm>
            <a:off x="6596066" y="3571877"/>
            <a:ext cx="3429024" cy="448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细虚线幅面为第三选择</a:t>
            </a:r>
          </a:p>
        </p:txBody>
      </p:sp>
      <p:sp>
        <p:nvSpPr>
          <p:cNvPr id="204" name="Rectangle 2"/>
          <p:cNvSpPr txBox="1">
            <a:spLocks noChangeArrowheads="1"/>
          </p:cNvSpPr>
          <p:nvPr/>
        </p:nvSpPr>
        <p:spPr bwMode="auto">
          <a:xfrm>
            <a:off x="1559496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  <a:cs typeface="+mj-cs"/>
            </a:endParaRPr>
          </a:p>
        </p:txBody>
      </p:sp>
      <p:sp>
        <p:nvSpPr>
          <p:cNvPr id="205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7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34" grpId="0"/>
      <p:bldP spid="70855" grpId="0" autoUpdateAnimBg="0"/>
      <p:bldP spid="70856" grpId="0"/>
      <p:bldP spid="202" grpId="0"/>
      <p:bldP spid="2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199456" y="1500174"/>
            <a:ext cx="306862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2</a:t>
            </a:r>
            <a:r>
              <a:rPr kumimoji="1" lang="en-US" altLang="zh-CN" sz="2400" b="1" dirty="0">
                <a:latin typeface="宋体" pitchFamily="2" charset="-122"/>
              </a:rPr>
              <a:t>.</a:t>
            </a:r>
            <a:r>
              <a:rPr kumimoji="1" lang="zh-CN" altLang="en-US" sz="2400" b="1" dirty="0">
                <a:latin typeface="宋体" pitchFamily="2" charset="-122"/>
              </a:rPr>
              <a:t>图框格式和画法</a:t>
            </a: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2524131" y="1967204"/>
            <a:ext cx="557212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宋体" pitchFamily="2" charset="-122"/>
              </a:rPr>
              <a:t>格式分留装订边和不留装订边两种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307688" y="6318250"/>
            <a:ext cx="713689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1" lang="en-US" altLang="zh-CN" sz="2000" b="1" dirty="0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zh-CN" altLang="zh-CN" sz="2000" b="1" dirty="0">
                <a:latin typeface="楷体_GB2312" pitchFamily="49" charset="-122"/>
                <a:ea typeface="楷体_GB2312" pitchFamily="49" charset="-122"/>
              </a:rPr>
              <a:t>型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                                                        </a:t>
            </a:r>
            <a:r>
              <a:rPr kumimoji="1" lang="zh-CN" altLang="zh-CN" sz="20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1" lang="en-US" altLang="zh-CN" sz="2000" b="1" dirty="0">
                <a:latin typeface="Times New Roman" pitchFamily="18" charset="0"/>
                <a:ea typeface="楷体_GB2312" pitchFamily="49" charset="-122"/>
              </a:rPr>
              <a:t>Y</a:t>
            </a:r>
            <a:r>
              <a:rPr kumimoji="1" lang="zh-CN" altLang="zh-CN" sz="2000" b="1" dirty="0">
                <a:latin typeface="楷体_GB2312" pitchFamily="49" charset="-122"/>
                <a:ea typeface="楷体_GB2312" pitchFamily="49" charset="-122"/>
              </a:rPr>
              <a:t>型</a:t>
            </a:r>
            <a:endParaRPr kumimoji="1"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7239008" y="1943392"/>
            <a:ext cx="278608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FF0000"/>
                </a:solidFill>
                <a:latin typeface="宋体" pitchFamily="2" charset="-122"/>
              </a:rPr>
              <a:t>用粗实线画出图框</a:t>
            </a:r>
          </a:p>
        </p:txBody>
      </p:sp>
      <p:pic>
        <p:nvPicPr>
          <p:cNvPr id="10" name="Picture 6" descr="t1-2-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1595" y="2405057"/>
            <a:ext cx="9649072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238378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  <a:cs typeface="+mj-cs"/>
            </a:endParaRPr>
          </a:p>
        </p:txBody>
      </p:sp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autoUpdateAnimBg="0" advAuto="0"/>
      <p:bldP spid="7" grpId="0"/>
      <p:bldP spid="9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199456" y="1500174"/>
            <a:ext cx="385444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2</a:t>
            </a:r>
            <a:r>
              <a:rPr kumimoji="1" lang="en-US" altLang="zh-CN" sz="2400" b="1" dirty="0">
                <a:latin typeface="宋体" pitchFamily="2" charset="-122"/>
              </a:rPr>
              <a:t>.</a:t>
            </a:r>
            <a:r>
              <a:rPr kumimoji="1" lang="zh-CN" altLang="en-US" sz="2400" b="1" dirty="0">
                <a:latin typeface="宋体" pitchFamily="2" charset="-122"/>
              </a:rPr>
              <a:t>图框格式和画法</a:t>
            </a: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2166910" y="1961839"/>
            <a:ext cx="557212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宋体" pitchFamily="2" charset="-122"/>
              </a:rPr>
              <a:t>格式分留装订边和不留装订边两种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807504" y="6143644"/>
            <a:ext cx="3134191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不留装订边的图框格式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7239008" y="1943392"/>
            <a:ext cx="278608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用粗实线画出图框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238378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  <a:cs typeface="+mj-cs"/>
            </a:endParaRPr>
          </a:p>
        </p:txBody>
      </p:sp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452795" y="6143645"/>
            <a:ext cx="5929327" cy="461665"/>
          </a:xfrm>
          <a:prstGeom prst="rect">
            <a:avLst/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同一产品的图样只能采用一种图框格式。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9918" t="23357" r="11258" b="33572"/>
          <a:stretch>
            <a:fillRect/>
          </a:stretch>
        </p:blipFill>
        <p:spPr bwMode="auto">
          <a:xfrm>
            <a:off x="1199456" y="2505587"/>
            <a:ext cx="10297143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239846" y="1560299"/>
            <a:ext cx="328293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3.</a:t>
            </a:r>
            <a:r>
              <a:rPr kumimoji="1" lang="zh-CN" altLang="en-US" sz="2400" b="1" dirty="0">
                <a:latin typeface="Times New Roman" pitchFamily="18" charset="0"/>
              </a:rPr>
              <a:t>标题栏的方位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238378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  <a:cs typeface="+mj-cs"/>
            </a:endParaRPr>
          </a:p>
        </p:txBody>
      </p:sp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055440" y="1961840"/>
            <a:ext cx="9793088" cy="4248210"/>
            <a:chOff x="539750" y="2000240"/>
            <a:chExt cx="8064500" cy="4248210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1942108" y="5848340"/>
              <a:ext cx="5496974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1" lang="en-US" altLang="zh-CN" sz="2000" b="1" dirty="0">
                  <a:latin typeface="楷体_GB2312" pitchFamily="49" charset="-122"/>
                  <a:ea typeface="楷体_GB2312" pitchFamily="49" charset="-122"/>
                </a:rPr>
                <a:t>     </a:t>
              </a:r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kumimoji="1" lang="en-US" altLang="zh-CN" sz="2000" b="1" dirty="0">
                  <a:latin typeface="Times New Roman" pitchFamily="18" charset="0"/>
                  <a:ea typeface="楷体_GB2312" pitchFamily="49" charset="-122"/>
                </a:rPr>
                <a:t>a</a:t>
              </a:r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）</a:t>
              </a:r>
              <a:r>
                <a:rPr kumimoji="1" lang="en-US" altLang="zh-CN" sz="2000" b="1" dirty="0">
                  <a:latin typeface="Times New Roman" pitchFamily="18" charset="0"/>
                  <a:ea typeface="楷体_GB2312" pitchFamily="49" charset="-122"/>
                </a:rPr>
                <a:t>X</a:t>
              </a:r>
              <a:r>
                <a:rPr kumimoji="1" lang="zh-CN" altLang="zh-CN" sz="2000" b="1" dirty="0">
                  <a:latin typeface="楷体_GB2312" pitchFamily="49" charset="-122"/>
                  <a:ea typeface="楷体_GB2312" pitchFamily="49" charset="-122"/>
                </a:rPr>
                <a:t>型 </a:t>
              </a:r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                                                  </a:t>
              </a:r>
              <a:r>
                <a:rPr kumimoji="1" lang="zh-CN" altLang="zh-CN" sz="2000" b="1" dirty="0"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kumimoji="1" lang="en-US" altLang="zh-CN" sz="2000" b="1" dirty="0">
                  <a:latin typeface="Times New Roman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）</a:t>
              </a:r>
              <a:r>
                <a:rPr kumimoji="1" lang="en-US" altLang="zh-CN" sz="2000" b="1" dirty="0">
                  <a:latin typeface="Times New Roman" pitchFamily="18" charset="0"/>
                  <a:ea typeface="楷体_GB2312" pitchFamily="49" charset="-122"/>
                </a:rPr>
                <a:t>Y</a:t>
              </a:r>
              <a:r>
                <a:rPr kumimoji="1" lang="zh-CN" altLang="zh-CN" sz="2000" b="1" dirty="0">
                  <a:latin typeface="楷体_GB2312" pitchFamily="49" charset="-122"/>
                  <a:ea typeface="楷体_GB2312" pitchFamily="49" charset="-122"/>
                </a:rPr>
                <a:t>型</a:t>
              </a:r>
              <a:endParaRPr kumimoji="1" lang="zh-CN" altLang="en-US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14" name="Picture 6" descr="t1-2-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39750" y="2000240"/>
              <a:ext cx="8064500" cy="3848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9846" y="2447844"/>
            <a:ext cx="8709014" cy="3267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239846" y="1500174"/>
            <a:ext cx="328293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4.</a:t>
            </a:r>
            <a:r>
              <a:rPr kumimoji="1" lang="zh-CN" altLang="en-US" sz="2400" b="1" dirty="0">
                <a:latin typeface="Times New Roman" pitchFamily="18" charset="0"/>
              </a:rPr>
              <a:t>附加符号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238378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  <a:cs typeface="+mj-cs"/>
            </a:endParaRPr>
          </a:p>
        </p:txBody>
      </p:sp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 l="67621"/>
          <a:stretch>
            <a:fillRect/>
          </a:stretch>
        </p:blipFill>
        <p:spPr bwMode="auto">
          <a:xfrm>
            <a:off x="7096132" y="2357430"/>
            <a:ext cx="3313533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7" name="Picture 5" descr="t1-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5646" y="2941089"/>
            <a:ext cx="8207375" cy="371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054114" y="1356815"/>
            <a:ext cx="5256213" cy="4638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宋体" pitchFamily="2" charset="-122"/>
              </a:rPr>
              <a:t>二、标题栏和明细栏</a:t>
            </a: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4079876" y="6389689"/>
            <a:ext cx="46085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kumimoji="1" lang="zh-CN" altLang="en-US" sz="2000" b="1">
                <a:latin typeface="宋体" pitchFamily="2" charset="-122"/>
              </a:rPr>
              <a:t>零件图中标题栏的形式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1487488" y="1788914"/>
            <a:ext cx="202882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1</a:t>
            </a:r>
            <a:r>
              <a:rPr kumimoji="1" lang="en-US" altLang="zh-CN" sz="2400" b="1" dirty="0">
                <a:latin typeface="宋体" pitchFamily="2" charset="-122"/>
              </a:rPr>
              <a:t>.</a:t>
            </a:r>
            <a:r>
              <a:rPr kumimoji="1" lang="zh-CN" altLang="en-US" sz="2400" b="1" dirty="0">
                <a:latin typeface="宋体" pitchFamily="2" charset="-122"/>
              </a:rPr>
              <a:t>标题栏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238378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1487488" y="2239981"/>
            <a:ext cx="100104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zh-CN" altLang="en-US" sz="2400" b="1" dirty="0">
                <a:latin typeface="Times New Roman" pitchFamily="18" charset="0"/>
              </a:rPr>
              <a:t>标题栏位于图纸的</a:t>
            </a:r>
            <a:r>
              <a:rPr kumimoji="1" lang="zh-CN" altLang="en-US" sz="2400" b="1" dirty="0">
                <a:solidFill>
                  <a:srgbClr val="3333CC"/>
                </a:solidFill>
                <a:latin typeface="Times New Roman" pitchFamily="18" charset="0"/>
              </a:rPr>
              <a:t>右下角</a:t>
            </a:r>
            <a:r>
              <a:rPr kumimoji="1" lang="zh-CN" altLang="en-US" sz="2400" b="1" dirty="0">
                <a:latin typeface="Times New Roman" pitchFamily="18" charset="0"/>
              </a:rPr>
              <a:t>，其格式与尺寸按国标</a:t>
            </a:r>
            <a:r>
              <a:rPr kumimoji="1" lang="en-US" altLang="zh-CN" sz="2400" b="1" dirty="0">
                <a:latin typeface="Times New Roman" pitchFamily="18" charset="0"/>
              </a:rPr>
              <a:t>GB/T 10610.1</a:t>
            </a:r>
            <a:r>
              <a:rPr kumimoji="1" lang="zh-CN" altLang="en-US" sz="2400" b="1" dirty="0">
                <a:latin typeface="Times New Roman" pitchFamily="18" charset="0"/>
              </a:rPr>
              <a:t>－</a:t>
            </a:r>
            <a:r>
              <a:rPr kumimoji="1" lang="en-US" altLang="zh-CN" sz="2400" b="1" dirty="0">
                <a:latin typeface="Times New Roman" pitchFamily="18" charset="0"/>
              </a:rPr>
              <a:t>1989</a:t>
            </a:r>
            <a:r>
              <a:rPr kumimoji="1" lang="zh-CN" altLang="zh-CN" sz="2400" b="1" dirty="0">
                <a:latin typeface="Times New Roman" pitchFamily="18" charset="0"/>
              </a:rPr>
              <a:t>的规定。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utoUpdateAnimBg="0"/>
      <p:bldP spid="7475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1-4"/>
          <p:cNvPicPr>
            <a:picLocks noChangeAspect="1" noChangeArrowheads="1"/>
          </p:cNvPicPr>
          <p:nvPr/>
        </p:nvPicPr>
        <p:blipFill>
          <a:blip r:embed="rId2"/>
          <a:srcRect l="16585" t="37468" r="17712" b="38028"/>
          <a:stretch>
            <a:fillRect/>
          </a:stretch>
        </p:blipFill>
        <p:spPr bwMode="auto">
          <a:xfrm>
            <a:off x="1631504" y="2520336"/>
            <a:ext cx="8712967" cy="359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3970853" y="6227362"/>
            <a:ext cx="46085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kumimoji="1" lang="zh-CN" altLang="en-US" sz="2000" b="1" dirty="0">
                <a:latin typeface="宋体" pitchFamily="2" charset="-122"/>
              </a:rPr>
              <a:t>装配图中明细栏的形式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343472" y="1963734"/>
            <a:ext cx="1029714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zh-CN" altLang="en-US" sz="2400" b="1" dirty="0">
                <a:latin typeface="Times New Roman" pitchFamily="18" charset="0"/>
              </a:rPr>
              <a:t>装配图中的明细栏由国标</a:t>
            </a:r>
            <a:r>
              <a:rPr kumimoji="1" lang="en-US" altLang="zh-CN" sz="2400" b="1" dirty="0">
                <a:latin typeface="Times New Roman" pitchFamily="18" charset="0"/>
              </a:rPr>
              <a:t>GB/T 10609.2—1989</a:t>
            </a:r>
            <a:r>
              <a:rPr kumimoji="1" lang="zh-CN" altLang="en-US" sz="2400" b="1" dirty="0">
                <a:latin typeface="Times New Roman" pitchFamily="18" charset="0"/>
              </a:rPr>
              <a:t>规定，其格式和尺寸如下： 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238645" y="1500174"/>
            <a:ext cx="504031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2</a:t>
            </a:r>
            <a:r>
              <a:rPr kumimoji="1" lang="en-US" altLang="zh-CN" sz="2400" b="1" dirty="0">
                <a:latin typeface="宋体" pitchFamily="2" charset="-122"/>
              </a:rPr>
              <a:t>.</a:t>
            </a:r>
            <a:r>
              <a:rPr kumimoji="1" lang="zh-CN" altLang="en-US" sz="2400" b="1" dirty="0">
                <a:latin typeface="宋体" pitchFamily="2" charset="-122"/>
              </a:rPr>
              <a:t>明细栏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38378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/>
      <p:bldP spid="7578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3215680" y="5919830"/>
            <a:ext cx="561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kumimoji="1" lang="zh-CN" altLang="en-US" sz="2000" b="1" dirty="0">
                <a:latin typeface="宋体" pitchFamily="2" charset="-122"/>
              </a:rPr>
              <a:t>练习使用的零件图标题栏的形式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1131088" y="1561732"/>
            <a:ext cx="735808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宋体" pitchFamily="2" charset="-122"/>
              </a:rPr>
              <a:t>为了简化练习</a:t>
            </a:r>
            <a:r>
              <a:rPr kumimoji="1" lang="en-US" altLang="zh-CN" sz="2400" b="1" dirty="0">
                <a:latin typeface="宋体" pitchFamily="2" charset="-122"/>
              </a:rPr>
              <a:t>, </a:t>
            </a:r>
            <a:r>
              <a:rPr kumimoji="1" lang="zh-CN" altLang="en-US" sz="2400" b="1" dirty="0">
                <a:latin typeface="宋体" pitchFamily="2" charset="-122"/>
              </a:rPr>
              <a:t>推荐制图练习用的标题栏和明细栏</a:t>
            </a:r>
          </a:p>
        </p:txBody>
      </p:sp>
      <p:pic>
        <p:nvPicPr>
          <p:cNvPr id="16388" name="Picture 8"/>
          <p:cNvPicPr>
            <a:picLocks noChangeAspect="1" noChangeArrowheads="1"/>
          </p:cNvPicPr>
          <p:nvPr/>
        </p:nvPicPr>
        <p:blipFill>
          <a:blip r:embed="rId2"/>
          <a:srcRect l="3125" t="30534" r="15300" b="31097"/>
          <a:stretch>
            <a:fillRect/>
          </a:stretch>
        </p:blipFill>
        <p:spPr bwMode="auto">
          <a:xfrm>
            <a:off x="869756" y="2088690"/>
            <a:ext cx="10482827" cy="369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238378" y="928684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7" name="Text Box 31"/>
          <p:cNvSpPr txBox="1">
            <a:spLocks noChangeArrowheads="1"/>
          </p:cNvSpPr>
          <p:nvPr/>
        </p:nvSpPr>
        <p:spPr bwMode="auto">
          <a:xfrm>
            <a:off x="2881314" y="2142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图片 1" descr="标题栏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828800"/>
            <a:ext cx="883920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1002274" y="1721770"/>
            <a:ext cx="9830264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图样的比例是指</a:t>
            </a:r>
            <a:r>
              <a:rPr kumimoji="1" lang="zh-CN" altLang="en-US" sz="2400" b="1" u="sng" dirty="0">
                <a:solidFill>
                  <a:srgbClr val="FF0000"/>
                </a:solidFill>
                <a:latin typeface="宋体" pitchFamily="2" charset="-122"/>
              </a:rPr>
              <a:t>图形</a:t>
            </a:r>
            <a:r>
              <a:rPr kumimoji="1" lang="zh-CN" altLang="en-US" sz="2400" b="1" dirty="0">
                <a:latin typeface="宋体" pitchFamily="2" charset="-122"/>
              </a:rPr>
              <a:t>要素的线性尺寸与</a:t>
            </a:r>
            <a:r>
              <a:rPr kumimoji="1" lang="zh-CN" altLang="en-US" sz="2400" b="1" u="sng" dirty="0">
                <a:solidFill>
                  <a:srgbClr val="FF0000"/>
                </a:solidFill>
                <a:latin typeface="宋体" pitchFamily="2" charset="-122"/>
              </a:rPr>
              <a:t>实物</a:t>
            </a:r>
            <a:r>
              <a:rPr kumimoji="1" lang="zh-CN" altLang="en-US" sz="2400" b="1" dirty="0">
                <a:latin typeface="宋体" pitchFamily="2" charset="-122"/>
              </a:rPr>
              <a:t>相应要素的</a:t>
            </a:r>
            <a:r>
              <a:rPr kumimoji="1" lang="zh-CN" altLang="en-US" sz="2400" b="1" u="sng" dirty="0">
                <a:solidFill>
                  <a:srgbClr val="FF0000"/>
                </a:solidFill>
                <a:latin typeface="宋体" pitchFamily="2" charset="-122"/>
              </a:rPr>
              <a:t>线性尺寸之比</a:t>
            </a: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1488214" y="2061127"/>
            <a:ext cx="3786187" cy="53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40000"/>
              </a:lnSpc>
            </a:pPr>
            <a:r>
              <a:rPr kumimoji="1" lang="zh-CN" altLang="en-US" sz="2400" b="1" dirty="0">
                <a:latin typeface="宋体" pitchFamily="2" charset="-122"/>
              </a:rPr>
              <a:t> 分为</a:t>
            </a:r>
            <a:r>
              <a:rPr kumimoji="1" lang="zh-CN" altLang="en-US" sz="2400" b="1" u="sng" dirty="0">
                <a:solidFill>
                  <a:srgbClr val="3333CC"/>
                </a:solidFill>
                <a:latin typeface="宋体" pitchFamily="2" charset="-122"/>
              </a:rPr>
              <a:t>原值比例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88184" y="1312450"/>
            <a:ext cx="4929222" cy="463846"/>
          </a:xfrm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zh-CN" altLang="en-US" sz="2400" b="1" dirty="0">
                <a:latin typeface="Times New Roman" pitchFamily="18" charset="0"/>
              </a:rPr>
              <a:t>三、</a:t>
            </a:r>
            <a:r>
              <a:rPr kumimoji="1" lang="en-US" altLang="zh-CN" sz="2400" b="1" dirty="0">
                <a:latin typeface="Times New Roman" pitchFamily="18" charset="0"/>
              </a:rPr>
              <a:t> </a:t>
            </a:r>
            <a:r>
              <a:rPr kumimoji="1" lang="zh-CN" altLang="en-US" sz="2400" b="1" dirty="0">
                <a:latin typeface="Times New Roman" pitchFamily="18" charset="0"/>
              </a:rPr>
              <a:t>比例（</a:t>
            </a:r>
            <a:r>
              <a:rPr kumimoji="1" lang="en-US" altLang="zh-CN" sz="2400" b="1" dirty="0">
                <a:latin typeface="Times New Roman" pitchFamily="18" charset="0"/>
              </a:rPr>
              <a:t>GB/T 14690</a:t>
            </a:r>
            <a:r>
              <a:rPr kumimoji="1" lang="zh-CN" altLang="en-US" sz="2400" b="1" dirty="0">
                <a:latin typeface="Times New Roman" pitchFamily="18" charset="0"/>
              </a:rPr>
              <a:t>－</a:t>
            </a:r>
            <a:r>
              <a:rPr kumimoji="1" lang="en-US" altLang="zh-CN" sz="2400" b="1" dirty="0">
                <a:latin typeface="Times New Roman" pitchFamily="18" charset="0"/>
              </a:rPr>
              <a:t>1993</a:t>
            </a:r>
            <a:r>
              <a:rPr kumimoji="1" lang="zh-CN" altLang="en-US" sz="2400" b="1" dirty="0">
                <a:latin typeface="Times New Roman" pitchFamily="18" charset="0"/>
              </a:rPr>
              <a:t>）</a:t>
            </a: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3769520" y="2042077"/>
            <a:ext cx="2071688" cy="53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40000"/>
              </a:lnSpc>
            </a:pPr>
            <a:r>
              <a:rPr kumimoji="1" lang="zh-CN" altLang="en-US" sz="2400" b="1" u="sng" dirty="0">
                <a:solidFill>
                  <a:srgbClr val="3333CC"/>
                </a:solidFill>
                <a:latin typeface="宋体" pitchFamily="2" charset="-122"/>
              </a:rPr>
              <a:t>、放大比例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5398407" y="2042077"/>
            <a:ext cx="2643240" cy="53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40000"/>
              </a:lnSpc>
            </a:pP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、</a:t>
            </a:r>
            <a:r>
              <a:rPr kumimoji="1" lang="zh-CN" altLang="en-US" sz="2400" b="1" u="sng" dirty="0">
                <a:solidFill>
                  <a:srgbClr val="3333CC"/>
                </a:solidFill>
                <a:latin typeface="宋体" pitchFamily="2" charset="-122"/>
              </a:rPr>
              <a:t>缩小比例</a:t>
            </a:r>
            <a:r>
              <a:rPr kumimoji="1" lang="zh-CN" altLang="en-US" sz="2400" b="1" dirty="0">
                <a:latin typeface="宋体" pitchFamily="2" charset="-122"/>
              </a:rPr>
              <a:t>三种。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81189" y="2681289"/>
            <a:ext cx="29241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87888" y="2708920"/>
            <a:ext cx="509587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38376" y="4895851"/>
            <a:ext cx="21240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3935760" y="6261745"/>
            <a:ext cx="65008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400" b="1" dirty="0">
                <a:latin typeface="宋体" pitchFamily="2" charset="-122"/>
              </a:rPr>
              <a:t>不论采用何种比例绘图，尺寸数值按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原值</a:t>
            </a:r>
            <a:r>
              <a:rPr kumimoji="1" lang="zh-CN" altLang="en-US" sz="2400" b="1" dirty="0">
                <a:latin typeface="宋体" pitchFamily="2" charset="-122"/>
              </a:rPr>
              <a:t>注出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4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autoUpdateAnimBg="0"/>
      <p:bldP spid="77827" grpId="0" autoUpdateAnimBg="0"/>
      <p:bldP spid="18" grpId="0" autoUpdateAnimBg="0"/>
      <p:bldP spid="19" grpId="0" autoUpdateAnimBg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C849E4A-33C5-4408-9F06-E84DE1B08D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1" r="5301" b="6875"/>
          <a:stretch/>
        </p:blipFill>
        <p:spPr>
          <a:xfrm>
            <a:off x="1027416" y="2060848"/>
            <a:ext cx="10137167" cy="4608512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858650A-5F7D-414C-B92F-74287F59B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184" y="1312450"/>
            <a:ext cx="4929222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/>
            <a:r>
              <a:rPr kumimoji="1" lang="zh-CN" altLang="en-US" sz="2400" b="1">
                <a:latin typeface="Times New Roman" pitchFamily="18" charset="0"/>
              </a:rPr>
              <a:t>三、</a:t>
            </a:r>
            <a:r>
              <a:rPr kumimoji="1" lang="en-US" altLang="zh-CN" sz="2400" b="1">
                <a:latin typeface="Times New Roman" pitchFamily="18" charset="0"/>
              </a:rPr>
              <a:t> </a:t>
            </a:r>
            <a:r>
              <a:rPr kumimoji="1" lang="zh-CN" altLang="en-US" sz="2400" b="1">
                <a:latin typeface="Times New Roman" pitchFamily="18" charset="0"/>
              </a:rPr>
              <a:t>比例（</a:t>
            </a:r>
            <a:r>
              <a:rPr kumimoji="1" lang="en-US" altLang="zh-CN" sz="2400" b="1">
                <a:latin typeface="Times New Roman" pitchFamily="18" charset="0"/>
              </a:rPr>
              <a:t>GB/T 14690</a:t>
            </a:r>
            <a:r>
              <a:rPr kumimoji="1" lang="zh-CN" altLang="en-US" sz="2400" b="1">
                <a:latin typeface="Times New Roman" pitchFamily="18" charset="0"/>
              </a:rPr>
              <a:t>－</a:t>
            </a:r>
            <a:r>
              <a:rPr kumimoji="1" lang="en-US" altLang="zh-CN" sz="2400" b="1">
                <a:latin typeface="Times New Roman" pitchFamily="18" charset="0"/>
              </a:rPr>
              <a:t>1993</a:t>
            </a:r>
            <a:r>
              <a:rPr kumimoji="1" lang="zh-CN" altLang="en-US" sz="2400" b="1">
                <a:latin typeface="Times New Roman" pitchFamily="18" charset="0"/>
              </a:rPr>
              <a:t>）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F62B168-E9D7-4751-A3E9-919E1F688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EA7A9C78-A6DD-4B70-B5AE-2BAC69414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  <p:extLst>
      <p:ext uri="{BB962C8B-B14F-4D97-AF65-F5344CB8AC3E}">
        <p14:creationId xmlns:p14="http://schemas.microsoft.com/office/powerpoint/2010/main" val="2922848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1847528" y="1910622"/>
            <a:ext cx="9206245" cy="98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kumimoji="1" lang="zh-CN" altLang="en-US" sz="2400" b="1" dirty="0">
                <a:latin typeface="宋体" pitchFamily="2" charset="-122"/>
              </a:rPr>
              <a:t>图样中的字体书写必须做到：</a:t>
            </a:r>
          </a:p>
          <a:p>
            <a:pPr eaLnBrk="0" hangingPunct="0">
              <a:lnSpc>
                <a:spcPct val="130000"/>
              </a:lnSpc>
            </a:pP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                      体工整、笔画清楚、间隔均匀、排列整齐</a:t>
            </a:r>
          </a:p>
        </p:txBody>
      </p:sp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1559495" y="2857496"/>
            <a:ext cx="9494277" cy="105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6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  字体高度（用</a:t>
            </a:r>
            <a:r>
              <a:rPr kumimoji="1" lang="en-US" altLang="zh-CN" sz="2400" b="1" i="1" dirty="0">
                <a:latin typeface="Times New Roman" pitchFamily="18" charset="0"/>
              </a:rPr>
              <a:t>h</a:t>
            </a:r>
            <a:r>
              <a:rPr kumimoji="1" lang="zh-CN" altLang="zh-CN" sz="2400" b="1" dirty="0">
                <a:latin typeface="Times New Roman" pitchFamily="18" charset="0"/>
              </a:rPr>
              <a:t>表示，单位为</a:t>
            </a:r>
            <a:r>
              <a:rPr kumimoji="1" lang="en-US" altLang="zh-CN" sz="2400" b="1" dirty="0">
                <a:latin typeface="Times New Roman" pitchFamily="18" charset="0"/>
              </a:rPr>
              <a:t>mm</a:t>
            </a:r>
            <a:r>
              <a:rPr kumimoji="1" lang="zh-CN" altLang="en-US" sz="2400" b="1" dirty="0">
                <a:latin typeface="Times New Roman" pitchFamily="18" charset="0"/>
              </a:rPr>
              <a:t>）</a:t>
            </a:r>
            <a:r>
              <a:rPr kumimoji="1" lang="zh-CN" altLang="zh-CN" sz="2400" b="1" dirty="0">
                <a:latin typeface="Times New Roman" pitchFamily="18" charset="0"/>
              </a:rPr>
              <a:t>的公称尺寸系列为：</a:t>
            </a:r>
            <a:endParaRPr kumimoji="1" lang="zh-CN" altLang="en-US" sz="2400" b="1" dirty="0">
              <a:latin typeface="Times New Roman" pitchFamily="18" charset="0"/>
            </a:endParaRPr>
          </a:p>
          <a:p>
            <a:pPr eaLnBrk="0" hangingPunct="0">
              <a:spcBef>
                <a:spcPct val="6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        </a:t>
            </a:r>
            <a:r>
              <a:rPr kumimoji="1" lang="zh-CN" altLang="zh-CN" sz="2400" b="1" i="1" dirty="0">
                <a:latin typeface="Times New Roman" pitchFamily="18" charset="0"/>
              </a:rPr>
              <a:t>1.8、2.5、</a:t>
            </a:r>
            <a:r>
              <a:rPr kumimoji="1" lang="zh-CN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3.5、5</a:t>
            </a:r>
            <a:r>
              <a:rPr kumimoji="1" lang="zh-CN" altLang="zh-CN" sz="2400" b="1" i="1" dirty="0">
                <a:latin typeface="Times New Roman" pitchFamily="18" charset="0"/>
              </a:rPr>
              <a:t>、7、10、14、20</a:t>
            </a:r>
            <a:endParaRPr kumimoji="1" lang="en-US" altLang="zh-CN" sz="2400" b="1" i="1" dirty="0">
              <a:latin typeface="Times New Roman" pitchFamily="18" charset="0"/>
            </a:endParaRP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38227" y="1453138"/>
            <a:ext cx="6629400" cy="463846"/>
          </a:xfrm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zh-CN" altLang="en-US" sz="2400" b="1" dirty="0">
                <a:latin typeface="Times New Roman" pitchFamily="18" charset="0"/>
              </a:rPr>
              <a:t>四、字体（</a:t>
            </a:r>
            <a:r>
              <a:rPr kumimoji="1" lang="en-US" altLang="zh-CN" sz="2400" b="1" dirty="0">
                <a:latin typeface="Times New Roman" pitchFamily="18" charset="0"/>
              </a:rPr>
              <a:t>GB/T 14691</a:t>
            </a:r>
            <a:r>
              <a:rPr kumimoji="1" lang="zh-CN" altLang="en-US" sz="2400" b="1" dirty="0">
                <a:latin typeface="Times New Roman" pitchFamily="18" charset="0"/>
              </a:rPr>
              <a:t>－</a:t>
            </a:r>
            <a:r>
              <a:rPr kumimoji="1" lang="en-US" altLang="zh-CN" sz="2400" b="1" dirty="0">
                <a:latin typeface="Times New Roman" pitchFamily="18" charset="0"/>
              </a:rPr>
              <a:t>1993</a:t>
            </a:r>
            <a:r>
              <a:rPr kumimoji="1" lang="zh-CN" altLang="en-US" sz="2400" b="1" dirty="0">
                <a:latin typeface="Times New Roman" pitchFamily="18" charset="0"/>
              </a:rPr>
              <a:t>）</a:t>
            </a: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7104112" y="3429000"/>
            <a:ext cx="411955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60000"/>
              </a:spcBef>
            </a:pPr>
            <a:r>
              <a:rPr kumimoji="1" lang="zh-CN" altLang="en-US" sz="2400" b="1" u="sng" dirty="0">
                <a:solidFill>
                  <a:srgbClr val="3333CC"/>
                </a:solidFill>
                <a:latin typeface="宋体" pitchFamily="2" charset="-122"/>
              </a:rPr>
              <a:t>字体高度代表字的号数。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703512" y="4176031"/>
            <a:ext cx="1928801" cy="4616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 dirty="0">
                <a:latin typeface="Times New Roman" pitchFamily="18" charset="0"/>
                <a:ea typeface="+mj-ea"/>
                <a:cs typeface="+mj-cs"/>
              </a:rPr>
              <a:t>1</a:t>
            </a:r>
            <a:r>
              <a:rPr kumimoji="1" lang="en-US" altLang="zh-CN" sz="2400" b="1" dirty="0">
                <a:latin typeface="宋体" pitchFamily="2" charset="-122"/>
                <a:ea typeface="+mj-ea"/>
                <a:cs typeface="+mj-cs"/>
              </a:rPr>
              <a:t>.</a:t>
            </a:r>
            <a:r>
              <a:rPr kumimoji="1" lang="zh-CN" altLang="en-US" sz="2400" b="1" dirty="0">
                <a:latin typeface="宋体" pitchFamily="2" charset="-122"/>
                <a:ea typeface="+mj-ea"/>
                <a:cs typeface="+mj-cs"/>
              </a:rPr>
              <a:t>汉字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348861" y="4856966"/>
            <a:ext cx="949427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1" lang="zh-CN" altLang="en-US" sz="2400" b="1" dirty="0">
                <a:latin typeface="宋体" pitchFamily="2" charset="-122"/>
              </a:rPr>
              <a:t>汉字应写成</a:t>
            </a: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长仿宋体字</a:t>
            </a:r>
            <a:r>
              <a:rPr kumimoji="1" lang="zh-CN" altLang="en-US" sz="2400" b="1" dirty="0">
                <a:latin typeface="宋体" pitchFamily="2" charset="-122"/>
              </a:rPr>
              <a:t>，并应采用国家正式公布推行的</a:t>
            </a:r>
            <a:r>
              <a:rPr kumimoji="1" lang="en-US" altLang="zh-CN" sz="2400" b="1" dirty="0">
                <a:latin typeface="宋体" pitchFamily="2" charset="-122"/>
              </a:rPr>
              <a:t>《</a:t>
            </a:r>
            <a:r>
              <a:rPr kumimoji="1" lang="zh-CN" altLang="en-US" sz="2400" b="1" dirty="0">
                <a:latin typeface="宋体" pitchFamily="2" charset="-122"/>
              </a:rPr>
              <a:t>汉字简化方案</a:t>
            </a:r>
            <a:r>
              <a:rPr kumimoji="1" lang="en-US" altLang="zh-CN" sz="2400" b="1" dirty="0">
                <a:latin typeface="宋体" pitchFamily="2" charset="-122"/>
              </a:rPr>
              <a:t>》</a:t>
            </a:r>
            <a:r>
              <a:rPr kumimoji="1" lang="zh-CN" altLang="en-US" sz="2400" b="1" dirty="0">
                <a:latin typeface="宋体" pitchFamily="2" charset="-122"/>
              </a:rPr>
              <a:t>中规定的简化字。汉字的高度</a:t>
            </a:r>
            <a:r>
              <a:rPr kumimoji="1" lang="zh-CN" altLang="en-US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h</a:t>
            </a:r>
            <a:r>
              <a:rPr kumimoji="1" lang="zh-CN" altLang="en-US" sz="2400" b="1" dirty="0">
                <a:latin typeface="宋体" pitchFamily="2" charset="-122"/>
              </a:rPr>
              <a:t>不应小于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3.5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mm</a:t>
            </a:r>
            <a:r>
              <a:rPr kumimoji="1"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zh-CN" altLang="en-US" sz="2400" b="1" dirty="0">
                <a:latin typeface="宋体" pitchFamily="2" charset="-122"/>
              </a:rPr>
              <a:t>其字宽一般为</a:t>
            </a:r>
            <a:endParaRPr kumimoji="1" lang="en-US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1" name="图片 11" descr="gh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3678" y="5631431"/>
            <a:ext cx="8477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utoUpdateAnimBg="0"/>
      <p:bldP spid="79875" grpId="0" autoUpdateAnimBg="0"/>
      <p:bldP spid="79877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7" name="Group 6"/>
          <p:cNvGrpSpPr>
            <a:grpSpLocks/>
          </p:cNvGrpSpPr>
          <p:nvPr/>
        </p:nvGrpSpPr>
        <p:grpSpPr bwMode="auto">
          <a:xfrm>
            <a:off x="2213152" y="1857369"/>
            <a:ext cx="7694203" cy="1548825"/>
            <a:chOff x="703" y="2478"/>
            <a:chExt cx="4218" cy="681"/>
          </a:xfrm>
        </p:grpSpPr>
        <p:pic>
          <p:nvPicPr>
            <p:cNvPr id="20489" name="Picture 7" descr="汉字书写示例10号字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03" y="2478"/>
              <a:ext cx="4218" cy="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90" name="Picture 8" descr="汉字书写示例7号字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8" y="2855"/>
              <a:ext cx="4173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1248751" y="1371565"/>
            <a:ext cx="1928801" cy="4616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 dirty="0">
                <a:latin typeface="Times New Roman" pitchFamily="18" charset="0"/>
                <a:ea typeface="+mj-ea"/>
                <a:cs typeface="+mj-cs"/>
              </a:rPr>
              <a:t>1</a:t>
            </a:r>
            <a:r>
              <a:rPr kumimoji="1" lang="en-US" altLang="zh-CN" sz="2400" b="1" dirty="0">
                <a:latin typeface="宋体" pitchFamily="2" charset="-122"/>
                <a:ea typeface="+mj-ea"/>
                <a:cs typeface="+mj-cs"/>
              </a:rPr>
              <a:t>.</a:t>
            </a:r>
            <a:r>
              <a:rPr kumimoji="1" lang="zh-CN" altLang="en-US" sz="2400" b="1" dirty="0">
                <a:latin typeface="宋体" pitchFamily="2" charset="-122"/>
                <a:ea typeface="+mj-ea"/>
                <a:cs typeface="+mj-cs"/>
              </a:rPr>
              <a:t>汉字</a:t>
            </a: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248751" y="3408194"/>
            <a:ext cx="49530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2</a:t>
            </a:r>
            <a:r>
              <a:rPr kumimoji="1" lang="en-US" altLang="zh-CN" sz="2400" b="1" dirty="0">
                <a:latin typeface="宋体" pitchFamily="2" charset="-122"/>
              </a:rPr>
              <a:t>.</a:t>
            </a:r>
            <a:r>
              <a:rPr kumimoji="1" lang="zh-CN" altLang="en-US" sz="2400" b="1" dirty="0">
                <a:latin typeface="宋体" pitchFamily="2" charset="-122"/>
              </a:rPr>
              <a:t>数字和字母</a:t>
            </a: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983432" y="3786191"/>
            <a:ext cx="10729192" cy="93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Times New Roman" pitchFamily="18" charset="0"/>
              </a:rPr>
              <a:t>　　字母和数字可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写成斜体</a:t>
            </a:r>
            <a:r>
              <a:rPr kumimoji="1" lang="zh-CN" altLang="en-US" sz="2400" b="1" dirty="0">
                <a:latin typeface="Times New Roman" pitchFamily="18" charset="0"/>
              </a:rPr>
              <a:t>或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直体</a:t>
            </a:r>
            <a:r>
              <a:rPr kumimoji="1" lang="zh-CN" altLang="en-US" sz="2400" b="1" dirty="0">
                <a:latin typeface="Times New Roman" pitchFamily="18" charset="0"/>
              </a:rPr>
              <a:t>，注意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全图统一</a:t>
            </a:r>
            <a:r>
              <a:rPr kumimoji="1" lang="zh-CN" altLang="en-US" sz="2400" b="1" dirty="0">
                <a:latin typeface="Times New Roman" pitchFamily="18" charset="0"/>
              </a:rPr>
              <a:t>。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斜体</a:t>
            </a:r>
            <a:r>
              <a:rPr kumimoji="1" lang="zh-CN" altLang="en-US" sz="2400" b="1" dirty="0">
                <a:latin typeface="Times New Roman" pitchFamily="18" charset="0"/>
              </a:rPr>
              <a:t>字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字头向右倾斜</a:t>
            </a:r>
            <a:r>
              <a:rPr kumimoji="1" lang="zh-CN" altLang="en-US" sz="2400" b="1" dirty="0">
                <a:latin typeface="Times New Roman" pitchFamily="18" charset="0"/>
              </a:rPr>
              <a:t>，与水平基准线成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75°</a:t>
            </a:r>
            <a:r>
              <a:rPr kumimoji="1" lang="zh-CN" altLang="en-US" sz="2400" b="1" dirty="0">
                <a:latin typeface="Times New Roman" pitchFamily="18" charset="0"/>
              </a:rPr>
              <a:t>。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024034" y="4633820"/>
            <a:ext cx="7944068" cy="2152767"/>
            <a:chOff x="500034" y="4633819"/>
            <a:chExt cx="7944068" cy="2152767"/>
          </a:xfrm>
        </p:grpSpPr>
        <p:pic>
          <p:nvPicPr>
            <p:cNvPr id="21" name="Picture 6" descr="数字书写示例（斜）"/>
            <p:cNvPicPr>
              <a:picLocks noChangeAspect="1" noChangeArrowheads="1"/>
            </p:cNvPicPr>
            <p:nvPr/>
          </p:nvPicPr>
          <p:blipFill>
            <a:blip r:embed="rId4"/>
            <a:srcRect l="36235" t="48004" r="37283" b="48004"/>
            <a:stretch>
              <a:fillRect/>
            </a:stretch>
          </p:blipFill>
          <p:spPr bwMode="auto">
            <a:xfrm>
              <a:off x="2540487" y="4633819"/>
              <a:ext cx="3317397" cy="7954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7" descr="大写字母书写示例（斜）"/>
            <p:cNvPicPr>
              <a:picLocks noChangeAspect="1" noChangeArrowheads="1"/>
            </p:cNvPicPr>
            <p:nvPr/>
          </p:nvPicPr>
          <p:blipFill>
            <a:blip r:embed="rId5"/>
            <a:srcRect l="14647" t="47963" r="14963" b="47987"/>
            <a:stretch>
              <a:fillRect/>
            </a:stretch>
          </p:blipFill>
          <p:spPr bwMode="auto">
            <a:xfrm>
              <a:off x="571472" y="5286388"/>
              <a:ext cx="7867552" cy="721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8" descr="小写字母书写示例（斜）"/>
            <p:cNvPicPr>
              <a:picLocks noChangeAspect="1" noChangeArrowheads="1"/>
            </p:cNvPicPr>
            <p:nvPr/>
          </p:nvPicPr>
          <p:blipFill>
            <a:blip r:embed="rId6"/>
            <a:srcRect l="16570" t="47601" r="18427" b="48174"/>
            <a:stretch>
              <a:fillRect/>
            </a:stretch>
          </p:blipFill>
          <p:spPr bwMode="auto">
            <a:xfrm>
              <a:off x="500034" y="5956304"/>
              <a:ext cx="7944068" cy="830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32148" y="2042379"/>
            <a:ext cx="10864452" cy="936625"/>
          </a:xfrm>
        </p:spPr>
        <p:txBody>
          <a:bodyPr anchor="t"/>
          <a:lstStyle/>
          <a:p>
            <a:pPr algn="l" eaLnBrk="1" hangingPunct="1">
              <a:lnSpc>
                <a:spcPct val="120000"/>
              </a:lnSpc>
            </a:pPr>
            <a:r>
              <a:rPr lang="en-US" altLang="zh-CN" sz="2400" b="1" dirty="0">
                <a:latin typeface="宋体" pitchFamily="2" charset="-122"/>
              </a:rPr>
              <a:t>   </a:t>
            </a:r>
            <a:r>
              <a:rPr lang="zh-CN" altLang="en-US" sz="2400" b="1" dirty="0">
                <a:latin typeface="宋体" pitchFamily="2" charset="-122"/>
              </a:rPr>
              <a:t>（</a:t>
            </a:r>
            <a:r>
              <a:rPr lang="en-US" altLang="zh-CN" sz="2400" b="1" dirty="0">
                <a:latin typeface="Times New Roman" pitchFamily="18" charset="0"/>
              </a:rPr>
              <a:t>1</a:t>
            </a:r>
            <a:r>
              <a:rPr lang="zh-CN" altLang="en-US" sz="2400" b="1" dirty="0">
                <a:latin typeface="宋体" pitchFamily="2" charset="-122"/>
              </a:rPr>
              <a:t>）用作指数、分数、极限偏差、注脚等的数字及字母一般应采用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小一号的字体</a:t>
            </a:r>
            <a:r>
              <a:rPr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632148" y="3933056"/>
            <a:ext cx="10864452" cy="13731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itchFamily="2" charset="-122"/>
              </a:rPr>
              <a:t>   </a:t>
            </a:r>
            <a:r>
              <a:rPr lang="zh-CN" altLang="en-US" sz="2400" b="1" dirty="0">
                <a:latin typeface="宋体" pitchFamily="2" charset="-122"/>
              </a:rPr>
              <a:t>（</a:t>
            </a:r>
            <a:r>
              <a:rPr lang="en-US" altLang="zh-CN" sz="2400" b="1" dirty="0">
                <a:latin typeface="Times New Roman" pitchFamily="18" charset="0"/>
              </a:rPr>
              <a:t>2</a:t>
            </a:r>
            <a:r>
              <a:rPr lang="zh-CN" altLang="en-US" sz="2400" b="1" dirty="0">
                <a:latin typeface="宋体" pitchFamily="2" charset="-122"/>
              </a:rPr>
              <a:t>）图样中的数学符号、物理量符号、计量单位符号以及其他符号、代号，应分别</a:t>
            </a:r>
            <a:r>
              <a:rPr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符合国家的有关法令和标准的规定。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127448" y="1469006"/>
            <a:ext cx="6400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3</a:t>
            </a:r>
            <a:r>
              <a:rPr kumimoji="1" lang="en-US" altLang="zh-CN" sz="2400" b="1" dirty="0">
                <a:latin typeface="宋体" pitchFamily="2" charset="-122"/>
              </a:rPr>
              <a:t>.</a:t>
            </a:r>
            <a:r>
              <a:rPr kumimoji="1" lang="zh-CN" altLang="en-US" sz="2400" b="1" dirty="0">
                <a:latin typeface="宋体" pitchFamily="2" charset="-122"/>
              </a:rPr>
              <a:t>图样中书写规定与示例</a:t>
            </a:r>
          </a:p>
        </p:txBody>
      </p:sp>
      <p:pic>
        <p:nvPicPr>
          <p:cNvPr id="82950" name="Picture 6" descr="其他示例之分数等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66988" y="3046729"/>
            <a:ext cx="5616575" cy="882650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/>
            <a:tailEnd/>
          </a:ln>
        </p:spPr>
      </p:pic>
      <p:pic>
        <p:nvPicPr>
          <p:cNvPr id="82951" name="Picture 7" descr="ziti-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1584" y="5373216"/>
            <a:ext cx="7416800" cy="801687"/>
          </a:xfrm>
          <a:prstGeom prst="rect">
            <a:avLst/>
          </a:prstGeom>
          <a:noFill/>
          <a:ln w="28575" algn="ctr">
            <a:solidFill>
              <a:srgbClr val="3333CC"/>
            </a:solidFill>
            <a:miter lim="800000"/>
            <a:headEnd/>
            <a:tailEnd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9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1775520" y="3370434"/>
            <a:ext cx="150017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itchFamily="18" charset="0"/>
              </a:rPr>
              <a:t>1</a:t>
            </a:r>
            <a:r>
              <a:rPr kumimoji="1" lang="en-US" altLang="zh-CN" sz="2400" b="1" dirty="0">
                <a:latin typeface="宋体" pitchFamily="2" charset="-122"/>
              </a:rPr>
              <a:t>.</a:t>
            </a:r>
            <a:r>
              <a:rPr kumimoji="1" lang="zh-CN" altLang="en-US" sz="2400" b="1" dirty="0">
                <a:latin typeface="宋体" pitchFamily="2" charset="-122"/>
              </a:rPr>
              <a:t>线型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127448" y="1433760"/>
            <a:ext cx="6632575" cy="525401"/>
          </a:xfrm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zh-CN" altLang="en-US" sz="2800" b="1" dirty="0">
                <a:latin typeface="Times New Roman" pitchFamily="18" charset="0"/>
              </a:rPr>
              <a:t>五、</a:t>
            </a:r>
            <a:r>
              <a:rPr kumimoji="1" lang="en-US" altLang="zh-CN" sz="2800" b="1" dirty="0">
                <a:latin typeface="Times New Roman" pitchFamily="18" charset="0"/>
              </a:rPr>
              <a:t> </a:t>
            </a:r>
            <a:r>
              <a:rPr kumimoji="1" lang="zh-CN" altLang="en-US" sz="2800" b="1" dirty="0">
                <a:latin typeface="Times New Roman" pitchFamily="18" charset="0"/>
              </a:rPr>
              <a:t>图线 </a:t>
            </a:r>
            <a:r>
              <a:rPr kumimoji="1" lang="en-US" altLang="zh-CN" sz="2800" b="1" dirty="0">
                <a:latin typeface="Times New Roman" pitchFamily="18" charset="0"/>
              </a:rPr>
              <a:t>(GB/T 4457.4</a:t>
            </a:r>
            <a:r>
              <a:rPr kumimoji="1" lang="zh-CN" altLang="en-US" sz="2800" b="1" dirty="0">
                <a:latin typeface="Times New Roman" pitchFamily="18" charset="0"/>
              </a:rPr>
              <a:t>－</a:t>
            </a:r>
            <a:r>
              <a:rPr kumimoji="1" lang="en-US" altLang="zh-CN" sz="2800" b="1" dirty="0">
                <a:latin typeface="Times New Roman" pitchFamily="18" charset="0"/>
              </a:rPr>
              <a:t>2002)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1415480" y="4077802"/>
            <a:ext cx="9937104" cy="11523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kumimoji="1" lang="en-US" altLang="zh-CN" sz="2800" b="1" dirty="0">
                <a:latin typeface="Times New Roman" pitchFamily="18" charset="0"/>
              </a:rPr>
              <a:t>       GB</a:t>
            </a:r>
            <a:r>
              <a:rPr kumimoji="1" lang="zh-CN" altLang="en-US" sz="2800" b="1" dirty="0">
                <a:latin typeface="Times New Roman" pitchFamily="18" charset="0"/>
              </a:rPr>
              <a:t>／</a:t>
            </a:r>
            <a:r>
              <a:rPr kumimoji="1" lang="en-US" altLang="zh-CN" sz="2800" b="1" dirty="0">
                <a:latin typeface="Times New Roman" pitchFamily="18" charset="0"/>
              </a:rPr>
              <a:t>T 4457.4—2002</a:t>
            </a:r>
            <a:r>
              <a:rPr kumimoji="1" lang="zh-CN" altLang="en-US" sz="2800" b="1" dirty="0">
                <a:latin typeface="Times New Roman" pitchFamily="18" charset="0"/>
              </a:rPr>
              <a:t>中规定了绘制各种技术图样的</a:t>
            </a:r>
            <a:r>
              <a:rPr kumimoji="1" lang="en-US" altLang="zh-CN" sz="2800" b="1" dirty="0">
                <a:solidFill>
                  <a:srgbClr val="3333CC"/>
                </a:solidFill>
                <a:latin typeface="Times New Roman" pitchFamily="18" charset="0"/>
              </a:rPr>
              <a:t>15</a:t>
            </a:r>
            <a:r>
              <a:rPr kumimoji="1" lang="zh-CN" altLang="en-US" sz="2800" b="1" dirty="0">
                <a:solidFill>
                  <a:srgbClr val="3333CC"/>
                </a:solidFill>
                <a:latin typeface="Times New Roman" pitchFamily="18" charset="0"/>
              </a:rPr>
              <a:t>种基本线型</a:t>
            </a:r>
            <a:r>
              <a:rPr kumimoji="1" lang="zh-CN" altLang="en-US" sz="2800" b="1" dirty="0">
                <a:latin typeface="Times New Roman" pitchFamily="18" charset="0"/>
              </a:rPr>
              <a:t>。机械制图用线型有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itchFamily="18" charset="0"/>
              </a:rPr>
              <a:t>9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种</a:t>
            </a:r>
            <a:r>
              <a:rPr kumimoji="1" lang="zh-CN" altLang="en-US" sz="2800" b="1" dirty="0">
                <a:latin typeface="Times New Roman" pitchFamily="18" charset="0"/>
              </a:rPr>
              <a:t>。</a:t>
            </a: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1271464" y="2204864"/>
            <a:ext cx="10081120" cy="919867"/>
          </a:xfrm>
          <a:prstGeom prst="rect">
            <a:avLst/>
          </a:prstGeom>
          <a:gradFill flip="none" rotWithShape="1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  <a:tileRect/>
          </a:gra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国家标准规定了技术制图所用图线的</a:t>
            </a: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名称、型式、结构、标记及画法规则</a:t>
            </a:r>
            <a:r>
              <a:rPr kumimoji="1" lang="zh-CN" altLang="en-US" sz="2400" b="1" dirty="0">
                <a:latin typeface="宋体" pitchFamily="2" charset="-122"/>
              </a:rPr>
              <a:t>。它适用于各种技术图样。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2" grpId="0"/>
      <p:bldP spid="8397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6313413" y="6159376"/>
            <a:ext cx="2819400" cy="425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b="1">
                <a:latin typeface="楷体_GB2312" pitchFamily="49" charset="-122"/>
              </a:rPr>
              <a:t>断裂边界线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352601" y="6087939"/>
            <a:ext cx="14462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b="1">
                <a:latin typeface="楷体_GB2312" pitchFamily="49" charset="-122"/>
              </a:rPr>
              <a:t>波浪线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6165777" y="5437064"/>
            <a:ext cx="3214687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b="1">
                <a:latin typeface="楷体_GB2312" pitchFamily="49" charset="-122"/>
              </a:rPr>
              <a:t>假想轮廓线、极限位置轮廓线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2351014" y="5294189"/>
            <a:ext cx="144621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b="1">
                <a:latin typeface="楷体_GB2312" pitchFamily="49" charset="-122"/>
              </a:rPr>
              <a:t>细双点画线</a:t>
            </a:r>
          </a:p>
          <a:p>
            <a:pPr>
              <a:lnSpc>
                <a:spcPct val="140000"/>
              </a:lnSpc>
              <a:spcBef>
                <a:spcPct val="20000"/>
              </a:spcBef>
            </a:pPr>
            <a:endParaRPr lang="en-US" altLang="zh-CN" b="1">
              <a:solidFill>
                <a:srgbClr val="FF0000"/>
              </a:solidFill>
              <a:latin typeface="楷体_GB2312" pitchFamily="49" charset="-122"/>
            </a:endParaRPr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6311826" y="3927351"/>
            <a:ext cx="2819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b="1">
                <a:latin typeface="楷体_GB2312" pitchFamily="49" charset="-122"/>
              </a:rPr>
              <a:t>中心线、对称线、齿轮的节圆线</a:t>
            </a:r>
          </a:p>
          <a:p>
            <a:pPr>
              <a:lnSpc>
                <a:spcPct val="90000"/>
              </a:lnSpc>
            </a:pPr>
            <a:endParaRPr lang="zh-CN" altLang="en-US" b="1">
              <a:solidFill>
                <a:srgbClr val="FF0000"/>
              </a:solidFill>
              <a:latin typeface="楷体_GB2312" pitchFamily="49" charset="-122"/>
            </a:endParaRPr>
          </a:p>
          <a:p>
            <a:pPr>
              <a:spcBef>
                <a:spcPct val="10000"/>
              </a:spcBef>
            </a:pPr>
            <a:r>
              <a:rPr lang="zh-CN" altLang="en-US" b="1">
                <a:latin typeface="楷体_GB2312" pitchFamily="49" charset="-122"/>
              </a:rPr>
              <a:t>剖切平面线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2424039" y="4071815"/>
            <a:ext cx="144621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zh-CN" altLang="en-US" b="1">
                <a:latin typeface="楷体_GB2312" pitchFamily="49" charset="-122"/>
              </a:rPr>
              <a:t>细点画线</a:t>
            </a:r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6308651" y="3422527"/>
            <a:ext cx="2819400" cy="504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b="1">
                <a:latin typeface="楷体_GB2312" pitchFamily="49" charset="-122"/>
              </a:rPr>
              <a:t>不可见轮廓线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2639939" y="3351089"/>
            <a:ext cx="100806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b="1">
                <a:latin typeface="楷体_GB2312" pitchFamily="49" charset="-122"/>
              </a:rPr>
              <a:t>细虚线</a:t>
            </a:r>
          </a:p>
        </p:txBody>
      </p:sp>
      <p:sp>
        <p:nvSpPr>
          <p:cNvPr id="85002" name="Rectangle 10"/>
          <p:cNvSpPr>
            <a:spLocks noChangeArrowheads="1"/>
          </p:cNvSpPr>
          <p:nvPr/>
        </p:nvSpPr>
        <p:spPr bwMode="auto">
          <a:xfrm>
            <a:off x="6311826" y="1911226"/>
            <a:ext cx="3097212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ct val="20000"/>
              </a:spcAft>
            </a:pPr>
            <a:r>
              <a:rPr lang="zh-CN" altLang="en-US" b="1">
                <a:latin typeface="楷体_GB2312" pitchFamily="49" charset="-122"/>
              </a:rPr>
              <a:t>尺寸线、尺寸界线、指引线、剖面线等</a:t>
            </a:r>
          </a:p>
          <a:p>
            <a:pPr>
              <a:spcBef>
                <a:spcPct val="20000"/>
              </a:spcBef>
            </a:pPr>
            <a:r>
              <a:rPr lang="zh-CN" altLang="en-US" b="1">
                <a:latin typeface="楷体_GB2312" pitchFamily="49" charset="-122"/>
              </a:rPr>
              <a:t>可见轮廓线、螺纹牙顶线、螺纹终止线、相贯线等</a:t>
            </a: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2351014" y="1982665"/>
            <a:ext cx="14462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>
                <a:latin typeface="楷体_GB2312" pitchFamily="49" charset="-122"/>
              </a:rPr>
              <a:t>细实线</a:t>
            </a: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6167363" y="1412751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zh-CN" altLang="en-US" b="1">
                <a:latin typeface="楷体_GB2312" pitchFamily="49" charset="-122"/>
              </a:rPr>
              <a:t>应用</a:t>
            </a: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3719439" y="1406401"/>
            <a:ext cx="2536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zh-CN" altLang="en-US" b="1">
                <a:latin typeface="楷体_GB2312" pitchFamily="49" charset="-122"/>
              </a:rPr>
              <a:t>线型</a:t>
            </a: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2273226" y="1406401"/>
            <a:ext cx="1446212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zh-CN" altLang="en-US" b="1">
                <a:latin typeface="楷体_GB2312" pitchFamily="49" charset="-122"/>
              </a:rPr>
              <a:t>名称</a:t>
            </a:r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2273225" y="1406401"/>
            <a:ext cx="7200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 flipV="1">
            <a:off x="2273226" y="1846139"/>
            <a:ext cx="7207250" cy="17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>
            <a:off x="2279576" y="3212976"/>
            <a:ext cx="7200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2279576" y="5187827"/>
            <a:ext cx="7200900" cy="34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2273226" y="6008564"/>
            <a:ext cx="7207250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2279576" y="6735639"/>
            <a:ext cx="72009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>
            <a:off x="2273226" y="1406401"/>
            <a:ext cx="6350" cy="532923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>
            <a:off x="3935338" y="1412751"/>
            <a:ext cx="0" cy="5322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>
            <a:off x="6095926" y="1406401"/>
            <a:ext cx="0" cy="5303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00" name="Line 24"/>
          <p:cNvSpPr>
            <a:spLocks noChangeShapeType="1"/>
          </p:cNvSpPr>
          <p:nvPr/>
        </p:nvSpPr>
        <p:spPr bwMode="auto">
          <a:xfrm>
            <a:off x="9480476" y="1406401"/>
            <a:ext cx="0" cy="532923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01" name="Line 25"/>
          <p:cNvSpPr>
            <a:spLocks noChangeShapeType="1"/>
          </p:cNvSpPr>
          <p:nvPr/>
        </p:nvSpPr>
        <p:spPr bwMode="auto">
          <a:xfrm>
            <a:off x="2279576" y="2565276"/>
            <a:ext cx="720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02" name="Line 26"/>
          <p:cNvSpPr>
            <a:spLocks noChangeShapeType="1"/>
          </p:cNvSpPr>
          <p:nvPr/>
        </p:nvSpPr>
        <p:spPr bwMode="auto">
          <a:xfrm>
            <a:off x="2279576" y="3933701"/>
            <a:ext cx="720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03" name="Line 27"/>
          <p:cNvSpPr>
            <a:spLocks noChangeShapeType="1"/>
          </p:cNvSpPr>
          <p:nvPr/>
        </p:nvSpPr>
        <p:spPr bwMode="auto">
          <a:xfrm>
            <a:off x="2279576" y="4581401"/>
            <a:ext cx="712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04" name="Rectangle 28"/>
          <p:cNvSpPr>
            <a:spLocks noChangeArrowheads="1"/>
          </p:cNvSpPr>
          <p:nvPr/>
        </p:nvSpPr>
        <p:spPr bwMode="auto">
          <a:xfrm>
            <a:off x="4224264" y="903165"/>
            <a:ext cx="3529013" cy="42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kumimoji="1" lang="zh-CN" altLang="en-US" sz="2400" b="1" dirty="0">
                <a:latin typeface="Times New Roman" pitchFamily="18" charset="0"/>
              </a:rPr>
              <a:t>常用的线型及应用</a:t>
            </a:r>
          </a:p>
        </p:txBody>
      </p:sp>
      <p:sp>
        <p:nvSpPr>
          <p:cNvPr id="24605" name="Rectangle 29"/>
          <p:cNvSpPr>
            <a:spLocks noChangeArrowheads="1"/>
          </p:cNvSpPr>
          <p:nvPr/>
        </p:nvSpPr>
        <p:spPr bwMode="auto">
          <a:xfrm>
            <a:off x="2639939" y="2703389"/>
            <a:ext cx="8747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b="1">
                <a:latin typeface="楷体_GB2312" pitchFamily="49" charset="-122"/>
              </a:rPr>
              <a:t>粗实线</a:t>
            </a:r>
          </a:p>
        </p:txBody>
      </p:sp>
      <p:sp>
        <p:nvSpPr>
          <p:cNvPr id="24606" name="Rectangle 30"/>
          <p:cNvSpPr>
            <a:spLocks noChangeArrowheads="1"/>
          </p:cNvSpPr>
          <p:nvPr/>
        </p:nvSpPr>
        <p:spPr bwMode="auto">
          <a:xfrm>
            <a:off x="2568501" y="4719514"/>
            <a:ext cx="11049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b="1">
                <a:latin typeface="楷体_GB2312" pitchFamily="49" charset="-122"/>
              </a:rPr>
              <a:t>粗点画线</a:t>
            </a:r>
          </a:p>
        </p:txBody>
      </p:sp>
      <p:pic>
        <p:nvPicPr>
          <p:cNvPr id="24607" name="Picture 31" descr="表1-4(1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1239" y="2127126"/>
            <a:ext cx="15843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08" name="Picture 32" descr="表1-4(2)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9801" y="2774826"/>
            <a:ext cx="17272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09" name="Picture 33" descr="表1-4(3)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22676" y="6230815"/>
            <a:ext cx="1657350" cy="32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10" name="Picture 34" descr="表1-4(7)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22676" y="4717926"/>
            <a:ext cx="1727200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11" name="Picture 35" descr="表1-4(6)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22677" y="4070227"/>
            <a:ext cx="1728787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12" name="Picture 36" descr="表1-4(5)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222677" y="3495551"/>
            <a:ext cx="1512887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13" name="Picture 37" descr="表1-4(8)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222676" y="5438652"/>
            <a:ext cx="1657350" cy="37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/>
      <p:bldP spid="84996" grpId="0"/>
      <p:bldP spid="8500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t1-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3875" y="1340768"/>
            <a:ext cx="8604250" cy="579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390" y="1340768"/>
            <a:ext cx="2286016" cy="428628"/>
          </a:xfrm>
        </p:spPr>
        <p:txBody>
          <a:bodyPr anchor="t"/>
          <a:lstStyle/>
          <a:p>
            <a:pPr algn="l" eaLnBrk="1" hangingPunct="1"/>
            <a:r>
              <a:rPr lang="en-US" altLang="zh-CN" sz="2400" b="1" dirty="0">
                <a:latin typeface="Times New Roman" pitchFamily="18" charset="0"/>
              </a:rPr>
              <a:t>2</a:t>
            </a:r>
            <a:r>
              <a:rPr lang="en-US" altLang="zh-CN" sz="2400" b="1" dirty="0">
                <a:latin typeface="宋体" pitchFamily="2" charset="-122"/>
              </a:rPr>
              <a:t>.</a:t>
            </a:r>
            <a:r>
              <a:rPr lang="zh-CN" altLang="en-US" sz="2400" b="1" dirty="0">
                <a:latin typeface="宋体" pitchFamily="2" charset="-122"/>
              </a:rPr>
              <a:t>图线宽度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271464" y="3999657"/>
            <a:ext cx="23161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3.  </a:t>
            </a:r>
            <a:r>
              <a:rPr kumimoji="1" lang="zh-CN" altLang="en-US" sz="2400" b="1" dirty="0">
                <a:latin typeface="Times New Roman" pitchFamily="18" charset="0"/>
              </a:rPr>
              <a:t>图线的画法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51836" y="4502532"/>
            <a:ext cx="4107306" cy="15696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虚线、点画线、双点画线</a:t>
            </a:r>
            <a:r>
              <a:rPr kumimoji="1" lang="zh-CN" altLang="en-US" sz="2400" b="1" dirty="0">
                <a:latin typeface="宋体" pitchFamily="2" charset="-122"/>
              </a:rPr>
              <a:t>的线段长度和间隔应各自大致相等，在图样中要显得</a:t>
            </a: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匀称协调。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pic>
        <p:nvPicPr>
          <p:cNvPr id="9" name="Picture 5" descr="t1-8"/>
          <p:cNvPicPr>
            <a:picLocks noChangeAspect="1" noChangeArrowheads="1"/>
          </p:cNvPicPr>
          <p:nvPr/>
        </p:nvPicPr>
        <p:blipFill>
          <a:blip r:embed="rId2"/>
          <a:srcRect t="60761"/>
          <a:stretch>
            <a:fillRect/>
          </a:stretch>
        </p:blipFill>
        <p:spPr bwMode="auto">
          <a:xfrm>
            <a:off x="6390387" y="5604628"/>
            <a:ext cx="4602157" cy="118195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</p:pic>
      <p:pic>
        <p:nvPicPr>
          <p:cNvPr id="10" name="Picture 5" descr="t1-8"/>
          <p:cNvPicPr>
            <a:picLocks noChangeAspect="1" noChangeArrowheads="1"/>
          </p:cNvPicPr>
          <p:nvPr/>
        </p:nvPicPr>
        <p:blipFill>
          <a:blip r:embed="rId2"/>
          <a:srcRect t="28418" b="41260"/>
          <a:stretch>
            <a:fillRect/>
          </a:stretch>
        </p:blipFill>
        <p:spPr bwMode="auto">
          <a:xfrm>
            <a:off x="6168008" y="4572008"/>
            <a:ext cx="4387875" cy="97608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</p:pic>
      <p:pic>
        <p:nvPicPr>
          <p:cNvPr id="11" name="Picture 5" descr="t1-8"/>
          <p:cNvPicPr>
            <a:picLocks noChangeAspect="1" noChangeArrowheads="1"/>
          </p:cNvPicPr>
          <p:nvPr/>
        </p:nvPicPr>
        <p:blipFill>
          <a:blip r:embed="rId2"/>
          <a:srcRect t="-1665" b="71819"/>
          <a:stretch>
            <a:fillRect/>
          </a:stretch>
        </p:blipFill>
        <p:spPr bwMode="auto">
          <a:xfrm>
            <a:off x="5917597" y="3707192"/>
            <a:ext cx="4602157" cy="100769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</p:pic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983432" y="1785926"/>
            <a:ext cx="10657184" cy="201593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rPr>
              <a:t>         </a:t>
            </a:r>
            <a:r>
              <a:rPr kumimoji="1" lang="zh-CN" altLang="en-US" sz="2400" b="1" dirty="0">
                <a:latin typeface="Times New Roman" pitchFamily="18" charset="0"/>
              </a:rPr>
              <a:t>所有线型的图线宽度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</a:t>
            </a:r>
            <a:r>
              <a:rPr kumimoji="1" lang="zh-CN" altLang="en-US" sz="2400" b="1" dirty="0">
                <a:latin typeface="Times New Roman" pitchFamily="18" charset="0"/>
              </a:rPr>
              <a:t>应按图样的类型和尺寸大小在下列数系中选择（单位为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mm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）：</a:t>
            </a:r>
          </a:p>
          <a:p>
            <a:pPr algn="just">
              <a:spcBef>
                <a:spcPts val="0"/>
              </a:spcBef>
            </a:pP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      </a:t>
            </a:r>
            <a:r>
              <a:rPr kumimoji="1" lang="en-US" altLang="zh-CN" sz="2400" b="1" i="1" dirty="0">
                <a:latin typeface="Times New Roman" pitchFamily="18" charset="0"/>
              </a:rPr>
              <a:t>0.13</a:t>
            </a:r>
            <a:r>
              <a:rPr kumimoji="1" lang="zh-CN" altLang="en-US" sz="2400" b="1" i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0.18</a:t>
            </a:r>
            <a:r>
              <a:rPr kumimoji="1" lang="zh-CN" altLang="en-US" sz="2400" b="1" i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0.25</a:t>
            </a:r>
            <a:r>
              <a:rPr kumimoji="1" lang="zh-CN" altLang="en-US" sz="2400" b="1" i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0.35</a:t>
            </a:r>
            <a:r>
              <a:rPr kumimoji="1" lang="zh-CN" altLang="en-US" sz="2400" b="1" i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0.5</a:t>
            </a:r>
            <a:r>
              <a:rPr kumimoji="1" lang="zh-CN" altLang="en-US" sz="2400" b="1" i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0.7</a:t>
            </a:r>
            <a:r>
              <a:rPr kumimoji="1" lang="zh-CN" altLang="en-US" sz="2400" b="1" i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1.0</a:t>
            </a:r>
            <a:r>
              <a:rPr kumimoji="1" lang="zh-CN" altLang="en-US" sz="2400" b="1" i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1.4</a:t>
            </a:r>
            <a:r>
              <a:rPr kumimoji="1" lang="zh-CN" altLang="en-US" sz="2400" b="1" i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2</a:t>
            </a:r>
            <a:r>
              <a:rPr kumimoji="1" lang="zh-CN" altLang="en-US" sz="2400" b="1" dirty="0">
                <a:latin typeface="Times New Roman" pitchFamily="18" charset="0"/>
              </a:rPr>
              <a:t>。</a:t>
            </a:r>
          </a:p>
          <a:p>
            <a:pPr algn="just">
              <a:spcBef>
                <a:spcPts val="6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rPr>
              <a:t>         </a:t>
            </a:r>
            <a:r>
              <a:rPr kumimoji="1" lang="zh-CN" altLang="en-US" sz="2400" b="1" dirty="0">
                <a:solidFill>
                  <a:srgbClr val="3333CC"/>
                </a:solidFill>
                <a:latin typeface="Times New Roman" pitchFamily="18" charset="0"/>
              </a:rPr>
              <a:t>在同一图样中，同类图线的宽度应一致。</a:t>
            </a:r>
          </a:p>
          <a:p>
            <a:pPr algn="just">
              <a:spcBef>
                <a:spcPts val="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itchFamily="18" charset="0"/>
              </a:rPr>
              <a:t>        </a:t>
            </a:r>
            <a:r>
              <a:rPr kumimoji="1" lang="zh-CN" altLang="en-US" sz="2400" b="1" dirty="0">
                <a:latin typeface="Times New Roman" pitchFamily="18" charset="0"/>
              </a:rPr>
              <a:t>机械工程图样上采用两类线宽，称为</a:t>
            </a:r>
            <a:r>
              <a:rPr kumimoji="1" lang="zh-CN" altLang="en-US" sz="2400" b="1" dirty="0">
                <a:solidFill>
                  <a:srgbClr val="3333CC"/>
                </a:solidFill>
                <a:latin typeface="Times New Roman" pitchFamily="18" charset="0"/>
              </a:rPr>
              <a:t>粗线</a:t>
            </a:r>
            <a:r>
              <a:rPr kumimoji="1" lang="zh-CN" altLang="en-US" sz="2400" b="1" dirty="0">
                <a:latin typeface="Times New Roman" pitchFamily="18" charset="0"/>
              </a:rPr>
              <a:t>和</a:t>
            </a:r>
            <a:r>
              <a:rPr kumimoji="1" lang="zh-CN" altLang="en-US" sz="2400" b="1" dirty="0">
                <a:solidFill>
                  <a:srgbClr val="3333CC"/>
                </a:solidFill>
                <a:latin typeface="Times New Roman" pitchFamily="18" charset="0"/>
              </a:rPr>
              <a:t>细线</a:t>
            </a:r>
            <a:r>
              <a:rPr kumimoji="1" lang="zh-CN" altLang="en-US" sz="2400" b="1" dirty="0">
                <a:latin typeface="Times New Roman" pitchFamily="18" charset="0"/>
              </a:rPr>
              <a:t>，其宽度比例关系为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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2" name="矩形 11"/>
          <p:cNvSpPr/>
          <p:nvPr/>
        </p:nvSpPr>
        <p:spPr>
          <a:xfrm>
            <a:off x="6061612" y="3786190"/>
            <a:ext cx="5146956" cy="29289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7043" grpId="0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8803704" y="2281459"/>
            <a:ext cx="175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6822504" y="2052859"/>
            <a:ext cx="381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7086029" y="1916335"/>
            <a:ext cx="198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正确画法</a:t>
            </a:r>
          </a:p>
        </p:txBody>
      </p:sp>
      <p:pic>
        <p:nvPicPr>
          <p:cNvPr id="28677" name="Picture 6" descr="t1-10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7605" y="2419573"/>
            <a:ext cx="4392613" cy="324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946150" y="2178049"/>
            <a:ext cx="6950050" cy="2534367"/>
            <a:chOff x="-364" y="864"/>
            <a:chExt cx="4197" cy="1160"/>
          </a:xfrm>
        </p:grpSpPr>
        <p:sp>
          <p:nvSpPr>
            <p:cNvPr id="28685" name="Rectangle 8"/>
            <p:cNvSpPr>
              <a:spLocks noChangeArrowheads="1"/>
            </p:cNvSpPr>
            <p:nvPr/>
          </p:nvSpPr>
          <p:spPr bwMode="auto">
            <a:xfrm>
              <a:off x="-364" y="864"/>
              <a:ext cx="2473" cy="6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kumimoji="1" lang="en-US" altLang="zh-CN" sz="2400" b="1" dirty="0">
                  <a:ea typeface="楷体_GB2312" pitchFamily="49" charset="-122"/>
                </a:rPr>
                <a:t>        </a:t>
              </a:r>
              <a:r>
                <a:rPr kumimoji="1" lang="zh-CN" altLang="en-US" sz="2400" b="1" dirty="0"/>
                <a:t>绘制圆的对称中心线时，</a:t>
              </a:r>
              <a:r>
                <a:rPr kumimoji="1" lang="zh-CN" altLang="en-US" sz="2400" b="1" dirty="0">
                  <a:solidFill>
                    <a:srgbClr val="3333CC"/>
                  </a:solidFill>
                </a:rPr>
                <a:t>圆心应为</a:t>
              </a:r>
              <a:r>
                <a:rPr kumimoji="1" lang="zh-CN" altLang="en-US" sz="2400" b="1" dirty="0">
                  <a:solidFill>
                    <a:srgbClr val="3333CC"/>
                  </a:solidFill>
                  <a:latin typeface="宋体" pitchFamily="2" charset="-122"/>
                </a:rPr>
                <a:t>“</a:t>
              </a:r>
              <a:r>
                <a:rPr kumimoji="1" lang="zh-CN" altLang="en-US" sz="2400" b="1" dirty="0">
                  <a:solidFill>
                    <a:srgbClr val="3333CC"/>
                  </a:solidFill>
                </a:rPr>
                <a:t>画</a:t>
              </a:r>
              <a:r>
                <a:rPr kumimoji="1" lang="zh-CN" altLang="en-US" sz="2400" b="1" dirty="0">
                  <a:solidFill>
                    <a:srgbClr val="3333CC"/>
                  </a:solidFill>
                  <a:latin typeface="宋体" pitchFamily="2" charset="-122"/>
                </a:rPr>
                <a:t>”</a:t>
              </a:r>
              <a:r>
                <a:rPr kumimoji="1" lang="zh-CN" altLang="en-US" sz="2400" b="1" dirty="0">
                  <a:solidFill>
                    <a:srgbClr val="3333CC"/>
                  </a:solidFill>
                </a:rPr>
                <a:t>的交点。</a:t>
              </a:r>
            </a:p>
          </p:txBody>
        </p:sp>
        <p:sp>
          <p:nvSpPr>
            <p:cNvPr id="28686" name="Line 9"/>
            <p:cNvSpPr>
              <a:spLocks noChangeShapeType="1"/>
            </p:cNvSpPr>
            <p:nvPr/>
          </p:nvSpPr>
          <p:spPr bwMode="auto">
            <a:xfrm flipV="1">
              <a:off x="3515" y="1797"/>
              <a:ext cx="318" cy="22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838691" y="2617442"/>
            <a:ext cx="7345541" cy="3060608"/>
            <a:chOff x="-429" y="799"/>
            <a:chExt cx="4443" cy="1905"/>
          </a:xfrm>
        </p:grpSpPr>
        <p:sp>
          <p:nvSpPr>
            <p:cNvPr id="28682" name="Rectangle 11"/>
            <p:cNvSpPr>
              <a:spLocks noChangeArrowheads="1"/>
            </p:cNvSpPr>
            <p:nvPr/>
          </p:nvSpPr>
          <p:spPr bwMode="auto">
            <a:xfrm>
              <a:off x="-429" y="1416"/>
              <a:ext cx="2903" cy="9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kumimoji="1" lang="en-US" altLang="zh-CN" sz="2400" b="1" dirty="0">
                  <a:ea typeface="楷体_GB2312" pitchFamily="49" charset="-122"/>
                </a:rPr>
                <a:t>       </a:t>
              </a:r>
              <a:r>
                <a:rPr kumimoji="1" lang="zh-CN" altLang="en-US" sz="2400" b="1" dirty="0"/>
                <a:t>点画线和双点画线的首末两端应为</a:t>
              </a:r>
              <a:r>
                <a:rPr kumimoji="1" lang="zh-CN" altLang="en-US" sz="2400" b="1" dirty="0">
                  <a:latin typeface="宋体" pitchFamily="2" charset="-122"/>
                </a:rPr>
                <a:t>“</a:t>
              </a:r>
              <a:r>
                <a:rPr kumimoji="1" lang="zh-CN" altLang="en-US" sz="2400" b="1" dirty="0"/>
                <a:t>画</a:t>
              </a:r>
              <a:r>
                <a:rPr kumimoji="1" lang="zh-CN" altLang="en-US" sz="2400" b="1" dirty="0">
                  <a:latin typeface="宋体" pitchFamily="2" charset="-122"/>
                </a:rPr>
                <a:t>”</a:t>
              </a:r>
              <a:r>
                <a:rPr kumimoji="1" lang="zh-CN" altLang="en-US" sz="2400" b="1" dirty="0"/>
                <a:t>而不应为</a:t>
              </a:r>
              <a:r>
                <a:rPr kumimoji="1" lang="zh-CN" altLang="en-US" sz="2400" b="1" dirty="0">
                  <a:latin typeface="宋体" pitchFamily="2" charset="-122"/>
                </a:rPr>
                <a:t>“</a:t>
              </a:r>
              <a:r>
                <a:rPr kumimoji="1" lang="zh-CN" altLang="en-US" sz="2400" b="1" dirty="0"/>
                <a:t>点</a:t>
              </a:r>
              <a:r>
                <a:rPr kumimoji="1" lang="zh-CN" altLang="en-US" sz="2400" b="1" dirty="0">
                  <a:latin typeface="宋体" pitchFamily="2" charset="-122"/>
                </a:rPr>
                <a:t>”</a:t>
              </a:r>
              <a:r>
                <a:rPr kumimoji="1" lang="zh-CN" altLang="en-US" sz="2400" b="1" dirty="0"/>
                <a:t>、</a:t>
              </a:r>
              <a:r>
                <a:rPr kumimoji="1" lang="zh-CN" altLang="en-US" sz="2400" b="1" dirty="0">
                  <a:solidFill>
                    <a:srgbClr val="3333CC"/>
                  </a:solidFill>
                </a:rPr>
                <a:t>首末两端超出图形外</a:t>
              </a:r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2</a:t>
              </a:r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~</a:t>
              </a:r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5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mm</a:t>
              </a:r>
              <a:r>
                <a:rPr kumimoji="1" lang="zh-CN" altLang="en-US" sz="2400" b="1" dirty="0">
                  <a:solidFill>
                    <a:srgbClr val="3333CC"/>
                  </a:solidFill>
                  <a:ea typeface="楷体_GB2312" pitchFamily="49" charset="-122"/>
                </a:rPr>
                <a:t>。</a:t>
              </a:r>
            </a:p>
          </p:txBody>
        </p:sp>
        <p:sp>
          <p:nvSpPr>
            <p:cNvPr id="28683" name="Oval 12"/>
            <p:cNvSpPr>
              <a:spLocks noChangeArrowheads="1"/>
            </p:cNvSpPr>
            <p:nvPr/>
          </p:nvSpPr>
          <p:spPr bwMode="auto">
            <a:xfrm>
              <a:off x="3742" y="2478"/>
              <a:ext cx="272" cy="22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4" name="Oval 13"/>
            <p:cNvSpPr>
              <a:spLocks noChangeArrowheads="1"/>
            </p:cNvSpPr>
            <p:nvPr/>
          </p:nvSpPr>
          <p:spPr bwMode="auto">
            <a:xfrm>
              <a:off x="3742" y="799"/>
              <a:ext cx="272" cy="22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681" name="Text Box 2"/>
          <p:cNvSpPr txBox="1">
            <a:spLocks noChangeArrowheads="1"/>
          </p:cNvSpPr>
          <p:nvPr/>
        </p:nvSpPr>
        <p:spPr bwMode="auto">
          <a:xfrm>
            <a:off x="1205895" y="1459240"/>
            <a:ext cx="33162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3.  </a:t>
            </a:r>
            <a:r>
              <a:rPr kumimoji="1" lang="zh-CN" altLang="en-US" sz="2800" b="1" dirty="0">
                <a:latin typeface="Times New Roman" pitchFamily="18" charset="0"/>
              </a:rPr>
              <a:t>图线的画法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t1-10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92538" y="1616098"/>
            <a:ext cx="4464050" cy="306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534400" y="1404959"/>
            <a:ext cx="175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6553200" y="1176359"/>
            <a:ext cx="381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29701" name="Text Box 6"/>
          <p:cNvSpPr txBox="1">
            <a:spLocks noChangeArrowheads="1"/>
          </p:cNvSpPr>
          <p:nvPr/>
        </p:nvSpPr>
        <p:spPr bwMode="auto">
          <a:xfrm>
            <a:off x="2238348" y="1428736"/>
            <a:ext cx="1981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2060"/>
                </a:solidFill>
                <a:latin typeface="Times New Roman" pitchFamily="18" charset="0"/>
              </a:rPr>
              <a:t>错误画法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424114" y="1893909"/>
            <a:ext cx="7704137" cy="3238499"/>
            <a:chOff x="567" y="884"/>
            <a:chExt cx="4853" cy="2040"/>
          </a:xfrm>
        </p:grpSpPr>
        <p:sp>
          <p:nvSpPr>
            <p:cNvPr id="29711" name="Text Box 8"/>
            <p:cNvSpPr txBox="1">
              <a:spLocks noChangeArrowheads="1"/>
            </p:cNvSpPr>
            <p:nvPr/>
          </p:nvSpPr>
          <p:spPr bwMode="auto">
            <a:xfrm>
              <a:off x="567" y="2659"/>
              <a:ext cx="4853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15000"/>
                </a:spcBef>
              </a:pPr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400" b="1" dirty="0">
                  <a:latin typeface="Times New Roman" pitchFamily="18" charset="0"/>
                </a:rPr>
                <a:t>:</a:t>
              </a:r>
              <a:r>
                <a:rPr kumimoji="1" lang="zh-CN" altLang="en-US" sz="2400" b="1" dirty="0">
                  <a:latin typeface="Times New Roman" pitchFamily="18" charset="0"/>
                </a:rPr>
                <a:t>虚线直接在实线延长线上相接时，虚线应留间隔。</a:t>
              </a:r>
            </a:p>
          </p:txBody>
        </p:sp>
        <p:sp>
          <p:nvSpPr>
            <p:cNvPr id="29712" name="Oval 9"/>
            <p:cNvSpPr>
              <a:spLocks noChangeArrowheads="1"/>
            </p:cNvSpPr>
            <p:nvPr/>
          </p:nvSpPr>
          <p:spPr bwMode="auto">
            <a:xfrm>
              <a:off x="2154" y="884"/>
              <a:ext cx="137" cy="32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3" name="Oval 10"/>
            <p:cNvSpPr>
              <a:spLocks noChangeArrowheads="1"/>
            </p:cNvSpPr>
            <p:nvPr/>
          </p:nvSpPr>
          <p:spPr bwMode="auto">
            <a:xfrm>
              <a:off x="3334" y="884"/>
              <a:ext cx="181" cy="32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455863" y="1570059"/>
            <a:ext cx="6337300" cy="4165600"/>
            <a:chOff x="587" y="680"/>
            <a:chExt cx="3992" cy="2624"/>
          </a:xfrm>
        </p:grpSpPr>
        <p:sp>
          <p:nvSpPr>
            <p:cNvPr id="29708" name="Text Box 12"/>
            <p:cNvSpPr txBox="1">
              <a:spLocks noChangeArrowheads="1"/>
            </p:cNvSpPr>
            <p:nvPr/>
          </p:nvSpPr>
          <p:spPr bwMode="auto">
            <a:xfrm>
              <a:off x="587" y="3039"/>
              <a:ext cx="3992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0000FF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2400" b="1" dirty="0">
                  <a:latin typeface="Times New Roman" pitchFamily="18" charset="0"/>
                </a:rPr>
                <a:t>:</a:t>
              </a:r>
              <a:r>
                <a:rPr kumimoji="1" lang="zh-CN" altLang="en-US" sz="2400" b="1" dirty="0">
                  <a:latin typeface="Times New Roman" pitchFamily="18" charset="0"/>
                </a:rPr>
                <a:t>虚线与实线相交，不应留间隔。</a:t>
              </a:r>
            </a:p>
          </p:txBody>
        </p:sp>
        <p:sp>
          <p:nvSpPr>
            <p:cNvPr id="29709" name="Oval 13"/>
            <p:cNvSpPr>
              <a:spLocks noChangeArrowheads="1"/>
            </p:cNvSpPr>
            <p:nvPr/>
          </p:nvSpPr>
          <p:spPr bwMode="auto">
            <a:xfrm>
              <a:off x="2562" y="680"/>
              <a:ext cx="137" cy="329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0" name="Oval 14"/>
            <p:cNvSpPr>
              <a:spLocks noChangeArrowheads="1"/>
            </p:cNvSpPr>
            <p:nvPr/>
          </p:nvSpPr>
          <p:spPr bwMode="auto">
            <a:xfrm>
              <a:off x="1927" y="2267"/>
              <a:ext cx="182" cy="329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406650" y="2181247"/>
            <a:ext cx="6985000" cy="4157663"/>
            <a:chOff x="556" y="1065"/>
            <a:chExt cx="4400" cy="2619"/>
          </a:xfrm>
        </p:grpSpPr>
        <p:sp>
          <p:nvSpPr>
            <p:cNvPr id="29705" name="Text Box 16"/>
            <p:cNvSpPr txBox="1">
              <a:spLocks noChangeArrowheads="1"/>
            </p:cNvSpPr>
            <p:nvPr/>
          </p:nvSpPr>
          <p:spPr bwMode="auto">
            <a:xfrm>
              <a:off x="556" y="3419"/>
              <a:ext cx="4400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9900CC"/>
                  </a:solidFill>
                  <a:latin typeface="Times New Roman" pitchFamily="18" charset="0"/>
                </a:rPr>
                <a:t>C</a:t>
              </a:r>
              <a:r>
                <a:rPr kumimoji="1" lang="en-US" altLang="zh-CN" sz="2400" b="1" dirty="0">
                  <a:latin typeface="Times New Roman" pitchFamily="18" charset="0"/>
                </a:rPr>
                <a:t>:</a:t>
              </a:r>
              <a:r>
                <a:rPr kumimoji="1" lang="zh-CN" altLang="en-US" sz="2400" b="1" dirty="0">
                  <a:latin typeface="Times New Roman" pitchFamily="18" charset="0"/>
                </a:rPr>
                <a:t>两虚线相交，应交在线段上。</a:t>
              </a:r>
            </a:p>
          </p:txBody>
        </p:sp>
        <p:sp>
          <p:nvSpPr>
            <p:cNvPr id="29706" name="Oval 17"/>
            <p:cNvSpPr>
              <a:spLocks noChangeArrowheads="1"/>
            </p:cNvSpPr>
            <p:nvPr/>
          </p:nvSpPr>
          <p:spPr bwMode="auto">
            <a:xfrm>
              <a:off x="1927" y="1065"/>
              <a:ext cx="182" cy="329"/>
            </a:xfrm>
            <a:prstGeom prst="ellips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7" name="Oval 18"/>
            <p:cNvSpPr>
              <a:spLocks noChangeArrowheads="1"/>
            </p:cNvSpPr>
            <p:nvPr/>
          </p:nvSpPr>
          <p:spPr bwMode="auto">
            <a:xfrm>
              <a:off x="2562" y="1065"/>
              <a:ext cx="137" cy="329"/>
            </a:xfrm>
            <a:prstGeom prst="ellips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238378" y="785808"/>
            <a:ext cx="514350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j-cs"/>
              </a:rPr>
              <a:t>国家标准有关制图的基本规定</a:t>
            </a:r>
          </a:p>
        </p:txBody>
      </p:sp>
      <p:sp>
        <p:nvSpPr>
          <p:cNvPr id="19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RATE_QUIZZES" val="0"/>
  <p:tag name="ISPRING_SCORM_PASSING_SCORE" val="0.0000000000"/>
  <p:tag name="ISPRING_RESOURCE_PATHS_HASH_2" val="d8258c62ece1dc127e1bf432f945378ce5a9ab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</TotalTime>
  <Words>1340</Words>
  <Application>Microsoft Office PowerPoint</Application>
  <PresentationFormat>宽屏</PresentationFormat>
  <Paragraphs>195</Paragraphs>
  <Slides>23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黑体</vt:lpstr>
      <vt:lpstr>华文行楷</vt:lpstr>
      <vt:lpstr>楷体_GB2312</vt:lpstr>
      <vt:lpstr>宋体</vt:lpstr>
      <vt:lpstr>Arial</vt:lpstr>
      <vt:lpstr>Calibri</vt:lpstr>
      <vt:lpstr>ItalicT</vt:lpstr>
      <vt:lpstr>Times New Roman</vt:lpstr>
      <vt:lpstr>1_Office 主题</vt:lpstr>
      <vt:lpstr>PowerPoint 演示文稿</vt:lpstr>
      <vt:lpstr>国家标准有关制图的基本规定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 比例（GB/T 14690－1993）</vt:lpstr>
      <vt:lpstr>PowerPoint 演示文稿</vt:lpstr>
      <vt:lpstr>四、字体（GB/T 14691－1993）</vt:lpstr>
      <vt:lpstr>PowerPoint 演示文稿</vt:lpstr>
      <vt:lpstr>   （1）用作指数、分数、极限偏差、注脚等的数字及字母一般应采用小一号的字体。</vt:lpstr>
      <vt:lpstr>五、 图线 (GB/T 4457.4－2002)</vt:lpstr>
      <vt:lpstr>PowerPoint 演示文稿</vt:lpstr>
      <vt:lpstr>PowerPoint 演示文稿</vt:lpstr>
      <vt:lpstr>2.图线宽度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制图的基础知识</dc:title>
  <dc:creator>穆浩志</dc:creator>
  <cp:keywords>天津理工大学</cp:keywords>
  <cp:lastModifiedBy>Lenovo</cp:lastModifiedBy>
  <cp:revision>102</cp:revision>
  <dcterms:created xsi:type="dcterms:W3CDTF">2014-03-20T09:34:50Z</dcterms:created>
  <dcterms:modified xsi:type="dcterms:W3CDTF">2020-05-19T06:08:53Z</dcterms:modified>
</cp:coreProperties>
</file>
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17"/>
  </p:notesMasterIdLst>
  <p:sldIdLst>
    <p:sldId id="513" r:id="rId2"/>
    <p:sldId id="514" r:id="rId3"/>
    <p:sldId id="515" r:id="rId4"/>
    <p:sldId id="540" r:id="rId5"/>
    <p:sldId id="541" r:id="rId6"/>
    <p:sldId id="543" r:id="rId7"/>
    <p:sldId id="544" r:id="rId8"/>
    <p:sldId id="521" r:id="rId9"/>
    <p:sldId id="545" r:id="rId10"/>
    <p:sldId id="524" r:id="rId11"/>
    <p:sldId id="527" r:id="rId12"/>
    <p:sldId id="546" r:id="rId13"/>
    <p:sldId id="522" r:id="rId14"/>
    <p:sldId id="528" r:id="rId15"/>
    <p:sldId id="523" r:id="rId16"/>
  </p:sldIdLst>
  <p:sldSz cx="1219200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4660"/>
  </p:normalViewPr>
  <p:slideViewPr>
    <p:cSldViewPr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D0519B8-A3C9-458F-97B4-E643943A41B4}" type="datetimeFigureOut">
              <a:rPr lang="zh-CN" altLang="en-US"/>
              <a:pPr>
                <a:defRPr/>
              </a:pPr>
              <a:t>2020/5/19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B3D060B-6565-4FBB-B8BF-56762828D8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A1A4DB-373E-4338-9639-C8F3BB26A980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1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E9CE87-E639-45A1-9C55-357621FBB52E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2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46AE39-90D5-40CC-A062-DAEFD7304A6F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3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81F737E-476E-4F1F-B5E1-68B0C3A1C30B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4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1AF6AB6-F662-495C-810E-EE59432648E3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5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B8B45D1-B52A-49DA-94FA-266F38A8733A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6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0578E51-D979-46B8-8E44-3B94CE2D8478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7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ADB763-F952-462C-AFD7-B119D211A479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8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540ACD4-0D5C-4E11-9AED-8E7AC8A9703C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10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6EF354-A756-461D-ABE4-6DE020F02230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11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8132E7-FD75-4EC0-A1E1-BE4B04D95489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13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652A1EA-8F26-4C24-A7A9-59AE4431D668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14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ED8EC1F-8624-4B22-A9EA-8A3A88445EA2}" type="slidenum">
              <a:rPr lang="en-US" altLang="zh-CN" smtClean="0">
                <a:latin typeface="Arial" pitchFamily="34" charset="0"/>
                <a:ea typeface="宋体" pitchFamily="2" charset="-122"/>
              </a:rPr>
              <a:pPr/>
              <a:t>15</a:t>
            </a:fld>
            <a:endParaRPr lang="en-US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142875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0C188C8-8B09-4654-ABB4-B9F9DE942D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AAB34AF-C58B-4FA3-B98C-FAF34F164C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F7D52757-EF67-40DC-9728-88E9F91108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B97862E-F562-478D-9DD0-F4047460BE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0F16A8B-00AE-47BE-B00D-6F145B20ED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599700D-BCE0-440C-BABF-A42750A23A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E2AEFA1-20DF-4082-BC77-59EDCF9DE3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E0C0BFB-FA00-4B07-A6C4-2A7314B4D0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F15A235-55A9-449C-9EB8-7EF50EDEFE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256ED3E-CDFA-49BA-B3C3-F8BBDFB14A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50C696D-EEC3-4F17-A473-504408BA65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CD2F3F4-BA7E-4C69-8C6A-77C6C14F32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F9C6B64-E866-444B-8305-47081394CF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B50F18B-83AF-4CBB-B687-9F27A620BD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1BEFA09-FDAE-4976-9A3B-21B45DDD25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18C9F2F-4066-484D-BE6E-003266EA43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6B27609-2B72-46C8-B3FE-8CEC680B31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2BBFC37-7150-43DA-9C13-E8A44C96D4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7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028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029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030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031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032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>
              <a:latin typeface="Arial" charset="0"/>
              <a:ea typeface="宋体" charset="-122"/>
            </a:endParaRPr>
          </a:p>
        </p:txBody>
      </p:sp>
      <p:sp>
        <p:nvSpPr>
          <p:cNvPr id="12" name="Rectangle 2"/>
          <p:cNvSpPr>
            <a:spLocks noChangeArrowheads="1"/>
          </p:cNvSpPr>
          <p:nvPr userDrawn="1"/>
        </p:nvSpPr>
        <p:spPr bwMode="auto">
          <a:xfrm>
            <a:off x="3765057" y="219075"/>
            <a:ext cx="5114857" cy="7048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组合体视图的阅读方法</a:t>
            </a:r>
          </a:p>
        </p:txBody>
      </p:sp>
      <p:sp>
        <p:nvSpPr>
          <p:cNvPr id="1036" name="文本框 1"/>
          <p:cNvSpPr txBox="1">
            <a:spLocks noChangeArrowheads="1"/>
          </p:cNvSpPr>
          <p:nvPr userDrawn="1"/>
        </p:nvSpPr>
        <p:spPr bwMode="auto">
          <a:xfrm>
            <a:off x="9531351" y="1016000"/>
            <a:ext cx="244898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zh-CN" altLang="en-US" b="1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12240C-7632-4857-99F9-9D19640602DF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391" y="19844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15" r:id="rId2"/>
    <p:sldLayoutId id="2147484416" r:id="rId3"/>
    <p:sldLayoutId id="2147484417" r:id="rId4"/>
    <p:sldLayoutId id="2147484418" r:id="rId5"/>
    <p:sldLayoutId id="2147484419" r:id="rId6"/>
    <p:sldLayoutId id="2147484420" r:id="rId7"/>
    <p:sldLayoutId id="2147484421" r:id="rId8"/>
    <p:sldLayoutId id="2147484422" r:id="rId9"/>
    <p:sldLayoutId id="2147484423" r:id="rId10"/>
    <p:sldLayoutId id="2147484424" r:id="rId11"/>
    <p:sldLayoutId id="2147484425" r:id="rId12"/>
    <p:sldLayoutId id="2147484426" r:id="rId13"/>
    <p:sldLayoutId id="2147484427" r:id="rId14"/>
    <p:sldLayoutId id="2147484428" r:id="rId15"/>
    <p:sldLayoutId id="2147484429" r:id="rId16"/>
    <p:sldLayoutId id="2147484430" r:id="rId17"/>
    <p:sldLayoutId id="2147484431" r:id="rId18"/>
    <p:sldLayoutId id="2147484432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audio" Target="../media/audio3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audio" Target="../media/audio4.wav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5.png"/><Relationship Id="rId10" Type="http://schemas.openxmlformats.org/officeDocument/2006/relationships/image" Target="../media/image32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34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34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46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0"/>
          <p:cNvSpPr>
            <a:spLocks/>
          </p:cNvSpPr>
          <p:nvPr/>
        </p:nvSpPr>
        <p:spPr bwMode="auto">
          <a:xfrm>
            <a:off x="4636147" y="1580634"/>
            <a:ext cx="255587" cy="1376362"/>
          </a:xfrm>
          <a:prstGeom prst="leftBrace">
            <a:avLst>
              <a:gd name="adj1" fmla="val 1084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024438" y="1500189"/>
            <a:ext cx="532765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>
              <a:buFontTx/>
              <a:buAutoNum type="arabicPeriod"/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latin typeface="Times New Roman" pitchFamily="18" charset="0"/>
              </a:rPr>
              <a:t>组合体读图的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概念</a:t>
            </a:r>
            <a:r>
              <a:rPr lang="zh-CN" altLang="en-US" sz="2800" dirty="0">
                <a:latin typeface="Times New Roman" pitchFamily="18" charset="0"/>
              </a:rPr>
              <a:t>及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基本知识  和技能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AutoShape 20"/>
          <p:cNvSpPr>
            <a:spLocks/>
          </p:cNvSpPr>
          <p:nvPr/>
        </p:nvSpPr>
        <p:spPr bwMode="auto">
          <a:xfrm>
            <a:off x="4651010" y="3406656"/>
            <a:ext cx="254000" cy="1255712"/>
          </a:xfrm>
          <a:prstGeom prst="leftBrace">
            <a:avLst>
              <a:gd name="adj1" fmla="val 109014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000625" y="3810000"/>
            <a:ext cx="51689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/>
              <a:t>2.</a:t>
            </a:r>
            <a:r>
              <a:rPr lang="zh-CN" altLang="en-US" sz="2800">
                <a:latin typeface="Times New Roman" pitchFamily="18" charset="0"/>
                <a:cs typeface="Arial" pitchFamily="34" charset="0"/>
              </a:rPr>
              <a:t>掌握用</a:t>
            </a: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形体分析法</a:t>
            </a:r>
            <a:r>
              <a:rPr lang="zh-CN" altLang="en-US" sz="2800">
                <a:latin typeface="Times New Roman" pitchFamily="18" charset="0"/>
                <a:cs typeface="Arial" pitchFamily="34" charset="0"/>
              </a:rPr>
              <a:t>和</a:t>
            </a: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面形分析法绘制、阅读</a:t>
            </a:r>
            <a:r>
              <a:rPr lang="zh-CN" altLang="en-US" sz="2800">
                <a:latin typeface="Times New Roman" pitchFamily="18" charset="0"/>
                <a:cs typeface="Arial" pitchFamily="34" charset="0"/>
              </a:rPr>
              <a:t>组合体三视图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024439" y="3286126"/>
            <a:ext cx="4530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latin typeface="+mn-ea"/>
                <a:ea typeface="+mn-ea"/>
                <a:cs typeface="Arial" charset="0"/>
              </a:rPr>
              <a:t>1.</a:t>
            </a:r>
            <a:r>
              <a:rPr lang="zh-CN" altLang="en-US" sz="2800" dirty="0">
                <a:latin typeface="Times New Roman" pitchFamily="18" charset="0"/>
                <a:cs typeface="Arial" charset="0"/>
              </a:rPr>
              <a:t>培养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读图能力</a:t>
            </a:r>
            <a:endParaRPr lang="zh-CN" altLang="en-US" sz="28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0" name="右箭头 9"/>
          <p:cNvSpPr>
            <a:spLocks noChangeArrowheads="1"/>
          </p:cNvSpPr>
          <p:nvPr/>
        </p:nvSpPr>
        <p:spPr bwMode="auto">
          <a:xfrm>
            <a:off x="1793875" y="5186364"/>
            <a:ext cx="3030538" cy="1000125"/>
          </a:xfrm>
          <a:prstGeom prst="rightArrow">
            <a:avLst>
              <a:gd name="adj1" fmla="val 50000"/>
              <a:gd name="adj2" fmla="val 63058"/>
            </a:avLst>
          </a:prstGeom>
          <a:solidFill>
            <a:srgbClr val="00B050"/>
          </a:solidFill>
          <a:ln w="28575" algn="ctr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indent="152400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cs typeface="Arial" pitchFamily="34" charset="0"/>
              </a:rPr>
              <a:t>重点、难点：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562476" y="5218114"/>
            <a:ext cx="578961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1" hangingPunct="1"/>
            <a:r>
              <a:rPr lang="zh-CN" altLang="en-US" sz="2800">
                <a:latin typeface="Times New Roman" pitchFamily="18" charset="0"/>
                <a:cs typeface="Arial" pitchFamily="34" charset="0"/>
              </a:rPr>
              <a:t>      用形体分析法和面形（线面）分析法绘制、阅读组合体三视图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45038" y="2419351"/>
            <a:ext cx="54911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>
              <a:tabLst>
                <a:tab pos="2636838" algn="ctr"/>
                <a:tab pos="5273675" algn="r"/>
              </a:tabLst>
            </a:pPr>
            <a:r>
              <a:rPr lang="en-US" altLang="zh-CN" sz="2800">
                <a:cs typeface="Arial" pitchFamily="34" charset="0"/>
              </a:rPr>
              <a:t>2</a:t>
            </a:r>
            <a:r>
              <a:rPr lang="zh-CN" altLang="en-US" sz="2800">
                <a:cs typeface="Arial" pitchFamily="34" charset="0"/>
              </a:rPr>
              <a:t>．组合体的</a:t>
            </a:r>
            <a:r>
              <a:rPr lang="zh-CN" altLang="en-US" sz="2800">
                <a:solidFill>
                  <a:srgbClr val="FF0000"/>
                </a:solidFill>
                <a:cs typeface="Arial" pitchFamily="34" charset="0"/>
              </a:rPr>
              <a:t>读图方法和步骤</a:t>
            </a:r>
            <a:endParaRPr lang="zh-CN" altLang="en-US" sz="2800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905773" y="1949574"/>
            <a:ext cx="1858168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重点内容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5" name="Rectangle 52"/>
          <p:cNvSpPr>
            <a:spLocks noChangeArrowheads="1"/>
          </p:cNvSpPr>
          <p:nvPr/>
        </p:nvSpPr>
        <p:spPr bwMode="auto">
          <a:xfrm>
            <a:off x="2912669" y="3683917"/>
            <a:ext cx="1858169" cy="60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学习目标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9" grpId="0"/>
      <p:bldP spid="10" grpId="0" animBg="1"/>
      <p:bldP spid="11" grpId="0"/>
      <p:bldP spid="14" grpId="0"/>
      <p:bldP spid="13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782147" y="2352707"/>
            <a:ext cx="3790950" cy="5238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>
            <a:spAutoFit/>
          </a:bodyPr>
          <a:lstStyle>
            <a:lvl1pPr indent="266700" eaLnBrk="0" hangingPunct="0"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6838" algn="ctr"/>
                <a:tab pos="5273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ctr">
              <a:defRPr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读图是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画图的逆过程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379476" y="1252400"/>
            <a:ext cx="64842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组合体读图的</a:t>
            </a:r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概念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及</a:t>
            </a:r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基本知识和技能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742659" y="3459554"/>
            <a:ext cx="3830438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画图</a:t>
            </a:r>
            <a:r>
              <a:rPr lang="zh-CN" altLang="en-US" sz="2400" dirty="0">
                <a:latin typeface="Times New Roman" panose="02020603050405020304" pitchFamily="18" charset="0"/>
              </a:rPr>
              <a:t>是利用正投影理论，通过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形体分析</a:t>
            </a:r>
            <a:r>
              <a:rPr lang="zh-CN" altLang="en-US" sz="2400" dirty="0">
                <a:latin typeface="Times New Roman" panose="02020603050405020304" pitchFamily="18" charset="0"/>
              </a:rPr>
              <a:t>将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空间物体</a:t>
            </a:r>
            <a:r>
              <a:rPr lang="zh-CN" altLang="en-US" sz="2400" dirty="0">
                <a:latin typeface="Times New Roman" panose="02020603050405020304" pitchFamily="18" charset="0"/>
              </a:rPr>
              <a:t>反映到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zh-CN" altLang="en-US" sz="2400" dirty="0">
                <a:latin typeface="Times New Roman" panose="02020603050405020304" pitchFamily="18" charset="0"/>
              </a:rPr>
              <a:t>上。</a:t>
            </a:r>
            <a:endParaRPr lang="zh-CN" altLang="en-US" sz="24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13542" y="4792548"/>
            <a:ext cx="3839464" cy="193899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读图：在积累了一定的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画图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读图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的基本知识和技能后，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将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所表述的物体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呈现到空间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的过程，即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空间化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379476" y="1785511"/>
            <a:ext cx="26860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latin typeface="Times New Roman" pitchFamily="18" charset="0"/>
              </a:rPr>
              <a:t>读图的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概念：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42659" y="2886473"/>
            <a:ext cx="3057247" cy="5232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zh-CN" altLang="en-US" sz="280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ea"/>
                <a:ea typeface="+mn-ea"/>
              </a:rPr>
              <a:t>画图概念是什么？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879BE5-6DE5-4CBB-AC1D-151F49E7B0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10248" y="2246624"/>
            <a:ext cx="3632456" cy="3539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3">
            <a:extLst>
              <a:ext uri="{FF2B5EF4-FFF2-40B4-BE49-F238E27FC236}">
                <a16:creationId xmlns:a16="http://schemas.microsoft.com/office/drawing/2014/main" id="{2630BBD8-3530-4C80-BB3A-EAEFD6EC1B2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367754" y="3284984"/>
            <a:ext cx="2181225" cy="233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箭头: 左右 9">
            <a:extLst>
              <a:ext uri="{FF2B5EF4-FFF2-40B4-BE49-F238E27FC236}">
                <a16:creationId xmlns:a16="http://schemas.microsoft.com/office/drawing/2014/main" id="{D0D12C70-A362-4EE3-8A21-DE4494D4B0BE}"/>
              </a:ext>
            </a:extLst>
          </p:cNvPr>
          <p:cNvSpPr/>
          <p:nvPr/>
        </p:nvSpPr>
        <p:spPr bwMode="auto">
          <a:xfrm>
            <a:off x="8114817" y="4185308"/>
            <a:ext cx="1662471" cy="290747"/>
          </a:xfrm>
          <a:prstGeom prst="leftRightArrow">
            <a:avLst>
              <a:gd name="adj1" fmla="val 60923"/>
              <a:gd name="adj2" fmla="val 186534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1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150144" y="1148748"/>
            <a:ext cx="3529013" cy="71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基本知识和技能</a:t>
            </a:r>
          </a:p>
        </p:txBody>
      </p:sp>
      <p:sp>
        <p:nvSpPr>
          <p:cNvPr id="2" name="矩形 1"/>
          <p:cNvSpPr/>
          <p:nvPr/>
        </p:nvSpPr>
        <p:spPr>
          <a:xfrm>
            <a:off x="2045494" y="1875633"/>
            <a:ext cx="7596188" cy="5222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latin typeface="+mn-ea"/>
                <a:ea typeface="+mn-ea"/>
              </a:rPr>
              <a:t>(1)</a:t>
            </a:r>
            <a:r>
              <a:rPr lang="zh-CN" altLang="en-US" sz="2800" dirty="0">
                <a:latin typeface="+mn-ea"/>
                <a:ea typeface="+mn-ea"/>
              </a:rPr>
              <a:t>几个投影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联系起来看 </a:t>
            </a:r>
            <a:r>
              <a:rPr lang="zh-CN" altLang="en-US" sz="2800" dirty="0">
                <a:latin typeface="+mn-ea"/>
                <a:ea typeface="+mn-ea"/>
              </a:rPr>
              <a:t>想象物体的空间形状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b="59241"/>
          <a:stretch>
            <a:fillRect/>
          </a:stretch>
        </p:blipFill>
        <p:spPr bwMode="auto">
          <a:xfrm>
            <a:off x="1703388" y="2809876"/>
            <a:ext cx="8818562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l="92" t="55910"/>
          <a:stretch>
            <a:fillRect/>
          </a:stretch>
        </p:blipFill>
        <p:spPr bwMode="auto">
          <a:xfrm>
            <a:off x="1703389" y="3776663"/>
            <a:ext cx="8810625" cy="102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3388" y="5121275"/>
            <a:ext cx="1103312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83144"/>
          <a:stretch>
            <a:fillRect/>
          </a:stretch>
        </p:blipFill>
        <p:spPr bwMode="auto">
          <a:xfrm>
            <a:off x="3251200" y="5121276"/>
            <a:ext cx="1189038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rcRect l="19218" r="63927"/>
          <a:stretch>
            <a:fillRect/>
          </a:stretch>
        </p:blipFill>
        <p:spPr bwMode="auto">
          <a:xfrm>
            <a:off x="4656138" y="5121276"/>
            <a:ext cx="1187450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rcRect l="81023"/>
          <a:stretch>
            <a:fillRect/>
          </a:stretch>
        </p:blipFill>
        <p:spPr bwMode="auto">
          <a:xfrm>
            <a:off x="9177339" y="5056188"/>
            <a:ext cx="1336675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rcRect l="37605" r="43103"/>
          <a:stretch>
            <a:fillRect/>
          </a:stretch>
        </p:blipFill>
        <p:spPr bwMode="auto">
          <a:xfrm>
            <a:off x="6059489" y="5121276"/>
            <a:ext cx="1360487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rcRect l="59447" r="20633"/>
          <a:stretch>
            <a:fillRect/>
          </a:stretch>
        </p:blipFill>
        <p:spPr bwMode="auto">
          <a:xfrm>
            <a:off x="7596189" y="5121276"/>
            <a:ext cx="1404937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55776" y="2889250"/>
            <a:ext cx="1158875" cy="189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214689" y="2889251"/>
            <a:ext cx="1089025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73601" y="2867026"/>
            <a:ext cx="120967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210301" y="2833689"/>
            <a:ext cx="11652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762876" y="2938463"/>
            <a:ext cx="1116013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9347200" y="2914651"/>
            <a:ext cx="1074738" cy="178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55800" y="1933085"/>
            <a:ext cx="6826250" cy="5238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800" kern="0" dirty="0">
                <a:latin typeface="+mn-ea"/>
                <a:ea typeface="+mn-ea"/>
              </a:rPr>
              <a:t>(2) 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抓形状特征投影</a:t>
            </a:r>
            <a:r>
              <a:rPr lang="en-US" altLang="zh-CN" sz="2800" kern="0" dirty="0">
                <a:latin typeface="+mn-ea"/>
                <a:ea typeface="+mn-ea"/>
              </a:rPr>
              <a:t> </a:t>
            </a:r>
            <a:r>
              <a:rPr lang="zh-CN" altLang="en-US" sz="2800" kern="0" dirty="0">
                <a:latin typeface="+mn-ea"/>
                <a:ea typeface="+mn-ea"/>
              </a:rPr>
              <a:t>想象物体的空间形状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734692" y="2525716"/>
            <a:ext cx="871740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正面投影和水平投影完全一样，但是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侧面投影不同</a:t>
            </a:r>
            <a:r>
              <a:rPr lang="zh-CN" altLang="en-US" sz="24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，反映的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空间形状也不一样</a:t>
            </a:r>
            <a:r>
              <a:rPr lang="zh-CN" altLang="en-US" sz="24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，所以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侧面</a:t>
            </a:r>
            <a:r>
              <a:rPr lang="zh-CN" altLang="en-US" sz="24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投影为其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形状特征</a:t>
            </a:r>
            <a:r>
              <a:rPr lang="zh-CN" altLang="en-US" sz="24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投影。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endParaRPr lang="zh-CN" altLang="en-US" sz="2400" dirty="0"/>
          </a:p>
        </p:txBody>
      </p:sp>
      <p:pic>
        <p:nvPicPr>
          <p:cNvPr id="24581" name="图片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55800" y="3548063"/>
            <a:ext cx="8496300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19288" y="3586163"/>
            <a:ext cx="8343900" cy="142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19288" y="5143500"/>
            <a:ext cx="81724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79764" y="3590926"/>
            <a:ext cx="612775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40350" y="3579814"/>
            <a:ext cx="5842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485063" y="3590925"/>
            <a:ext cx="557212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718675" y="3590925"/>
            <a:ext cx="5461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52201E2-382B-41AD-BB24-E2DFABAE9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144" y="1148748"/>
            <a:ext cx="3529013" cy="71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基本知识和技能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90768" y="1903415"/>
            <a:ext cx="7669213" cy="52228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800" kern="0" dirty="0">
                <a:latin typeface="+mn-ea"/>
                <a:ea typeface="+mn-ea"/>
              </a:rPr>
              <a:t>(3)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抓</a:t>
            </a:r>
            <a:r>
              <a:rPr lang="zh-CN" altLang="en-US" sz="2800" dirty="0">
                <a:solidFill>
                  <a:srgbClr val="FF3300"/>
                </a:solidFill>
                <a:latin typeface="+mn-ea"/>
                <a:ea typeface="+mn-ea"/>
              </a:rPr>
              <a:t>位置特征投影</a:t>
            </a:r>
            <a:r>
              <a:rPr lang="en-US" altLang="zh-CN" sz="2800" kern="0" dirty="0">
                <a:latin typeface="+mn-ea"/>
                <a:ea typeface="+mn-ea"/>
              </a:rPr>
              <a:t>(</a:t>
            </a:r>
            <a:r>
              <a:rPr lang="zh-CN" altLang="en-US" sz="2800" kern="0" dirty="0">
                <a:latin typeface="+mn-ea"/>
                <a:ea typeface="+mn-ea"/>
              </a:rPr>
              <a:t>视图</a:t>
            </a:r>
            <a:r>
              <a:rPr lang="en-US" altLang="zh-CN" sz="2800" kern="0" dirty="0">
                <a:latin typeface="+mn-ea"/>
                <a:ea typeface="+mn-ea"/>
              </a:rPr>
              <a:t>)</a:t>
            </a:r>
            <a:r>
              <a:rPr lang="zh-CN" altLang="en-US" sz="2800" kern="0" dirty="0">
                <a:latin typeface="+mn-ea"/>
                <a:ea typeface="+mn-ea"/>
              </a:rPr>
              <a:t> 想象物体的空形状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54888" y="4238785"/>
            <a:ext cx="12954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61476" y="4238785"/>
            <a:ext cx="12668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图片 5"/>
          <p:cNvPicPr>
            <a:picLocks noChangeAspect="1"/>
          </p:cNvPicPr>
          <p:nvPr/>
        </p:nvPicPr>
        <p:blipFill>
          <a:blip r:embed="rId5"/>
          <a:srcRect r="46638"/>
          <a:stretch>
            <a:fillRect/>
          </a:stretch>
        </p:blipFill>
        <p:spPr bwMode="auto">
          <a:xfrm>
            <a:off x="2171700" y="2819400"/>
            <a:ext cx="15113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57173" b="40335"/>
          <a:stretch>
            <a:fillRect/>
          </a:stretch>
        </p:blipFill>
        <p:spPr bwMode="auto">
          <a:xfrm>
            <a:off x="3781425" y="2819401"/>
            <a:ext cx="12128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752184" y="3117049"/>
            <a:ext cx="33845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dirty="0">
                <a:latin typeface="Times New Roman" pitchFamily="18" charset="0"/>
              </a:rPr>
              <a:t>—</a:t>
            </a:r>
            <a:r>
              <a:rPr lang="zh-CN" altLang="en-US" sz="2800" dirty="0"/>
              <a:t>最能反映物体</a:t>
            </a:r>
            <a:r>
              <a:rPr lang="zh-CN" altLang="en-US" sz="2800" b="1" dirty="0">
                <a:solidFill>
                  <a:srgbClr val="FF0000"/>
                </a:solidFill>
              </a:rPr>
              <a:t>位置特征</a:t>
            </a:r>
            <a:r>
              <a:rPr lang="zh-CN" altLang="en-US" sz="2800" dirty="0"/>
              <a:t>的那个视图 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7153276" y="2534445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什么是位置特征？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00664" y="2924176"/>
            <a:ext cx="1335087" cy="215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3992563" y="4868864"/>
            <a:ext cx="2032000" cy="1379695"/>
            <a:chOff x="2738" y="2803"/>
            <a:chExt cx="1413" cy="1060"/>
          </a:xfrm>
        </p:grpSpPr>
        <p:sp>
          <p:nvSpPr>
            <p:cNvPr id="25612" name="AutoShape 63"/>
            <p:cNvSpPr>
              <a:spLocks noChangeArrowheads="1"/>
            </p:cNvSpPr>
            <p:nvPr/>
          </p:nvSpPr>
          <p:spPr bwMode="auto">
            <a:xfrm rot="2814073">
              <a:off x="3123" y="2764"/>
              <a:ext cx="674" cy="7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7 w 21600"/>
                <a:gd name="T25" fmla="*/ 12351 h 21600"/>
                <a:gd name="T26" fmla="*/ 18523 w 21600"/>
                <a:gd name="T27" fmla="*/ 1852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3" name="Text Box 64"/>
            <p:cNvSpPr txBox="1">
              <a:spLocks noChangeArrowheads="1"/>
            </p:cNvSpPr>
            <p:nvPr/>
          </p:nvSpPr>
          <p:spPr bwMode="auto">
            <a:xfrm>
              <a:off x="2738" y="3508"/>
              <a:ext cx="1413" cy="355"/>
            </a:xfrm>
            <a:prstGeom prst="rect">
              <a:avLst/>
            </a:prstGeom>
            <a:noFill/>
            <a:ln w="9525">
              <a:solidFill>
                <a:srgbClr val="FF505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400">
                  <a:solidFill>
                    <a:srgbClr val="FF0066"/>
                  </a:solidFill>
                  <a:latin typeface="黑体" pitchFamily="49" charset="-122"/>
                  <a:ea typeface="黑体" pitchFamily="49" charset="-122"/>
                </a:rPr>
                <a:t>位置特征视图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44AB03EB-E783-4207-BA00-094274865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144" y="1148748"/>
            <a:ext cx="3529013" cy="71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基本知识和技能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78394" y="1927856"/>
            <a:ext cx="9062121" cy="52322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kern="0" dirty="0">
                <a:latin typeface="+mn-ea"/>
                <a:ea typeface="+mn-ea"/>
              </a:rPr>
              <a:t>(4)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明确投影图中线和线框的含义</a:t>
            </a:r>
            <a:r>
              <a:rPr lang="zh-CN" altLang="en-US" sz="2800" kern="0" dirty="0">
                <a:latin typeface="+mn-ea"/>
                <a:ea typeface="+mn-ea"/>
              </a:rPr>
              <a:t>，想象物体的空间形状</a:t>
            </a:r>
          </a:p>
        </p:txBody>
      </p:sp>
      <p:sp>
        <p:nvSpPr>
          <p:cNvPr id="4" name="矩形 3"/>
          <p:cNvSpPr/>
          <p:nvPr/>
        </p:nvSpPr>
        <p:spPr>
          <a:xfrm>
            <a:off x="6816080" y="2654904"/>
            <a:ext cx="3708412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kern="100" dirty="0">
                <a:latin typeface="Times New Roman" panose="02020603050405020304" pitchFamily="18" charset="0"/>
              </a:rPr>
              <a:t>1</a:t>
            </a:r>
            <a:r>
              <a:rPr lang="zh-CN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）表面积聚性的投影（平面或柱面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dirty="0"/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2170114" y="3692526"/>
            <a:ext cx="4249737" cy="2701925"/>
            <a:chOff x="646208" y="3284984"/>
            <a:chExt cx="4013850" cy="2485714"/>
          </a:xfrm>
        </p:grpSpPr>
        <p:pic>
          <p:nvPicPr>
            <p:cNvPr id="26641" name="图片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46208" y="3284984"/>
              <a:ext cx="2400000" cy="24857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42" name="图片 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83868" y="3403457"/>
              <a:ext cx="1276190" cy="2342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矩形 7"/>
          <p:cNvSpPr/>
          <p:nvPr/>
        </p:nvSpPr>
        <p:spPr>
          <a:xfrm>
            <a:off x="6816080" y="3356992"/>
            <a:ext cx="3708412" cy="400110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r="100000" b="100000"/>
            </a:path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kern="100" dirty="0">
                <a:latin typeface="+mn-ea"/>
                <a:ea typeface="+mn-ea"/>
              </a:rPr>
              <a:t>2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）表面与表面交线的投影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48489" y="4170363"/>
            <a:ext cx="26955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2156223" y="2667437"/>
            <a:ext cx="4494212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zh-CN" sz="2400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投影中的线条可以表示如下含义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95704" y="3717032"/>
            <a:ext cx="3728789" cy="400110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r="100000" b="100000"/>
            </a:path>
          </a:gra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kern="100" dirty="0">
                <a:latin typeface="+mn-ea"/>
                <a:ea typeface="+mn-ea"/>
              </a:rPr>
              <a:t>3</a:t>
            </a:r>
            <a:r>
              <a:rPr lang="zh-CN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）曲面转向轮廓线的投影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75075" y="3590925"/>
            <a:ext cx="1836738" cy="286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EDFCEC5-E17E-4A3C-AF43-5A29D4096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144" y="1148748"/>
            <a:ext cx="3529013" cy="71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基本知识和技能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12256" y="1865484"/>
            <a:ext cx="9308280" cy="52322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kern="0" dirty="0">
                <a:latin typeface="+mn-ea"/>
                <a:ea typeface="+mn-ea"/>
              </a:rPr>
              <a:t>(4)</a:t>
            </a:r>
            <a:r>
              <a:rPr lang="zh-CN" altLang="en-US" sz="2800" kern="0" dirty="0">
                <a:solidFill>
                  <a:srgbClr val="FF0000"/>
                </a:solidFill>
                <a:latin typeface="+mn-ea"/>
                <a:ea typeface="+mn-ea"/>
              </a:rPr>
              <a:t>明确投影图中线和线框的含义</a:t>
            </a:r>
            <a:r>
              <a:rPr lang="zh-CN" altLang="en-US" sz="2800" kern="0" dirty="0">
                <a:latin typeface="+mn-ea"/>
                <a:ea typeface="+mn-ea"/>
              </a:rPr>
              <a:t>，想象物体的空间形状</a:t>
            </a:r>
          </a:p>
        </p:txBody>
      </p:sp>
      <p:sp>
        <p:nvSpPr>
          <p:cNvPr id="27652" name="矩形 12"/>
          <p:cNvSpPr>
            <a:spLocks noChangeArrowheads="1"/>
          </p:cNvSpPr>
          <p:nvPr/>
        </p:nvSpPr>
        <p:spPr bwMode="auto">
          <a:xfrm>
            <a:off x="2141539" y="2633651"/>
            <a:ext cx="51085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zh-CN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投影图中封闭线框可以表示如下含义</a:t>
            </a:r>
            <a:endParaRPr lang="zh-CN" altLang="en-US" sz="24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58655" y="2978951"/>
            <a:ext cx="3007012" cy="175432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1</a:t>
            </a:r>
            <a:r>
              <a:rPr lang="zh-CN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）平面、曲面的投影</a:t>
            </a:r>
          </a:p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2</a:t>
            </a:r>
            <a:r>
              <a:rPr lang="zh-CN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）曲面与相切平面的投影</a:t>
            </a:r>
            <a:endParaRPr lang="en-US" altLang="zh-CN" b="1" kern="100" dirty="0">
              <a:latin typeface="黑体" panose="02010609060101010101" pitchFamily="49" charset="-122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3</a:t>
            </a:r>
            <a:r>
              <a:rPr lang="zh-CN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）孔洞的投影</a:t>
            </a:r>
            <a:endParaRPr lang="en-US" altLang="zh-CN" b="1" kern="100" dirty="0">
              <a:latin typeface="黑体" panose="02010609060101010101" pitchFamily="49" charset="-122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algn="just" eaLnBrk="1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4</a:t>
            </a:r>
            <a:r>
              <a:rPr lang="zh-CN" altLang="zh-CN" b="1" kern="100" dirty="0"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）截交线 、相贯线的投影</a:t>
            </a:r>
          </a:p>
        </p:txBody>
      </p:sp>
      <p:grpSp>
        <p:nvGrpSpPr>
          <p:cNvPr id="2" name="组合 14"/>
          <p:cNvGrpSpPr>
            <a:grpSpLocks/>
          </p:cNvGrpSpPr>
          <p:nvPr/>
        </p:nvGrpSpPr>
        <p:grpSpPr bwMode="auto">
          <a:xfrm>
            <a:off x="2316164" y="3556001"/>
            <a:ext cx="4249737" cy="2701925"/>
            <a:chOff x="646208" y="3284984"/>
            <a:chExt cx="4013850" cy="2485714"/>
          </a:xfrm>
        </p:grpSpPr>
        <p:pic>
          <p:nvPicPr>
            <p:cNvPr id="27674" name="图片 15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46208" y="3284984"/>
              <a:ext cx="2400000" cy="24857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75" name="图片 16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383868" y="3403457"/>
              <a:ext cx="1276190" cy="2342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19"/>
          <p:cNvGrpSpPr>
            <a:grpSpLocks/>
          </p:cNvGrpSpPr>
          <p:nvPr/>
        </p:nvGrpSpPr>
        <p:grpSpPr bwMode="auto">
          <a:xfrm>
            <a:off x="2316164" y="3540125"/>
            <a:ext cx="4313237" cy="2882900"/>
            <a:chOff x="791580" y="3540750"/>
            <a:chExt cx="4314286" cy="2882527"/>
          </a:xfrm>
        </p:grpSpPr>
        <p:pic>
          <p:nvPicPr>
            <p:cNvPr id="27672" name="图片 17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91580" y="3540750"/>
              <a:ext cx="2057143" cy="2847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73" name="图片 18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848723" y="3556610"/>
              <a:ext cx="2257143" cy="28666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1" name="椭圆 20"/>
          <p:cNvSpPr>
            <a:spLocks noChangeArrowheads="1"/>
          </p:cNvSpPr>
          <p:nvPr/>
        </p:nvSpPr>
        <p:spPr bwMode="auto">
          <a:xfrm>
            <a:off x="2609851" y="3824288"/>
            <a:ext cx="461963" cy="461962"/>
          </a:xfrm>
          <a:prstGeom prst="ellipse">
            <a:avLst/>
          </a:prstGeom>
          <a:noFill/>
          <a:ln w="22225">
            <a:solidFill>
              <a:srgbClr val="FF505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5" name="组合 24"/>
          <p:cNvGrpSpPr>
            <a:grpSpLocks/>
          </p:cNvGrpSpPr>
          <p:nvPr/>
        </p:nvGrpSpPr>
        <p:grpSpPr bwMode="auto">
          <a:xfrm>
            <a:off x="2840038" y="3824288"/>
            <a:ext cx="842962" cy="461962"/>
            <a:chOff x="1316831" y="3824288"/>
            <a:chExt cx="842901" cy="461962"/>
          </a:xfrm>
        </p:grpSpPr>
        <p:cxnSp>
          <p:nvCxnSpPr>
            <p:cNvPr id="23" name="直接连接符 22"/>
            <p:cNvCxnSpPr>
              <a:stCxn id="21" idx="0"/>
            </p:cNvCxnSpPr>
            <p:nvPr/>
          </p:nvCxnSpPr>
          <p:spPr>
            <a:xfrm>
              <a:off x="1316831" y="3824288"/>
              <a:ext cx="8429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316831" y="4286250"/>
              <a:ext cx="8429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756151" y="4702176"/>
            <a:ext cx="447675" cy="231775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6" name="组合 26"/>
          <p:cNvGrpSpPr>
            <a:grpSpLocks/>
          </p:cNvGrpSpPr>
          <p:nvPr/>
        </p:nvGrpSpPr>
        <p:grpSpPr bwMode="auto">
          <a:xfrm>
            <a:off x="5208589" y="4702175"/>
            <a:ext cx="655637" cy="228600"/>
            <a:chOff x="1316831" y="3824288"/>
            <a:chExt cx="842901" cy="461962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1316831" y="3824288"/>
              <a:ext cx="8429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316831" y="4286250"/>
              <a:ext cx="8429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250114" y="4733925"/>
            <a:ext cx="18954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364664" y="5192714"/>
            <a:ext cx="8858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椭圆 33"/>
          <p:cNvSpPr>
            <a:spLocks noChangeArrowheads="1"/>
          </p:cNvSpPr>
          <p:nvPr/>
        </p:nvSpPr>
        <p:spPr bwMode="auto">
          <a:xfrm>
            <a:off x="7356475" y="5913438"/>
            <a:ext cx="679450" cy="685800"/>
          </a:xfrm>
          <a:prstGeom prst="ellipse">
            <a:avLst/>
          </a:prstGeom>
          <a:solidFill>
            <a:schemeClr val="bg1">
              <a:alpha val="0"/>
            </a:scheme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5" name="椭圆 34"/>
          <p:cNvSpPr>
            <a:spLocks noChangeArrowheads="1"/>
          </p:cNvSpPr>
          <p:nvPr/>
        </p:nvSpPr>
        <p:spPr bwMode="auto">
          <a:xfrm>
            <a:off x="8396288" y="5086351"/>
            <a:ext cx="679450" cy="396875"/>
          </a:xfrm>
          <a:prstGeom prst="ellipse">
            <a:avLst/>
          </a:prstGeom>
          <a:solidFill>
            <a:schemeClr val="bg1">
              <a:alpha val="0"/>
            </a:schemeClr>
          </a:solidFill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031039" y="4727575"/>
            <a:ext cx="2136775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9118601" y="5233988"/>
            <a:ext cx="1490663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1679ACCD-3F8D-490E-8CAD-F5105092A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144" y="1148748"/>
            <a:ext cx="3529013" cy="715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基本知识和技能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488283" y="1331914"/>
            <a:ext cx="5929312" cy="58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latin typeface="Times New Roman" pitchFamily="18" charset="0"/>
              </a:rPr>
              <a:t>组合体读图要善于构思空间物体</a:t>
            </a:r>
          </a:p>
        </p:txBody>
      </p:sp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4379913" y="1884331"/>
            <a:ext cx="6327775" cy="5794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latin typeface="Times New Roman" pitchFamily="18" charset="0"/>
              </a:rPr>
              <a:t>始终把空间想象和投影分析相结合</a:t>
            </a: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8050214" y="2988767"/>
            <a:ext cx="1620837" cy="52387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latin typeface="Times New Roman" pitchFamily="18" charset="0"/>
                <a:ea typeface="宋体" charset="-122"/>
              </a:rPr>
              <a:t>物体形状</a:t>
            </a:r>
          </a:p>
        </p:txBody>
      </p:sp>
      <p:sp>
        <p:nvSpPr>
          <p:cNvPr id="36886" name="Text Box 6"/>
          <p:cNvSpPr txBox="1">
            <a:spLocks noChangeArrowheads="1"/>
          </p:cNvSpPr>
          <p:nvPr/>
        </p:nvSpPr>
        <p:spPr bwMode="auto">
          <a:xfrm>
            <a:off x="4379913" y="2564904"/>
            <a:ext cx="3384550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投影分析、空间想象</a:t>
            </a:r>
          </a:p>
        </p:txBody>
      </p:sp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5365751" y="4679454"/>
            <a:ext cx="1979613" cy="5238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</a:gra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latin typeface="Times New Roman" pitchFamily="18" charset="0"/>
                <a:ea typeface="宋体" charset="-122"/>
              </a:rPr>
              <a:t>物体的视图</a:t>
            </a:r>
          </a:p>
        </p:txBody>
      </p:sp>
      <p:sp>
        <p:nvSpPr>
          <p:cNvPr id="195593" name="Text Box 9"/>
          <p:cNvSpPr txBox="1">
            <a:spLocks noChangeArrowheads="1"/>
          </p:cNvSpPr>
          <p:nvPr/>
        </p:nvSpPr>
        <p:spPr bwMode="auto">
          <a:xfrm>
            <a:off x="2597150" y="3004642"/>
            <a:ext cx="1620838" cy="52387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</a:gra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latin typeface="Times New Roman" pitchFamily="18" charset="0"/>
              </a:rPr>
              <a:t>已知视图</a:t>
            </a:r>
          </a:p>
        </p:txBody>
      </p:sp>
      <p:sp>
        <p:nvSpPr>
          <p:cNvPr id="195596" name="Text Box 12"/>
          <p:cNvSpPr txBox="1">
            <a:spLocks noChangeArrowheads="1"/>
          </p:cNvSpPr>
          <p:nvPr/>
        </p:nvSpPr>
        <p:spPr bwMode="auto">
          <a:xfrm rot="-2261776">
            <a:off x="7466013" y="3757116"/>
            <a:ext cx="901700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默想</a:t>
            </a:r>
          </a:p>
        </p:txBody>
      </p:sp>
      <p:sp>
        <p:nvSpPr>
          <p:cNvPr id="195597" name="Text Box 13"/>
          <p:cNvSpPr txBox="1">
            <a:spLocks noChangeArrowheads="1"/>
          </p:cNvSpPr>
          <p:nvPr/>
        </p:nvSpPr>
        <p:spPr bwMode="auto">
          <a:xfrm rot="1851660">
            <a:off x="4271963" y="3738066"/>
            <a:ext cx="901700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对照</a:t>
            </a:r>
          </a:p>
        </p:txBody>
      </p:sp>
      <p:sp>
        <p:nvSpPr>
          <p:cNvPr id="36879" name="Text Box 21"/>
          <p:cNvSpPr txBox="1">
            <a:spLocks noChangeArrowheads="1"/>
          </p:cNvSpPr>
          <p:nvPr/>
        </p:nvSpPr>
        <p:spPr bwMode="auto">
          <a:xfrm>
            <a:off x="5511800" y="5787529"/>
            <a:ext cx="1900238" cy="5238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latin typeface="Times New Roman" pitchFamily="18" charset="0"/>
                <a:ea typeface="宋体" charset="-122"/>
              </a:rPr>
              <a:t>物体形状</a:t>
            </a:r>
          </a:p>
        </p:txBody>
      </p:sp>
      <p:sp>
        <p:nvSpPr>
          <p:cNvPr id="24" name="右箭头 23"/>
          <p:cNvSpPr>
            <a:spLocks noChangeArrowheads="1"/>
          </p:cNvSpPr>
          <p:nvPr/>
        </p:nvSpPr>
        <p:spPr bwMode="auto">
          <a:xfrm>
            <a:off x="4452939" y="3072903"/>
            <a:ext cx="3468687" cy="438150"/>
          </a:xfrm>
          <a:prstGeom prst="rightArrow">
            <a:avLst>
              <a:gd name="adj1" fmla="val 50000"/>
              <a:gd name="adj2" fmla="val 171748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5" name="右箭头 24"/>
          <p:cNvSpPr>
            <a:spLocks noChangeArrowheads="1"/>
          </p:cNvSpPr>
          <p:nvPr/>
        </p:nvSpPr>
        <p:spPr bwMode="auto">
          <a:xfrm rot="8401304">
            <a:off x="7227889" y="4082553"/>
            <a:ext cx="1825625" cy="438150"/>
          </a:xfrm>
          <a:prstGeom prst="rightArrow">
            <a:avLst>
              <a:gd name="adj1" fmla="val 50000"/>
              <a:gd name="adj2" fmla="val 171759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6" name="右箭头 25"/>
          <p:cNvSpPr>
            <a:spLocks noChangeArrowheads="1"/>
          </p:cNvSpPr>
          <p:nvPr/>
        </p:nvSpPr>
        <p:spPr bwMode="auto">
          <a:xfrm rot="-8857085">
            <a:off x="3441701" y="4074616"/>
            <a:ext cx="1825625" cy="438150"/>
          </a:xfrm>
          <a:prstGeom prst="rightArrow">
            <a:avLst>
              <a:gd name="adj1" fmla="val 50000"/>
              <a:gd name="adj2" fmla="val 171759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7" name="直角上箭头 26"/>
          <p:cNvSpPr/>
          <p:nvPr/>
        </p:nvSpPr>
        <p:spPr bwMode="auto">
          <a:xfrm rot="5400000">
            <a:off x="4142582" y="5026323"/>
            <a:ext cx="1204913" cy="1387475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3600" dirty="0">
              <a:solidFill>
                <a:schemeClr val="tx2"/>
              </a:solidFill>
              <a:latin typeface="宋体" pitchFamily="2" charset="-122"/>
              <a:ea typeface="宋体" charset="-122"/>
            </a:endParaRPr>
          </a:p>
        </p:txBody>
      </p:sp>
      <p:sp>
        <p:nvSpPr>
          <p:cNvPr id="36883" name="Text Box 19"/>
          <p:cNvSpPr txBox="1">
            <a:spLocks noChangeArrowheads="1"/>
          </p:cNvSpPr>
          <p:nvPr/>
        </p:nvSpPr>
        <p:spPr bwMode="auto">
          <a:xfrm rot="1802369">
            <a:off x="2930525" y="4530229"/>
            <a:ext cx="2317750" cy="5191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FF3300"/>
                </a:solidFill>
                <a:latin typeface="Times New Roman" pitchFamily="18" charset="0"/>
              </a:rPr>
              <a:t>两者完全符合</a:t>
            </a:r>
          </a:p>
        </p:txBody>
      </p:sp>
      <p:sp>
        <p:nvSpPr>
          <p:cNvPr id="36885" name="Text Box 16"/>
          <p:cNvSpPr txBox="1">
            <a:spLocks noChangeArrowheads="1"/>
          </p:cNvSpPr>
          <p:nvPr/>
        </p:nvSpPr>
        <p:spPr bwMode="auto">
          <a:xfrm>
            <a:off x="5694363" y="3766641"/>
            <a:ext cx="901700" cy="5191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修正</a:t>
            </a:r>
          </a:p>
        </p:txBody>
      </p:sp>
      <p:sp>
        <p:nvSpPr>
          <p:cNvPr id="29" name="弧形 28"/>
          <p:cNvSpPr/>
          <p:nvPr/>
        </p:nvSpPr>
        <p:spPr>
          <a:xfrm>
            <a:off x="5438776" y="3584079"/>
            <a:ext cx="1350963" cy="803275"/>
          </a:xfrm>
          <a:prstGeom prst="arc">
            <a:avLst>
              <a:gd name="adj1" fmla="val 16381950"/>
              <a:gd name="adj2" fmla="val 9575377"/>
            </a:avLst>
          </a:prstGeom>
          <a:ln w="34925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95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195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6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6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 autoUpdateAnimBg="0"/>
      <p:bldP spid="195588" grpId="0" animBg="1"/>
      <p:bldP spid="36886" grpId="0"/>
      <p:bldP spid="195592" grpId="0" animBg="1" autoUpdateAnimBg="0"/>
      <p:bldP spid="195593" grpId="0" animBg="1" autoUpdateAnimBg="0"/>
      <p:bldP spid="195596" grpId="0" build="p" autoUpdateAnimBg="0"/>
      <p:bldP spid="195597" grpId="0" build="p" autoUpdateAnimBg="0"/>
      <p:bldP spid="36879" grpId="0" animBg="1"/>
      <p:bldP spid="24" grpId="0" animBg="1"/>
      <p:bldP spid="25" grpId="0" animBg="1"/>
      <p:bldP spid="26" grpId="0" animBg="1"/>
      <p:bldP spid="27" grpId="0" animBg="1"/>
      <p:bldP spid="36883" grpId="0"/>
      <p:bldP spid="36885" grpId="0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rPr>
              <a:t>关于阅读组合体三视图的说法，正确的是：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352800" y="2786064"/>
            <a:ext cx="71247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一般情况下，一个投影不能反映物体的确切形状。</a:t>
            </a:r>
            <a:endParaRPr lang="zh-CN" altLang="en-US"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+mj-cs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3352800" y="3643314"/>
            <a:ext cx="73152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要善于抓住形状特征的投影，想象物体的空间形状。</a:t>
            </a:r>
            <a:endParaRPr lang="zh-CN" altLang="en-US"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+mj-cs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3352800" y="4500564"/>
            <a:ext cx="73152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要善于抓住位置特征的投影，想象物体的空间形状。</a:t>
            </a:r>
            <a:endParaRPr lang="zh-CN" altLang="en-US"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+mj-cs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3352800" y="535781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要明确投影图中线和线框的含义</a:t>
            </a:r>
            <a:endParaRPr lang="zh-CN" altLang="en-US"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+mj-cs"/>
              <a:sym typeface="Microsoft Yahei"/>
            </a:endParaRPr>
          </a:p>
        </p:txBody>
      </p:sp>
      <p:sp>
        <p:nvSpPr>
          <p:cNvPr id="29703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29704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29705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29706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29707" name="圆角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sym typeface="Microsoft Yahei"/>
              </a:rPr>
              <a:t>提交</a:t>
            </a:r>
          </a:p>
        </p:txBody>
      </p:sp>
      <p:grpSp>
        <p:nvGrpSpPr>
          <p:cNvPr id="29708" name="组合 1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29710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29711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Microsoft Yahei"/>
                  <a:ea typeface="黑体" pitchFamily="2" charset="-122"/>
                  <a:cs typeface="+mj-cs"/>
                  <a:sym typeface="Microsoft Yahei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6668" y="109220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808080"/>
                  </a:solidFill>
                  <a:latin typeface="Microsoft Yahei"/>
                  <a:ea typeface="黑体" pitchFamily="2" charset="-122"/>
                  <a:cs typeface="+mj-cs"/>
                  <a:sym typeface="Microsoft Yahei"/>
                </a:rPr>
                <a:t>2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/>
                  <a:ea typeface="黑体" pitchFamily="2" charset="-122"/>
                  <a:cs typeface="+mj-cs"/>
                  <a:sym typeface="Microsoft Yahei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/>
                <a:ea typeface="黑体" pitchFamily="2" charset="-122"/>
                <a:cs typeface="+mj-cs"/>
                <a:sym typeface="Microsoft Yahei"/>
              </a:endParaRPr>
            </a:p>
          </p:txBody>
        </p:sp>
      </p:grpSp>
      <p:pic>
        <p:nvPicPr>
          <p:cNvPr id="29709" name="图片 1" descr="tmp3C65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211262" y="958205"/>
            <a:ext cx="7996238" cy="5143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例：用形体分析法读图的基本方法与步骤</a:t>
            </a:r>
            <a:endParaRPr lang="zh-CN" altLang="en-US" sz="3200" dirty="0"/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0089" y="1844824"/>
            <a:ext cx="4484687" cy="37290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33576" y="1844824"/>
            <a:ext cx="4606925" cy="37607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5"/>
          <a:srcRect r="-2072" b="71419"/>
          <a:stretch>
            <a:fillRect/>
          </a:stretch>
        </p:blipFill>
        <p:spPr bwMode="auto">
          <a:xfrm>
            <a:off x="5511801" y="3999062"/>
            <a:ext cx="3286125" cy="620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/>
          <a:srcRect t="30263" r="48964" b="803"/>
          <a:stretch>
            <a:fillRect/>
          </a:stretch>
        </p:blipFill>
        <p:spPr bwMode="auto">
          <a:xfrm>
            <a:off x="5511801" y="4656287"/>
            <a:ext cx="1643063" cy="14970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5"/>
          <a:srcRect l="51973" t="30263" r="-2072" b="803"/>
          <a:stretch>
            <a:fillRect/>
          </a:stretch>
        </p:blipFill>
        <p:spPr bwMode="auto">
          <a:xfrm>
            <a:off x="7191375" y="4692800"/>
            <a:ext cx="1612900" cy="14970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7237731" y="2368908"/>
            <a:ext cx="3333116" cy="830997"/>
          </a:xfrm>
          <a:prstGeom prst="rect">
            <a:avLst/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从主视图入手找出四个封闭线框分析其形状</a:t>
            </a:r>
          </a:p>
        </p:txBody>
      </p:sp>
      <p:pic>
        <p:nvPicPr>
          <p:cNvPr id="43017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99300" y="4821387"/>
            <a:ext cx="1771650" cy="12954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2" name="组合 15"/>
          <p:cNvGrpSpPr>
            <a:grpSpLocks/>
          </p:cNvGrpSpPr>
          <p:nvPr/>
        </p:nvGrpSpPr>
        <p:grpSpPr bwMode="auto">
          <a:xfrm>
            <a:off x="5511801" y="3749824"/>
            <a:ext cx="3109913" cy="2476500"/>
            <a:chOff x="3862388" y="2190750"/>
            <a:chExt cx="3109944" cy="2476500"/>
          </a:xfrm>
        </p:grpSpPr>
        <p:pic>
          <p:nvPicPr>
            <p:cNvPr id="30734" name="Picture 1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862388" y="2190750"/>
              <a:ext cx="1419225" cy="24765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  <p:pic>
          <p:nvPicPr>
            <p:cNvPr id="30735" name="Picture 11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505482" y="2284397"/>
              <a:ext cx="1466850" cy="61912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</p:spPr>
        </p:pic>
      </p:grpSp>
      <p:pic>
        <p:nvPicPr>
          <p:cNvPr id="43021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475288" y="3672038"/>
            <a:ext cx="3067050" cy="29162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3022" name="Picture 1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432800" y="4764238"/>
            <a:ext cx="1549400" cy="18240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3023" name="Picture 15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292726" y="3670450"/>
            <a:ext cx="3611563" cy="29178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19945" y="1340768"/>
            <a:ext cx="4687887" cy="584200"/>
          </a:xfrm>
        </p:spPr>
        <p:txBody>
          <a:bodyPr/>
          <a:lstStyle/>
          <a:p>
            <a:pPr algn="l"/>
            <a:r>
              <a:rPr lang="zh-CN" altLang="en-US" sz="2800" dirty="0">
                <a:ea typeface="黑体" pitchFamily="49" charset="-122"/>
              </a:rPr>
              <a:t>想象支架的整体形状</a:t>
            </a:r>
          </a:p>
          <a:p>
            <a:pPr algn="l"/>
            <a:endParaRPr lang="zh-CN" altLang="en-US" sz="2800" dirty="0">
              <a:ea typeface="黑体" pitchFamily="49" charset="-122"/>
            </a:endParaRPr>
          </a:p>
          <a:p>
            <a:pPr algn="l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</a:t>
            </a:r>
            <a:endParaRPr lang="zh-CN" altLang="en-US" sz="2800" dirty="0">
              <a:ea typeface="黑体" pitchFamily="49" charset="-122"/>
            </a:endParaRPr>
          </a:p>
          <a:p>
            <a:pPr algn="l"/>
            <a:endParaRPr lang="zh-CN" altLang="en-US" sz="2800" dirty="0">
              <a:ea typeface="黑体" pitchFamily="49" charset="-122"/>
            </a:endParaRPr>
          </a:p>
          <a:p>
            <a:pPr algn="l"/>
            <a:endParaRPr lang="zh-CN" altLang="en-US" sz="2800" dirty="0">
              <a:ea typeface="黑体" pitchFamily="49" charset="-122"/>
            </a:endParaRPr>
          </a:p>
          <a:p>
            <a:pPr algn="l"/>
            <a:endParaRPr lang="zh-CN" altLang="en-US" sz="2800" dirty="0">
              <a:ea typeface="黑体" pitchFamily="49" charset="-122"/>
            </a:endParaRPr>
          </a:p>
          <a:p>
            <a:pPr algn="l"/>
            <a:endParaRPr lang="zh-CN" altLang="en-US" sz="2800" dirty="0">
              <a:ea typeface="黑体" pitchFamily="49" charset="-122"/>
            </a:endParaRPr>
          </a:p>
          <a:p>
            <a:pPr algn="l"/>
            <a:endParaRPr lang="zh-CN" altLang="en-US" sz="2800" dirty="0">
              <a:ea typeface="黑体" pitchFamily="49" charset="-122"/>
            </a:endParaRPr>
          </a:p>
          <a:p>
            <a:pPr algn="l"/>
            <a:endParaRPr lang="en-US" altLang="zh-CN" sz="2800" dirty="0">
              <a:ea typeface="黑体" pitchFamily="49" charset="-122"/>
            </a:endParaRP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27889" y="3684588"/>
            <a:ext cx="3013075" cy="2743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62188" y="2187575"/>
            <a:ext cx="4762500" cy="3867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rPr>
              <a:t>三视图中，反映形状特征的投影是：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rPr>
              <a:t>主视图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rPr>
              <a:t>俯视图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rPr>
              <a:t>左视图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4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rPr>
              <a:t>没有</a:t>
            </a:r>
          </a:p>
        </p:txBody>
      </p:sp>
      <p:sp>
        <p:nvSpPr>
          <p:cNvPr id="32775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32776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32777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32778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32779" name="圆角矩形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sym typeface="Microsoft Yahei"/>
              </a:rPr>
              <a:t>提交</a:t>
            </a:r>
          </a:p>
        </p:txBody>
      </p:sp>
      <p:pic>
        <p:nvPicPr>
          <p:cNvPr id="32780" name="Picture 2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6205538" y="2698751"/>
            <a:ext cx="2946400" cy="21875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pSp>
        <p:nvGrpSpPr>
          <p:cNvPr id="32781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32783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32784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lang="zh-CN" altLang="en-US" sz="2600" b="1">
                  <a:solidFill>
                    <a:srgbClr val="000000"/>
                  </a:solidFill>
                  <a:latin typeface="Microsoft Yahei"/>
                  <a:ea typeface="黑体" pitchFamily="2" charset="-122"/>
                  <a:cs typeface="+mj-cs"/>
                  <a:sym typeface="Microsoft Yahei"/>
                </a:rPr>
                <a:t>单选题</a:t>
              </a:r>
              <a:endParaRPr lang="zh-CN" altLang="en-US" sz="2600" b="1" dirty="0">
                <a:solidFill>
                  <a:srgbClr val="000000"/>
                </a:solidFill>
                <a:latin typeface="Microsoft Yahei"/>
                <a:ea typeface="黑体" pitchFamily="2" charset="-122"/>
                <a:cs typeface="+mj-cs"/>
                <a:sym typeface="Microsoft Yahei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6668" y="109220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lang="en-US" altLang="zh-CN" sz="2000" b="1">
                  <a:solidFill>
                    <a:srgbClr val="808080"/>
                  </a:solidFill>
                  <a:latin typeface="Microsoft Yahei"/>
                  <a:ea typeface="黑体" pitchFamily="2" charset="-122"/>
                  <a:cs typeface="+mj-cs"/>
                  <a:sym typeface="Microsoft Yahei"/>
                </a:rPr>
                <a:t>1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/>
                  <a:ea typeface="黑体" pitchFamily="2" charset="-122"/>
                  <a:cs typeface="+mj-cs"/>
                  <a:sym typeface="Microsoft Yahei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/>
                <a:ea typeface="黑体" pitchFamily="2" charset="-122"/>
                <a:cs typeface="+mj-cs"/>
                <a:sym typeface="Microsoft Yahei"/>
              </a:endParaRPr>
            </a:p>
          </p:txBody>
        </p:sp>
      </p:grpSp>
      <p:pic>
        <p:nvPicPr>
          <p:cNvPr id="32782" name="图片 3" descr="tmp3C65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2243573" y="1544272"/>
            <a:ext cx="3096344" cy="584200"/>
          </a:xfrm>
          <a:prstGeom prst="rect">
            <a:avLst/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</a:rPr>
              <a:t>看图的基本方法</a:t>
            </a:r>
          </a:p>
        </p:txBody>
      </p:sp>
      <p:sp>
        <p:nvSpPr>
          <p:cNvPr id="196617" name="Text Box 9"/>
          <p:cNvSpPr txBox="1">
            <a:spLocks noChangeArrowheads="1"/>
          </p:cNvSpPr>
          <p:nvPr/>
        </p:nvSpPr>
        <p:spPr bwMode="auto">
          <a:xfrm>
            <a:off x="2444751" y="3136900"/>
            <a:ext cx="2735263" cy="57943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solidFill>
                  <a:srgbClr val="003399"/>
                </a:solidFill>
                <a:latin typeface="Times New Roman" pitchFamily="18" charset="0"/>
                <a:ea typeface="宋体" charset="-122"/>
              </a:rPr>
              <a:t>☆ </a:t>
            </a:r>
            <a:r>
              <a:rPr lang="zh-CN" altLang="en-US" sz="3200" dirty="0">
                <a:solidFill>
                  <a:srgbClr val="003399"/>
                </a:solidFill>
                <a:latin typeface="Times New Roman" pitchFamily="18" charset="0"/>
                <a:ea typeface="宋体" charset="-122"/>
              </a:rPr>
              <a:t>形体分析法</a:t>
            </a:r>
          </a:p>
        </p:txBody>
      </p:sp>
      <p:sp>
        <p:nvSpPr>
          <p:cNvPr id="196619" name="Text Box 11"/>
          <p:cNvSpPr txBox="1">
            <a:spLocks noChangeArrowheads="1"/>
          </p:cNvSpPr>
          <p:nvPr/>
        </p:nvSpPr>
        <p:spPr bwMode="auto">
          <a:xfrm>
            <a:off x="2481264" y="5218113"/>
            <a:ext cx="2759075" cy="584200"/>
          </a:xfrm>
          <a:prstGeom prst="rect">
            <a:avLst/>
          </a:prstGeom>
          <a:solidFill>
            <a:srgbClr val="FFC000"/>
          </a:soli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>
                <a:solidFill>
                  <a:srgbClr val="003399"/>
                </a:solidFill>
                <a:latin typeface="Times New Roman" pitchFamily="18" charset="0"/>
              </a:rPr>
              <a:t>☆ </a:t>
            </a:r>
            <a:r>
              <a:rPr lang="zh-CN" altLang="en-US" sz="3200">
                <a:solidFill>
                  <a:srgbClr val="003399"/>
                </a:solidFill>
                <a:latin typeface="Times New Roman" pitchFamily="18" charset="0"/>
              </a:rPr>
              <a:t>线面分析法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730876" y="2297113"/>
            <a:ext cx="4575175" cy="2246312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</a:gra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/>
              <a:t>分析出组合体由几部分组成，从特征视图入手，想象出各部分的形状、相对位置关系及组合方式，最后综合想象出整体形状。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727701" y="4926013"/>
            <a:ext cx="4530725" cy="1384300"/>
          </a:xfrm>
          <a:prstGeom prst="rect">
            <a:avLst/>
          </a:prstGeom>
          <a:gradFill rotWithShape="1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/>
              <a:t>用“分线框、对投影”的</a:t>
            </a:r>
            <a:r>
              <a:rPr lang="zh-CN" altLang="en-US" sz="2800" b="1"/>
              <a:t>方</a:t>
            </a:r>
            <a:r>
              <a:rPr lang="zh-CN" altLang="en-US" sz="2800"/>
              <a:t>法分析物体各表面的形状，从而想象出物体的整体形状。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03513" y="825500"/>
            <a:ext cx="1584176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 结：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1" grpId="0" animBg="1" autoUpdateAnimBg="0"/>
      <p:bldP spid="196617" grpId="0" animBg="1" autoUpdateAnimBg="0"/>
      <p:bldP spid="196619" grpId="0" animBg="1" autoUpdateAnimBg="0"/>
      <p:bldP spid="12" grpId="0" animBg="1" autoUpdateAnimBg="0"/>
      <p:bldP spid="13" grpId="0" animBg="1" autoUpdateAnimBg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1027"/>
          <p:cNvSpPr txBox="1">
            <a:spLocks noChangeArrowheads="1"/>
          </p:cNvSpPr>
          <p:nvPr/>
        </p:nvSpPr>
        <p:spPr bwMode="auto">
          <a:xfrm>
            <a:off x="1897063" y="1749426"/>
            <a:ext cx="8482012" cy="22272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⑴ </a:t>
            </a:r>
            <a:r>
              <a:rPr lang="zh-CN" altLang="en-US" sz="2800">
                <a:solidFill>
                  <a:schemeClr val="tx2"/>
                </a:solidFill>
              </a:rPr>
              <a:t>形体分析法和面形分析法两者的读图步骤虽然相似，</a:t>
            </a:r>
            <a:endParaRPr lang="en-US" altLang="zh-CN" sz="280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chemeClr val="tx2"/>
                </a:solidFill>
              </a:rPr>
              <a:t>但</a:t>
            </a:r>
            <a:r>
              <a:rPr lang="zh-CN" altLang="en-US" sz="2800">
                <a:solidFill>
                  <a:srgbClr val="FF0000"/>
                </a:solidFill>
              </a:rPr>
              <a:t>形体分析法是从</a:t>
            </a:r>
            <a:r>
              <a:rPr lang="zh-CN" altLang="en-US" sz="28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体的</a:t>
            </a:r>
            <a:r>
              <a:rPr lang="zh-CN" altLang="en-US" sz="2800">
                <a:solidFill>
                  <a:srgbClr val="FF0000"/>
                </a:solidFill>
              </a:rPr>
              <a:t>角度出发</a:t>
            </a:r>
            <a:r>
              <a:rPr lang="zh-CN" altLang="en-US" sz="2800">
                <a:solidFill>
                  <a:schemeClr val="tx2"/>
                </a:solidFill>
              </a:rPr>
              <a:t>，划分视图所得</a:t>
            </a:r>
            <a:endParaRPr lang="en-US" altLang="zh-CN" sz="280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chemeClr val="tx2"/>
                </a:solidFill>
              </a:rPr>
              <a:t>的三个投影是一个形体的投影；</a:t>
            </a:r>
          </a:p>
          <a:p>
            <a:pPr eaLnBrk="1" hangingPunct="1"/>
            <a:r>
              <a:rPr lang="zh-CN" altLang="en-US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rgbClr val="CC3300"/>
                </a:solidFill>
              </a:rPr>
              <a:t>面形分析法是从</a:t>
            </a:r>
            <a:r>
              <a:rPr lang="zh-CN" altLang="en-US" sz="2800">
                <a:latin typeface="黑体" pitchFamily="49" charset="-122"/>
                <a:ea typeface="黑体" pitchFamily="49" charset="-122"/>
              </a:rPr>
              <a:t>面的</a:t>
            </a:r>
            <a:r>
              <a:rPr lang="zh-CN" altLang="en-US" sz="2800">
                <a:solidFill>
                  <a:srgbClr val="CC3300"/>
                </a:solidFill>
              </a:rPr>
              <a:t>角度出发</a:t>
            </a:r>
            <a:r>
              <a:rPr lang="zh-CN" altLang="en-US" sz="2800">
                <a:solidFill>
                  <a:schemeClr val="tx2"/>
                </a:solidFill>
              </a:rPr>
              <a:t>，“分线框对投影”</a:t>
            </a:r>
            <a:endParaRPr lang="en-US" altLang="zh-CN" sz="280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chemeClr val="tx2"/>
                </a:solidFill>
              </a:rPr>
              <a:t>所得的三个投影是一个面的投影。</a:t>
            </a:r>
          </a:p>
        </p:txBody>
      </p:sp>
      <p:sp>
        <p:nvSpPr>
          <p:cNvPr id="199684" name="Text Box 1028"/>
          <p:cNvSpPr txBox="1">
            <a:spLocks noChangeArrowheads="1"/>
          </p:cNvSpPr>
          <p:nvPr/>
        </p:nvSpPr>
        <p:spPr bwMode="auto">
          <a:xfrm>
            <a:off x="1970089" y="4195764"/>
            <a:ext cx="8434387" cy="224948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eaLnBrk="1" hangingPunct="1"/>
            <a:r>
              <a:rPr lang="en-US" altLang="zh-CN" sz="2800"/>
              <a:t>⑵ </a:t>
            </a:r>
            <a:r>
              <a:rPr lang="zh-CN" altLang="en-US" sz="2800">
                <a:solidFill>
                  <a:srgbClr val="FF0000"/>
                </a:solidFill>
              </a:rPr>
              <a:t>形体分析</a:t>
            </a:r>
            <a:r>
              <a:rPr lang="zh-CN" altLang="en-US" sz="2800">
                <a:solidFill>
                  <a:schemeClr val="tx2"/>
                </a:solidFill>
              </a:rPr>
              <a:t>法较</a:t>
            </a:r>
            <a:r>
              <a:rPr lang="zh-CN" altLang="en-US" sz="2800">
                <a:solidFill>
                  <a:srgbClr val="FF0000"/>
                </a:solidFill>
              </a:rPr>
              <a:t>适合</a:t>
            </a:r>
            <a:r>
              <a:rPr lang="zh-CN" altLang="en-US" sz="2800">
                <a:solidFill>
                  <a:schemeClr val="tx2"/>
                </a:solidFill>
              </a:rPr>
              <a:t>于以</a:t>
            </a:r>
            <a:r>
              <a:rPr lang="zh-CN" altLang="en-US" sz="2800">
                <a:solidFill>
                  <a:srgbClr val="FF0000"/>
                </a:solidFill>
              </a:rPr>
              <a:t>叠加方式</a:t>
            </a:r>
            <a:r>
              <a:rPr lang="zh-CN" altLang="en-US" sz="2800">
                <a:solidFill>
                  <a:schemeClr val="tx2"/>
                </a:solidFill>
              </a:rPr>
              <a:t>形成的组合体，</a:t>
            </a:r>
            <a:endParaRPr lang="en-US" altLang="zh-CN" sz="280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rgbClr val="FF0000"/>
                </a:solidFill>
              </a:rPr>
              <a:t>面形分析</a:t>
            </a:r>
            <a:r>
              <a:rPr lang="zh-CN" altLang="en-US" sz="2800">
                <a:solidFill>
                  <a:schemeClr val="tx2"/>
                </a:solidFill>
              </a:rPr>
              <a:t>法较</a:t>
            </a:r>
            <a:r>
              <a:rPr lang="zh-CN" altLang="en-US" sz="2800">
                <a:solidFill>
                  <a:srgbClr val="FF0000"/>
                </a:solidFill>
              </a:rPr>
              <a:t>适合</a:t>
            </a:r>
            <a:r>
              <a:rPr lang="zh-CN" altLang="en-US" sz="2800">
                <a:solidFill>
                  <a:schemeClr val="tx2"/>
                </a:solidFill>
              </a:rPr>
              <a:t>于以</a:t>
            </a:r>
            <a:r>
              <a:rPr lang="zh-CN" altLang="en-US" sz="2800">
                <a:solidFill>
                  <a:srgbClr val="FF0000"/>
                </a:solidFill>
              </a:rPr>
              <a:t>切割方式</a:t>
            </a:r>
            <a:r>
              <a:rPr lang="zh-CN" altLang="en-US" sz="2800">
                <a:solidFill>
                  <a:schemeClr val="tx2"/>
                </a:solidFill>
              </a:rPr>
              <a:t>形成的组合体。</a:t>
            </a:r>
          </a:p>
          <a:p>
            <a:pPr eaLnBrk="1" hangingPunct="1"/>
            <a:r>
              <a:rPr lang="zh-CN" altLang="en-US" sz="2800">
                <a:solidFill>
                  <a:schemeClr val="tx2"/>
                </a:solidFill>
              </a:rPr>
              <a:t>     由于组合体的组合方式往往既有叠加又有切割， </a:t>
            </a:r>
            <a:endParaRPr lang="en-US" altLang="zh-CN" sz="280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chemeClr val="tx2"/>
                </a:solidFill>
              </a:rPr>
              <a:t>看图时一般不是独立地采用某种方法，而是两者</a:t>
            </a:r>
            <a:endParaRPr lang="en-US" altLang="zh-CN" sz="280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sz="2800">
                <a:solidFill>
                  <a:schemeClr val="tx2"/>
                </a:solidFill>
              </a:rPr>
              <a:t>     </a:t>
            </a:r>
            <a:r>
              <a:rPr lang="zh-CN" altLang="en-US" sz="2800">
                <a:solidFill>
                  <a:schemeClr val="tx2"/>
                </a:solidFill>
              </a:rPr>
              <a:t>综合使用，互相配合，互相补充。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autoUpdateAnimBg="0"/>
      <p:bldP spid="19968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2079625" y="1457325"/>
            <a:ext cx="26558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看图的步骤：</a:t>
            </a:r>
          </a:p>
        </p:txBody>
      </p:sp>
      <p:sp>
        <p:nvSpPr>
          <p:cNvPr id="197635" name="Text Box 3"/>
          <p:cNvSpPr txBox="1">
            <a:spLocks noChangeArrowheads="1"/>
          </p:cNvSpPr>
          <p:nvPr/>
        </p:nvSpPr>
        <p:spPr bwMode="auto">
          <a:xfrm>
            <a:off x="1897063" y="2114550"/>
            <a:ext cx="3441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>
                <a:solidFill>
                  <a:srgbClr val="000099"/>
                </a:solidFill>
                <a:sym typeface="Symbol" pitchFamily="18" charset="2"/>
              </a:rPr>
              <a:t> </a:t>
            </a:r>
            <a:r>
              <a:rPr lang="zh-CN" altLang="en-US" sz="3200">
                <a:solidFill>
                  <a:srgbClr val="000099"/>
                </a:solidFill>
              </a:rPr>
              <a:t>抓特征分解形体</a:t>
            </a:r>
          </a:p>
        </p:txBody>
      </p:sp>
      <p:sp>
        <p:nvSpPr>
          <p:cNvPr id="197636" name="Text Box 4"/>
          <p:cNvSpPr txBox="1">
            <a:spLocks noChangeArrowheads="1"/>
          </p:cNvSpPr>
          <p:nvPr/>
        </p:nvSpPr>
        <p:spPr bwMode="auto">
          <a:xfrm>
            <a:off x="5576888" y="1712913"/>
            <a:ext cx="509111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>
                <a:sym typeface="Symbol" pitchFamily="18" charset="2"/>
              </a:rPr>
              <a:t>以主视图为主，配合其它视图，找出反映物体特征较多的视图，从图上将物体分解成几部分。</a:t>
            </a:r>
            <a:endParaRPr lang="zh-CN" altLang="en-US" sz="2400"/>
          </a:p>
        </p:txBody>
      </p:sp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1897063" y="3027364"/>
            <a:ext cx="34417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>
                <a:solidFill>
                  <a:srgbClr val="000099"/>
                </a:solidFill>
                <a:sym typeface="Symbol" pitchFamily="18" charset="2"/>
              </a:rPr>
              <a:t> </a:t>
            </a:r>
            <a:r>
              <a:rPr lang="zh-CN" altLang="en-US" sz="3200">
                <a:solidFill>
                  <a:srgbClr val="000099"/>
                </a:solidFill>
                <a:sym typeface="Symbol" pitchFamily="18" charset="2"/>
              </a:rPr>
              <a:t>对投影确定形体</a:t>
            </a:r>
          </a:p>
        </p:txBody>
      </p:sp>
      <p:sp>
        <p:nvSpPr>
          <p:cNvPr id="197638" name="Text Box 6"/>
          <p:cNvSpPr txBox="1">
            <a:spLocks noChangeArrowheads="1"/>
          </p:cNvSpPr>
          <p:nvPr/>
        </p:nvSpPr>
        <p:spPr bwMode="auto">
          <a:xfrm>
            <a:off x="5475288" y="2954338"/>
            <a:ext cx="500221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>
                <a:sym typeface="Symbol" pitchFamily="18" charset="2"/>
              </a:rPr>
              <a:t>利用“三等”关系，划分出每一部分的三个投影，想象出它们的形状。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97639" name="Text Box 7"/>
          <p:cNvSpPr txBox="1">
            <a:spLocks noChangeArrowheads="1"/>
          </p:cNvSpPr>
          <p:nvPr/>
        </p:nvSpPr>
        <p:spPr bwMode="auto">
          <a:xfrm>
            <a:off x="1897063" y="3976402"/>
            <a:ext cx="358784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>
                <a:solidFill>
                  <a:srgbClr val="000099"/>
                </a:solidFill>
                <a:sym typeface="Symbol" pitchFamily="18" charset="2"/>
              </a:rPr>
              <a:t> </a:t>
            </a:r>
            <a:r>
              <a:rPr lang="zh-CN" altLang="en-US" sz="3200">
                <a:solidFill>
                  <a:srgbClr val="000099"/>
                </a:solidFill>
                <a:sym typeface="Symbol" pitchFamily="18" charset="2"/>
              </a:rPr>
              <a:t>线  面分析攻难点</a:t>
            </a:r>
            <a:endParaRPr lang="zh-CN" altLang="en-US" sz="3200">
              <a:solidFill>
                <a:srgbClr val="000099"/>
              </a:solidFill>
            </a:endParaRP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2455863" y="426085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zh-CN" sz="3200">
              <a:solidFill>
                <a:srgbClr val="FF0000"/>
              </a:solidFill>
            </a:endParaRPr>
          </a:p>
        </p:txBody>
      </p:sp>
      <p:sp>
        <p:nvSpPr>
          <p:cNvPr id="197641" name="Text Box 9"/>
          <p:cNvSpPr txBox="1">
            <a:spLocks noChangeArrowheads="1"/>
          </p:cNvSpPr>
          <p:nvPr/>
        </p:nvSpPr>
        <p:spPr bwMode="auto">
          <a:xfrm>
            <a:off x="5438775" y="3903663"/>
            <a:ext cx="508158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/>
              <a:t>当形体由切割方式形成时，常采用面形分析法对形体主要表面的形状进行分析，进而准确地想象出形体的形状。</a:t>
            </a:r>
          </a:p>
        </p:txBody>
      </p:sp>
      <p:sp>
        <p:nvSpPr>
          <p:cNvPr id="197642" name="Text Box 10"/>
          <p:cNvSpPr txBox="1">
            <a:spLocks noChangeArrowheads="1"/>
          </p:cNvSpPr>
          <p:nvPr/>
        </p:nvSpPr>
        <p:spPr bwMode="auto">
          <a:xfrm>
            <a:off x="1933575" y="5181600"/>
            <a:ext cx="3441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>
                <a:solidFill>
                  <a:srgbClr val="000099"/>
                </a:solidFill>
                <a:sym typeface="Symbol" pitchFamily="18" charset="2"/>
              </a:rPr>
              <a:t> </a:t>
            </a:r>
            <a:r>
              <a:rPr lang="zh-CN" altLang="en-US" sz="3200">
                <a:solidFill>
                  <a:srgbClr val="000099"/>
                </a:solidFill>
                <a:sym typeface="Symbol" pitchFamily="18" charset="2"/>
              </a:rPr>
              <a:t>综合起来想整体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2525713" y="57197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zh-CN" sz="2800">
              <a:solidFill>
                <a:srgbClr val="FF0000"/>
              </a:solidFill>
            </a:endParaRPr>
          </a:p>
        </p:txBody>
      </p:sp>
      <p:sp>
        <p:nvSpPr>
          <p:cNvPr id="197644" name="Text Box 12"/>
          <p:cNvSpPr txBox="1">
            <a:spLocks noChangeArrowheads="1"/>
          </p:cNvSpPr>
          <p:nvPr/>
        </p:nvSpPr>
        <p:spPr bwMode="auto">
          <a:xfrm>
            <a:off x="5511800" y="5254625"/>
            <a:ext cx="492918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>
                <a:solidFill>
                  <a:schemeClr val="tx2"/>
                </a:solidFill>
              </a:rPr>
              <a:t>抓住位置特征视图，分析各部分间的相互位置关系，综合起来想象出物体的整体形状。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9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autoUpdateAnimBg="0"/>
      <p:bldP spid="197636" grpId="0" autoUpdateAnimBg="0"/>
      <p:bldP spid="197637" grpId="0" autoUpdateAnimBg="0"/>
      <p:bldP spid="197638" grpId="0" autoUpdateAnimBg="0"/>
      <p:bldP spid="197639" grpId="0" autoUpdateAnimBg="0"/>
      <p:bldP spid="197641" grpId="0" autoUpdateAnimBg="0"/>
      <p:bldP spid="197642" grpId="0" autoUpdateAnimBg="0"/>
      <p:bldP spid="197644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568e81ae95195ade1c62ea95ef255366a37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3371</TotalTime>
  <Words>879</Words>
  <Application>Microsoft Office PowerPoint</Application>
  <PresentationFormat>宽屏</PresentationFormat>
  <Paragraphs>123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黑体</vt:lpstr>
      <vt:lpstr>华文行楷</vt:lpstr>
      <vt:lpstr>宋体</vt:lpstr>
      <vt:lpstr>Microsoft Yahei</vt:lpstr>
      <vt:lpstr>Arial</vt:lpstr>
      <vt:lpstr>Calibri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例：用形体分析法读图的基本方法与步骤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穆浩志</dc:creator>
  <cp:lastModifiedBy>Lenovo</cp:lastModifiedBy>
  <cp:revision>269</cp:revision>
  <dcterms:created xsi:type="dcterms:W3CDTF">2014-03-20T09:34:50Z</dcterms:created>
  <dcterms:modified xsi:type="dcterms:W3CDTF">2020-05-19T06:15:16Z</dcterms:modified>
</cp:coreProperties>
</file>